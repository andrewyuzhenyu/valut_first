
<file path=[Content_Types].xml><?xml version="1.0" encoding="utf-8"?>
<Types xmlns="http://schemas.openxmlformats.org/package/2006/content-types">
  <Default Extension="bin" ContentType="audio/unknown"/>
  <Default Extension="jpeg" ContentType="image/jpeg"/>
  <Default Extension="rels" ContentType="application/vnd.openxmlformats-package.relationships+xml"/>
  <Default Extension="xml" ContentType="application/xml"/>
  <Default Extension="wav" ContentType="audio/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4" r:id="rId2"/>
  </p:sldMasterIdLst>
  <p:notesMasterIdLst>
    <p:notesMasterId r:id="rId148"/>
  </p:notesMasterIdLst>
  <p:handoutMasterIdLst>
    <p:handoutMasterId r:id="rId149"/>
  </p:handoutMasterIdLst>
  <p:sldIdLst>
    <p:sldId id="851" r:id="rId3"/>
    <p:sldId id="296" r:id="rId4"/>
    <p:sldId id="469" r:id="rId5"/>
    <p:sldId id="338" r:id="rId6"/>
    <p:sldId id="644" r:id="rId7"/>
    <p:sldId id="256" r:id="rId8"/>
    <p:sldId id="295" r:id="rId9"/>
    <p:sldId id="645" r:id="rId10"/>
    <p:sldId id="646" r:id="rId11"/>
    <p:sldId id="648" r:id="rId12"/>
    <p:sldId id="647" r:id="rId13"/>
    <p:sldId id="649" r:id="rId14"/>
    <p:sldId id="650" r:id="rId15"/>
    <p:sldId id="651" r:id="rId16"/>
    <p:sldId id="652" r:id="rId17"/>
    <p:sldId id="853" r:id="rId18"/>
    <p:sldId id="258" r:id="rId19"/>
    <p:sldId id="653" r:id="rId20"/>
    <p:sldId id="854" r:id="rId21"/>
    <p:sldId id="654" r:id="rId22"/>
    <p:sldId id="655" r:id="rId23"/>
    <p:sldId id="656" r:id="rId24"/>
    <p:sldId id="657" r:id="rId25"/>
    <p:sldId id="658" r:id="rId26"/>
    <p:sldId id="659" r:id="rId27"/>
    <p:sldId id="660" r:id="rId28"/>
    <p:sldId id="661" r:id="rId29"/>
    <p:sldId id="662" r:id="rId30"/>
    <p:sldId id="663" r:id="rId31"/>
    <p:sldId id="855" r:id="rId32"/>
    <p:sldId id="664" r:id="rId33"/>
    <p:sldId id="665" r:id="rId34"/>
    <p:sldId id="843" r:id="rId35"/>
    <p:sldId id="856" r:id="rId36"/>
    <p:sldId id="857" r:id="rId37"/>
    <p:sldId id="858" r:id="rId38"/>
    <p:sldId id="859" r:id="rId39"/>
    <p:sldId id="947" r:id="rId40"/>
    <p:sldId id="861" r:id="rId41"/>
    <p:sldId id="862" r:id="rId42"/>
    <p:sldId id="863" r:id="rId43"/>
    <p:sldId id="864" r:id="rId44"/>
    <p:sldId id="865" r:id="rId45"/>
    <p:sldId id="866" r:id="rId46"/>
    <p:sldId id="867" r:id="rId47"/>
    <p:sldId id="868" r:id="rId48"/>
    <p:sldId id="869" r:id="rId49"/>
    <p:sldId id="870" r:id="rId50"/>
    <p:sldId id="871" r:id="rId51"/>
    <p:sldId id="872" r:id="rId52"/>
    <p:sldId id="873" r:id="rId53"/>
    <p:sldId id="874" r:id="rId54"/>
    <p:sldId id="875" r:id="rId55"/>
    <p:sldId id="876" r:id="rId56"/>
    <p:sldId id="877" r:id="rId57"/>
    <p:sldId id="878" r:id="rId58"/>
    <p:sldId id="879" r:id="rId59"/>
    <p:sldId id="880" r:id="rId60"/>
    <p:sldId id="881" r:id="rId61"/>
    <p:sldId id="882" r:id="rId62"/>
    <p:sldId id="883" r:id="rId63"/>
    <p:sldId id="884" r:id="rId64"/>
    <p:sldId id="885" r:id="rId65"/>
    <p:sldId id="948" r:id="rId66"/>
    <p:sldId id="949" r:id="rId67"/>
    <p:sldId id="950" r:id="rId68"/>
    <p:sldId id="951" r:id="rId69"/>
    <p:sldId id="952" r:id="rId70"/>
    <p:sldId id="953" r:id="rId71"/>
    <p:sldId id="954" r:id="rId72"/>
    <p:sldId id="955" r:id="rId73"/>
    <p:sldId id="956" r:id="rId74"/>
    <p:sldId id="957" r:id="rId75"/>
    <p:sldId id="958" r:id="rId76"/>
    <p:sldId id="886" r:id="rId77"/>
    <p:sldId id="887" r:id="rId78"/>
    <p:sldId id="888" r:id="rId79"/>
    <p:sldId id="889" r:id="rId80"/>
    <p:sldId id="890" r:id="rId81"/>
    <p:sldId id="891" r:id="rId82"/>
    <p:sldId id="892" r:id="rId83"/>
    <p:sldId id="893" r:id="rId84"/>
    <p:sldId id="894" r:id="rId85"/>
    <p:sldId id="959" r:id="rId86"/>
    <p:sldId id="895" r:id="rId87"/>
    <p:sldId id="960" r:id="rId88"/>
    <p:sldId id="961" r:id="rId89"/>
    <p:sldId id="962" r:id="rId90"/>
    <p:sldId id="963" r:id="rId91"/>
    <p:sldId id="964" r:id="rId92"/>
    <p:sldId id="965" r:id="rId93"/>
    <p:sldId id="897" r:id="rId94"/>
    <p:sldId id="898" r:id="rId95"/>
    <p:sldId id="899" r:id="rId96"/>
    <p:sldId id="900" r:id="rId97"/>
    <p:sldId id="901" r:id="rId98"/>
    <p:sldId id="902" r:id="rId99"/>
    <p:sldId id="903" r:id="rId100"/>
    <p:sldId id="904" r:id="rId101"/>
    <p:sldId id="905" r:id="rId102"/>
    <p:sldId id="906" r:id="rId103"/>
    <p:sldId id="907" r:id="rId104"/>
    <p:sldId id="908" r:id="rId105"/>
    <p:sldId id="909" r:id="rId106"/>
    <p:sldId id="910" r:id="rId107"/>
    <p:sldId id="911" r:id="rId108"/>
    <p:sldId id="912" r:id="rId109"/>
    <p:sldId id="913" r:id="rId110"/>
    <p:sldId id="914" r:id="rId111"/>
    <p:sldId id="915" r:id="rId112"/>
    <p:sldId id="916" r:id="rId113"/>
    <p:sldId id="917" r:id="rId114"/>
    <p:sldId id="918" r:id="rId115"/>
    <p:sldId id="919" r:id="rId116"/>
    <p:sldId id="920" r:id="rId117"/>
    <p:sldId id="921" r:id="rId118"/>
    <p:sldId id="922" r:id="rId119"/>
    <p:sldId id="923" r:id="rId120"/>
    <p:sldId id="924" r:id="rId121"/>
    <p:sldId id="925" r:id="rId122"/>
    <p:sldId id="926" r:id="rId123"/>
    <p:sldId id="927" r:id="rId124"/>
    <p:sldId id="928" r:id="rId125"/>
    <p:sldId id="929" r:id="rId126"/>
    <p:sldId id="930" r:id="rId127"/>
    <p:sldId id="931" r:id="rId128"/>
    <p:sldId id="932" r:id="rId129"/>
    <p:sldId id="933" r:id="rId130"/>
    <p:sldId id="934" r:id="rId131"/>
    <p:sldId id="935" r:id="rId132"/>
    <p:sldId id="936" r:id="rId133"/>
    <p:sldId id="937" r:id="rId134"/>
    <p:sldId id="938" r:id="rId135"/>
    <p:sldId id="939" r:id="rId136"/>
    <p:sldId id="944" r:id="rId137"/>
    <p:sldId id="945" r:id="rId138"/>
    <p:sldId id="970" r:id="rId139"/>
    <p:sldId id="973" r:id="rId140"/>
    <p:sldId id="971" r:id="rId141"/>
    <p:sldId id="972" r:id="rId142"/>
    <p:sldId id="946" r:id="rId143"/>
    <p:sldId id="966" r:id="rId144"/>
    <p:sldId id="967" r:id="rId145"/>
    <p:sldId id="968" r:id="rId146"/>
    <p:sldId id="969" r:id="rId147"/>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6600"/>
    <a:srgbClr val="663300"/>
    <a:srgbClr val="993300"/>
    <a:srgbClr val="A50021"/>
    <a:srgbClr val="FF9933"/>
    <a:srgbClr val="C0C0C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p:cViewPr varScale="1">
        <p:scale>
          <a:sx n="86" d="100"/>
          <a:sy n="86" d="100"/>
        </p:scale>
        <p:origin x="-138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notesMaster" Target="notesMasters/notesMaster1.xml"/><Relationship Id="rId15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1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42189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42189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42189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4420E77-81C4-40B2-AC2F-79932A0FC0AE}" type="slidenum">
              <a:rPr lang="en-US" altLang="zh-CN"/>
              <a:pPr>
                <a:defRPr/>
              </a:pPr>
              <a:t>‹#›</a:t>
            </a:fld>
            <a:endParaRPr lang="en-US" altLang="zh-CN"/>
          </a:p>
        </p:txBody>
      </p:sp>
    </p:spTree>
    <p:extLst>
      <p:ext uri="{BB962C8B-B14F-4D97-AF65-F5344CB8AC3E}">
        <p14:creationId xmlns:p14="http://schemas.microsoft.com/office/powerpoint/2010/main" val="868056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4131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175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131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131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4131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A257A477-98F8-40C2-9C15-7921A71FD72C}" type="slidenum">
              <a:rPr lang="en-US" altLang="zh-CN"/>
              <a:pPr>
                <a:defRPr/>
              </a:pPr>
              <a:t>‹#›</a:t>
            </a:fld>
            <a:endParaRPr lang="en-US" altLang="zh-CN"/>
          </a:p>
        </p:txBody>
      </p:sp>
    </p:spTree>
    <p:extLst>
      <p:ext uri="{BB962C8B-B14F-4D97-AF65-F5344CB8AC3E}">
        <p14:creationId xmlns:p14="http://schemas.microsoft.com/office/powerpoint/2010/main" val="3620977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fld id="{4310EB73-70AB-4A43-A6B9-464F0D566D79}" type="slidenum">
              <a:rPr lang="en-US" altLang="zh-CN" sz="1200"/>
              <a:pPr/>
              <a:t>48</a:t>
            </a:fld>
            <a:endParaRPr lang="en-US" altLang="zh-CN" sz="120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FF96F39A-98C8-48BC-8941-61C5989D5822}" type="slidenum">
              <a:rPr lang="en-US" altLang="zh-CN"/>
              <a:pPr/>
              <a:t>65</a:t>
            </a:fld>
            <a:endParaRPr lang="en-US" altLang="zh-CN"/>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F98BA275-90C6-4B2C-B5A1-613E4DABB32A}" type="slidenum">
              <a:rPr lang="en-US" altLang="zh-CN" smtClean="0"/>
              <a:pPr/>
              <a:t>84</a:t>
            </a:fld>
            <a:endParaRPr lang="en-US" altLang="zh-CN"/>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pPr eaLnBrk="1" hangingPunct="1"/>
            <a:r>
              <a:rPr lang="zh-CN" altLang="en-US"/>
              <a:t>整个执行过程是一棵树</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9D7091E-23D3-411D-ACCA-E85D38F4B96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A62E5-E21B-41CE-858F-1FB4DB5B6116}"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7774B30-3407-4BC6-8F01-A8610A5C1C6C}"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BEC5209-D211-4AE6-9938-BCE415C26451}"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777F194D-63AA-4E46-B2F9-8FF93653A134}"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BF0D247-04AB-4E66-82DE-7559530854F0}"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FF27E67-2070-4CFB-B1C6-CCB7E21FA5A5}" type="slidenum">
              <a:rPr lang="en-US" altLang="zh-CN"/>
              <a:pPr>
                <a:defRPr/>
              </a:pPr>
              <a:t>‹#›</a:t>
            </a:fld>
            <a:endParaRPr lang="en-US" altLang="zh-CN"/>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TextBox 6"/>
          <p:cNvSpPr txBox="1"/>
          <p:nvPr userDrawn="1"/>
        </p:nvSpPr>
        <p:spPr>
          <a:xfrm>
            <a:off x="0" y="88325"/>
            <a:ext cx="5594350" cy="584775"/>
          </a:xfrm>
          <a:prstGeom prst="rect">
            <a:avLst/>
          </a:prstGeom>
          <a:noFill/>
        </p:spPr>
        <p:txBody>
          <a:bodyPr wrap="square" rtlCol="0">
            <a:spAutoFit/>
          </a:bodyPr>
          <a:lstStyle/>
          <a:p>
            <a:pPr marL="342900" lvl="0" indent="-342900" algn="l" rtl="0" eaLnBrk="0" fontAlgn="base" hangingPunct="0">
              <a:spcBef>
                <a:spcPct val="0"/>
              </a:spcBef>
              <a:spcAft>
                <a:spcPct val="0"/>
              </a:spcAft>
              <a:buNone/>
            </a:pPr>
            <a:r>
              <a:rPr kumimoji="1" lang="zh-CN" altLang="en-US" sz="3200" b="1" dirty="0">
                <a:solidFill>
                  <a:schemeClr val="bg1"/>
                </a:solidFill>
                <a:latin typeface="+mn-lt"/>
                <a:ea typeface="+mn-ea"/>
                <a:cs typeface="+mn-cs"/>
              </a:rPr>
              <a:t>数据结构</a:t>
            </a:r>
            <a:r>
              <a:rPr kumimoji="1" lang="en-US" altLang="zh-CN" sz="3200" b="1" dirty="0">
                <a:solidFill>
                  <a:schemeClr val="bg1"/>
                </a:solidFill>
                <a:latin typeface="+mn-lt"/>
                <a:ea typeface="+mn-ea"/>
                <a:cs typeface="+mn-cs"/>
              </a:rPr>
              <a:t>-</a:t>
            </a:r>
            <a:r>
              <a:rPr kumimoji="1" lang="zh-CN" altLang="en-US" sz="3200" b="1" dirty="0">
                <a:solidFill>
                  <a:schemeClr val="bg1"/>
                </a:solidFill>
                <a:latin typeface="+mn-lt"/>
                <a:ea typeface="+mn-ea"/>
                <a:cs typeface="+mn-cs"/>
              </a:rPr>
              <a:t>第三章 栈和队列</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354C295-B0AF-4D11-8865-05FD347B205F}"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81B1FD5-BC89-4A67-A59C-5C68565BC568}"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DAC62EB-FC81-46C6-8D72-D0C12D7814B2}"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77AFFC6-1EDE-4ADE-A84F-5E871F83CF3C}"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3F48ACF-0010-48D5-B21C-B7A231045552}"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D7091E-23D3-411D-ACCA-E85D38F4B967}"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989622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D7A62E5-E21B-41CE-858F-1FB4DB5B6116}"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2273764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7774B30-3407-4BC6-8F01-A8610A5C1C6C}"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3369363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BEC5209-D211-4AE6-9938-BCE415C26451}"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4228904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77F194D-63AA-4E46-B2F9-8FF93653A134}"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4027471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8BF0D247-04AB-4E66-82DE-7559530854F0}"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2592331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FF27E67-2070-4CFB-B1C6-CCB7E21FA5A5}" type="slidenum">
              <a:rPr lang="en-US" altLang="zh-CN">
                <a:solidFill>
                  <a:srgbClr val="333399"/>
                </a:solidFill>
              </a:rPr>
              <a:pPr>
                <a:defRPr/>
              </a:pPr>
              <a:t>‹#›</a:t>
            </a:fld>
            <a:endParaRPr lang="en-US" altLang="zh-CN">
              <a:solidFill>
                <a:srgbClr val="333399"/>
              </a:solidFill>
            </a:endParaRPr>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TextBox 6"/>
          <p:cNvSpPr txBox="1"/>
          <p:nvPr userDrawn="1"/>
        </p:nvSpPr>
        <p:spPr>
          <a:xfrm>
            <a:off x="0" y="88325"/>
            <a:ext cx="5594350" cy="584775"/>
          </a:xfrm>
          <a:prstGeom prst="rect">
            <a:avLst/>
          </a:prstGeom>
          <a:noFill/>
        </p:spPr>
        <p:txBody>
          <a:bodyPr wrap="square" rtlCol="0">
            <a:spAutoFit/>
          </a:bodyPr>
          <a:lstStyle/>
          <a:p>
            <a:pPr marL="342900" indent="-342900" eaLnBrk="0" hangingPunct="0"/>
            <a:r>
              <a:rPr lang="zh-CN" altLang="en-US" sz="3200" b="1" dirty="0">
                <a:solidFill>
                  <a:srgbClr val="FFFFEB"/>
                </a:solidFill>
                <a:latin typeface="Times New Roman"/>
                <a:ea typeface="宋体"/>
              </a:rPr>
              <a:t>数据结构</a:t>
            </a:r>
            <a:r>
              <a:rPr lang="en-US" altLang="zh-CN" sz="3200" b="1" dirty="0">
                <a:solidFill>
                  <a:srgbClr val="FFFFEB"/>
                </a:solidFill>
                <a:latin typeface="Times New Roman"/>
                <a:ea typeface="宋体"/>
              </a:rPr>
              <a:t>-</a:t>
            </a:r>
            <a:r>
              <a:rPr lang="zh-CN" altLang="en-US" sz="3200" b="1" dirty="0">
                <a:solidFill>
                  <a:srgbClr val="FFFFEB"/>
                </a:solidFill>
                <a:latin typeface="Times New Roman"/>
                <a:ea typeface="宋体"/>
              </a:rPr>
              <a:t>第三章 栈和队列</a:t>
            </a:r>
          </a:p>
        </p:txBody>
      </p:sp>
    </p:spTree>
    <p:extLst>
      <p:ext uri="{BB962C8B-B14F-4D97-AF65-F5344CB8AC3E}">
        <p14:creationId xmlns:p14="http://schemas.microsoft.com/office/powerpoint/2010/main" val="3851758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354C295-B0AF-4D11-8865-05FD347B205F}"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3482063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81B1FD5-BC89-4A67-A59C-5C68565BC568}"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8113988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DAC62EB-FC81-46C6-8D72-D0C12D7814B2}"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25545673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77AFFC6-1EDE-4ADE-A84F-5E871F83CF3C}"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372072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333399"/>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333399"/>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3F48ACF-0010-48D5-B21C-B7A231045552}"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3339671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878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smtClean="0"/>
            </a:lvl1pPr>
          </a:lstStyle>
          <a:p>
            <a:pPr>
              <a:defRPr/>
            </a:pPr>
            <a:endParaRPr lang="en-US" altLang="zh-CN"/>
          </a:p>
        </p:txBody>
      </p:sp>
      <p:sp>
        <p:nvSpPr>
          <p:cNvPr id="11878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sz="1400" smtClean="0"/>
            </a:lvl1pPr>
          </a:lstStyle>
          <a:p>
            <a:pPr>
              <a:defRPr/>
            </a:pPr>
            <a:endParaRPr lang="en-US" altLang="zh-CN"/>
          </a:p>
        </p:txBody>
      </p:sp>
      <p:sp>
        <p:nvSpPr>
          <p:cNvPr id="11879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lvl1pPr>
          </a:lstStyle>
          <a:p>
            <a:pPr>
              <a:defRPr/>
            </a:pPr>
            <a:fld id="{FC921436-95CC-469A-B724-0CF314FEE49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878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smtClean="0"/>
            </a:lvl1pPr>
          </a:lstStyle>
          <a:p>
            <a:pPr>
              <a:defRPr/>
            </a:pPr>
            <a:endParaRPr lang="en-US" altLang="zh-CN">
              <a:solidFill>
                <a:srgbClr val="333399"/>
              </a:solidFill>
            </a:endParaRPr>
          </a:p>
        </p:txBody>
      </p:sp>
      <p:sp>
        <p:nvSpPr>
          <p:cNvPr id="11878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sz="1400" smtClean="0"/>
            </a:lvl1pPr>
          </a:lstStyle>
          <a:p>
            <a:pPr>
              <a:defRPr/>
            </a:pPr>
            <a:endParaRPr lang="en-US" altLang="zh-CN">
              <a:solidFill>
                <a:srgbClr val="333399"/>
              </a:solidFill>
            </a:endParaRPr>
          </a:p>
        </p:txBody>
      </p:sp>
      <p:sp>
        <p:nvSpPr>
          <p:cNvPr id="11879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lvl1pPr>
          </a:lstStyle>
          <a:p>
            <a:pPr>
              <a:defRPr/>
            </a:pPr>
            <a:fld id="{FC921436-95CC-469A-B724-0CF314FEE491}" type="slidenum">
              <a:rPr lang="en-US" altLang="zh-CN">
                <a:solidFill>
                  <a:srgbClr val="333399"/>
                </a:solidFill>
              </a:rPr>
              <a:pPr>
                <a:defRPr/>
              </a:pPr>
              <a:t>‹#›</a:t>
            </a:fld>
            <a:endParaRPr lang="en-US" altLang="zh-CN">
              <a:solidFill>
                <a:srgbClr val="333399"/>
              </a:solidFill>
            </a:endParaRPr>
          </a:p>
        </p:txBody>
      </p:sp>
    </p:spTree>
    <p:extLst>
      <p:ext uri="{BB962C8B-B14F-4D97-AF65-F5344CB8AC3E}">
        <p14:creationId xmlns:p14="http://schemas.microsoft.com/office/powerpoint/2010/main" val="19863590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141.xml"/><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 Target="slide18.xml"/><Relationship Id="rId7" Type="http://schemas.openxmlformats.org/officeDocument/2006/relationships/slide" Target="slide12.xml"/><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slide" Target="slide141.xml"/><Relationship Id="rId1" Type="http://schemas.openxmlformats.org/officeDocument/2006/relationships/slideLayout" Target="../slideLayouts/slideLayout7.xml"/><Relationship Id="rId6" Type="http://schemas.openxmlformats.org/officeDocument/2006/relationships/slide" Target="slide32.xml"/><Relationship Id="rId5" Type="http://schemas.openxmlformats.org/officeDocument/2006/relationships/slide" Target="slide27.xml"/><Relationship Id="rId4" Type="http://schemas.openxmlformats.org/officeDocument/2006/relationships/slide" Target="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2.bin"/><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slide" Target="slide142.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slide" Target="slide50.xml"/><Relationship Id="rId7" Type="http://schemas.openxmlformats.org/officeDocument/2006/relationships/slide" Target="slide53.xml"/><Relationship Id="rId2"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slide" Target="slide54.xml"/><Relationship Id="rId5" Type="http://schemas.openxmlformats.org/officeDocument/2006/relationships/slide" Target="slide52.xml"/><Relationship Id="rId4" Type="http://schemas.openxmlformats.org/officeDocument/2006/relationships/slide" Target="slide5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slide" Target="slide4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Rectangle 2"/>
          <p:cNvSpPr>
            <a:spLocks noGrp="1" noChangeArrowheads="1"/>
          </p:cNvSpPr>
          <p:nvPr>
            <p:ph type="ctrTitle"/>
          </p:nvPr>
        </p:nvSpPr>
        <p:spPr>
          <a:xfrm>
            <a:off x="527050" y="1606550"/>
            <a:ext cx="8170862" cy="4235450"/>
          </a:xfrm>
        </p:spPr>
        <p:txBody>
          <a:bodyPr/>
          <a:lstStyle/>
          <a:p>
            <a:r>
              <a:rPr lang="zh-CN" altLang="en-US" sz="10600" b="1" dirty="0">
                <a:solidFill>
                  <a:srgbClr val="000000"/>
                </a:solidFill>
                <a:ea typeface="隶书" pitchFamily="49" charset="-122"/>
              </a:rPr>
              <a:t>数据结构</a:t>
            </a:r>
            <a:br>
              <a:rPr lang="zh-CN" altLang="en-US" sz="10600" b="1" dirty="0">
                <a:solidFill>
                  <a:srgbClr val="000000"/>
                </a:solidFill>
                <a:ea typeface="隶书" pitchFamily="49" charset="-122"/>
              </a:rPr>
            </a:br>
            <a:r>
              <a:rPr lang="zh-CN" altLang="en-US" sz="10600" b="1" dirty="0">
                <a:solidFill>
                  <a:srgbClr val="000000"/>
                </a:solidFill>
                <a:ea typeface="隶书" pitchFamily="49" charset="-122"/>
              </a:rPr>
              <a:t/>
            </a:r>
            <a:br>
              <a:rPr lang="zh-CN" altLang="en-US" sz="10600" b="1" dirty="0">
                <a:solidFill>
                  <a:srgbClr val="000000"/>
                </a:solidFill>
                <a:ea typeface="隶书" pitchFamily="49" charset="-122"/>
              </a:rPr>
            </a:br>
            <a:r>
              <a:rPr lang="zh-CN" altLang="en-US" sz="4000" b="1" dirty="0">
                <a:solidFill>
                  <a:srgbClr val="000000"/>
                </a:solidFill>
                <a:ea typeface="隶书" pitchFamily="49" charset="-122"/>
              </a:rPr>
              <a:t>北京交通大学计算机学院</a:t>
            </a:r>
            <a:r>
              <a:rPr lang="en-US" altLang="zh-CN" sz="4000" b="1" dirty="0">
                <a:solidFill>
                  <a:srgbClr val="000000"/>
                </a:solidFill>
                <a:ea typeface="隶书" pitchFamily="49" charset="-122"/>
              </a:rPr>
              <a:t/>
            </a:r>
            <a:br>
              <a:rPr lang="en-US" altLang="zh-CN" sz="4000" b="1" dirty="0">
                <a:solidFill>
                  <a:srgbClr val="000000"/>
                </a:solidFill>
                <a:ea typeface="隶书" pitchFamily="49" charset="-122"/>
              </a:rPr>
            </a:br>
            <a:r>
              <a:rPr lang="en-US" altLang="zh-CN" sz="2800" b="1" dirty="0">
                <a:solidFill>
                  <a:srgbClr val="000000"/>
                </a:solidFill>
                <a:ea typeface="隶书" pitchFamily="49" charset="-122"/>
              </a:rPr>
              <a:t/>
            </a:r>
            <a:br>
              <a:rPr lang="en-US" altLang="zh-CN" sz="2800" b="1" dirty="0">
                <a:solidFill>
                  <a:srgbClr val="000000"/>
                </a:solidFill>
                <a:ea typeface="隶书" pitchFamily="49" charset="-122"/>
              </a:rPr>
            </a:br>
            <a:r>
              <a:rPr lang="en-US" altLang="zh-CN" sz="2800" b="1" dirty="0">
                <a:solidFill>
                  <a:srgbClr val="000000"/>
                </a:solidFill>
                <a:ea typeface="隶书" pitchFamily="49" charset="-122"/>
              </a:rPr>
              <a:t/>
            </a:r>
            <a:br>
              <a:rPr lang="en-US" altLang="zh-CN" sz="2800" b="1" dirty="0">
                <a:solidFill>
                  <a:srgbClr val="000000"/>
                </a:solidFill>
                <a:ea typeface="隶书" pitchFamily="49" charset="-122"/>
              </a:rPr>
            </a:br>
            <a:endParaRPr lang="zh-CN" altLang="en-US" sz="2400" b="1" dirty="0">
              <a:solidFill>
                <a:srgbClr val="000000"/>
              </a:solidFill>
              <a:ea typeface="隶书"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灯片编号占位符 5"/>
          <p:cNvSpPr>
            <a:spLocks noGrp="1"/>
          </p:cNvSpPr>
          <p:nvPr>
            <p:ph type="sldNum" sz="quarter" idx="12"/>
          </p:nvPr>
        </p:nvSpPr>
        <p:spPr>
          <a:noFill/>
        </p:spPr>
        <p:txBody>
          <a:bodyPr/>
          <a:lstStyle/>
          <a:p>
            <a:fld id="{F3485302-F4AA-48A4-8207-7E3EB50E3015}" type="slidenum">
              <a:rPr lang="en-US" altLang="zh-CN"/>
              <a:pPr/>
              <a:t>2</a:t>
            </a:fld>
            <a:endParaRPr lang="en-US" altLang="zh-CN"/>
          </a:p>
        </p:txBody>
      </p:sp>
      <p:sp>
        <p:nvSpPr>
          <p:cNvPr id="2051" name="Text Box 7"/>
          <p:cNvSpPr txBox="1">
            <a:spLocks noChangeArrowheads="1"/>
          </p:cNvSpPr>
          <p:nvPr/>
        </p:nvSpPr>
        <p:spPr bwMode="auto">
          <a:xfrm>
            <a:off x="482600" y="2362200"/>
            <a:ext cx="8229600" cy="1377749"/>
          </a:xfrm>
          <a:prstGeom prst="rect">
            <a:avLst/>
          </a:prstGeom>
          <a:noFill/>
          <a:ln w="9525">
            <a:noFill/>
            <a:miter lim="800000"/>
            <a:headEnd/>
            <a:tailEnd/>
          </a:ln>
        </p:spPr>
        <p:txBody>
          <a:bodyPr>
            <a:spAutoFit/>
          </a:bodyPr>
          <a:lstStyle/>
          <a:p>
            <a:pPr algn="ctr" eaLnBrk="0" hangingPunct="0">
              <a:lnSpc>
                <a:spcPct val="150000"/>
              </a:lnSpc>
            </a:pPr>
            <a:r>
              <a:rPr lang="zh-CN" altLang="en-US" sz="6600" b="1" dirty="0">
                <a:solidFill>
                  <a:srgbClr val="000000"/>
                </a:solidFill>
                <a:latin typeface="楷体_GB2312" pitchFamily="49" charset="-122"/>
                <a:ea typeface="楷体_GB2312" pitchFamily="49" charset="-122"/>
              </a:rPr>
              <a:t>第三章  栈和队列</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灯片编号占位符 3"/>
          <p:cNvSpPr>
            <a:spLocks noGrp="1"/>
          </p:cNvSpPr>
          <p:nvPr>
            <p:ph type="sldNum" sz="quarter" idx="12"/>
          </p:nvPr>
        </p:nvSpPr>
        <p:spPr>
          <a:noFill/>
        </p:spPr>
        <p:txBody>
          <a:bodyPr/>
          <a:lstStyle/>
          <a:p>
            <a:fld id="{ED301F4D-92E9-430E-AEE4-46DF03371802}" type="slidenum">
              <a:rPr lang="en-US" altLang="zh-CN"/>
              <a:pPr/>
              <a:t>3</a:t>
            </a:fld>
            <a:endParaRPr lang="en-US" altLang="zh-CN"/>
          </a:p>
        </p:txBody>
      </p:sp>
      <p:sp>
        <p:nvSpPr>
          <p:cNvPr id="3075" name="Text Box 1028"/>
          <p:cNvSpPr txBox="1">
            <a:spLocks noChangeArrowheads="1"/>
          </p:cNvSpPr>
          <p:nvPr/>
        </p:nvSpPr>
        <p:spPr bwMode="auto">
          <a:xfrm>
            <a:off x="1149350" y="1606550"/>
            <a:ext cx="7426325" cy="954107"/>
          </a:xfrm>
          <a:prstGeom prst="rect">
            <a:avLst/>
          </a:prstGeom>
          <a:noFill/>
          <a:ln w="9525">
            <a:noFill/>
            <a:miter lim="800000"/>
            <a:headEnd/>
            <a:tailEnd/>
          </a:ln>
        </p:spPr>
        <p:txBody>
          <a:bodyPr>
            <a:spAutoFit/>
          </a:bodyPr>
          <a:lstStyle/>
          <a:p>
            <a:pPr algn="just">
              <a:spcBef>
                <a:spcPct val="50000"/>
              </a:spcBef>
            </a:pPr>
            <a:r>
              <a:rPr lang="zh-CN" altLang="en-US" sz="2800" b="1" dirty="0">
                <a:solidFill>
                  <a:srgbClr val="000000"/>
                </a:solidFill>
                <a:latin typeface="楷体_GB2312" pitchFamily="49" charset="-122"/>
                <a:ea typeface="楷体_GB2312" pitchFamily="49" charset="-122"/>
              </a:rPr>
              <a:t>栈的定义、表示及实现；栈的应用（表达式求值、递归）；队列的定义、表示及实现</a:t>
            </a:r>
          </a:p>
        </p:txBody>
      </p:sp>
      <p:sp>
        <p:nvSpPr>
          <p:cNvPr id="3076" name="Text Box 1030"/>
          <p:cNvSpPr txBox="1">
            <a:spLocks noChangeArrowheads="1"/>
          </p:cNvSpPr>
          <p:nvPr/>
        </p:nvSpPr>
        <p:spPr bwMode="auto">
          <a:xfrm>
            <a:off x="1149350" y="3251200"/>
            <a:ext cx="7831138" cy="1384995"/>
          </a:xfrm>
          <a:prstGeom prst="rect">
            <a:avLst/>
          </a:prstGeom>
          <a:noFill/>
          <a:ln w="9525">
            <a:noFill/>
            <a:miter lim="800000"/>
            <a:headEnd/>
            <a:tailEnd/>
          </a:ln>
        </p:spPr>
        <p:txBody>
          <a:bodyPr>
            <a:spAutoFit/>
          </a:bodyPr>
          <a:lstStyle/>
          <a:p>
            <a:r>
              <a:rPr lang="zh-CN" altLang="en-US" sz="2800" b="1" dirty="0">
                <a:solidFill>
                  <a:srgbClr val="000000"/>
                </a:solidFill>
                <a:latin typeface="楷体_GB2312" pitchFamily="49" charset="-122"/>
                <a:ea typeface="楷体_GB2312" pitchFamily="49" charset="-122"/>
              </a:rPr>
              <a:t>栈和队列的特点；在两种存储结构上栈的基本操作的实现；循环队列和链队列的基本运算；递归算法执行过程中栈状态的变化过程</a:t>
            </a:r>
            <a:endParaRPr lang="zh-CN" altLang="en-US" sz="2800" dirty="0">
              <a:solidFill>
                <a:srgbClr val="000000"/>
              </a:solidFill>
            </a:endParaRPr>
          </a:p>
        </p:txBody>
      </p:sp>
      <p:sp>
        <p:nvSpPr>
          <p:cNvPr id="3077" name="Text Box 1032"/>
          <p:cNvSpPr txBox="1">
            <a:spLocks noChangeArrowheads="1"/>
          </p:cNvSpPr>
          <p:nvPr/>
        </p:nvSpPr>
        <p:spPr bwMode="auto">
          <a:xfrm>
            <a:off x="1193800" y="5429250"/>
            <a:ext cx="7424738" cy="523220"/>
          </a:xfrm>
          <a:prstGeom prst="rect">
            <a:avLst/>
          </a:prstGeom>
          <a:noFill/>
          <a:ln w="9525">
            <a:noFill/>
            <a:miter lim="800000"/>
            <a:headEnd/>
            <a:tailEnd/>
          </a:ln>
        </p:spPr>
        <p:txBody>
          <a:bodyPr>
            <a:spAutoFit/>
          </a:bodyPr>
          <a:lstStyle/>
          <a:p>
            <a:pPr>
              <a:spcBef>
                <a:spcPct val="50000"/>
              </a:spcBef>
            </a:pPr>
            <a:r>
              <a:rPr lang="zh-CN" altLang="en-US" sz="2800" b="1" dirty="0">
                <a:solidFill>
                  <a:srgbClr val="000000"/>
                </a:solidFill>
                <a:latin typeface="楷体_GB2312" pitchFamily="49" charset="-122"/>
                <a:ea typeface="楷体_GB2312" pitchFamily="49" charset="-122"/>
              </a:rPr>
              <a:t>循环队列和链队列的基本运算</a:t>
            </a:r>
            <a:r>
              <a:rPr lang="zh-CN" altLang="en-US" sz="2800" dirty="0">
                <a:solidFill>
                  <a:srgbClr val="000000"/>
                </a:solidFill>
              </a:rPr>
              <a:t> </a:t>
            </a:r>
          </a:p>
        </p:txBody>
      </p:sp>
      <p:sp>
        <p:nvSpPr>
          <p:cNvPr id="3078" name="Text Box 1033"/>
          <p:cNvSpPr txBox="1">
            <a:spLocks noChangeArrowheads="1"/>
          </p:cNvSpPr>
          <p:nvPr/>
        </p:nvSpPr>
        <p:spPr bwMode="auto">
          <a:xfrm>
            <a:off x="127000" y="984250"/>
            <a:ext cx="3455987" cy="584775"/>
          </a:xfrm>
          <a:prstGeom prst="rect">
            <a:avLst/>
          </a:prstGeom>
          <a:noFill/>
          <a:ln w="9525">
            <a:noFill/>
            <a:miter lim="800000"/>
            <a:headEnd/>
            <a:tailEnd/>
          </a:ln>
        </p:spPr>
        <p:txBody>
          <a:bodyPr>
            <a:spAutoFit/>
          </a:bodyPr>
          <a:lstStyle/>
          <a:p>
            <a:pPr algn="ctr">
              <a:spcBef>
                <a:spcPct val="50000"/>
              </a:spcBef>
            </a:pPr>
            <a:r>
              <a:rPr lang="en-US" altLang="zh-CN" sz="3200" b="1" dirty="0">
                <a:solidFill>
                  <a:srgbClr val="000000"/>
                </a:solidFill>
                <a:latin typeface="宋体" pitchFamily="2" charset="-122"/>
              </a:rPr>
              <a:t>※ </a:t>
            </a:r>
            <a:r>
              <a:rPr lang="zh-CN" altLang="en-US" sz="3200" b="1" dirty="0">
                <a:solidFill>
                  <a:srgbClr val="FF0000"/>
                </a:solidFill>
                <a:latin typeface="宋体" pitchFamily="2" charset="-122"/>
              </a:rPr>
              <a:t>教学内容</a:t>
            </a:r>
            <a:r>
              <a:rPr lang="zh-CN" altLang="en-US" sz="3200" b="1" dirty="0">
                <a:solidFill>
                  <a:srgbClr val="000000"/>
                </a:solidFill>
                <a:latin typeface="宋体" pitchFamily="2" charset="-122"/>
              </a:rPr>
              <a:t>： </a:t>
            </a:r>
          </a:p>
        </p:txBody>
      </p:sp>
      <p:sp>
        <p:nvSpPr>
          <p:cNvPr id="3079" name="Text Box 1034"/>
          <p:cNvSpPr txBox="1">
            <a:spLocks noChangeArrowheads="1"/>
          </p:cNvSpPr>
          <p:nvPr/>
        </p:nvSpPr>
        <p:spPr bwMode="auto">
          <a:xfrm>
            <a:off x="449262" y="2673350"/>
            <a:ext cx="3455988" cy="584775"/>
          </a:xfrm>
          <a:prstGeom prst="rect">
            <a:avLst/>
          </a:prstGeom>
          <a:noFill/>
          <a:ln w="9525">
            <a:noFill/>
            <a:miter lim="800000"/>
            <a:headEnd/>
            <a:tailEnd/>
          </a:ln>
        </p:spPr>
        <p:txBody>
          <a:bodyPr>
            <a:spAutoFit/>
          </a:bodyPr>
          <a:lstStyle/>
          <a:p>
            <a:pPr>
              <a:spcBef>
                <a:spcPct val="50000"/>
              </a:spcBef>
            </a:pPr>
            <a:r>
              <a:rPr lang="en-US" altLang="zh-CN" sz="3200" b="1" dirty="0">
                <a:solidFill>
                  <a:srgbClr val="000000"/>
                </a:solidFill>
                <a:latin typeface="宋体" pitchFamily="2" charset="-122"/>
              </a:rPr>
              <a:t>※ </a:t>
            </a:r>
            <a:r>
              <a:rPr lang="zh-CN" altLang="en-US" sz="3200" b="1" dirty="0">
                <a:solidFill>
                  <a:srgbClr val="FF0000"/>
                </a:solidFill>
                <a:latin typeface="宋体" pitchFamily="2" charset="-122"/>
              </a:rPr>
              <a:t>教学重点</a:t>
            </a:r>
            <a:r>
              <a:rPr lang="zh-CN" altLang="en-US" sz="3200" b="1" dirty="0">
                <a:solidFill>
                  <a:srgbClr val="000000"/>
                </a:solidFill>
                <a:latin typeface="宋体" pitchFamily="2" charset="-122"/>
              </a:rPr>
              <a:t>：</a:t>
            </a:r>
            <a:r>
              <a:rPr lang="zh-CN" altLang="en-US" sz="3200" b="1" dirty="0">
                <a:solidFill>
                  <a:srgbClr val="000000"/>
                </a:solidFill>
              </a:rPr>
              <a:t> </a:t>
            </a:r>
          </a:p>
        </p:txBody>
      </p:sp>
      <p:sp>
        <p:nvSpPr>
          <p:cNvPr id="3080" name="Text Box 1035"/>
          <p:cNvSpPr txBox="1">
            <a:spLocks noChangeArrowheads="1"/>
          </p:cNvSpPr>
          <p:nvPr/>
        </p:nvSpPr>
        <p:spPr bwMode="auto">
          <a:xfrm>
            <a:off x="482600" y="4762500"/>
            <a:ext cx="4049713" cy="584775"/>
          </a:xfrm>
          <a:prstGeom prst="rect">
            <a:avLst/>
          </a:prstGeom>
          <a:noFill/>
          <a:ln w="9525">
            <a:noFill/>
            <a:miter lim="800000"/>
            <a:headEnd/>
            <a:tailEnd/>
          </a:ln>
        </p:spPr>
        <p:txBody>
          <a:bodyPr>
            <a:spAutoFit/>
          </a:bodyPr>
          <a:lstStyle/>
          <a:p>
            <a:pPr>
              <a:spcBef>
                <a:spcPct val="50000"/>
              </a:spcBef>
            </a:pPr>
            <a:r>
              <a:rPr lang="en-US" altLang="zh-CN" sz="3200" b="1" dirty="0">
                <a:solidFill>
                  <a:srgbClr val="000000"/>
                </a:solidFill>
                <a:latin typeface="宋体" pitchFamily="2" charset="-122"/>
              </a:rPr>
              <a:t>※ </a:t>
            </a:r>
            <a:r>
              <a:rPr lang="zh-CN" altLang="en-US" sz="3200" b="1" dirty="0">
                <a:solidFill>
                  <a:srgbClr val="FF0000"/>
                </a:solidFill>
                <a:latin typeface="宋体" pitchFamily="2" charset="-122"/>
              </a:rPr>
              <a:t>教学难点</a:t>
            </a:r>
            <a:r>
              <a:rPr lang="zh-CN" altLang="en-US" sz="3200" b="1" dirty="0">
                <a:solidFill>
                  <a:srgbClr val="000000"/>
                </a:solidFill>
                <a:latin typeface="宋体" pitchFamily="2" charset="-122"/>
              </a:rPr>
              <a:t>：</a:t>
            </a:r>
            <a:r>
              <a:rPr lang="zh-CN" altLang="en-US" sz="3200" b="1" dirty="0">
                <a:solidFill>
                  <a:srgbClr val="000000"/>
                </a:solidFill>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灯片编号占位符 3"/>
          <p:cNvSpPr>
            <a:spLocks noGrp="1"/>
          </p:cNvSpPr>
          <p:nvPr>
            <p:ph type="sldNum" sz="quarter" idx="12"/>
          </p:nvPr>
        </p:nvSpPr>
        <p:spPr>
          <a:noFill/>
        </p:spPr>
        <p:txBody>
          <a:bodyPr/>
          <a:lstStyle/>
          <a:p>
            <a:fld id="{183C6E15-634F-4AB1-B0AD-DE02C1D51262}" type="slidenum">
              <a:rPr lang="en-US" altLang="zh-CN"/>
              <a:pPr/>
              <a:t>4</a:t>
            </a:fld>
            <a:endParaRPr lang="en-US" altLang="zh-CN"/>
          </a:p>
        </p:txBody>
      </p:sp>
      <p:sp>
        <p:nvSpPr>
          <p:cNvPr id="4099" name="Text Box 1026"/>
          <p:cNvSpPr txBox="1">
            <a:spLocks noChangeArrowheads="1"/>
          </p:cNvSpPr>
          <p:nvPr/>
        </p:nvSpPr>
        <p:spPr bwMode="auto">
          <a:xfrm>
            <a:off x="482600" y="1473200"/>
            <a:ext cx="8474075" cy="1066800"/>
          </a:xfrm>
          <a:prstGeom prst="rect">
            <a:avLst/>
          </a:prstGeom>
          <a:noFill/>
          <a:ln w="9525">
            <a:noFill/>
            <a:miter lim="800000"/>
            <a:headEnd/>
            <a:tailEnd/>
          </a:ln>
        </p:spPr>
        <p:txBody>
          <a:bodyPr>
            <a:spAutoFit/>
          </a:bodyPr>
          <a:lstStyle/>
          <a:p>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栈和队列是限定插入和删除只能在表的“端点”进行的线性表。</a:t>
            </a:r>
          </a:p>
        </p:txBody>
      </p:sp>
      <p:sp>
        <p:nvSpPr>
          <p:cNvPr id="4100" name="Text Box 1027"/>
          <p:cNvSpPr txBox="1">
            <a:spLocks noChangeArrowheads="1"/>
          </p:cNvSpPr>
          <p:nvPr/>
        </p:nvSpPr>
        <p:spPr bwMode="auto">
          <a:xfrm>
            <a:off x="228600" y="2895600"/>
            <a:ext cx="8915400" cy="2466975"/>
          </a:xfrm>
          <a:prstGeom prst="rect">
            <a:avLst/>
          </a:prstGeom>
          <a:solidFill>
            <a:srgbClr val="FFFFCC"/>
          </a:solidFill>
          <a:ln w="57150" cmpd="thinThick">
            <a:solidFill>
              <a:srgbClr val="800000"/>
            </a:solidFill>
            <a:miter lim="800000"/>
            <a:headEnd/>
            <a:tailEnd/>
          </a:ln>
        </p:spPr>
        <p:txBody>
          <a:bodyPr>
            <a:spAutoFit/>
          </a:bodyPr>
          <a:lstStyle/>
          <a:p>
            <a:r>
              <a:rPr lang="en-US" altLang="zh-CN" sz="4000" b="1">
                <a:solidFill>
                  <a:srgbClr val="000066"/>
                </a:solidFill>
                <a:latin typeface="隶书" pitchFamily="49" charset="-122"/>
                <a:ea typeface="隶书" pitchFamily="49" charset="-122"/>
              </a:rPr>
              <a:t> </a:t>
            </a:r>
            <a:r>
              <a:rPr lang="zh-CN" altLang="en-US" sz="3600" b="1">
                <a:solidFill>
                  <a:srgbClr val="000066"/>
                </a:solidFill>
                <a:latin typeface="隶书" pitchFamily="49" charset="-122"/>
                <a:ea typeface="隶书" pitchFamily="49" charset="-122"/>
              </a:rPr>
              <a:t>线性表       栈         队列</a:t>
            </a:r>
            <a:endParaRPr lang="zh-CN" altLang="en-US" sz="2800">
              <a:solidFill>
                <a:srgbClr val="000066"/>
              </a:solidFill>
            </a:endParaRPr>
          </a:p>
          <a:p>
            <a:r>
              <a:rPr lang="en-US" altLang="zh-CN" sz="2800">
                <a:solidFill>
                  <a:srgbClr val="800000"/>
                </a:solidFill>
              </a:rPr>
              <a:t>Insert(L,</a:t>
            </a:r>
            <a:r>
              <a:rPr lang="en-US" altLang="zh-CN" sz="2800">
                <a:solidFill>
                  <a:srgbClr val="FF5050"/>
                </a:solidFill>
              </a:rPr>
              <a:t> </a:t>
            </a:r>
            <a:r>
              <a:rPr lang="en-US" altLang="zh-CN" sz="2800" b="1">
                <a:solidFill>
                  <a:srgbClr val="FF5050"/>
                </a:solidFill>
              </a:rPr>
              <a:t>i</a:t>
            </a:r>
            <a:r>
              <a:rPr lang="en-US" altLang="zh-CN" sz="2800">
                <a:solidFill>
                  <a:srgbClr val="800000"/>
                </a:solidFill>
              </a:rPr>
              <a:t>, x)    Insert(S, </a:t>
            </a:r>
            <a:r>
              <a:rPr lang="en-US" altLang="zh-CN" sz="2800" b="1">
                <a:solidFill>
                  <a:srgbClr val="CC00CC"/>
                </a:solidFill>
              </a:rPr>
              <a:t>n+1</a:t>
            </a:r>
            <a:r>
              <a:rPr lang="en-US" altLang="zh-CN" sz="2800">
                <a:solidFill>
                  <a:srgbClr val="800000"/>
                </a:solidFill>
              </a:rPr>
              <a:t>, x)    Insert(Q, </a:t>
            </a:r>
            <a:r>
              <a:rPr lang="en-US" altLang="zh-CN" sz="2800" b="1">
                <a:solidFill>
                  <a:srgbClr val="CC00CC"/>
                </a:solidFill>
              </a:rPr>
              <a:t>n+1</a:t>
            </a:r>
            <a:r>
              <a:rPr lang="en-US" altLang="zh-CN" sz="2800">
                <a:solidFill>
                  <a:srgbClr val="800000"/>
                </a:solidFill>
              </a:rPr>
              <a:t>, x)</a:t>
            </a:r>
          </a:p>
          <a:p>
            <a:r>
              <a:rPr lang="en-US" altLang="zh-CN" sz="2800">
                <a:solidFill>
                  <a:srgbClr val="800000"/>
                </a:solidFill>
              </a:rPr>
              <a:t> </a:t>
            </a:r>
            <a:r>
              <a:rPr lang="en-US" altLang="zh-CN" sz="2800" b="1">
                <a:solidFill>
                  <a:srgbClr val="FF5050"/>
                </a:solidFill>
              </a:rPr>
              <a:t>1≤i≤n+1</a:t>
            </a:r>
            <a:endParaRPr lang="en-US" altLang="zh-CN" sz="2800">
              <a:solidFill>
                <a:srgbClr val="800000"/>
              </a:solidFill>
            </a:endParaRPr>
          </a:p>
          <a:p>
            <a:r>
              <a:rPr lang="en-US" altLang="zh-CN" sz="2800">
                <a:solidFill>
                  <a:srgbClr val="800000"/>
                </a:solidFill>
              </a:rPr>
              <a:t> Delete(L, </a:t>
            </a:r>
            <a:r>
              <a:rPr lang="en-US" altLang="zh-CN" sz="2800" b="1">
                <a:solidFill>
                  <a:srgbClr val="FF5050"/>
                </a:solidFill>
              </a:rPr>
              <a:t>i</a:t>
            </a:r>
            <a:r>
              <a:rPr lang="en-US" altLang="zh-CN" sz="2800">
                <a:solidFill>
                  <a:srgbClr val="800000"/>
                </a:solidFill>
              </a:rPr>
              <a:t>)        Delete(S, </a:t>
            </a:r>
            <a:r>
              <a:rPr lang="en-US" altLang="zh-CN" sz="2800" b="1">
                <a:solidFill>
                  <a:srgbClr val="CC00CC"/>
                </a:solidFill>
              </a:rPr>
              <a:t>n</a:t>
            </a:r>
            <a:r>
              <a:rPr lang="en-US" altLang="zh-CN" sz="2800">
                <a:solidFill>
                  <a:srgbClr val="800000"/>
                </a:solidFill>
              </a:rPr>
              <a:t>)            Delete(Q, </a:t>
            </a:r>
            <a:r>
              <a:rPr lang="en-US" altLang="zh-CN" sz="2800" b="1">
                <a:solidFill>
                  <a:srgbClr val="CC00CC"/>
                </a:solidFill>
              </a:rPr>
              <a:t>1</a:t>
            </a:r>
            <a:r>
              <a:rPr lang="en-US" altLang="zh-CN" sz="2800">
                <a:solidFill>
                  <a:srgbClr val="800000"/>
                </a:solidFill>
              </a:rPr>
              <a:t>)</a:t>
            </a:r>
          </a:p>
          <a:p>
            <a:r>
              <a:rPr lang="en-US" altLang="zh-CN" sz="2800">
                <a:solidFill>
                  <a:srgbClr val="800000"/>
                </a:solidFill>
              </a:rPr>
              <a:t>   </a:t>
            </a:r>
            <a:r>
              <a:rPr lang="en-US" altLang="zh-CN" sz="2800">
                <a:solidFill>
                  <a:srgbClr val="FF5050"/>
                </a:solidFill>
              </a:rPr>
              <a:t>1≤i≤n</a:t>
            </a:r>
            <a:endParaRPr lang="en-US" altLang="zh-CN" sz="3600">
              <a:solidFill>
                <a:srgbClr val="80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p:spPr>
        <p:txBody>
          <a:bodyPr/>
          <a:lstStyle/>
          <a:p>
            <a:fld id="{C350A28B-AC6A-468C-AD54-689A3F599E8B}" type="slidenum">
              <a:rPr lang="en-US" altLang="zh-CN"/>
              <a:pPr/>
              <a:t>5</a:t>
            </a:fld>
            <a:endParaRPr lang="en-US" altLang="zh-CN"/>
          </a:p>
        </p:txBody>
      </p:sp>
      <p:sp>
        <p:nvSpPr>
          <p:cNvPr id="5123" name="Text Box 2">
            <a:hlinkClick r:id="" action="ppaction://hlinkshowjump?jump=nextslide"/>
          </p:cNvPr>
          <p:cNvSpPr txBox="1">
            <a:spLocks noChangeArrowheads="1"/>
          </p:cNvSpPr>
          <p:nvPr/>
        </p:nvSpPr>
        <p:spPr bwMode="auto">
          <a:xfrm>
            <a:off x="1638300" y="1651000"/>
            <a:ext cx="5614988" cy="646331"/>
          </a:xfrm>
          <a:prstGeom prst="rect">
            <a:avLst/>
          </a:prstGeom>
          <a:noFill/>
          <a:ln w="9525">
            <a:noFill/>
            <a:miter lim="800000"/>
            <a:headEnd/>
            <a:tailEnd/>
          </a:ln>
        </p:spPr>
        <p:txBody>
          <a:bodyPr>
            <a:spAutoFit/>
          </a:bodyPr>
          <a:lstStyle/>
          <a:p>
            <a:r>
              <a:rPr lang="en-US" altLang="zh-CN" sz="3600" b="1" dirty="0">
                <a:solidFill>
                  <a:schemeClr val="bg1">
                    <a:lumMod val="10000"/>
                  </a:schemeClr>
                </a:solidFill>
                <a:ea typeface="楷体_GB2312" pitchFamily="49" charset="-122"/>
              </a:rPr>
              <a:t>3.1  </a:t>
            </a:r>
            <a:r>
              <a:rPr lang="zh-CN" altLang="en-US" sz="3600" b="1" dirty="0">
                <a:solidFill>
                  <a:schemeClr val="bg1">
                    <a:lumMod val="10000"/>
                  </a:schemeClr>
                </a:solidFill>
                <a:ea typeface="楷体_GB2312" pitchFamily="49" charset="-122"/>
              </a:rPr>
              <a:t>栈</a:t>
            </a:r>
          </a:p>
        </p:txBody>
      </p:sp>
      <p:sp>
        <p:nvSpPr>
          <p:cNvPr id="5125" name="Text Box 4">
            <a:hlinkClick r:id="rId2" action="ppaction://hlinksldjump"/>
          </p:cNvPr>
          <p:cNvSpPr txBox="1">
            <a:spLocks noChangeArrowheads="1"/>
          </p:cNvSpPr>
          <p:nvPr/>
        </p:nvSpPr>
        <p:spPr bwMode="auto">
          <a:xfrm>
            <a:off x="1638300" y="2406650"/>
            <a:ext cx="5614988" cy="646331"/>
          </a:xfrm>
          <a:prstGeom prst="rect">
            <a:avLst/>
          </a:prstGeom>
          <a:noFill/>
          <a:ln w="9525">
            <a:noFill/>
            <a:miter lim="800000"/>
            <a:headEnd/>
            <a:tailEnd/>
          </a:ln>
        </p:spPr>
        <p:txBody>
          <a:bodyPr>
            <a:spAutoFit/>
          </a:bodyPr>
          <a:lstStyle/>
          <a:p>
            <a:pPr eaLnBrk="0" hangingPunct="0"/>
            <a:r>
              <a:rPr lang="en-US" altLang="zh-CN" sz="3600" b="1" dirty="0">
                <a:solidFill>
                  <a:schemeClr val="bg1">
                    <a:lumMod val="10000"/>
                  </a:schemeClr>
                </a:solidFill>
                <a:ea typeface="楷体_GB2312" pitchFamily="49" charset="-122"/>
              </a:rPr>
              <a:t>3.2  </a:t>
            </a:r>
            <a:r>
              <a:rPr lang="zh-CN" altLang="en-US" sz="3600" b="1" dirty="0">
                <a:solidFill>
                  <a:schemeClr val="bg1">
                    <a:lumMod val="10000"/>
                  </a:schemeClr>
                </a:solidFill>
                <a:ea typeface="楷体_GB2312" pitchFamily="49" charset="-122"/>
              </a:rPr>
              <a:t>栈的应用举例</a:t>
            </a:r>
            <a:endParaRPr lang="zh-CN" altLang="en-US" sz="3600" dirty="0">
              <a:solidFill>
                <a:schemeClr val="bg1">
                  <a:lumMod val="10000"/>
                </a:schemeClr>
              </a:solidFill>
            </a:endParaRPr>
          </a:p>
        </p:txBody>
      </p:sp>
      <p:sp>
        <p:nvSpPr>
          <p:cNvPr id="5126" name="Text Box 5">
            <a:hlinkClick r:id="rId3" action="ppaction://hlinksldjump"/>
          </p:cNvPr>
          <p:cNvSpPr txBox="1">
            <a:spLocks noChangeArrowheads="1"/>
          </p:cNvSpPr>
          <p:nvPr/>
        </p:nvSpPr>
        <p:spPr bwMode="auto">
          <a:xfrm>
            <a:off x="1633538" y="3897531"/>
            <a:ext cx="6249987" cy="646331"/>
          </a:xfrm>
          <a:prstGeom prst="rect">
            <a:avLst/>
          </a:prstGeom>
          <a:noFill/>
          <a:ln w="9525">
            <a:noFill/>
            <a:miter lim="800000"/>
            <a:headEnd/>
            <a:tailEnd/>
          </a:ln>
        </p:spPr>
        <p:txBody>
          <a:bodyPr>
            <a:spAutoFit/>
          </a:bodyPr>
          <a:lstStyle/>
          <a:p>
            <a:pPr eaLnBrk="0" hangingPunct="0"/>
            <a:r>
              <a:rPr lang="en-US" altLang="zh-CN" sz="3600" b="1" dirty="0">
                <a:solidFill>
                  <a:schemeClr val="bg1">
                    <a:lumMod val="10000"/>
                  </a:schemeClr>
                </a:solidFill>
                <a:ea typeface="楷体_GB2312" pitchFamily="49" charset="-122"/>
              </a:rPr>
              <a:t>3.4  </a:t>
            </a:r>
            <a:r>
              <a:rPr lang="zh-CN" altLang="en-US" sz="3600" b="1" dirty="0">
                <a:solidFill>
                  <a:schemeClr val="bg1">
                    <a:lumMod val="10000"/>
                  </a:schemeClr>
                </a:solidFill>
                <a:ea typeface="楷体_GB2312" pitchFamily="49" charset="-122"/>
              </a:rPr>
              <a:t>队列</a:t>
            </a:r>
            <a:endParaRPr lang="zh-CN" altLang="en-US" sz="3600" dirty="0">
              <a:solidFill>
                <a:schemeClr val="bg1">
                  <a:lumMod val="10000"/>
                </a:schemeClr>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灯片编号占位符 4"/>
          <p:cNvSpPr>
            <a:spLocks noGrp="1"/>
          </p:cNvSpPr>
          <p:nvPr>
            <p:ph type="sldNum" sz="quarter" idx="12"/>
          </p:nvPr>
        </p:nvSpPr>
        <p:spPr>
          <a:noFill/>
        </p:spPr>
        <p:txBody>
          <a:bodyPr/>
          <a:lstStyle/>
          <a:p>
            <a:fld id="{48378F10-BAC6-4F3B-8976-0B205CC110EA}" type="slidenum">
              <a:rPr lang="en-US" altLang="zh-CN"/>
              <a:pPr/>
              <a:t>6</a:t>
            </a:fld>
            <a:endParaRPr lang="en-US" altLang="zh-CN"/>
          </a:p>
        </p:txBody>
      </p:sp>
      <p:sp>
        <p:nvSpPr>
          <p:cNvPr id="6147" name="Rectangle 2"/>
          <p:cNvSpPr>
            <a:spLocks noGrp="1" noChangeArrowheads="1"/>
          </p:cNvSpPr>
          <p:nvPr>
            <p:ph idx="4294967295"/>
          </p:nvPr>
        </p:nvSpPr>
        <p:spPr>
          <a:xfrm>
            <a:off x="152400" y="1695450"/>
            <a:ext cx="8991600" cy="4114800"/>
          </a:xfrm>
        </p:spPr>
        <p:txBody>
          <a:bodyPr/>
          <a:lstStyle/>
          <a:p>
            <a:pPr marL="0" indent="714375" eaLnBrk="1" hangingPunct="1">
              <a:spcBef>
                <a:spcPct val="70000"/>
              </a:spcBef>
              <a:spcAft>
                <a:spcPct val="10000"/>
              </a:spcAft>
              <a:buFontTx/>
              <a:buNone/>
            </a:pPr>
            <a:r>
              <a:rPr lang="zh-CN" altLang="en-US" dirty="0">
                <a:solidFill>
                  <a:schemeClr val="bg1">
                    <a:lumMod val="10000"/>
                  </a:schemeClr>
                </a:solidFill>
                <a:ea typeface="楷体_GB2312" pitchFamily="49" charset="-122"/>
              </a:rPr>
              <a:t>栈</a:t>
            </a:r>
            <a:r>
              <a:rPr lang="en-US" altLang="zh-CN" dirty="0">
                <a:solidFill>
                  <a:schemeClr val="bg1">
                    <a:lumMod val="10000"/>
                  </a:schemeClr>
                </a:solidFill>
                <a:ea typeface="楷体_GB2312" pitchFamily="49" charset="-122"/>
              </a:rPr>
              <a:t>(Stack)</a:t>
            </a:r>
            <a:r>
              <a:rPr lang="zh-CN" altLang="en-US" dirty="0">
                <a:solidFill>
                  <a:schemeClr val="bg1">
                    <a:lumMod val="10000"/>
                  </a:schemeClr>
                </a:solidFill>
                <a:ea typeface="楷体_GB2312" pitchFamily="49" charset="-122"/>
              </a:rPr>
              <a:t>是</a:t>
            </a:r>
            <a:r>
              <a:rPr lang="zh-CN" altLang="en-US" dirty="0">
                <a:solidFill>
                  <a:schemeClr val="bg1">
                    <a:lumMod val="10000"/>
                  </a:schemeClr>
                </a:solidFill>
                <a:latin typeface="楷体_GB2312" pitchFamily="49" charset="-122"/>
                <a:ea typeface="楷体_GB2312" pitchFamily="49" charset="-122"/>
              </a:rPr>
              <a:t>限定仅在表尾进行插入或删除操作的线性表。</a:t>
            </a:r>
          </a:p>
          <a:p>
            <a:pPr marL="190500" lvl="1" indent="342900" eaLnBrk="1" hangingPunct="1">
              <a:spcBef>
                <a:spcPct val="40000"/>
              </a:spcBef>
              <a:spcAft>
                <a:spcPct val="10000"/>
              </a:spcAft>
              <a:buFontTx/>
              <a:buNone/>
            </a:pPr>
            <a:r>
              <a:rPr lang="zh-CN" altLang="en-US" sz="3200" dirty="0">
                <a:solidFill>
                  <a:schemeClr val="bg1">
                    <a:lumMod val="10000"/>
                  </a:schemeClr>
                </a:solidFill>
                <a:latin typeface="楷体_GB2312" pitchFamily="49" charset="-122"/>
                <a:ea typeface="楷体_GB2312" pitchFamily="49" charset="-122"/>
              </a:rPr>
              <a:t> 其中允许进行插入和删除的一端（表尾）称为</a:t>
            </a:r>
            <a:r>
              <a:rPr lang="zh-CN" altLang="en-US" sz="3200" u="sng" dirty="0">
                <a:solidFill>
                  <a:schemeClr val="bg1">
                    <a:lumMod val="10000"/>
                  </a:schemeClr>
                </a:solidFill>
                <a:latin typeface="楷体_GB2312" pitchFamily="49" charset="-122"/>
                <a:ea typeface="楷体_GB2312" pitchFamily="49" charset="-122"/>
              </a:rPr>
              <a:t>栈顶</a:t>
            </a:r>
            <a:r>
              <a:rPr lang="zh-CN" altLang="en-US" sz="3200" dirty="0">
                <a:solidFill>
                  <a:schemeClr val="bg1">
                    <a:lumMod val="10000"/>
                  </a:schemeClr>
                </a:solidFill>
                <a:latin typeface="楷体_GB2312" pitchFamily="49" charset="-122"/>
                <a:ea typeface="楷体_GB2312" pitchFamily="49" charset="-122"/>
              </a:rPr>
              <a:t>（</a:t>
            </a:r>
            <a:r>
              <a:rPr lang="en-US" altLang="zh-CN" sz="3200" dirty="0">
                <a:solidFill>
                  <a:schemeClr val="bg1">
                    <a:lumMod val="10000"/>
                  </a:schemeClr>
                </a:solidFill>
                <a:latin typeface="楷体_GB2312" pitchFamily="49" charset="-122"/>
                <a:ea typeface="楷体_GB2312" pitchFamily="49" charset="-122"/>
              </a:rPr>
              <a:t>top</a:t>
            </a:r>
            <a:r>
              <a:rPr lang="zh-CN" altLang="en-US" sz="3200" dirty="0">
                <a:solidFill>
                  <a:schemeClr val="bg1">
                    <a:lumMod val="10000"/>
                  </a:schemeClr>
                </a:solidFill>
                <a:latin typeface="楷体_GB2312" pitchFamily="49" charset="-122"/>
                <a:ea typeface="楷体_GB2312" pitchFamily="49" charset="-122"/>
              </a:rPr>
              <a:t>）；另一端（表头）称为</a:t>
            </a:r>
            <a:r>
              <a:rPr lang="zh-CN" altLang="en-US" sz="3200" u="sng" dirty="0">
                <a:solidFill>
                  <a:schemeClr val="bg1">
                    <a:lumMod val="10000"/>
                  </a:schemeClr>
                </a:solidFill>
                <a:latin typeface="楷体_GB2312" pitchFamily="49" charset="-122"/>
                <a:ea typeface="楷体_GB2312" pitchFamily="49" charset="-122"/>
              </a:rPr>
              <a:t>栈底</a:t>
            </a:r>
            <a:r>
              <a:rPr lang="zh-CN" altLang="en-US" sz="3200" dirty="0">
                <a:solidFill>
                  <a:schemeClr val="bg1">
                    <a:lumMod val="10000"/>
                  </a:schemeClr>
                </a:solidFill>
                <a:latin typeface="楷体_GB2312" pitchFamily="49" charset="-122"/>
                <a:ea typeface="楷体_GB2312" pitchFamily="49" charset="-122"/>
              </a:rPr>
              <a:t>（</a:t>
            </a:r>
            <a:r>
              <a:rPr lang="en-US" altLang="zh-CN" sz="3200" dirty="0">
                <a:solidFill>
                  <a:schemeClr val="bg1">
                    <a:lumMod val="10000"/>
                  </a:schemeClr>
                </a:solidFill>
                <a:latin typeface="楷体_GB2312" pitchFamily="49" charset="-122"/>
                <a:ea typeface="楷体_GB2312" pitchFamily="49" charset="-122"/>
              </a:rPr>
              <a:t>bottom</a:t>
            </a:r>
            <a:r>
              <a:rPr lang="zh-CN" altLang="en-US" sz="3200" dirty="0">
                <a:solidFill>
                  <a:schemeClr val="bg1">
                    <a:lumMod val="10000"/>
                  </a:schemeClr>
                </a:solidFill>
                <a:latin typeface="楷体_GB2312" pitchFamily="49" charset="-122"/>
                <a:ea typeface="楷体_GB2312" pitchFamily="49" charset="-122"/>
              </a:rPr>
              <a:t>）。</a:t>
            </a:r>
          </a:p>
          <a:p>
            <a:pPr marL="190500" lvl="1" indent="342900" eaLnBrk="1" hangingPunct="1">
              <a:spcBef>
                <a:spcPct val="40000"/>
              </a:spcBef>
              <a:spcAft>
                <a:spcPct val="10000"/>
              </a:spcAft>
              <a:buFontTx/>
              <a:buNone/>
            </a:pPr>
            <a:r>
              <a:rPr lang="zh-CN" altLang="en-US" sz="3200" dirty="0">
                <a:solidFill>
                  <a:schemeClr val="bg1">
                    <a:lumMod val="10000"/>
                  </a:schemeClr>
                </a:solidFill>
                <a:latin typeface="楷体_GB2312" pitchFamily="49" charset="-122"/>
                <a:ea typeface="楷体_GB2312" pitchFamily="49" charset="-122"/>
              </a:rPr>
              <a:t> 当表中没有元素时，称为</a:t>
            </a:r>
            <a:r>
              <a:rPr lang="zh-CN" altLang="en-US" sz="3200" u="sng" dirty="0">
                <a:solidFill>
                  <a:schemeClr val="bg1">
                    <a:lumMod val="10000"/>
                  </a:schemeClr>
                </a:solidFill>
                <a:latin typeface="楷体_GB2312" pitchFamily="49" charset="-122"/>
                <a:ea typeface="楷体_GB2312" pitchFamily="49" charset="-122"/>
              </a:rPr>
              <a:t>空栈</a:t>
            </a:r>
            <a:r>
              <a:rPr lang="zh-CN" altLang="en-US" sz="3200" dirty="0">
                <a:solidFill>
                  <a:schemeClr val="bg1">
                    <a:lumMod val="10000"/>
                  </a:schemeClr>
                </a:solidFill>
                <a:latin typeface="楷体_GB2312" pitchFamily="49" charset="-122"/>
                <a:ea typeface="楷体_GB2312" pitchFamily="49" charset="-122"/>
              </a:rPr>
              <a:t>。</a:t>
            </a:r>
          </a:p>
        </p:txBody>
      </p:sp>
      <p:sp>
        <p:nvSpPr>
          <p:cNvPr id="6148"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p:spPr>
        <p:txBody>
          <a:bodyPr/>
          <a:lstStyle/>
          <a:p>
            <a:fld id="{A2FF9C36-C5D9-4D7A-B4FF-6ED586FE2ED8}" type="slidenum">
              <a:rPr lang="en-US" altLang="zh-CN"/>
              <a:pPr/>
              <a:t>7</a:t>
            </a:fld>
            <a:endParaRPr lang="en-US" altLang="zh-CN"/>
          </a:p>
        </p:txBody>
      </p:sp>
      <p:sp>
        <p:nvSpPr>
          <p:cNvPr id="7171" name="Text Box 1026"/>
          <p:cNvSpPr txBox="1">
            <a:spLocks noChangeArrowheads="1"/>
          </p:cNvSpPr>
          <p:nvPr/>
        </p:nvSpPr>
        <p:spPr bwMode="auto">
          <a:xfrm>
            <a:off x="381000" y="561975"/>
            <a:ext cx="8382000" cy="641350"/>
          </a:xfrm>
          <a:prstGeom prst="rect">
            <a:avLst/>
          </a:prstGeom>
          <a:noFill/>
          <a:ln w="9525">
            <a:noFill/>
            <a:miter lim="800000"/>
            <a:headEnd/>
            <a:tailEnd/>
          </a:ln>
        </p:spPr>
        <p:txBody>
          <a:bodyPr>
            <a:spAutoFit/>
          </a:bodyPr>
          <a:lstStyle/>
          <a:p>
            <a:pPr>
              <a:spcBef>
                <a:spcPct val="50000"/>
              </a:spcBef>
            </a:pPr>
            <a:endParaRPr lang="zh-CN" altLang="zh-CN" sz="3600"/>
          </a:p>
        </p:txBody>
      </p:sp>
      <p:sp>
        <p:nvSpPr>
          <p:cNvPr id="7172" name="Text Box 1027"/>
          <p:cNvSpPr txBox="1">
            <a:spLocks noChangeArrowheads="1"/>
          </p:cNvSpPr>
          <p:nvPr/>
        </p:nvSpPr>
        <p:spPr bwMode="auto">
          <a:xfrm>
            <a:off x="-50800" y="1695450"/>
            <a:ext cx="4495800" cy="584775"/>
          </a:xfrm>
          <a:prstGeom prst="rect">
            <a:avLst/>
          </a:prstGeom>
          <a:noFill/>
          <a:ln w="9525">
            <a:noFill/>
            <a:miter lim="800000"/>
            <a:headEnd/>
            <a:tailEnd/>
          </a:ln>
        </p:spPr>
        <p:txBody>
          <a:bodyPr wrap="square">
            <a:spAutoFit/>
          </a:bodyPr>
          <a:lstStyle/>
          <a:p>
            <a:pPr>
              <a:spcBef>
                <a:spcPct val="50000"/>
              </a:spcBef>
            </a:pPr>
            <a:r>
              <a:rPr lang="en-US" altLang="zh-CN" b="1" dirty="0">
                <a:solidFill>
                  <a:schemeClr val="bg1">
                    <a:lumMod val="10000"/>
                  </a:schemeClr>
                </a:solidFill>
              </a:rPr>
              <a:t> </a:t>
            </a:r>
            <a:r>
              <a:rPr lang="zh-CN" altLang="en-US" b="1" dirty="0">
                <a:solidFill>
                  <a:schemeClr val="bg1">
                    <a:lumMod val="10000"/>
                  </a:schemeClr>
                </a:solidFill>
              </a:rPr>
              <a:t>       假设栈   </a:t>
            </a:r>
            <a:r>
              <a:rPr lang="en-US" altLang="zh-CN" b="1" dirty="0">
                <a:solidFill>
                  <a:schemeClr val="bg1">
                    <a:lumMod val="10000"/>
                  </a:schemeClr>
                </a:solidFill>
              </a:rPr>
              <a:t>S=(</a:t>
            </a:r>
            <a:r>
              <a:rPr lang="en-US" altLang="zh-CN" sz="3200" b="1" dirty="0">
                <a:solidFill>
                  <a:schemeClr val="bg1">
                    <a:lumMod val="10000"/>
                  </a:schemeClr>
                </a:solidFill>
              </a:rPr>
              <a:t>a</a:t>
            </a:r>
            <a:r>
              <a:rPr lang="en-US" altLang="zh-CN" sz="1800" b="1" dirty="0">
                <a:solidFill>
                  <a:schemeClr val="bg1">
                    <a:lumMod val="10000"/>
                  </a:schemeClr>
                </a:solidFill>
              </a:rPr>
              <a:t>1</a:t>
            </a:r>
            <a:r>
              <a:rPr lang="en-US" altLang="zh-CN" b="1" dirty="0">
                <a:solidFill>
                  <a:schemeClr val="bg1">
                    <a:lumMod val="10000"/>
                  </a:schemeClr>
                </a:solidFill>
              </a:rPr>
              <a:t>,</a:t>
            </a:r>
            <a:r>
              <a:rPr lang="en-US" altLang="zh-CN" sz="3200" b="1" dirty="0">
                <a:solidFill>
                  <a:schemeClr val="bg1">
                    <a:lumMod val="10000"/>
                  </a:schemeClr>
                </a:solidFill>
              </a:rPr>
              <a:t>a</a:t>
            </a:r>
            <a:r>
              <a:rPr lang="en-US" altLang="zh-CN" sz="1800" b="1" dirty="0">
                <a:solidFill>
                  <a:schemeClr val="bg1">
                    <a:lumMod val="10000"/>
                  </a:schemeClr>
                </a:solidFill>
              </a:rPr>
              <a:t>2</a:t>
            </a:r>
            <a:r>
              <a:rPr lang="en-US" altLang="zh-CN" b="1" dirty="0">
                <a:solidFill>
                  <a:schemeClr val="bg1">
                    <a:lumMod val="10000"/>
                  </a:schemeClr>
                </a:solidFill>
              </a:rPr>
              <a:t>,…,</a:t>
            </a:r>
            <a:r>
              <a:rPr lang="en-US" altLang="zh-CN" sz="3200" b="1" dirty="0">
                <a:solidFill>
                  <a:schemeClr val="bg1">
                    <a:lumMod val="10000"/>
                  </a:schemeClr>
                </a:solidFill>
              </a:rPr>
              <a:t>a</a:t>
            </a:r>
            <a:r>
              <a:rPr lang="en-US" altLang="zh-CN" sz="1800" b="1" dirty="0">
                <a:solidFill>
                  <a:schemeClr val="bg1">
                    <a:lumMod val="10000"/>
                  </a:schemeClr>
                </a:solidFill>
              </a:rPr>
              <a:t>n</a:t>
            </a:r>
            <a:r>
              <a:rPr lang="en-US" altLang="zh-CN" b="1" dirty="0">
                <a:solidFill>
                  <a:schemeClr val="bg1">
                    <a:lumMod val="10000"/>
                  </a:schemeClr>
                </a:solidFill>
              </a:rPr>
              <a:t>) </a:t>
            </a:r>
          </a:p>
        </p:txBody>
      </p:sp>
      <p:sp>
        <p:nvSpPr>
          <p:cNvPr id="7173" name="Text Box 1029"/>
          <p:cNvSpPr txBox="1">
            <a:spLocks noChangeArrowheads="1"/>
          </p:cNvSpPr>
          <p:nvPr/>
        </p:nvSpPr>
        <p:spPr bwMode="auto">
          <a:xfrm>
            <a:off x="1536700" y="2540000"/>
            <a:ext cx="1981200" cy="457200"/>
          </a:xfrm>
          <a:prstGeom prst="rect">
            <a:avLst/>
          </a:prstGeom>
          <a:noFill/>
          <a:ln w="9525">
            <a:noFill/>
            <a:miter lim="800000"/>
            <a:headEnd/>
            <a:tailEnd/>
          </a:ln>
        </p:spPr>
        <p:txBody>
          <a:bodyPr>
            <a:spAutoFit/>
          </a:bodyPr>
          <a:lstStyle/>
          <a:p>
            <a:pPr>
              <a:spcBef>
                <a:spcPct val="50000"/>
              </a:spcBef>
            </a:pPr>
            <a:r>
              <a:rPr lang="zh-CN" altLang="en-US" b="1" dirty="0">
                <a:solidFill>
                  <a:schemeClr val="bg1">
                    <a:lumMod val="10000"/>
                  </a:schemeClr>
                </a:solidFill>
              </a:rPr>
              <a:t>栈底元素</a:t>
            </a:r>
          </a:p>
        </p:txBody>
      </p:sp>
      <p:sp>
        <p:nvSpPr>
          <p:cNvPr id="7174" name="Text Box 1031"/>
          <p:cNvSpPr txBox="1">
            <a:spLocks noChangeArrowheads="1"/>
          </p:cNvSpPr>
          <p:nvPr/>
        </p:nvSpPr>
        <p:spPr bwMode="auto">
          <a:xfrm>
            <a:off x="3060700" y="2540000"/>
            <a:ext cx="2490788" cy="457200"/>
          </a:xfrm>
          <a:prstGeom prst="rect">
            <a:avLst/>
          </a:prstGeom>
          <a:noFill/>
          <a:ln w="9525">
            <a:noFill/>
            <a:miter lim="800000"/>
            <a:headEnd/>
            <a:tailEnd/>
          </a:ln>
        </p:spPr>
        <p:txBody>
          <a:bodyPr>
            <a:spAutoFit/>
          </a:bodyPr>
          <a:lstStyle/>
          <a:p>
            <a:pPr>
              <a:spcBef>
                <a:spcPct val="50000"/>
              </a:spcBef>
            </a:pPr>
            <a:r>
              <a:rPr lang="zh-CN" altLang="en-US" b="1">
                <a:solidFill>
                  <a:schemeClr val="bg1">
                    <a:lumMod val="10000"/>
                  </a:schemeClr>
                </a:solidFill>
              </a:rPr>
              <a:t>栈顶元素</a:t>
            </a:r>
          </a:p>
        </p:txBody>
      </p:sp>
      <p:sp>
        <p:nvSpPr>
          <p:cNvPr id="7175" name="Text Box 1032"/>
          <p:cNvSpPr txBox="1">
            <a:spLocks noChangeArrowheads="1"/>
          </p:cNvSpPr>
          <p:nvPr/>
        </p:nvSpPr>
        <p:spPr bwMode="auto">
          <a:xfrm>
            <a:off x="571500" y="3162300"/>
            <a:ext cx="5029200" cy="1154162"/>
          </a:xfrm>
          <a:prstGeom prst="rect">
            <a:avLst/>
          </a:prstGeom>
          <a:noFill/>
          <a:ln w="9525">
            <a:noFill/>
            <a:miter lim="800000"/>
            <a:headEnd/>
            <a:tailEnd/>
          </a:ln>
        </p:spPr>
        <p:txBody>
          <a:bodyPr>
            <a:spAutoFit/>
          </a:bodyPr>
          <a:lstStyle/>
          <a:p>
            <a:pPr>
              <a:spcBef>
                <a:spcPct val="50000"/>
              </a:spcBef>
            </a:pPr>
            <a:r>
              <a:rPr lang="zh-CN" altLang="en-US" b="1" dirty="0">
                <a:solidFill>
                  <a:srgbClr val="FF0000"/>
                </a:solidFill>
              </a:rPr>
              <a:t>进栈</a:t>
            </a:r>
            <a:r>
              <a:rPr lang="zh-CN" altLang="en-US" b="1" dirty="0">
                <a:solidFill>
                  <a:schemeClr val="bg1">
                    <a:lumMod val="10000"/>
                  </a:schemeClr>
                </a:solidFill>
              </a:rPr>
              <a:t>次序：</a:t>
            </a:r>
            <a:r>
              <a:rPr lang="zh-CN" altLang="en-US" sz="2800" b="1" dirty="0">
                <a:solidFill>
                  <a:schemeClr val="bg1">
                    <a:lumMod val="10000"/>
                  </a:schemeClr>
                </a:solidFill>
              </a:rPr>
              <a:t> </a:t>
            </a:r>
            <a:r>
              <a:rPr lang="en-US" altLang="zh-CN" sz="3200" b="1" dirty="0">
                <a:solidFill>
                  <a:schemeClr val="bg1">
                    <a:lumMod val="10000"/>
                  </a:schemeClr>
                </a:solidFill>
              </a:rPr>
              <a:t>a</a:t>
            </a:r>
            <a:r>
              <a:rPr lang="en-US" altLang="zh-CN" sz="1800" b="1" dirty="0">
                <a:solidFill>
                  <a:schemeClr val="bg1">
                    <a:lumMod val="10000"/>
                  </a:schemeClr>
                </a:solidFill>
              </a:rPr>
              <a:t>1</a:t>
            </a:r>
            <a:r>
              <a:rPr lang="en-US" altLang="zh-CN" b="1" dirty="0">
                <a:solidFill>
                  <a:schemeClr val="bg1">
                    <a:lumMod val="10000"/>
                  </a:schemeClr>
                </a:solidFill>
              </a:rPr>
              <a:t>, </a:t>
            </a:r>
            <a:r>
              <a:rPr lang="en-US" altLang="zh-CN" sz="3200" b="1" dirty="0">
                <a:solidFill>
                  <a:schemeClr val="bg1">
                    <a:lumMod val="10000"/>
                  </a:schemeClr>
                </a:solidFill>
              </a:rPr>
              <a:t>a</a:t>
            </a:r>
            <a:r>
              <a:rPr lang="en-US" altLang="zh-CN" sz="1800" b="1" dirty="0">
                <a:solidFill>
                  <a:schemeClr val="bg1">
                    <a:lumMod val="10000"/>
                  </a:schemeClr>
                </a:solidFill>
              </a:rPr>
              <a:t>2 </a:t>
            </a:r>
            <a:r>
              <a:rPr lang="en-US" altLang="zh-CN" b="1" dirty="0">
                <a:solidFill>
                  <a:schemeClr val="bg1">
                    <a:lumMod val="10000"/>
                  </a:schemeClr>
                </a:solidFill>
              </a:rPr>
              <a:t>, … , </a:t>
            </a:r>
            <a:r>
              <a:rPr lang="en-US" altLang="zh-CN" sz="3200" b="1" dirty="0">
                <a:solidFill>
                  <a:schemeClr val="bg1">
                    <a:lumMod val="10000"/>
                  </a:schemeClr>
                </a:solidFill>
              </a:rPr>
              <a:t>a</a:t>
            </a:r>
            <a:r>
              <a:rPr lang="en-US" altLang="zh-CN" sz="1800" b="1" dirty="0">
                <a:solidFill>
                  <a:schemeClr val="bg1">
                    <a:lumMod val="10000"/>
                  </a:schemeClr>
                </a:solidFill>
              </a:rPr>
              <a:t>n-1</a:t>
            </a:r>
            <a:r>
              <a:rPr lang="en-US" altLang="zh-CN" b="1" dirty="0">
                <a:solidFill>
                  <a:schemeClr val="bg1">
                    <a:lumMod val="10000"/>
                  </a:schemeClr>
                </a:solidFill>
              </a:rPr>
              <a:t>, </a:t>
            </a:r>
            <a:r>
              <a:rPr lang="en-US" altLang="zh-CN" sz="3200" b="1" dirty="0">
                <a:solidFill>
                  <a:schemeClr val="bg1">
                    <a:lumMod val="10000"/>
                  </a:schemeClr>
                </a:solidFill>
              </a:rPr>
              <a:t>a</a:t>
            </a:r>
            <a:r>
              <a:rPr lang="en-US" altLang="zh-CN" sz="1800" b="1" dirty="0">
                <a:solidFill>
                  <a:schemeClr val="bg1">
                    <a:lumMod val="10000"/>
                  </a:schemeClr>
                </a:solidFill>
              </a:rPr>
              <a:t>n</a:t>
            </a:r>
          </a:p>
          <a:p>
            <a:pPr>
              <a:spcBef>
                <a:spcPts val="600"/>
              </a:spcBef>
            </a:pPr>
            <a:r>
              <a:rPr lang="zh-CN" altLang="en-US" b="1" dirty="0">
                <a:solidFill>
                  <a:srgbClr val="FF0000"/>
                </a:solidFill>
              </a:rPr>
              <a:t>退栈</a:t>
            </a:r>
            <a:r>
              <a:rPr lang="zh-CN" altLang="en-US" b="1" dirty="0">
                <a:solidFill>
                  <a:schemeClr val="bg1">
                    <a:lumMod val="10000"/>
                  </a:schemeClr>
                </a:solidFill>
              </a:rPr>
              <a:t>次序： </a:t>
            </a:r>
            <a:r>
              <a:rPr lang="en-US" altLang="zh-CN" sz="3200" b="1" dirty="0">
                <a:solidFill>
                  <a:schemeClr val="bg1">
                    <a:lumMod val="10000"/>
                  </a:schemeClr>
                </a:solidFill>
              </a:rPr>
              <a:t>a</a:t>
            </a:r>
            <a:r>
              <a:rPr lang="en-US" altLang="zh-CN" sz="1800" b="1" dirty="0">
                <a:solidFill>
                  <a:schemeClr val="bg1">
                    <a:lumMod val="10000"/>
                  </a:schemeClr>
                </a:solidFill>
              </a:rPr>
              <a:t>n</a:t>
            </a:r>
            <a:r>
              <a:rPr lang="en-US" altLang="zh-CN" b="1" dirty="0">
                <a:solidFill>
                  <a:schemeClr val="bg1">
                    <a:lumMod val="10000"/>
                  </a:schemeClr>
                </a:solidFill>
              </a:rPr>
              <a:t>, </a:t>
            </a:r>
            <a:r>
              <a:rPr lang="en-US" altLang="zh-CN" sz="3200" b="1" dirty="0">
                <a:solidFill>
                  <a:schemeClr val="bg1">
                    <a:lumMod val="10000"/>
                  </a:schemeClr>
                </a:solidFill>
              </a:rPr>
              <a:t>a</a:t>
            </a:r>
            <a:r>
              <a:rPr lang="en-US" altLang="zh-CN" sz="1800" b="1" dirty="0">
                <a:solidFill>
                  <a:schemeClr val="bg1">
                    <a:lumMod val="10000"/>
                  </a:schemeClr>
                </a:solidFill>
              </a:rPr>
              <a:t>n-1 </a:t>
            </a:r>
            <a:r>
              <a:rPr lang="en-US" altLang="zh-CN" b="1" dirty="0">
                <a:solidFill>
                  <a:schemeClr val="bg1">
                    <a:lumMod val="10000"/>
                  </a:schemeClr>
                </a:solidFill>
              </a:rPr>
              <a:t>, … , </a:t>
            </a:r>
            <a:r>
              <a:rPr lang="en-US" altLang="zh-CN" sz="3200" b="1" dirty="0">
                <a:solidFill>
                  <a:schemeClr val="bg1">
                    <a:lumMod val="10000"/>
                  </a:schemeClr>
                </a:solidFill>
              </a:rPr>
              <a:t>a</a:t>
            </a:r>
            <a:r>
              <a:rPr lang="en-US" altLang="zh-CN" sz="1800" b="1" dirty="0">
                <a:solidFill>
                  <a:schemeClr val="bg1">
                    <a:lumMod val="10000"/>
                  </a:schemeClr>
                </a:solidFill>
              </a:rPr>
              <a:t>2, </a:t>
            </a:r>
            <a:r>
              <a:rPr lang="en-US" altLang="zh-CN" sz="3200" b="1" dirty="0">
                <a:solidFill>
                  <a:schemeClr val="bg1">
                    <a:lumMod val="10000"/>
                  </a:schemeClr>
                </a:solidFill>
              </a:rPr>
              <a:t>a</a:t>
            </a:r>
            <a:r>
              <a:rPr lang="en-US" altLang="zh-CN" sz="1800" b="1" dirty="0">
                <a:solidFill>
                  <a:schemeClr val="bg1">
                    <a:lumMod val="10000"/>
                  </a:schemeClr>
                </a:solidFill>
              </a:rPr>
              <a:t>1</a:t>
            </a:r>
          </a:p>
        </p:txBody>
      </p:sp>
      <p:sp>
        <p:nvSpPr>
          <p:cNvPr id="7176" name="Line 1033"/>
          <p:cNvSpPr>
            <a:spLocks noChangeShapeType="1"/>
          </p:cNvSpPr>
          <p:nvPr/>
        </p:nvSpPr>
        <p:spPr bwMode="auto">
          <a:xfrm flipV="1">
            <a:off x="2298700" y="2235200"/>
            <a:ext cx="1588" cy="381000"/>
          </a:xfrm>
          <a:prstGeom prst="line">
            <a:avLst/>
          </a:prstGeom>
          <a:noFill/>
          <a:ln w="9525">
            <a:solidFill>
              <a:schemeClr val="folHlink"/>
            </a:solidFill>
            <a:round/>
            <a:headEnd/>
            <a:tailEnd type="triangle" w="med" len="med"/>
          </a:ln>
        </p:spPr>
        <p:txBody>
          <a:bodyPr wrap="none"/>
          <a:lstStyle/>
          <a:p>
            <a:endParaRPr lang="zh-CN" altLang="en-US"/>
          </a:p>
        </p:txBody>
      </p:sp>
      <p:sp>
        <p:nvSpPr>
          <p:cNvPr id="7177" name="Line 1035"/>
          <p:cNvSpPr>
            <a:spLocks noChangeShapeType="1"/>
          </p:cNvSpPr>
          <p:nvPr/>
        </p:nvSpPr>
        <p:spPr bwMode="auto">
          <a:xfrm flipV="1">
            <a:off x="3517900" y="2235200"/>
            <a:ext cx="1588" cy="381000"/>
          </a:xfrm>
          <a:prstGeom prst="line">
            <a:avLst/>
          </a:prstGeom>
          <a:noFill/>
          <a:ln w="9525">
            <a:solidFill>
              <a:schemeClr val="folHlink"/>
            </a:solidFill>
            <a:round/>
            <a:headEnd/>
            <a:tailEnd type="triangle" w="med" len="med"/>
          </a:ln>
        </p:spPr>
        <p:txBody>
          <a:bodyPr wrap="none"/>
          <a:lstStyle/>
          <a:p>
            <a:endParaRPr lang="zh-CN" altLang="en-US"/>
          </a:p>
        </p:txBody>
      </p:sp>
      <p:sp>
        <p:nvSpPr>
          <p:cNvPr id="7178" name="Line 1037"/>
          <p:cNvSpPr>
            <a:spLocks noChangeShapeType="1"/>
          </p:cNvSpPr>
          <p:nvPr/>
        </p:nvSpPr>
        <p:spPr bwMode="auto">
          <a:xfrm>
            <a:off x="7162800" y="2466975"/>
            <a:ext cx="0" cy="2514600"/>
          </a:xfrm>
          <a:prstGeom prst="line">
            <a:avLst/>
          </a:prstGeom>
          <a:noFill/>
          <a:ln w="9525">
            <a:solidFill>
              <a:schemeClr val="tx1"/>
            </a:solidFill>
            <a:round/>
            <a:headEnd/>
            <a:tailEnd/>
          </a:ln>
        </p:spPr>
        <p:txBody>
          <a:bodyPr wrap="none"/>
          <a:lstStyle/>
          <a:p>
            <a:endParaRPr lang="zh-CN" altLang="en-US"/>
          </a:p>
        </p:txBody>
      </p:sp>
      <p:sp>
        <p:nvSpPr>
          <p:cNvPr id="7179" name="Line 1038"/>
          <p:cNvSpPr>
            <a:spLocks noChangeShapeType="1"/>
          </p:cNvSpPr>
          <p:nvPr/>
        </p:nvSpPr>
        <p:spPr bwMode="auto">
          <a:xfrm>
            <a:off x="7162800" y="4981575"/>
            <a:ext cx="914400" cy="0"/>
          </a:xfrm>
          <a:prstGeom prst="line">
            <a:avLst/>
          </a:prstGeom>
          <a:noFill/>
          <a:ln w="9525">
            <a:solidFill>
              <a:schemeClr val="tx1"/>
            </a:solidFill>
            <a:round/>
            <a:headEnd/>
            <a:tailEnd/>
          </a:ln>
        </p:spPr>
        <p:txBody>
          <a:bodyPr wrap="none"/>
          <a:lstStyle/>
          <a:p>
            <a:endParaRPr lang="zh-CN" altLang="en-US"/>
          </a:p>
        </p:txBody>
      </p:sp>
      <p:sp>
        <p:nvSpPr>
          <p:cNvPr id="7180" name="Line 1039"/>
          <p:cNvSpPr>
            <a:spLocks noChangeShapeType="1"/>
          </p:cNvSpPr>
          <p:nvPr/>
        </p:nvSpPr>
        <p:spPr bwMode="auto">
          <a:xfrm flipV="1">
            <a:off x="8081963" y="2484438"/>
            <a:ext cx="0" cy="2514600"/>
          </a:xfrm>
          <a:prstGeom prst="line">
            <a:avLst/>
          </a:prstGeom>
          <a:noFill/>
          <a:ln w="9525">
            <a:solidFill>
              <a:schemeClr val="tx1"/>
            </a:solidFill>
            <a:round/>
            <a:headEnd/>
            <a:tailEnd/>
          </a:ln>
        </p:spPr>
        <p:txBody>
          <a:bodyPr wrap="none"/>
          <a:lstStyle/>
          <a:p>
            <a:endParaRPr lang="zh-CN" altLang="en-US"/>
          </a:p>
        </p:txBody>
      </p:sp>
      <p:sp>
        <p:nvSpPr>
          <p:cNvPr id="7181" name="Line 1040"/>
          <p:cNvSpPr>
            <a:spLocks noChangeShapeType="1"/>
          </p:cNvSpPr>
          <p:nvPr/>
        </p:nvSpPr>
        <p:spPr bwMode="auto">
          <a:xfrm>
            <a:off x="7162800" y="4600575"/>
            <a:ext cx="914400" cy="0"/>
          </a:xfrm>
          <a:prstGeom prst="line">
            <a:avLst/>
          </a:prstGeom>
          <a:noFill/>
          <a:ln w="9525">
            <a:solidFill>
              <a:schemeClr val="tx1"/>
            </a:solidFill>
            <a:round/>
            <a:headEnd/>
            <a:tailEnd/>
          </a:ln>
        </p:spPr>
        <p:txBody>
          <a:bodyPr wrap="none"/>
          <a:lstStyle/>
          <a:p>
            <a:endParaRPr lang="zh-CN" altLang="en-US"/>
          </a:p>
        </p:txBody>
      </p:sp>
      <p:sp>
        <p:nvSpPr>
          <p:cNvPr id="7182" name="Line 1041"/>
          <p:cNvSpPr>
            <a:spLocks noChangeShapeType="1"/>
          </p:cNvSpPr>
          <p:nvPr/>
        </p:nvSpPr>
        <p:spPr bwMode="auto">
          <a:xfrm>
            <a:off x="7162800" y="4157663"/>
            <a:ext cx="914400" cy="0"/>
          </a:xfrm>
          <a:prstGeom prst="line">
            <a:avLst/>
          </a:prstGeom>
          <a:noFill/>
          <a:ln w="9525">
            <a:solidFill>
              <a:schemeClr val="tx1"/>
            </a:solidFill>
            <a:round/>
            <a:headEnd/>
            <a:tailEnd/>
          </a:ln>
        </p:spPr>
        <p:txBody>
          <a:bodyPr wrap="none"/>
          <a:lstStyle/>
          <a:p>
            <a:endParaRPr lang="zh-CN" altLang="en-US"/>
          </a:p>
        </p:txBody>
      </p:sp>
      <p:sp>
        <p:nvSpPr>
          <p:cNvPr id="7183" name="Line 1042"/>
          <p:cNvSpPr>
            <a:spLocks noChangeShapeType="1"/>
          </p:cNvSpPr>
          <p:nvPr/>
        </p:nvSpPr>
        <p:spPr bwMode="auto">
          <a:xfrm>
            <a:off x="7162800" y="3381375"/>
            <a:ext cx="914400" cy="0"/>
          </a:xfrm>
          <a:prstGeom prst="line">
            <a:avLst/>
          </a:prstGeom>
          <a:noFill/>
          <a:ln w="9525">
            <a:solidFill>
              <a:schemeClr val="tx1"/>
            </a:solidFill>
            <a:round/>
            <a:headEnd/>
            <a:tailEnd/>
          </a:ln>
        </p:spPr>
        <p:txBody>
          <a:bodyPr wrap="none"/>
          <a:lstStyle/>
          <a:p>
            <a:endParaRPr lang="zh-CN" altLang="en-US"/>
          </a:p>
        </p:txBody>
      </p:sp>
      <p:sp>
        <p:nvSpPr>
          <p:cNvPr id="7184" name="Line 1043"/>
          <p:cNvSpPr>
            <a:spLocks noChangeShapeType="1"/>
          </p:cNvSpPr>
          <p:nvPr/>
        </p:nvSpPr>
        <p:spPr bwMode="auto">
          <a:xfrm>
            <a:off x="7162800" y="2938463"/>
            <a:ext cx="914400" cy="0"/>
          </a:xfrm>
          <a:prstGeom prst="line">
            <a:avLst/>
          </a:prstGeom>
          <a:noFill/>
          <a:ln w="9525">
            <a:solidFill>
              <a:schemeClr val="tx1"/>
            </a:solidFill>
            <a:round/>
            <a:headEnd/>
            <a:tailEnd/>
          </a:ln>
        </p:spPr>
        <p:txBody>
          <a:bodyPr wrap="none"/>
          <a:lstStyle/>
          <a:p>
            <a:endParaRPr lang="zh-CN" altLang="en-US"/>
          </a:p>
        </p:txBody>
      </p:sp>
      <p:sp>
        <p:nvSpPr>
          <p:cNvPr id="7185" name="Text Box 1044"/>
          <p:cNvSpPr txBox="1">
            <a:spLocks noChangeArrowheads="1"/>
          </p:cNvSpPr>
          <p:nvPr/>
        </p:nvSpPr>
        <p:spPr bwMode="auto">
          <a:xfrm>
            <a:off x="7407275" y="4464050"/>
            <a:ext cx="609600" cy="579438"/>
          </a:xfrm>
          <a:prstGeom prst="rect">
            <a:avLst/>
          </a:prstGeom>
          <a:noFill/>
          <a:ln w="9525">
            <a:noFill/>
            <a:miter lim="800000"/>
            <a:headEnd/>
            <a:tailEnd/>
          </a:ln>
        </p:spPr>
        <p:txBody>
          <a:bodyPr>
            <a:spAutoFit/>
          </a:bodyPr>
          <a:lstStyle/>
          <a:p>
            <a:pPr>
              <a:spcBef>
                <a:spcPct val="50000"/>
              </a:spcBef>
            </a:pPr>
            <a:r>
              <a:rPr lang="en-US" altLang="zh-CN" sz="3200" b="1" dirty="0"/>
              <a:t>a</a:t>
            </a:r>
            <a:r>
              <a:rPr lang="en-US" altLang="zh-CN" sz="1800" b="1" dirty="0"/>
              <a:t>1</a:t>
            </a:r>
          </a:p>
        </p:txBody>
      </p:sp>
      <p:sp>
        <p:nvSpPr>
          <p:cNvPr id="7186" name="Text Box 1045"/>
          <p:cNvSpPr txBox="1">
            <a:spLocks noChangeArrowheads="1"/>
          </p:cNvSpPr>
          <p:nvPr/>
        </p:nvSpPr>
        <p:spPr bwMode="auto">
          <a:xfrm>
            <a:off x="7396163" y="4076700"/>
            <a:ext cx="609600" cy="579438"/>
          </a:xfrm>
          <a:prstGeom prst="rect">
            <a:avLst/>
          </a:prstGeom>
          <a:noFill/>
          <a:ln w="9525">
            <a:noFill/>
            <a:miter lim="800000"/>
            <a:headEnd/>
            <a:tailEnd/>
          </a:ln>
        </p:spPr>
        <p:txBody>
          <a:bodyPr>
            <a:spAutoFit/>
          </a:bodyPr>
          <a:lstStyle/>
          <a:p>
            <a:pPr>
              <a:spcBef>
                <a:spcPct val="50000"/>
              </a:spcBef>
            </a:pPr>
            <a:r>
              <a:rPr lang="en-US" altLang="zh-CN" sz="3200" b="1" dirty="0"/>
              <a:t>a</a:t>
            </a:r>
            <a:r>
              <a:rPr lang="en-US" altLang="zh-CN" sz="1800" b="1" dirty="0"/>
              <a:t>2</a:t>
            </a:r>
          </a:p>
        </p:txBody>
      </p:sp>
      <p:sp>
        <p:nvSpPr>
          <p:cNvPr id="7187" name="Text Box 1046"/>
          <p:cNvSpPr txBox="1">
            <a:spLocks noChangeArrowheads="1"/>
          </p:cNvSpPr>
          <p:nvPr/>
        </p:nvSpPr>
        <p:spPr bwMode="auto">
          <a:xfrm>
            <a:off x="7400925" y="2847975"/>
            <a:ext cx="609600" cy="579438"/>
          </a:xfrm>
          <a:prstGeom prst="rect">
            <a:avLst/>
          </a:prstGeom>
          <a:noFill/>
          <a:ln w="9525">
            <a:noFill/>
            <a:miter lim="800000"/>
            <a:headEnd/>
            <a:tailEnd/>
          </a:ln>
        </p:spPr>
        <p:txBody>
          <a:bodyPr>
            <a:spAutoFit/>
          </a:bodyPr>
          <a:lstStyle/>
          <a:p>
            <a:pPr>
              <a:spcBef>
                <a:spcPct val="50000"/>
              </a:spcBef>
            </a:pPr>
            <a:r>
              <a:rPr lang="en-US" altLang="zh-CN" sz="3200" b="1" dirty="0"/>
              <a:t>a</a:t>
            </a:r>
            <a:r>
              <a:rPr lang="en-US" altLang="zh-CN" sz="1800" b="1" dirty="0"/>
              <a:t>n</a:t>
            </a:r>
          </a:p>
        </p:txBody>
      </p:sp>
      <p:sp>
        <p:nvSpPr>
          <p:cNvPr id="7188" name="Line 1047"/>
          <p:cNvSpPr>
            <a:spLocks noChangeShapeType="1"/>
          </p:cNvSpPr>
          <p:nvPr/>
        </p:nvSpPr>
        <p:spPr bwMode="auto">
          <a:xfrm>
            <a:off x="7615238" y="3457575"/>
            <a:ext cx="0" cy="609600"/>
          </a:xfrm>
          <a:prstGeom prst="line">
            <a:avLst/>
          </a:prstGeom>
          <a:noFill/>
          <a:ln w="38100">
            <a:solidFill>
              <a:schemeClr val="tx1"/>
            </a:solidFill>
            <a:prstDash val="sysDot"/>
            <a:round/>
            <a:headEnd/>
            <a:tailEnd/>
          </a:ln>
        </p:spPr>
        <p:txBody>
          <a:bodyPr wrap="none"/>
          <a:lstStyle/>
          <a:p>
            <a:endParaRPr lang="zh-CN" altLang="en-US"/>
          </a:p>
        </p:txBody>
      </p:sp>
      <p:sp>
        <p:nvSpPr>
          <p:cNvPr id="7189" name="Line 1048"/>
          <p:cNvSpPr>
            <a:spLocks noChangeShapeType="1"/>
          </p:cNvSpPr>
          <p:nvPr/>
        </p:nvSpPr>
        <p:spPr bwMode="auto">
          <a:xfrm>
            <a:off x="6858000" y="3152775"/>
            <a:ext cx="304800" cy="0"/>
          </a:xfrm>
          <a:prstGeom prst="line">
            <a:avLst/>
          </a:prstGeom>
          <a:noFill/>
          <a:ln w="38100">
            <a:solidFill>
              <a:schemeClr val="folHlink"/>
            </a:solidFill>
            <a:round/>
            <a:headEnd/>
            <a:tailEnd type="triangle" w="med" len="med"/>
          </a:ln>
        </p:spPr>
        <p:txBody>
          <a:bodyPr wrap="none"/>
          <a:lstStyle/>
          <a:p>
            <a:endParaRPr lang="zh-CN" altLang="en-US"/>
          </a:p>
        </p:txBody>
      </p:sp>
      <p:sp>
        <p:nvSpPr>
          <p:cNvPr id="7190" name="Line 1049"/>
          <p:cNvSpPr>
            <a:spLocks noChangeShapeType="1"/>
          </p:cNvSpPr>
          <p:nvPr/>
        </p:nvSpPr>
        <p:spPr bwMode="auto">
          <a:xfrm>
            <a:off x="6858000" y="4829175"/>
            <a:ext cx="304800" cy="0"/>
          </a:xfrm>
          <a:prstGeom prst="line">
            <a:avLst/>
          </a:prstGeom>
          <a:noFill/>
          <a:ln w="38100">
            <a:solidFill>
              <a:schemeClr val="folHlink"/>
            </a:solidFill>
            <a:round/>
            <a:headEnd/>
            <a:tailEnd type="triangle" w="med" len="med"/>
          </a:ln>
        </p:spPr>
        <p:txBody>
          <a:bodyPr wrap="none"/>
          <a:lstStyle/>
          <a:p>
            <a:endParaRPr lang="zh-CN" altLang="en-US"/>
          </a:p>
        </p:txBody>
      </p:sp>
      <p:sp>
        <p:nvSpPr>
          <p:cNvPr id="7191" name="Rectangle 1052"/>
          <p:cNvSpPr>
            <a:spLocks noChangeArrowheads="1"/>
          </p:cNvSpPr>
          <p:nvPr/>
        </p:nvSpPr>
        <p:spPr bwMode="auto">
          <a:xfrm>
            <a:off x="6192838" y="2889250"/>
            <a:ext cx="990600" cy="457200"/>
          </a:xfrm>
          <a:prstGeom prst="rect">
            <a:avLst/>
          </a:prstGeom>
          <a:noFill/>
          <a:ln w="9525">
            <a:noFill/>
            <a:miter lim="800000"/>
            <a:headEnd/>
            <a:tailEnd/>
          </a:ln>
        </p:spPr>
        <p:txBody>
          <a:bodyPr>
            <a:spAutoFit/>
          </a:bodyPr>
          <a:lstStyle/>
          <a:p>
            <a:r>
              <a:rPr lang="zh-CN" altLang="en-US" b="1" dirty="0"/>
              <a:t>栈顶</a:t>
            </a:r>
          </a:p>
        </p:txBody>
      </p:sp>
      <p:sp>
        <p:nvSpPr>
          <p:cNvPr id="7192" name="Rectangle 1053"/>
          <p:cNvSpPr>
            <a:spLocks noChangeArrowheads="1"/>
          </p:cNvSpPr>
          <p:nvPr/>
        </p:nvSpPr>
        <p:spPr bwMode="auto">
          <a:xfrm>
            <a:off x="5868988" y="4600575"/>
            <a:ext cx="969962" cy="457200"/>
          </a:xfrm>
          <a:prstGeom prst="rect">
            <a:avLst/>
          </a:prstGeom>
          <a:noFill/>
          <a:ln w="9525">
            <a:noFill/>
            <a:miter lim="800000"/>
            <a:headEnd/>
            <a:tailEnd/>
          </a:ln>
        </p:spPr>
        <p:txBody>
          <a:bodyPr wrap="square">
            <a:spAutoFit/>
          </a:bodyPr>
          <a:lstStyle/>
          <a:p>
            <a:r>
              <a:rPr lang="zh-CN" altLang="en-US" b="1" dirty="0"/>
              <a:t>栈底</a:t>
            </a:r>
          </a:p>
        </p:txBody>
      </p:sp>
      <p:sp>
        <p:nvSpPr>
          <p:cNvPr id="7193" name="Line 1056"/>
          <p:cNvSpPr>
            <a:spLocks noChangeShapeType="1"/>
          </p:cNvSpPr>
          <p:nvPr/>
        </p:nvSpPr>
        <p:spPr bwMode="auto">
          <a:xfrm flipH="1">
            <a:off x="7772400" y="1552575"/>
            <a:ext cx="457200" cy="990600"/>
          </a:xfrm>
          <a:prstGeom prst="line">
            <a:avLst/>
          </a:prstGeom>
          <a:noFill/>
          <a:ln w="76200">
            <a:solidFill>
              <a:schemeClr val="folHlink"/>
            </a:solidFill>
            <a:round/>
            <a:headEnd/>
            <a:tailEnd type="stealth" w="med" len="med"/>
          </a:ln>
        </p:spPr>
        <p:txBody>
          <a:bodyPr wrap="none"/>
          <a:lstStyle/>
          <a:p>
            <a:endParaRPr lang="zh-CN" altLang="en-US"/>
          </a:p>
        </p:txBody>
      </p:sp>
      <p:sp>
        <p:nvSpPr>
          <p:cNvPr id="7194" name="Line 1057"/>
          <p:cNvSpPr>
            <a:spLocks noChangeShapeType="1"/>
          </p:cNvSpPr>
          <p:nvPr/>
        </p:nvSpPr>
        <p:spPr bwMode="auto">
          <a:xfrm flipH="1" flipV="1">
            <a:off x="7010400" y="1628775"/>
            <a:ext cx="533400" cy="914400"/>
          </a:xfrm>
          <a:prstGeom prst="line">
            <a:avLst/>
          </a:prstGeom>
          <a:noFill/>
          <a:ln w="76200">
            <a:solidFill>
              <a:schemeClr val="folHlink"/>
            </a:solidFill>
            <a:round/>
            <a:headEnd/>
            <a:tailEnd type="triangle" w="med" len="med"/>
          </a:ln>
        </p:spPr>
        <p:txBody>
          <a:bodyPr wrap="none"/>
          <a:lstStyle/>
          <a:p>
            <a:endParaRPr lang="zh-CN" altLang="en-US"/>
          </a:p>
        </p:txBody>
      </p:sp>
      <p:sp>
        <p:nvSpPr>
          <p:cNvPr id="7195" name="Rectangle 1058"/>
          <p:cNvSpPr>
            <a:spLocks noChangeArrowheads="1"/>
          </p:cNvSpPr>
          <p:nvPr/>
        </p:nvSpPr>
        <p:spPr bwMode="auto">
          <a:xfrm>
            <a:off x="8096250" y="1781175"/>
            <a:ext cx="1047750" cy="457200"/>
          </a:xfrm>
          <a:prstGeom prst="rect">
            <a:avLst/>
          </a:prstGeom>
          <a:noFill/>
          <a:ln w="9525">
            <a:noFill/>
            <a:miter lim="800000"/>
            <a:headEnd/>
            <a:tailEnd/>
          </a:ln>
        </p:spPr>
        <p:txBody>
          <a:bodyPr>
            <a:spAutoFit/>
          </a:bodyPr>
          <a:lstStyle/>
          <a:p>
            <a:r>
              <a:rPr lang="zh-CN" altLang="en-US" b="1"/>
              <a:t>进栈</a:t>
            </a:r>
          </a:p>
        </p:txBody>
      </p:sp>
      <p:sp>
        <p:nvSpPr>
          <p:cNvPr id="7196" name="Rectangle 1059"/>
          <p:cNvSpPr>
            <a:spLocks noChangeArrowheads="1"/>
          </p:cNvSpPr>
          <p:nvPr/>
        </p:nvSpPr>
        <p:spPr bwMode="auto">
          <a:xfrm>
            <a:off x="5786438" y="1800225"/>
            <a:ext cx="1250950" cy="457200"/>
          </a:xfrm>
          <a:prstGeom prst="rect">
            <a:avLst/>
          </a:prstGeom>
          <a:noFill/>
          <a:ln w="9525">
            <a:noFill/>
            <a:miter lim="800000"/>
            <a:headEnd/>
            <a:tailEnd/>
          </a:ln>
        </p:spPr>
        <p:txBody>
          <a:bodyPr>
            <a:spAutoFit/>
          </a:bodyPr>
          <a:lstStyle/>
          <a:p>
            <a:r>
              <a:rPr lang="zh-CN" altLang="en-US" b="1"/>
              <a:t>退栈</a:t>
            </a:r>
          </a:p>
        </p:txBody>
      </p:sp>
      <p:sp>
        <p:nvSpPr>
          <p:cNvPr id="7197" name="Text Box 1060"/>
          <p:cNvSpPr txBox="1">
            <a:spLocks noChangeArrowheads="1"/>
          </p:cNvSpPr>
          <p:nvPr/>
        </p:nvSpPr>
        <p:spPr bwMode="auto">
          <a:xfrm>
            <a:off x="566738" y="4554538"/>
            <a:ext cx="5029200" cy="1532727"/>
          </a:xfrm>
          <a:prstGeom prst="rect">
            <a:avLst/>
          </a:prstGeom>
          <a:noFill/>
          <a:ln w="9525">
            <a:noFill/>
            <a:miter lim="800000"/>
            <a:headEnd/>
            <a:tailEnd/>
          </a:ln>
        </p:spPr>
        <p:txBody>
          <a:bodyPr>
            <a:spAutoFit/>
          </a:bodyPr>
          <a:lstStyle/>
          <a:p>
            <a:pPr indent="623888">
              <a:lnSpc>
                <a:spcPct val="130000"/>
              </a:lnSpc>
              <a:spcBef>
                <a:spcPct val="95000"/>
              </a:spcBef>
            </a:pPr>
            <a:r>
              <a:rPr lang="zh-CN" altLang="en-US" b="1" dirty="0">
                <a:solidFill>
                  <a:schemeClr val="bg1">
                    <a:lumMod val="10000"/>
                  </a:schemeClr>
                </a:solidFill>
              </a:rPr>
              <a:t>栈是按照“</a:t>
            </a:r>
            <a:r>
              <a:rPr lang="zh-CN" altLang="en-US" b="1" dirty="0">
                <a:solidFill>
                  <a:srgbClr val="FF0000"/>
                </a:solidFill>
              </a:rPr>
              <a:t>后进先出</a:t>
            </a:r>
            <a:r>
              <a:rPr lang="zh-CN" altLang="en-US" b="1" dirty="0">
                <a:solidFill>
                  <a:schemeClr val="bg1">
                    <a:lumMod val="10000"/>
                  </a:schemeClr>
                </a:solidFill>
              </a:rPr>
              <a:t>”原则处理数据元素的，栈也称为“后进先出”表。简称</a:t>
            </a:r>
            <a:r>
              <a:rPr lang="en-US" altLang="zh-CN" b="1" dirty="0">
                <a:solidFill>
                  <a:schemeClr val="bg1">
                    <a:lumMod val="10000"/>
                  </a:schemeClr>
                </a:solidFill>
              </a:rPr>
              <a:t>LIFO</a:t>
            </a:r>
            <a:r>
              <a:rPr lang="zh-CN" altLang="en-US" b="1" dirty="0">
                <a:solidFill>
                  <a:schemeClr val="bg1">
                    <a:lumMod val="10000"/>
                  </a:schemeClr>
                </a:solidFill>
              </a:rPr>
              <a:t>表。</a:t>
            </a:r>
          </a:p>
        </p:txBody>
      </p:sp>
      <p:sp>
        <p:nvSpPr>
          <p:cNvPr id="7198" name="Text Box 1061"/>
          <p:cNvSpPr txBox="1">
            <a:spLocks noChangeArrowheads="1"/>
          </p:cNvSpPr>
          <p:nvPr/>
        </p:nvSpPr>
        <p:spPr bwMode="auto">
          <a:xfrm>
            <a:off x="7416800" y="2984500"/>
            <a:ext cx="539750" cy="366713"/>
          </a:xfrm>
          <a:prstGeom prst="rect">
            <a:avLst/>
          </a:prstGeom>
          <a:solidFill>
            <a:srgbClr val="FFFFFF"/>
          </a:solidFill>
          <a:ln w="9525">
            <a:noFill/>
            <a:miter lim="800000"/>
            <a:headEnd/>
            <a:tailEnd/>
          </a:ln>
        </p:spPr>
        <p:txBody>
          <a:bodyPr>
            <a:spAutoFit/>
          </a:bodyPr>
          <a:lstStyle/>
          <a:p>
            <a:pPr>
              <a:spcBef>
                <a:spcPct val="50000"/>
              </a:spcBef>
            </a:pPr>
            <a:endParaRPr lang="zh-CN" altLang="zh-CN" sz="1800"/>
          </a:p>
        </p:txBody>
      </p:sp>
      <p:sp>
        <p:nvSpPr>
          <p:cNvPr id="7199" name="Text Box 1062"/>
          <p:cNvSpPr txBox="1">
            <a:spLocks noChangeArrowheads="1"/>
          </p:cNvSpPr>
          <p:nvPr/>
        </p:nvSpPr>
        <p:spPr bwMode="auto">
          <a:xfrm>
            <a:off x="7416800" y="3473450"/>
            <a:ext cx="495300" cy="579438"/>
          </a:xfrm>
          <a:prstGeom prst="rect">
            <a:avLst/>
          </a:prstGeom>
          <a:solidFill>
            <a:srgbClr val="FFFFFF"/>
          </a:solidFill>
          <a:ln w="9525">
            <a:noFill/>
            <a:miter lim="800000"/>
            <a:headEnd/>
            <a:tailEnd/>
          </a:ln>
        </p:spPr>
        <p:txBody>
          <a:bodyPr>
            <a:spAutoFit/>
          </a:bodyPr>
          <a:lstStyle/>
          <a:p>
            <a:pPr>
              <a:spcBef>
                <a:spcPct val="50000"/>
              </a:spcBef>
            </a:pPr>
            <a:endParaRPr lang="zh-CN" altLang="zh-CN" sz="3200"/>
          </a:p>
        </p:txBody>
      </p:sp>
      <p:sp>
        <p:nvSpPr>
          <p:cNvPr id="7200" name="Line 1065"/>
          <p:cNvSpPr>
            <a:spLocks noChangeShapeType="1"/>
          </p:cNvSpPr>
          <p:nvPr/>
        </p:nvSpPr>
        <p:spPr bwMode="auto">
          <a:xfrm>
            <a:off x="6877050" y="3678238"/>
            <a:ext cx="304800" cy="0"/>
          </a:xfrm>
          <a:prstGeom prst="line">
            <a:avLst/>
          </a:prstGeom>
          <a:noFill/>
          <a:ln w="38100">
            <a:solidFill>
              <a:schemeClr val="folHlink"/>
            </a:solidFill>
            <a:round/>
            <a:headEnd/>
            <a:tailEnd type="triangle" w="med" len="med"/>
          </a:ln>
        </p:spPr>
        <p:txBody>
          <a:bodyPr wrap="none"/>
          <a:lstStyle/>
          <a:p>
            <a:endParaRPr lang="zh-CN" altLang="en-US"/>
          </a:p>
        </p:txBody>
      </p:sp>
      <p:sp>
        <p:nvSpPr>
          <p:cNvPr id="7201" name="Rectangle 1066"/>
          <p:cNvSpPr>
            <a:spLocks noChangeArrowheads="1"/>
          </p:cNvSpPr>
          <p:nvPr/>
        </p:nvSpPr>
        <p:spPr bwMode="auto">
          <a:xfrm>
            <a:off x="5921375" y="3429000"/>
            <a:ext cx="1009650" cy="457200"/>
          </a:xfrm>
          <a:prstGeom prst="rect">
            <a:avLst/>
          </a:prstGeom>
          <a:noFill/>
          <a:ln w="9525">
            <a:noFill/>
            <a:miter lim="800000"/>
            <a:headEnd/>
            <a:tailEnd/>
          </a:ln>
        </p:spPr>
        <p:txBody>
          <a:bodyPr>
            <a:spAutoFit/>
          </a:bodyPr>
          <a:lstStyle/>
          <a:p>
            <a:r>
              <a:rPr lang="zh-CN" altLang="en-US" b="1" dirty="0"/>
              <a:t>栈顶</a:t>
            </a:r>
          </a:p>
        </p:txBody>
      </p:sp>
      <p:sp>
        <p:nvSpPr>
          <p:cNvPr id="7202" name="Line 1067"/>
          <p:cNvSpPr>
            <a:spLocks noChangeShapeType="1"/>
          </p:cNvSpPr>
          <p:nvPr/>
        </p:nvSpPr>
        <p:spPr bwMode="auto">
          <a:xfrm>
            <a:off x="6842125" y="4352925"/>
            <a:ext cx="304800" cy="0"/>
          </a:xfrm>
          <a:prstGeom prst="line">
            <a:avLst/>
          </a:prstGeom>
          <a:noFill/>
          <a:ln w="38100">
            <a:solidFill>
              <a:schemeClr val="folHlink"/>
            </a:solidFill>
            <a:round/>
            <a:headEnd/>
            <a:tailEnd type="triangle" w="med" len="med"/>
          </a:ln>
        </p:spPr>
        <p:txBody>
          <a:bodyPr wrap="none"/>
          <a:lstStyle/>
          <a:p>
            <a:endParaRPr lang="zh-CN" altLang="en-US"/>
          </a:p>
        </p:txBody>
      </p:sp>
      <p:sp>
        <p:nvSpPr>
          <p:cNvPr id="7203" name="Rectangle 1068"/>
          <p:cNvSpPr>
            <a:spLocks noChangeArrowheads="1"/>
          </p:cNvSpPr>
          <p:nvPr/>
        </p:nvSpPr>
        <p:spPr bwMode="auto">
          <a:xfrm>
            <a:off x="5876925" y="4103688"/>
            <a:ext cx="1019175" cy="457200"/>
          </a:xfrm>
          <a:prstGeom prst="rect">
            <a:avLst/>
          </a:prstGeom>
          <a:noFill/>
          <a:ln w="9525">
            <a:noFill/>
            <a:miter lim="800000"/>
            <a:headEnd/>
            <a:tailEnd/>
          </a:ln>
        </p:spPr>
        <p:txBody>
          <a:bodyPr>
            <a:spAutoFit/>
          </a:bodyPr>
          <a:lstStyle/>
          <a:p>
            <a:r>
              <a:rPr lang="zh-CN" altLang="en-US" b="1" dirty="0"/>
              <a:t>栈顶</a:t>
            </a:r>
          </a:p>
        </p:txBody>
      </p:sp>
      <p:sp>
        <p:nvSpPr>
          <p:cNvPr id="7204" name="Text Box 1069"/>
          <p:cNvSpPr txBox="1">
            <a:spLocks noChangeArrowheads="1"/>
          </p:cNvSpPr>
          <p:nvPr/>
        </p:nvSpPr>
        <p:spPr bwMode="auto">
          <a:xfrm>
            <a:off x="5949950" y="3473450"/>
            <a:ext cx="1200150" cy="369332"/>
          </a:xfrm>
          <a:prstGeom prst="rect">
            <a:avLst/>
          </a:prstGeom>
          <a:solidFill>
            <a:srgbClr val="FFFFFF"/>
          </a:solidFill>
          <a:ln w="9525">
            <a:noFill/>
            <a:miter lim="800000"/>
            <a:headEnd/>
            <a:tailEnd/>
          </a:ln>
        </p:spPr>
        <p:txBody>
          <a:bodyPr wrap="square">
            <a:spAutoFit/>
          </a:bodyPr>
          <a:lstStyle/>
          <a:p>
            <a:pPr>
              <a:spcBef>
                <a:spcPct val="50000"/>
              </a:spcBef>
            </a:pPr>
            <a:endParaRPr lang="zh-CN" altLang="zh-CN" sz="1800"/>
          </a:p>
        </p:txBody>
      </p:sp>
      <p:sp>
        <p:nvSpPr>
          <p:cNvPr id="7205" name="Text Box 1070"/>
          <p:cNvSpPr txBox="1">
            <a:spLocks noChangeArrowheads="1"/>
          </p:cNvSpPr>
          <p:nvPr/>
        </p:nvSpPr>
        <p:spPr bwMode="auto">
          <a:xfrm>
            <a:off x="5934075" y="2851150"/>
            <a:ext cx="1216025" cy="579438"/>
          </a:xfrm>
          <a:prstGeom prst="rect">
            <a:avLst/>
          </a:prstGeom>
          <a:solidFill>
            <a:srgbClr val="FFFFFF"/>
          </a:solidFill>
          <a:ln w="9525">
            <a:noFill/>
            <a:miter lim="800000"/>
            <a:headEnd/>
            <a:tailEnd/>
          </a:ln>
        </p:spPr>
        <p:txBody>
          <a:bodyPr>
            <a:spAutoFit/>
          </a:bodyPr>
          <a:lstStyle/>
          <a:p>
            <a:pPr>
              <a:spcBef>
                <a:spcPct val="50000"/>
              </a:spcBef>
            </a:pPr>
            <a:endParaRPr lang="zh-CN" altLang="zh-CN" sz="3200"/>
          </a:p>
        </p:txBody>
      </p:sp>
      <p:sp>
        <p:nvSpPr>
          <p:cNvPr id="39"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93"/>
                                        </p:tgtEl>
                                        <p:attrNameLst>
                                          <p:attrName>style.visibility</p:attrName>
                                        </p:attrNameLst>
                                      </p:cBhvr>
                                      <p:to>
                                        <p:strVal val="visible"/>
                                      </p:to>
                                    </p:set>
                                    <p:animEffect transition="in" filter="wipe(up)">
                                      <p:cBhvr>
                                        <p:cTn id="7" dur="500"/>
                                        <p:tgtEl>
                                          <p:spTgt spid="719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195"/>
                                        </p:tgtEl>
                                        <p:attrNameLst>
                                          <p:attrName>style.visibility</p:attrName>
                                        </p:attrNameLst>
                                      </p:cBhvr>
                                      <p:to>
                                        <p:strVal val="visible"/>
                                      </p:to>
                                    </p:set>
                                    <p:animEffect transition="in" filter="wipe(up)">
                                      <p:cBhvr>
                                        <p:cTn id="10" dur="500"/>
                                        <p:tgtEl>
                                          <p:spTgt spid="719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185"/>
                                        </p:tgtEl>
                                        <p:attrNameLst>
                                          <p:attrName>style.visibility</p:attrName>
                                        </p:attrNameLst>
                                      </p:cBhvr>
                                      <p:to>
                                        <p:strVal val="visible"/>
                                      </p:to>
                                    </p:set>
                                    <p:animEffect transition="in" filter="wipe(down)">
                                      <p:cBhvr>
                                        <p:cTn id="15" dur="500"/>
                                        <p:tgtEl>
                                          <p:spTgt spid="7185"/>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7192"/>
                                        </p:tgtEl>
                                        <p:attrNameLst>
                                          <p:attrName>style.visibility</p:attrName>
                                        </p:attrNameLst>
                                      </p:cBhvr>
                                      <p:to>
                                        <p:strVal val="visible"/>
                                      </p:to>
                                    </p:set>
                                    <p:animEffect transition="in" filter="wipe(left)">
                                      <p:cBhvr>
                                        <p:cTn id="19" dur="500"/>
                                        <p:tgtEl>
                                          <p:spTgt spid="719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190"/>
                                        </p:tgtEl>
                                        <p:attrNameLst>
                                          <p:attrName>style.visibility</p:attrName>
                                        </p:attrNameLst>
                                      </p:cBhvr>
                                      <p:to>
                                        <p:strVal val="visible"/>
                                      </p:to>
                                    </p:set>
                                    <p:animEffect transition="in" filter="wipe(left)">
                                      <p:cBhvr>
                                        <p:cTn id="22" dur="500"/>
                                        <p:tgtEl>
                                          <p:spTgt spid="7190"/>
                                        </p:tgtEl>
                                      </p:cBhvr>
                                    </p:animEffect>
                                  </p:childTnLst>
                                </p:cTn>
                              </p:par>
                            </p:childTnLst>
                          </p:cTn>
                        </p:par>
                        <p:par>
                          <p:cTn id="23" fill="hold">
                            <p:stCondLst>
                              <p:cond delay="1000"/>
                            </p:stCondLst>
                            <p:childTnLst>
                              <p:par>
                                <p:cTn id="24" presetID="22" presetClass="entr" presetSubtype="4" fill="hold" grpId="0" nodeType="afterEffect">
                                  <p:stCondLst>
                                    <p:cond delay="0"/>
                                  </p:stCondLst>
                                  <p:childTnLst>
                                    <p:set>
                                      <p:cBhvr>
                                        <p:cTn id="25" dur="1" fill="hold">
                                          <p:stCondLst>
                                            <p:cond delay="0"/>
                                          </p:stCondLst>
                                        </p:cTn>
                                        <p:tgtEl>
                                          <p:spTgt spid="7186"/>
                                        </p:tgtEl>
                                        <p:attrNameLst>
                                          <p:attrName>style.visibility</p:attrName>
                                        </p:attrNameLst>
                                      </p:cBhvr>
                                      <p:to>
                                        <p:strVal val="visible"/>
                                      </p:to>
                                    </p:set>
                                    <p:animEffect transition="in" filter="wipe(down)">
                                      <p:cBhvr>
                                        <p:cTn id="26" dur="500"/>
                                        <p:tgtEl>
                                          <p:spTgt spid="7186"/>
                                        </p:tgtEl>
                                      </p:cBhvr>
                                    </p:animEffect>
                                  </p:childTnLst>
                                </p:cTn>
                              </p:par>
                            </p:childTnLst>
                          </p:cTn>
                        </p:par>
                        <p:par>
                          <p:cTn id="27" fill="hold">
                            <p:stCondLst>
                              <p:cond delay="1500"/>
                            </p:stCondLst>
                            <p:childTnLst>
                              <p:par>
                                <p:cTn id="28" presetID="22" presetClass="entr" presetSubtype="4" fill="hold" grpId="0" nodeType="afterEffect">
                                  <p:stCondLst>
                                    <p:cond delay="0"/>
                                  </p:stCondLst>
                                  <p:childTnLst>
                                    <p:set>
                                      <p:cBhvr>
                                        <p:cTn id="29" dur="1" fill="hold">
                                          <p:stCondLst>
                                            <p:cond delay="0"/>
                                          </p:stCondLst>
                                        </p:cTn>
                                        <p:tgtEl>
                                          <p:spTgt spid="7188"/>
                                        </p:tgtEl>
                                        <p:attrNameLst>
                                          <p:attrName>style.visibility</p:attrName>
                                        </p:attrNameLst>
                                      </p:cBhvr>
                                      <p:to>
                                        <p:strVal val="visible"/>
                                      </p:to>
                                    </p:set>
                                    <p:animEffect transition="in" filter="wipe(down)">
                                      <p:cBhvr>
                                        <p:cTn id="30" dur="500"/>
                                        <p:tgtEl>
                                          <p:spTgt spid="7188"/>
                                        </p:tgtEl>
                                      </p:cBhvr>
                                    </p:animEffect>
                                  </p:childTnLst>
                                </p:cTn>
                              </p:par>
                            </p:childTnLst>
                          </p:cTn>
                        </p:par>
                        <p:par>
                          <p:cTn id="31" fill="hold">
                            <p:stCondLst>
                              <p:cond delay="2000"/>
                            </p:stCondLst>
                            <p:childTnLst>
                              <p:par>
                                <p:cTn id="32" presetID="22" presetClass="entr" presetSubtype="4" fill="hold" grpId="0" nodeType="afterEffect">
                                  <p:stCondLst>
                                    <p:cond delay="0"/>
                                  </p:stCondLst>
                                  <p:childTnLst>
                                    <p:set>
                                      <p:cBhvr>
                                        <p:cTn id="33" dur="1" fill="hold">
                                          <p:stCondLst>
                                            <p:cond delay="0"/>
                                          </p:stCondLst>
                                        </p:cTn>
                                        <p:tgtEl>
                                          <p:spTgt spid="7187"/>
                                        </p:tgtEl>
                                        <p:attrNameLst>
                                          <p:attrName>style.visibility</p:attrName>
                                        </p:attrNameLst>
                                      </p:cBhvr>
                                      <p:to>
                                        <p:strVal val="visible"/>
                                      </p:to>
                                    </p:set>
                                    <p:animEffect transition="in" filter="wipe(down)">
                                      <p:cBhvr>
                                        <p:cTn id="34" dur="500"/>
                                        <p:tgtEl>
                                          <p:spTgt spid="7187"/>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7191"/>
                                        </p:tgtEl>
                                        <p:attrNameLst>
                                          <p:attrName>style.visibility</p:attrName>
                                        </p:attrNameLst>
                                      </p:cBhvr>
                                      <p:to>
                                        <p:strVal val="visible"/>
                                      </p:to>
                                    </p:set>
                                    <p:animEffect transition="in" filter="wipe(left)">
                                      <p:cBhvr>
                                        <p:cTn id="38" dur="500"/>
                                        <p:tgtEl>
                                          <p:spTgt spid="7191"/>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7189"/>
                                        </p:tgtEl>
                                        <p:attrNameLst>
                                          <p:attrName>style.visibility</p:attrName>
                                        </p:attrNameLst>
                                      </p:cBhvr>
                                      <p:to>
                                        <p:strVal val="visible"/>
                                      </p:to>
                                    </p:set>
                                    <p:animEffect transition="in" filter="wipe(left)">
                                      <p:cBhvr>
                                        <p:cTn id="41" dur="500"/>
                                        <p:tgtEl>
                                          <p:spTgt spid="718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7194"/>
                                        </p:tgtEl>
                                        <p:attrNameLst>
                                          <p:attrName>style.visibility</p:attrName>
                                        </p:attrNameLst>
                                      </p:cBhvr>
                                      <p:to>
                                        <p:strVal val="visible"/>
                                      </p:to>
                                    </p:set>
                                    <p:animEffect transition="in" filter="wipe(down)">
                                      <p:cBhvr>
                                        <p:cTn id="46" dur="500"/>
                                        <p:tgtEl>
                                          <p:spTgt spid="7194"/>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7196"/>
                                        </p:tgtEl>
                                        <p:attrNameLst>
                                          <p:attrName>style.visibility</p:attrName>
                                        </p:attrNameLst>
                                      </p:cBhvr>
                                      <p:to>
                                        <p:strVal val="visible"/>
                                      </p:to>
                                    </p:set>
                                    <p:animEffect transition="in" filter="wipe(down)">
                                      <p:cBhvr>
                                        <p:cTn id="49" dur="500"/>
                                        <p:tgtEl>
                                          <p:spTgt spid="719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7205"/>
                                        </p:tgtEl>
                                        <p:attrNameLst>
                                          <p:attrName>style.visibility</p:attrName>
                                        </p:attrNameLst>
                                      </p:cBhvr>
                                      <p:to>
                                        <p:strVal val="visible"/>
                                      </p:to>
                                    </p:set>
                                    <p:animEffect transition="in" filter="wipe(down)">
                                      <p:cBhvr>
                                        <p:cTn id="54" dur="500"/>
                                        <p:tgtEl>
                                          <p:spTgt spid="7205"/>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7198"/>
                                        </p:tgtEl>
                                        <p:attrNameLst>
                                          <p:attrName>style.visibility</p:attrName>
                                        </p:attrNameLst>
                                      </p:cBhvr>
                                      <p:to>
                                        <p:strVal val="visible"/>
                                      </p:to>
                                    </p:set>
                                    <p:animEffect transition="in" filter="wipe(down)">
                                      <p:cBhvr>
                                        <p:cTn id="57" dur="500"/>
                                        <p:tgtEl>
                                          <p:spTgt spid="7198"/>
                                        </p:tgtEl>
                                      </p:cBhvr>
                                    </p:animEffec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7201"/>
                                        </p:tgtEl>
                                        <p:attrNameLst>
                                          <p:attrName>style.visibility</p:attrName>
                                        </p:attrNameLst>
                                      </p:cBhvr>
                                      <p:to>
                                        <p:strVal val="visible"/>
                                      </p:to>
                                    </p:set>
                                    <p:animEffect transition="in" filter="wipe(down)">
                                      <p:cBhvr>
                                        <p:cTn id="61" dur="500"/>
                                        <p:tgtEl>
                                          <p:spTgt spid="7201"/>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7200"/>
                                        </p:tgtEl>
                                        <p:attrNameLst>
                                          <p:attrName>style.visibility</p:attrName>
                                        </p:attrNameLst>
                                      </p:cBhvr>
                                      <p:to>
                                        <p:strVal val="visible"/>
                                      </p:to>
                                    </p:set>
                                    <p:animEffect transition="in" filter="wipe(down)">
                                      <p:cBhvr>
                                        <p:cTn id="64" dur="500"/>
                                        <p:tgtEl>
                                          <p:spTgt spid="720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7204"/>
                                        </p:tgtEl>
                                        <p:attrNameLst>
                                          <p:attrName>style.visibility</p:attrName>
                                        </p:attrNameLst>
                                      </p:cBhvr>
                                      <p:to>
                                        <p:strVal val="visible"/>
                                      </p:to>
                                    </p:set>
                                    <p:animEffect transition="in" filter="wipe(down)">
                                      <p:cBhvr>
                                        <p:cTn id="69" dur="500"/>
                                        <p:tgtEl>
                                          <p:spTgt spid="7204"/>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7199"/>
                                        </p:tgtEl>
                                        <p:attrNameLst>
                                          <p:attrName>style.visibility</p:attrName>
                                        </p:attrNameLst>
                                      </p:cBhvr>
                                      <p:to>
                                        <p:strVal val="visible"/>
                                      </p:to>
                                    </p:set>
                                    <p:animEffect transition="in" filter="wipe(down)">
                                      <p:cBhvr>
                                        <p:cTn id="72" dur="500"/>
                                        <p:tgtEl>
                                          <p:spTgt spid="7199"/>
                                        </p:tgtEl>
                                      </p:cBhvr>
                                    </p:animEffect>
                                  </p:childTnLst>
                                </p:cTn>
                              </p:par>
                            </p:childTnLst>
                          </p:cTn>
                        </p:par>
                        <p:par>
                          <p:cTn id="73" fill="hold">
                            <p:stCondLst>
                              <p:cond delay="500"/>
                            </p:stCondLst>
                            <p:childTnLst>
                              <p:par>
                                <p:cTn id="74" presetID="22" presetClass="entr" presetSubtype="4" fill="hold" grpId="0" nodeType="afterEffect">
                                  <p:stCondLst>
                                    <p:cond delay="0"/>
                                  </p:stCondLst>
                                  <p:childTnLst>
                                    <p:set>
                                      <p:cBhvr>
                                        <p:cTn id="75" dur="1" fill="hold">
                                          <p:stCondLst>
                                            <p:cond delay="0"/>
                                          </p:stCondLst>
                                        </p:cTn>
                                        <p:tgtEl>
                                          <p:spTgt spid="7203"/>
                                        </p:tgtEl>
                                        <p:attrNameLst>
                                          <p:attrName>style.visibility</p:attrName>
                                        </p:attrNameLst>
                                      </p:cBhvr>
                                      <p:to>
                                        <p:strVal val="visible"/>
                                      </p:to>
                                    </p:set>
                                    <p:animEffect transition="in" filter="wipe(down)">
                                      <p:cBhvr>
                                        <p:cTn id="76" dur="500"/>
                                        <p:tgtEl>
                                          <p:spTgt spid="7203"/>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7202"/>
                                        </p:tgtEl>
                                        <p:attrNameLst>
                                          <p:attrName>style.visibility</p:attrName>
                                        </p:attrNameLst>
                                      </p:cBhvr>
                                      <p:to>
                                        <p:strVal val="visible"/>
                                      </p:to>
                                    </p:set>
                                    <p:animEffect transition="in" filter="wipe(down)">
                                      <p:cBhvr>
                                        <p:cTn id="79" dur="500"/>
                                        <p:tgtEl>
                                          <p:spTgt spid="7202"/>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4" fill="hold" grpId="0" nodeType="clickEffect">
                                  <p:stCondLst>
                                    <p:cond delay="0"/>
                                  </p:stCondLst>
                                  <p:childTnLst>
                                    <p:set>
                                      <p:cBhvr>
                                        <p:cTn id="83" dur="1" fill="hold">
                                          <p:stCondLst>
                                            <p:cond delay="0"/>
                                          </p:stCondLst>
                                        </p:cTn>
                                        <p:tgtEl>
                                          <p:spTgt spid="7197"/>
                                        </p:tgtEl>
                                        <p:attrNameLst>
                                          <p:attrName>style.visibility</p:attrName>
                                        </p:attrNameLst>
                                      </p:cBhvr>
                                      <p:to>
                                        <p:strVal val="visible"/>
                                      </p:to>
                                    </p:set>
                                    <p:animEffect transition="in" filter="slide(fromBottom)">
                                      <p:cBhvr>
                                        <p:cTn id="84" dur="500"/>
                                        <p:tgtEl>
                                          <p:spTgt spid="7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5" grpId="0"/>
      <p:bldP spid="7186" grpId="0"/>
      <p:bldP spid="7187" grpId="0"/>
      <p:bldP spid="7188" grpId="0" animBg="1"/>
      <p:bldP spid="7189" grpId="0" animBg="1"/>
      <p:bldP spid="7190" grpId="0" animBg="1"/>
      <p:bldP spid="7191" grpId="0"/>
      <p:bldP spid="7192" grpId="0"/>
      <p:bldP spid="7193" grpId="0" animBg="1"/>
      <p:bldP spid="7194" grpId="0" animBg="1"/>
      <p:bldP spid="7195" grpId="0"/>
      <p:bldP spid="7196" grpId="0"/>
      <p:bldP spid="7197" grpId="0"/>
      <p:bldP spid="7198" grpId="0" animBg="1"/>
      <p:bldP spid="7199" grpId="0" animBg="1"/>
      <p:bldP spid="7200" grpId="0" animBg="1"/>
      <p:bldP spid="7201" grpId="0"/>
      <p:bldP spid="7202" grpId="0" animBg="1"/>
      <p:bldP spid="7203" grpId="0"/>
      <p:bldP spid="7204" grpId="0" animBg="1"/>
      <p:bldP spid="720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p>
            <a:fld id="{2DD3283F-7BBD-4F07-B429-88B517AB7572}" type="slidenum">
              <a:rPr lang="en-US" altLang="zh-CN"/>
              <a:pPr/>
              <a:t>8</a:t>
            </a:fld>
            <a:endParaRPr lang="en-US" altLang="zh-CN"/>
          </a:p>
        </p:txBody>
      </p:sp>
      <p:sp>
        <p:nvSpPr>
          <p:cNvPr id="8196" name="Text Box 3"/>
          <p:cNvSpPr txBox="1">
            <a:spLocks noChangeArrowheads="1"/>
          </p:cNvSpPr>
          <p:nvPr/>
        </p:nvSpPr>
        <p:spPr bwMode="auto">
          <a:xfrm>
            <a:off x="251520" y="1305440"/>
            <a:ext cx="7396577" cy="3773341"/>
          </a:xfrm>
          <a:prstGeom prst="rect">
            <a:avLst/>
          </a:prstGeom>
          <a:noFill/>
          <a:ln w="9525">
            <a:noFill/>
            <a:miter lim="800000"/>
            <a:headEnd/>
            <a:tailEnd/>
          </a:ln>
        </p:spPr>
        <p:txBody>
          <a:bodyPr wrap="none">
            <a:spAutoFit/>
          </a:bodyPr>
          <a:lstStyle/>
          <a:p>
            <a:pPr eaLnBrk="0" hangingPunct="0">
              <a:lnSpc>
                <a:spcPct val="120000"/>
              </a:lnSpc>
            </a:pPr>
            <a:r>
              <a:rPr lang="zh-CN" altLang="en-US" sz="3200" b="1" dirty="0">
                <a:solidFill>
                  <a:schemeClr val="bg1">
                    <a:lumMod val="10000"/>
                  </a:schemeClr>
                </a:solidFill>
                <a:ea typeface="楷体_GB2312" pitchFamily="49" charset="-122"/>
              </a:rPr>
              <a:t>栈的抽象数据类型定义</a:t>
            </a:r>
            <a:endParaRPr lang="en-US" altLang="zh-CN" sz="3200" b="1" dirty="0">
              <a:solidFill>
                <a:schemeClr val="bg1">
                  <a:lumMod val="10000"/>
                </a:schemeClr>
              </a:solidFill>
              <a:ea typeface="楷体_GB2312" pitchFamily="49" charset="-122"/>
            </a:endParaRPr>
          </a:p>
          <a:p>
            <a:pPr eaLnBrk="0" hangingPunct="0">
              <a:lnSpc>
                <a:spcPct val="120000"/>
              </a:lnSpc>
            </a:pPr>
            <a:r>
              <a:rPr lang="en-US" altLang="zh-CN" sz="3200" b="1"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ADT Stack</a:t>
            </a:r>
            <a:endParaRPr lang="en-US" altLang="zh-CN" sz="2800" dirty="0">
              <a:solidFill>
                <a:schemeClr val="bg1">
                  <a:lumMod val="10000"/>
                </a:schemeClr>
              </a:solidFill>
              <a:ea typeface="楷体_GB2312" pitchFamily="49" charset="-122"/>
            </a:endParaRPr>
          </a:p>
          <a:p>
            <a:pPr eaLnBrk="0" hangingPunct="0">
              <a:lnSpc>
                <a:spcPct val="120000"/>
              </a:lnSpc>
            </a:pPr>
            <a:r>
              <a:rPr lang="en-US" altLang="zh-CN" sz="2800"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a:t>
            </a:r>
            <a:r>
              <a:rPr lang="en-US" altLang="zh-CN" sz="2800" dirty="0">
                <a:solidFill>
                  <a:schemeClr val="bg1">
                    <a:lumMod val="10000"/>
                  </a:schemeClr>
                </a:solidFill>
                <a:ea typeface="楷体_GB2312" pitchFamily="49" charset="-122"/>
              </a:rPr>
              <a:t>  </a:t>
            </a:r>
            <a:r>
              <a:rPr lang="zh-CN" altLang="en-US" sz="2800" b="1" dirty="0">
                <a:solidFill>
                  <a:srgbClr val="FF0000"/>
                </a:solidFill>
                <a:ea typeface="楷体_GB2312" pitchFamily="49" charset="-122"/>
              </a:rPr>
              <a:t>数据对象</a:t>
            </a:r>
            <a:r>
              <a:rPr lang="zh-CN" altLang="en-US" sz="2800" dirty="0">
                <a:solidFill>
                  <a:schemeClr val="bg1">
                    <a:lumMod val="10000"/>
                  </a:schemeClr>
                </a:solidFill>
                <a:ea typeface="楷体_GB2312" pitchFamily="49" charset="-122"/>
              </a:rPr>
              <a:t>：</a:t>
            </a:r>
          </a:p>
          <a:p>
            <a:pPr eaLnBrk="0" hangingPunct="0">
              <a:lnSpc>
                <a:spcPct val="120000"/>
              </a:lnSpc>
            </a:pPr>
            <a:r>
              <a:rPr lang="zh-CN" altLang="en-US" sz="2800"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D</a:t>
            </a:r>
            <a:r>
              <a:rPr lang="zh-CN" altLang="en-US" sz="2800" b="1" dirty="0">
                <a:solidFill>
                  <a:schemeClr val="bg1">
                    <a:lumMod val="10000"/>
                  </a:schemeClr>
                </a:solidFill>
                <a:ea typeface="楷体_GB2312" pitchFamily="49" charset="-122"/>
              </a:rPr>
              <a:t>＝</a:t>
            </a:r>
            <a:r>
              <a:rPr lang="en-US" altLang="zh-CN" sz="2800" b="1" dirty="0">
                <a:solidFill>
                  <a:schemeClr val="bg1">
                    <a:lumMod val="10000"/>
                  </a:schemeClr>
                </a:solidFill>
                <a:ea typeface="楷体_GB2312" pitchFamily="49" charset="-122"/>
              </a:rPr>
              <a:t>{ </a:t>
            </a:r>
            <a:r>
              <a:rPr lang="en-US" altLang="zh-CN" sz="2800" b="1" dirty="0" err="1">
                <a:solidFill>
                  <a:schemeClr val="bg1">
                    <a:lumMod val="10000"/>
                  </a:schemeClr>
                </a:solidFill>
                <a:ea typeface="楷体_GB2312" pitchFamily="49" charset="-122"/>
              </a:rPr>
              <a:t>a</a:t>
            </a:r>
            <a:r>
              <a:rPr lang="en-US" altLang="zh-CN" sz="2800" b="1" baseline="-25000" dirty="0" err="1">
                <a:solidFill>
                  <a:schemeClr val="bg1">
                    <a:lumMod val="10000"/>
                  </a:schemeClr>
                </a:solidFill>
                <a:ea typeface="楷体_GB2312" pitchFamily="49" charset="-122"/>
              </a:rPr>
              <a:t>i</a:t>
            </a:r>
            <a:r>
              <a:rPr lang="en-US" altLang="zh-CN" sz="2800" b="1" dirty="0">
                <a:solidFill>
                  <a:schemeClr val="bg1">
                    <a:lumMod val="10000"/>
                  </a:schemeClr>
                </a:solidFill>
                <a:ea typeface="楷体_GB2312" pitchFamily="49" charset="-122"/>
              </a:rPr>
              <a:t> | </a:t>
            </a:r>
            <a:r>
              <a:rPr lang="en-US" altLang="zh-CN" sz="2800" b="1" dirty="0" err="1">
                <a:solidFill>
                  <a:schemeClr val="bg1">
                    <a:lumMod val="10000"/>
                  </a:schemeClr>
                </a:solidFill>
                <a:ea typeface="楷体_GB2312" pitchFamily="49" charset="-122"/>
              </a:rPr>
              <a:t>a</a:t>
            </a:r>
            <a:r>
              <a:rPr lang="en-US" altLang="zh-CN" sz="2800" b="1" baseline="-25000" dirty="0" err="1">
                <a:solidFill>
                  <a:schemeClr val="bg1">
                    <a:lumMod val="10000"/>
                  </a:schemeClr>
                </a:solidFill>
                <a:ea typeface="楷体_GB2312" pitchFamily="49" charset="-122"/>
              </a:rPr>
              <a:t>i</a:t>
            </a:r>
            <a:r>
              <a:rPr lang="en-US" altLang="zh-CN" sz="2800" b="1" baseline="-25000"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a:t>
            </a:r>
            <a:r>
              <a:rPr lang="en-US" altLang="zh-CN" sz="2800" b="1" dirty="0" err="1">
                <a:solidFill>
                  <a:schemeClr val="bg1">
                    <a:lumMod val="10000"/>
                  </a:schemeClr>
                </a:solidFill>
                <a:ea typeface="楷体_GB2312" pitchFamily="49" charset="-122"/>
              </a:rPr>
              <a:t>ElemSet</a:t>
            </a:r>
            <a:r>
              <a:rPr lang="en-US" altLang="zh-CN" sz="2800" b="1" dirty="0">
                <a:solidFill>
                  <a:schemeClr val="bg1">
                    <a:lumMod val="10000"/>
                  </a:schemeClr>
                </a:solidFill>
                <a:ea typeface="楷体_GB2312" pitchFamily="49" charset="-122"/>
              </a:rPr>
              <a:t>, </a:t>
            </a:r>
            <a:r>
              <a:rPr lang="en-US" altLang="zh-CN" sz="2800" b="1" dirty="0" err="1">
                <a:solidFill>
                  <a:schemeClr val="bg1">
                    <a:lumMod val="10000"/>
                  </a:schemeClr>
                </a:solidFill>
                <a:ea typeface="楷体_GB2312" pitchFamily="49" charset="-122"/>
              </a:rPr>
              <a:t>i</a:t>
            </a:r>
            <a:r>
              <a:rPr lang="en-US" altLang="zh-CN" sz="2800" b="1" dirty="0">
                <a:solidFill>
                  <a:schemeClr val="bg1">
                    <a:lumMod val="10000"/>
                  </a:schemeClr>
                </a:solidFill>
                <a:ea typeface="楷体_GB2312" pitchFamily="49" charset="-122"/>
              </a:rPr>
              <a:t>=1,2,...,n,  n≥0 }</a:t>
            </a:r>
          </a:p>
          <a:p>
            <a:pPr eaLnBrk="0" hangingPunct="0">
              <a:lnSpc>
                <a:spcPct val="120000"/>
              </a:lnSpc>
            </a:pPr>
            <a:r>
              <a:rPr lang="en-US" altLang="zh-CN" sz="2800" dirty="0">
                <a:solidFill>
                  <a:schemeClr val="bg1">
                    <a:lumMod val="10000"/>
                  </a:schemeClr>
                </a:solidFill>
                <a:ea typeface="楷体_GB2312" pitchFamily="49" charset="-122"/>
              </a:rPr>
              <a:t>       </a:t>
            </a:r>
            <a:r>
              <a:rPr lang="zh-CN" altLang="en-US" sz="2800" b="1" dirty="0">
                <a:solidFill>
                  <a:srgbClr val="FF0000"/>
                </a:solidFill>
                <a:ea typeface="楷体_GB2312" pitchFamily="49" charset="-122"/>
              </a:rPr>
              <a:t>数据关系</a:t>
            </a:r>
            <a:r>
              <a:rPr lang="zh-CN" altLang="en-US" sz="2800" dirty="0">
                <a:solidFill>
                  <a:schemeClr val="bg1">
                    <a:lumMod val="10000"/>
                  </a:schemeClr>
                </a:solidFill>
                <a:ea typeface="楷体_GB2312" pitchFamily="49" charset="-122"/>
              </a:rPr>
              <a:t>：</a:t>
            </a:r>
          </a:p>
          <a:p>
            <a:pPr eaLnBrk="0" hangingPunct="0">
              <a:lnSpc>
                <a:spcPct val="110000"/>
              </a:lnSpc>
            </a:pPr>
            <a:r>
              <a:rPr lang="zh-CN" altLang="en-US" sz="2800"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R1</a:t>
            </a:r>
            <a:r>
              <a:rPr lang="zh-CN" altLang="en-US" sz="2800" b="1" dirty="0">
                <a:solidFill>
                  <a:schemeClr val="bg1">
                    <a:lumMod val="10000"/>
                  </a:schemeClr>
                </a:solidFill>
                <a:ea typeface="楷体_GB2312" pitchFamily="49" charset="-122"/>
              </a:rPr>
              <a:t>＝</a:t>
            </a:r>
            <a:r>
              <a:rPr lang="en-US" altLang="zh-CN" sz="2800" b="1" dirty="0">
                <a:solidFill>
                  <a:schemeClr val="bg1">
                    <a:lumMod val="10000"/>
                  </a:schemeClr>
                </a:solidFill>
                <a:ea typeface="楷体_GB2312" pitchFamily="49" charset="-122"/>
              </a:rPr>
              <a:t>{ &lt;a</a:t>
            </a:r>
            <a:r>
              <a:rPr lang="en-US" altLang="zh-CN" sz="2800" b="1" baseline="-25000" dirty="0">
                <a:solidFill>
                  <a:schemeClr val="bg1">
                    <a:lumMod val="10000"/>
                  </a:schemeClr>
                </a:solidFill>
                <a:ea typeface="楷体_GB2312" pitchFamily="49" charset="-122"/>
              </a:rPr>
              <a:t>i-1</a:t>
            </a:r>
            <a:r>
              <a:rPr lang="en-US" altLang="zh-CN" sz="2800" b="1" dirty="0">
                <a:solidFill>
                  <a:schemeClr val="bg1">
                    <a:lumMod val="10000"/>
                  </a:schemeClr>
                </a:solidFill>
                <a:ea typeface="楷体_GB2312" pitchFamily="49" charset="-122"/>
              </a:rPr>
              <a:t>, </a:t>
            </a:r>
            <a:r>
              <a:rPr lang="en-US" altLang="zh-CN" sz="2800" b="1" dirty="0" err="1">
                <a:solidFill>
                  <a:schemeClr val="bg1">
                    <a:lumMod val="10000"/>
                  </a:schemeClr>
                </a:solidFill>
                <a:ea typeface="楷体_GB2312" pitchFamily="49" charset="-122"/>
              </a:rPr>
              <a:t>a</a:t>
            </a:r>
            <a:r>
              <a:rPr lang="en-US" altLang="zh-CN" sz="2800" b="1" baseline="-25000" dirty="0" err="1">
                <a:solidFill>
                  <a:schemeClr val="bg1">
                    <a:lumMod val="10000"/>
                  </a:schemeClr>
                </a:solidFill>
                <a:ea typeface="楷体_GB2312" pitchFamily="49" charset="-122"/>
              </a:rPr>
              <a:t>i</a:t>
            </a:r>
            <a:r>
              <a:rPr lang="en-US" altLang="zh-CN" sz="2800" b="1" dirty="0">
                <a:solidFill>
                  <a:schemeClr val="bg1">
                    <a:lumMod val="10000"/>
                  </a:schemeClr>
                </a:solidFill>
                <a:ea typeface="楷体_GB2312" pitchFamily="49" charset="-122"/>
              </a:rPr>
              <a:t> &gt;| a</a:t>
            </a:r>
            <a:r>
              <a:rPr lang="en-US" altLang="zh-CN" sz="2800" b="1" baseline="-25000" dirty="0">
                <a:solidFill>
                  <a:schemeClr val="bg1">
                    <a:lumMod val="10000"/>
                  </a:schemeClr>
                </a:solidFill>
                <a:ea typeface="楷体_GB2312" pitchFamily="49" charset="-122"/>
              </a:rPr>
              <a:t>i-1</a:t>
            </a:r>
            <a:r>
              <a:rPr lang="en-US" altLang="zh-CN" sz="2800" b="1" dirty="0">
                <a:solidFill>
                  <a:schemeClr val="bg1">
                    <a:lumMod val="10000"/>
                  </a:schemeClr>
                </a:solidFill>
                <a:ea typeface="楷体_GB2312" pitchFamily="49" charset="-122"/>
              </a:rPr>
              <a:t>, </a:t>
            </a:r>
            <a:r>
              <a:rPr lang="en-US" altLang="zh-CN" sz="2800" b="1" dirty="0" err="1">
                <a:solidFill>
                  <a:schemeClr val="bg1">
                    <a:lumMod val="10000"/>
                  </a:schemeClr>
                </a:solidFill>
                <a:ea typeface="楷体_GB2312" pitchFamily="49" charset="-122"/>
              </a:rPr>
              <a:t>a</a:t>
            </a:r>
            <a:r>
              <a:rPr lang="en-US" altLang="zh-CN" sz="2800" b="1" baseline="-25000" dirty="0" err="1">
                <a:solidFill>
                  <a:schemeClr val="bg1">
                    <a:lumMod val="10000"/>
                  </a:schemeClr>
                </a:solidFill>
                <a:ea typeface="楷体_GB2312" pitchFamily="49" charset="-122"/>
              </a:rPr>
              <a:t>i</a:t>
            </a:r>
            <a:r>
              <a:rPr lang="en-US" altLang="zh-CN" sz="2800" b="1" dirty="0" err="1">
                <a:solidFill>
                  <a:schemeClr val="bg1">
                    <a:lumMod val="10000"/>
                  </a:schemeClr>
                </a:solidFill>
                <a:ea typeface="楷体_GB2312" pitchFamily="49" charset="-122"/>
              </a:rPr>
              <a:t>∈D</a:t>
            </a:r>
            <a:r>
              <a:rPr lang="en-US" altLang="zh-CN" sz="2800" b="1" dirty="0">
                <a:solidFill>
                  <a:schemeClr val="bg1">
                    <a:lumMod val="10000"/>
                  </a:schemeClr>
                </a:solidFill>
                <a:ea typeface="楷体_GB2312" pitchFamily="49" charset="-122"/>
              </a:rPr>
              <a:t>, </a:t>
            </a:r>
            <a:r>
              <a:rPr lang="en-US" altLang="zh-CN" sz="2800" b="1" dirty="0" err="1">
                <a:solidFill>
                  <a:schemeClr val="bg1">
                    <a:lumMod val="10000"/>
                  </a:schemeClr>
                </a:solidFill>
                <a:ea typeface="楷体_GB2312" pitchFamily="49" charset="-122"/>
              </a:rPr>
              <a:t>i</a:t>
            </a:r>
            <a:r>
              <a:rPr lang="en-US" altLang="zh-CN" sz="2800" b="1" dirty="0">
                <a:solidFill>
                  <a:schemeClr val="bg1">
                    <a:lumMod val="10000"/>
                  </a:schemeClr>
                </a:solidFill>
                <a:ea typeface="楷体_GB2312" pitchFamily="49" charset="-122"/>
              </a:rPr>
              <a:t>=2,...,n }</a:t>
            </a:r>
          </a:p>
          <a:p>
            <a:pPr eaLnBrk="0" hangingPunct="0">
              <a:lnSpc>
                <a:spcPct val="110000"/>
              </a:lnSpc>
            </a:pPr>
            <a:r>
              <a:rPr lang="en-US" altLang="zh-CN" sz="2800" b="1" dirty="0">
                <a:solidFill>
                  <a:schemeClr val="bg1">
                    <a:lumMod val="10000"/>
                  </a:schemeClr>
                </a:solidFill>
                <a:ea typeface="楷体_GB2312" pitchFamily="49" charset="-122"/>
              </a:rPr>
              <a:t>                </a:t>
            </a:r>
            <a:r>
              <a:rPr lang="zh-CN" altLang="en-US" sz="2800" b="1" dirty="0">
                <a:solidFill>
                  <a:schemeClr val="bg1">
                    <a:lumMod val="10000"/>
                  </a:schemeClr>
                </a:solidFill>
                <a:ea typeface="楷体_GB2312" pitchFamily="49" charset="-122"/>
              </a:rPr>
              <a:t>约定</a:t>
            </a:r>
            <a:r>
              <a:rPr lang="en-US" altLang="zh-CN" sz="2800" b="1" dirty="0">
                <a:solidFill>
                  <a:schemeClr val="bg1">
                    <a:lumMod val="10000"/>
                  </a:schemeClr>
                </a:solidFill>
                <a:ea typeface="楷体_GB2312" pitchFamily="49" charset="-122"/>
              </a:rPr>
              <a:t>a</a:t>
            </a:r>
            <a:r>
              <a:rPr lang="en-US" altLang="zh-CN" sz="2800" b="1" baseline="-25000" dirty="0">
                <a:solidFill>
                  <a:schemeClr val="bg1">
                    <a:lumMod val="10000"/>
                  </a:schemeClr>
                </a:solidFill>
                <a:ea typeface="楷体_GB2312" pitchFamily="49" charset="-122"/>
              </a:rPr>
              <a:t>n</a:t>
            </a:r>
            <a:r>
              <a:rPr lang="en-US" altLang="zh-CN" sz="2800" b="1" dirty="0">
                <a:solidFill>
                  <a:schemeClr val="bg1">
                    <a:lumMod val="10000"/>
                  </a:schemeClr>
                </a:solidFill>
                <a:ea typeface="楷体_GB2312" pitchFamily="49" charset="-122"/>
              </a:rPr>
              <a:t> </a:t>
            </a:r>
            <a:r>
              <a:rPr lang="zh-CN" altLang="en-US" sz="2800" b="1" dirty="0">
                <a:solidFill>
                  <a:schemeClr val="bg1">
                    <a:lumMod val="10000"/>
                  </a:schemeClr>
                </a:solidFill>
                <a:ea typeface="楷体_GB2312" pitchFamily="49" charset="-122"/>
              </a:rPr>
              <a:t>端为栈顶，</a:t>
            </a:r>
            <a:r>
              <a:rPr lang="en-US" altLang="zh-CN" sz="2800" b="1" dirty="0">
                <a:solidFill>
                  <a:schemeClr val="bg1">
                    <a:lumMod val="10000"/>
                  </a:schemeClr>
                </a:solidFill>
                <a:ea typeface="楷体_GB2312" pitchFamily="49" charset="-122"/>
              </a:rPr>
              <a:t>a</a:t>
            </a:r>
            <a:r>
              <a:rPr lang="en-US" altLang="zh-CN" sz="2800" b="1" baseline="-25000" dirty="0">
                <a:solidFill>
                  <a:schemeClr val="bg1">
                    <a:lumMod val="10000"/>
                  </a:schemeClr>
                </a:solidFill>
                <a:ea typeface="楷体_GB2312" pitchFamily="49" charset="-122"/>
              </a:rPr>
              <a:t>1 </a:t>
            </a:r>
            <a:r>
              <a:rPr lang="zh-CN" altLang="en-US" sz="2800" b="1" dirty="0">
                <a:solidFill>
                  <a:schemeClr val="bg1">
                    <a:lumMod val="10000"/>
                  </a:schemeClr>
                </a:solidFill>
                <a:ea typeface="楷体_GB2312" pitchFamily="49" charset="-122"/>
              </a:rPr>
              <a:t>端为栈底。</a:t>
            </a:r>
            <a:r>
              <a:rPr lang="zh-CN" altLang="en-US" sz="2800" dirty="0">
                <a:solidFill>
                  <a:schemeClr val="bg1">
                    <a:lumMod val="10000"/>
                  </a:schemeClr>
                </a:solidFill>
                <a:ea typeface="楷体_GB2312" pitchFamily="49" charset="-122"/>
              </a:rPr>
              <a:t>  </a:t>
            </a:r>
          </a:p>
        </p:txBody>
      </p:sp>
      <p:sp>
        <p:nvSpPr>
          <p:cNvPr id="8197" name="Text Box 4">
            <a:hlinkClick r:id="" action="ppaction://hlinkshowjump?jump=nextslide"/>
          </p:cNvPr>
          <p:cNvSpPr txBox="1">
            <a:spLocks noChangeArrowheads="1"/>
          </p:cNvSpPr>
          <p:nvPr/>
        </p:nvSpPr>
        <p:spPr bwMode="auto">
          <a:xfrm>
            <a:off x="955007" y="5217879"/>
            <a:ext cx="2592388" cy="579438"/>
          </a:xfrm>
          <a:prstGeom prst="rect">
            <a:avLst/>
          </a:prstGeom>
          <a:noFill/>
          <a:ln w="9525">
            <a:noFill/>
            <a:miter lim="800000"/>
            <a:headEnd/>
            <a:tailEnd/>
          </a:ln>
        </p:spPr>
        <p:txBody>
          <a:bodyPr>
            <a:spAutoFit/>
          </a:bodyPr>
          <a:lstStyle/>
          <a:p>
            <a:r>
              <a:rPr lang="en-US" altLang="zh-CN" sz="3200" b="1" u="sng" dirty="0">
                <a:solidFill>
                  <a:schemeClr val="bg1">
                    <a:lumMod val="10000"/>
                  </a:schemeClr>
                </a:solidFill>
                <a:ea typeface="楷体_GB2312" pitchFamily="49" charset="-122"/>
              </a:rPr>
              <a:t> </a:t>
            </a:r>
            <a:r>
              <a:rPr lang="zh-CN" altLang="en-US" sz="2800" b="1" u="sng" dirty="0">
                <a:solidFill>
                  <a:srgbClr val="FF0000"/>
                </a:solidFill>
                <a:ea typeface="楷体_GB2312" pitchFamily="49" charset="-122"/>
              </a:rPr>
              <a:t>基本操作</a:t>
            </a:r>
            <a:r>
              <a:rPr lang="zh-CN" altLang="en-US" sz="2800" b="1" dirty="0">
                <a:solidFill>
                  <a:schemeClr val="bg1">
                    <a:lumMod val="10000"/>
                  </a:schemeClr>
                </a:solidFill>
                <a:ea typeface="楷体_GB2312" pitchFamily="49" charset="-122"/>
              </a:rPr>
              <a:t>：</a:t>
            </a:r>
            <a:endParaRPr lang="zh-CN" altLang="en-US" sz="2800" dirty="0">
              <a:solidFill>
                <a:schemeClr val="bg1">
                  <a:lumMod val="10000"/>
                </a:schemeClr>
              </a:solidFill>
              <a:ea typeface="楷体_GB2312" pitchFamily="49" charset="-122"/>
            </a:endParaRPr>
          </a:p>
        </p:txBody>
      </p:sp>
      <p:sp>
        <p:nvSpPr>
          <p:cNvPr id="8198" name="Text Box 5"/>
          <p:cNvSpPr txBox="1">
            <a:spLocks noChangeArrowheads="1"/>
          </p:cNvSpPr>
          <p:nvPr/>
        </p:nvSpPr>
        <p:spPr bwMode="auto">
          <a:xfrm>
            <a:off x="566555" y="5797317"/>
            <a:ext cx="2199000" cy="584775"/>
          </a:xfrm>
          <a:prstGeom prst="rect">
            <a:avLst/>
          </a:prstGeom>
          <a:noFill/>
          <a:ln w="9525">
            <a:noFill/>
            <a:miter lim="800000"/>
            <a:headEnd/>
            <a:tailEnd/>
          </a:ln>
        </p:spPr>
        <p:txBody>
          <a:bodyPr wrap="none">
            <a:spAutoFit/>
          </a:bodyPr>
          <a:lstStyle/>
          <a:p>
            <a:r>
              <a:rPr lang="en-US" altLang="zh-CN" sz="3200" dirty="0">
                <a:solidFill>
                  <a:schemeClr val="bg1">
                    <a:lumMod val="10000"/>
                  </a:schemeClr>
                </a:solidFill>
                <a:ea typeface="楷体_GB2312" pitchFamily="49" charset="-122"/>
              </a:rPr>
              <a:t> </a:t>
            </a:r>
            <a:r>
              <a:rPr lang="en-US" altLang="zh-CN" sz="2800" b="1" dirty="0">
                <a:solidFill>
                  <a:schemeClr val="bg1">
                    <a:lumMod val="10000"/>
                  </a:schemeClr>
                </a:solidFill>
                <a:ea typeface="楷体_GB2312" pitchFamily="49" charset="-122"/>
              </a:rPr>
              <a:t>} ADT Stack</a:t>
            </a:r>
          </a:p>
        </p:txBody>
      </p:sp>
      <p:sp>
        <p:nvSpPr>
          <p:cNvPr id="7" name="Rectangle 3"/>
          <p:cNvSpPr>
            <a:spLocks noChangeArrowheads="1"/>
          </p:cNvSpPr>
          <p:nvPr/>
        </p:nvSpPr>
        <p:spPr bwMode="auto">
          <a:xfrm>
            <a:off x="0" y="63869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p:spPr>
        <p:txBody>
          <a:bodyPr/>
          <a:lstStyle/>
          <a:p>
            <a:fld id="{5463B70B-B946-4338-A199-A5E3D4235709}" type="slidenum">
              <a:rPr lang="en-US" altLang="zh-CN"/>
              <a:pPr/>
              <a:t>9</a:t>
            </a:fld>
            <a:endParaRPr lang="en-US" altLang="zh-CN"/>
          </a:p>
        </p:txBody>
      </p:sp>
      <p:sp>
        <p:nvSpPr>
          <p:cNvPr id="9219" name="Text Box 2">
            <a:hlinkClick r:id="" action="ppaction://hlinkshowjump?jump=nextslide"/>
          </p:cNvPr>
          <p:cNvSpPr txBox="1">
            <a:spLocks noChangeArrowheads="1"/>
          </p:cNvSpPr>
          <p:nvPr/>
        </p:nvSpPr>
        <p:spPr bwMode="auto">
          <a:xfrm>
            <a:off x="1267927" y="2444175"/>
            <a:ext cx="3635375" cy="584775"/>
          </a:xfrm>
          <a:prstGeom prst="rect">
            <a:avLst/>
          </a:prstGeom>
          <a:noFill/>
          <a:ln w="9525">
            <a:noFill/>
            <a:miter lim="800000"/>
            <a:headEnd/>
            <a:tailEnd/>
          </a:ln>
        </p:spPr>
        <p:txBody>
          <a:bodyPr>
            <a:spAutoFit/>
          </a:bodyPr>
          <a:lstStyle/>
          <a:p>
            <a:pPr>
              <a:spcBef>
                <a:spcPct val="50000"/>
              </a:spcBef>
            </a:pPr>
            <a:r>
              <a:rPr lang="en-US" altLang="zh-CN" sz="3200" dirty="0" err="1">
                <a:solidFill>
                  <a:srgbClr val="000000"/>
                </a:solidFill>
              </a:rPr>
              <a:t>InitStack</a:t>
            </a:r>
            <a:r>
              <a:rPr lang="en-US" altLang="zh-CN" sz="3200" dirty="0">
                <a:solidFill>
                  <a:srgbClr val="000000"/>
                </a:solidFill>
              </a:rPr>
              <a:t>(&amp;S)</a:t>
            </a:r>
          </a:p>
        </p:txBody>
      </p:sp>
      <p:sp>
        <p:nvSpPr>
          <p:cNvPr id="9220" name="Text Box 3">
            <a:hlinkClick r:id="" action="ppaction://hlinkshowjump?jump=nextslide"/>
          </p:cNvPr>
          <p:cNvSpPr txBox="1">
            <a:spLocks noChangeArrowheads="1"/>
          </p:cNvSpPr>
          <p:nvPr/>
        </p:nvSpPr>
        <p:spPr bwMode="auto">
          <a:xfrm>
            <a:off x="4486275" y="2399725"/>
            <a:ext cx="4397375" cy="584775"/>
          </a:xfrm>
          <a:prstGeom prst="rect">
            <a:avLst/>
          </a:prstGeom>
          <a:noFill/>
          <a:ln w="9525">
            <a:noFill/>
            <a:miter lim="800000"/>
            <a:headEnd/>
            <a:tailEnd/>
          </a:ln>
        </p:spPr>
        <p:txBody>
          <a:bodyPr>
            <a:spAutoFit/>
          </a:bodyPr>
          <a:lstStyle/>
          <a:p>
            <a:pPr>
              <a:spcBef>
                <a:spcPct val="50000"/>
              </a:spcBef>
            </a:pPr>
            <a:r>
              <a:rPr lang="en-US" altLang="zh-CN" sz="3200" dirty="0" err="1">
                <a:solidFill>
                  <a:srgbClr val="000000"/>
                </a:solidFill>
              </a:rPr>
              <a:t>DestroyStack</a:t>
            </a:r>
            <a:r>
              <a:rPr lang="en-US" altLang="zh-CN" sz="3200" dirty="0">
                <a:solidFill>
                  <a:srgbClr val="000000"/>
                </a:solidFill>
              </a:rPr>
              <a:t>(&amp;S)</a:t>
            </a:r>
          </a:p>
        </p:txBody>
      </p:sp>
      <p:sp>
        <p:nvSpPr>
          <p:cNvPr id="9221" name="Text Box 4">
            <a:hlinkClick r:id="rId2" action="ppaction://hlinksldjump"/>
          </p:cNvPr>
          <p:cNvSpPr txBox="1">
            <a:spLocks noChangeArrowheads="1"/>
          </p:cNvSpPr>
          <p:nvPr/>
        </p:nvSpPr>
        <p:spPr bwMode="auto">
          <a:xfrm>
            <a:off x="4503252" y="3829050"/>
            <a:ext cx="2805576" cy="584775"/>
          </a:xfrm>
          <a:prstGeom prst="rect">
            <a:avLst/>
          </a:prstGeom>
          <a:noFill/>
          <a:ln w="9525">
            <a:noFill/>
            <a:miter lim="800000"/>
            <a:headEnd/>
            <a:tailEnd/>
          </a:ln>
        </p:spPr>
        <p:txBody>
          <a:bodyPr wrap="none">
            <a:spAutoFit/>
          </a:bodyPr>
          <a:lstStyle/>
          <a:p>
            <a:r>
              <a:rPr lang="en-US" altLang="zh-CN" sz="3200" dirty="0" err="1">
                <a:solidFill>
                  <a:srgbClr val="000000"/>
                </a:solidFill>
              </a:rPr>
              <a:t>ClearStack</a:t>
            </a:r>
            <a:r>
              <a:rPr lang="en-US" altLang="zh-CN" sz="3200" dirty="0">
                <a:solidFill>
                  <a:srgbClr val="000000"/>
                </a:solidFill>
              </a:rPr>
              <a:t>(&amp;S)</a:t>
            </a:r>
          </a:p>
        </p:txBody>
      </p:sp>
      <p:sp>
        <p:nvSpPr>
          <p:cNvPr id="9222" name="Text Box 5">
            <a:hlinkClick r:id="rId3" action="ppaction://hlinksldjump"/>
          </p:cNvPr>
          <p:cNvSpPr txBox="1">
            <a:spLocks noChangeArrowheads="1"/>
          </p:cNvSpPr>
          <p:nvPr/>
        </p:nvSpPr>
        <p:spPr bwMode="auto">
          <a:xfrm>
            <a:off x="4503252" y="3073400"/>
            <a:ext cx="2622834" cy="584775"/>
          </a:xfrm>
          <a:prstGeom prst="rect">
            <a:avLst/>
          </a:prstGeom>
          <a:noFill/>
          <a:ln w="9525">
            <a:noFill/>
            <a:miter lim="800000"/>
            <a:headEnd/>
            <a:tailEnd/>
          </a:ln>
        </p:spPr>
        <p:txBody>
          <a:bodyPr wrap="none">
            <a:spAutoFit/>
          </a:bodyPr>
          <a:lstStyle/>
          <a:p>
            <a:r>
              <a:rPr lang="en-US" altLang="zh-CN" sz="3200" dirty="0" err="1">
                <a:solidFill>
                  <a:srgbClr val="000000"/>
                </a:solidFill>
              </a:rPr>
              <a:t>StackEmpty</a:t>
            </a:r>
            <a:r>
              <a:rPr lang="en-US" altLang="zh-CN" sz="3200" dirty="0">
                <a:solidFill>
                  <a:srgbClr val="000000"/>
                </a:solidFill>
              </a:rPr>
              <a:t>(s)</a:t>
            </a:r>
          </a:p>
        </p:txBody>
      </p:sp>
      <p:sp>
        <p:nvSpPr>
          <p:cNvPr id="9223" name="Text Box 6">
            <a:hlinkClick r:id="rId4" action="ppaction://hlinksldjump"/>
          </p:cNvPr>
          <p:cNvSpPr txBox="1">
            <a:spLocks noChangeArrowheads="1"/>
          </p:cNvSpPr>
          <p:nvPr/>
        </p:nvSpPr>
        <p:spPr bwMode="auto">
          <a:xfrm>
            <a:off x="1239352" y="3066475"/>
            <a:ext cx="2759089" cy="584775"/>
          </a:xfrm>
          <a:prstGeom prst="rect">
            <a:avLst/>
          </a:prstGeom>
          <a:noFill/>
          <a:ln w="9525">
            <a:noFill/>
            <a:miter lim="800000"/>
            <a:headEnd/>
            <a:tailEnd/>
          </a:ln>
        </p:spPr>
        <p:txBody>
          <a:bodyPr wrap="none">
            <a:spAutoFit/>
          </a:bodyPr>
          <a:lstStyle/>
          <a:p>
            <a:r>
              <a:rPr lang="en-US" altLang="zh-CN" sz="3200" dirty="0" err="1">
                <a:solidFill>
                  <a:srgbClr val="000000"/>
                </a:solidFill>
              </a:rPr>
              <a:t>StackLength</a:t>
            </a:r>
            <a:r>
              <a:rPr lang="en-US" altLang="zh-CN" sz="3200" dirty="0">
                <a:solidFill>
                  <a:srgbClr val="000000"/>
                </a:solidFill>
              </a:rPr>
              <a:t>(S)</a:t>
            </a:r>
          </a:p>
        </p:txBody>
      </p:sp>
      <p:sp>
        <p:nvSpPr>
          <p:cNvPr id="9224" name="Text Box 7">
            <a:hlinkClick r:id="rId5" action="ppaction://hlinksldjump"/>
          </p:cNvPr>
          <p:cNvSpPr txBox="1">
            <a:spLocks noChangeArrowheads="1"/>
          </p:cNvSpPr>
          <p:nvPr/>
        </p:nvSpPr>
        <p:spPr bwMode="auto">
          <a:xfrm>
            <a:off x="1264338" y="3740150"/>
            <a:ext cx="2616614" cy="584775"/>
          </a:xfrm>
          <a:prstGeom prst="rect">
            <a:avLst/>
          </a:prstGeom>
          <a:noFill/>
          <a:ln w="9525">
            <a:noFill/>
            <a:miter lim="800000"/>
            <a:headEnd/>
            <a:tailEnd/>
          </a:ln>
        </p:spPr>
        <p:txBody>
          <a:bodyPr wrap="none">
            <a:spAutoFit/>
          </a:bodyPr>
          <a:lstStyle/>
          <a:p>
            <a:r>
              <a:rPr lang="en-US" altLang="zh-CN" sz="3200" dirty="0" err="1">
                <a:solidFill>
                  <a:srgbClr val="000000"/>
                </a:solidFill>
              </a:rPr>
              <a:t>GetTop</a:t>
            </a:r>
            <a:r>
              <a:rPr lang="en-US" altLang="zh-CN" sz="3200" dirty="0">
                <a:solidFill>
                  <a:srgbClr val="000000"/>
                </a:solidFill>
              </a:rPr>
              <a:t>(S, &amp;e)</a:t>
            </a:r>
          </a:p>
        </p:txBody>
      </p:sp>
      <p:sp>
        <p:nvSpPr>
          <p:cNvPr id="9225" name="Text Box 8">
            <a:hlinkClick r:id="rId6" action="ppaction://hlinksldjump"/>
          </p:cNvPr>
          <p:cNvSpPr txBox="1">
            <a:spLocks noChangeArrowheads="1"/>
          </p:cNvSpPr>
          <p:nvPr/>
        </p:nvSpPr>
        <p:spPr bwMode="auto">
          <a:xfrm>
            <a:off x="1290879" y="4451350"/>
            <a:ext cx="2190023" cy="584775"/>
          </a:xfrm>
          <a:prstGeom prst="rect">
            <a:avLst/>
          </a:prstGeom>
          <a:noFill/>
          <a:ln w="9525">
            <a:noFill/>
            <a:miter lim="800000"/>
            <a:headEnd/>
            <a:tailEnd/>
          </a:ln>
        </p:spPr>
        <p:txBody>
          <a:bodyPr wrap="none">
            <a:spAutoFit/>
          </a:bodyPr>
          <a:lstStyle/>
          <a:p>
            <a:r>
              <a:rPr lang="en-US" altLang="zh-CN" sz="3200" dirty="0">
                <a:solidFill>
                  <a:srgbClr val="000000"/>
                </a:solidFill>
              </a:rPr>
              <a:t>Push(&amp;S, e)</a:t>
            </a:r>
          </a:p>
        </p:txBody>
      </p:sp>
      <p:sp>
        <p:nvSpPr>
          <p:cNvPr id="9226" name="Text Box 9">
            <a:hlinkClick r:id="rId7" action="ppaction://hlinksldjump"/>
          </p:cNvPr>
          <p:cNvSpPr txBox="1">
            <a:spLocks noChangeArrowheads="1"/>
          </p:cNvSpPr>
          <p:nvPr/>
        </p:nvSpPr>
        <p:spPr bwMode="auto">
          <a:xfrm>
            <a:off x="4503252" y="4488875"/>
            <a:ext cx="2348720" cy="584775"/>
          </a:xfrm>
          <a:prstGeom prst="rect">
            <a:avLst/>
          </a:prstGeom>
          <a:noFill/>
          <a:ln w="9525">
            <a:noFill/>
            <a:miter lim="800000"/>
            <a:headEnd/>
            <a:tailEnd/>
          </a:ln>
        </p:spPr>
        <p:txBody>
          <a:bodyPr wrap="none">
            <a:spAutoFit/>
          </a:bodyPr>
          <a:lstStyle/>
          <a:p>
            <a:r>
              <a:rPr lang="en-US" altLang="zh-CN" sz="3200" dirty="0">
                <a:solidFill>
                  <a:srgbClr val="000000"/>
                </a:solidFill>
              </a:rPr>
              <a:t>Pop(&amp;S, &amp;e)</a:t>
            </a:r>
          </a:p>
        </p:txBody>
      </p:sp>
      <p:sp>
        <p:nvSpPr>
          <p:cNvPr id="9227" name="Text Box 10"/>
          <p:cNvSpPr txBox="1">
            <a:spLocks noChangeArrowheads="1"/>
          </p:cNvSpPr>
          <p:nvPr/>
        </p:nvSpPr>
        <p:spPr bwMode="auto">
          <a:xfrm>
            <a:off x="1282700" y="5251450"/>
            <a:ext cx="4020652" cy="584775"/>
          </a:xfrm>
          <a:prstGeom prst="rect">
            <a:avLst/>
          </a:prstGeom>
          <a:noFill/>
          <a:ln w="9525">
            <a:noFill/>
            <a:miter lim="800000"/>
            <a:headEnd/>
            <a:tailEnd/>
          </a:ln>
        </p:spPr>
        <p:txBody>
          <a:bodyPr wrap="none">
            <a:spAutoFit/>
          </a:bodyPr>
          <a:lstStyle/>
          <a:p>
            <a:r>
              <a:rPr lang="en-US" altLang="zh-CN" sz="3200" dirty="0" err="1">
                <a:solidFill>
                  <a:srgbClr val="000000"/>
                </a:solidFill>
              </a:rPr>
              <a:t>StackTravers</a:t>
            </a:r>
            <a:r>
              <a:rPr lang="en-US" altLang="zh-CN" sz="3200" dirty="0">
                <a:solidFill>
                  <a:srgbClr val="000000"/>
                </a:solidFill>
              </a:rPr>
              <a:t>(S, visit())</a:t>
            </a:r>
          </a:p>
        </p:txBody>
      </p:sp>
      <p:sp>
        <p:nvSpPr>
          <p:cNvPr id="12"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
        <p:nvSpPr>
          <p:cNvPr id="13" name="Text Box 4">
            <a:hlinkClick r:id="" action="ppaction://hlinkshowjump?jump=nextslide"/>
          </p:cNvPr>
          <p:cNvSpPr txBox="1">
            <a:spLocks noChangeArrowheads="1"/>
          </p:cNvSpPr>
          <p:nvPr/>
        </p:nvSpPr>
        <p:spPr bwMode="auto">
          <a:xfrm>
            <a:off x="2927350" y="1562100"/>
            <a:ext cx="2592388" cy="579438"/>
          </a:xfrm>
          <a:prstGeom prst="rect">
            <a:avLst/>
          </a:prstGeom>
          <a:noFill/>
          <a:ln w="9525">
            <a:noFill/>
            <a:miter lim="800000"/>
            <a:headEnd/>
            <a:tailEnd/>
          </a:ln>
        </p:spPr>
        <p:txBody>
          <a:bodyPr>
            <a:spAutoFit/>
          </a:bodyPr>
          <a:lstStyle/>
          <a:p>
            <a:r>
              <a:rPr lang="zh-CN" altLang="en-US" sz="3200" dirty="0">
                <a:solidFill>
                  <a:srgbClr val="000000"/>
                </a:solidFill>
                <a:ea typeface="楷体_GB2312" pitchFamily="49" charset="-122"/>
              </a:rPr>
              <a:t>基本操作</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p:spPr>
        <p:txBody>
          <a:bodyPr/>
          <a:lstStyle/>
          <a:p>
            <a:fld id="{0506EBED-BE0C-4723-848E-7CCD876A6BBD}" type="slidenum">
              <a:rPr lang="en-US" altLang="zh-CN">
                <a:solidFill>
                  <a:srgbClr val="000000"/>
                </a:solidFill>
              </a:rPr>
              <a:pPr/>
              <a:t>10</a:t>
            </a:fld>
            <a:endParaRPr lang="en-US" altLang="zh-CN">
              <a:solidFill>
                <a:srgbClr val="000000"/>
              </a:solidFill>
            </a:endParaRPr>
          </a:p>
        </p:txBody>
      </p:sp>
      <p:sp>
        <p:nvSpPr>
          <p:cNvPr id="10243" name="Rectangle 2"/>
          <p:cNvSpPr>
            <a:spLocks noGrp="1" noChangeArrowheads="1"/>
          </p:cNvSpPr>
          <p:nvPr>
            <p:ph type="title" idx="4294967295"/>
          </p:nvPr>
        </p:nvSpPr>
        <p:spPr>
          <a:xfrm>
            <a:off x="749300" y="1250950"/>
            <a:ext cx="6030912" cy="2474912"/>
          </a:xfrm>
        </p:spPr>
        <p:txBody>
          <a:bodyPr/>
          <a:lstStyle/>
          <a:p>
            <a:pPr algn="l" eaLnBrk="1" hangingPunct="1">
              <a:lnSpc>
                <a:spcPct val="120000"/>
              </a:lnSpc>
            </a:pPr>
            <a:r>
              <a:rPr lang="en-US" altLang="zh-CN" sz="3200" dirty="0">
                <a:solidFill>
                  <a:srgbClr val="000000"/>
                </a:solidFill>
                <a:ea typeface="楷体_GB2312" pitchFamily="49" charset="-122"/>
              </a:rPr>
              <a:t>   </a:t>
            </a:r>
            <a:r>
              <a:rPr lang="en-US" altLang="zh-CN" sz="3200" dirty="0" err="1">
                <a:solidFill>
                  <a:srgbClr val="FF0000"/>
                </a:solidFill>
                <a:ea typeface="楷体_GB2312" pitchFamily="49" charset="-122"/>
              </a:rPr>
              <a:t>InitStack</a:t>
            </a:r>
            <a:r>
              <a:rPr lang="en-US" altLang="zh-CN" sz="3200" dirty="0">
                <a:solidFill>
                  <a:srgbClr val="FF0000"/>
                </a:solidFill>
                <a:ea typeface="楷体_GB2312" pitchFamily="49" charset="-122"/>
              </a:rPr>
              <a:t>(&amp;S)   </a:t>
            </a:r>
            <a:r>
              <a:rPr lang="zh-CN" altLang="zh-CN" sz="3200" dirty="0">
                <a:solidFill>
                  <a:srgbClr val="000000"/>
                </a:solidFill>
                <a:ea typeface="楷体_GB2312" pitchFamily="49" charset="-122"/>
              </a:rPr>
              <a:t>初始化操作</a:t>
            </a:r>
            <a:r>
              <a:rPr lang="zh-CN" altLang="en-US" sz="3200" dirty="0">
                <a:solidFill>
                  <a:srgbClr val="000000"/>
                </a:solidFill>
                <a:ea typeface="楷体_GB2312" pitchFamily="49" charset="-122"/>
              </a:rPr>
              <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   操作结果：</a:t>
            </a:r>
          </a:p>
        </p:txBody>
      </p:sp>
      <p:sp>
        <p:nvSpPr>
          <p:cNvPr id="10244" name="Rectangle 3"/>
          <p:cNvSpPr>
            <a:spLocks noChangeArrowheads="1"/>
          </p:cNvSpPr>
          <p:nvPr/>
        </p:nvSpPr>
        <p:spPr bwMode="auto">
          <a:xfrm>
            <a:off x="782637" y="3117850"/>
            <a:ext cx="5904598" cy="2474912"/>
          </a:xfrm>
          <a:prstGeom prst="rect">
            <a:avLst/>
          </a:prstGeom>
          <a:noFill/>
          <a:ln w="9525">
            <a:noFill/>
            <a:miter lim="800000"/>
            <a:headEnd/>
            <a:tailEnd/>
          </a:ln>
        </p:spPr>
        <p:txBody>
          <a:bodyPr anchor="ctr"/>
          <a:lstStyle/>
          <a:p>
            <a:pPr>
              <a:lnSpc>
                <a:spcPct val="120000"/>
              </a:lnSpc>
            </a:pPr>
            <a:r>
              <a:rPr lang="en-US" altLang="zh-CN" sz="3200" dirty="0">
                <a:solidFill>
                  <a:srgbClr val="000000"/>
                </a:solidFill>
                <a:ea typeface="楷体_GB2312" pitchFamily="49" charset="-122"/>
              </a:rPr>
              <a:t>   </a:t>
            </a:r>
            <a:r>
              <a:rPr lang="en-US" altLang="zh-CN" sz="3200" dirty="0" err="1">
                <a:solidFill>
                  <a:srgbClr val="FF0000"/>
                </a:solidFill>
                <a:ea typeface="楷体_GB2312" pitchFamily="49" charset="-122"/>
              </a:rPr>
              <a:t>DestroyStack</a:t>
            </a:r>
            <a:r>
              <a:rPr lang="en-US" altLang="zh-CN" sz="3200" dirty="0">
                <a:solidFill>
                  <a:srgbClr val="FF0000"/>
                </a:solidFill>
                <a:ea typeface="楷体_GB2312" pitchFamily="49" charset="-122"/>
              </a:rPr>
              <a:t>(&amp;S) </a:t>
            </a:r>
            <a:r>
              <a:rPr lang="zh-CN" altLang="en-US" sz="3200" dirty="0">
                <a:solidFill>
                  <a:srgbClr val="000000"/>
                </a:solidFill>
                <a:ea typeface="楷体_GB2312" pitchFamily="49" charset="-122"/>
              </a:rPr>
              <a:t>销毁栈操作</a:t>
            </a:r>
            <a:r>
              <a:rPr lang="en-US" altLang="zh-CN" sz="3200" dirty="0">
                <a:solidFill>
                  <a:srgbClr val="FF0000"/>
                </a:solidFill>
                <a:ea typeface="楷体_GB2312" pitchFamily="49" charset="-122"/>
              </a:rPr>
              <a:t/>
            </a:r>
            <a:br>
              <a:rPr lang="en-US" altLang="zh-CN" sz="3200" dirty="0">
                <a:solidFill>
                  <a:srgbClr val="FF0000"/>
                </a:solidFill>
                <a:ea typeface="楷体_GB2312" pitchFamily="49" charset="-122"/>
              </a:rPr>
            </a:b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初始条件：</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   操作结果：</a:t>
            </a:r>
          </a:p>
        </p:txBody>
      </p:sp>
      <p:sp>
        <p:nvSpPr>
          <p:cNvPr id="10245" name="Rectangle 4"/>
          <p:cNvSpPr>
            <a:spLocks noChangeArrowheads="1"/>
          </p:cNvSpPr>
          <p:nvPr/>
        </p:nvSpPr>
        <p:spPr bwMode="auto">
          <a:xfrm>
            <a:off x="3371850" y="3762375"/>
            <a:ext cx="2773363" cy="1755775"/>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被销毁。</a:t>
            </a:r>
          </a:p>
        </p:txBody>
      </p:sp>
      <p:sp>
        <p:nvSpPr>
          <p:cNvPr id="10246" name="Rectangle 5"/>
          <p:cNvSpPr>
            <a:spLocks noChangeArrowheads="1"/>
          </p:cNvSpPr>
          <p:nvPr/>
        </p:nvSpPr>
        <p:spPr bwMode="auto">
          <a:xfrm>
            <a:off x="3573613" y="2451100"/>
            <a:ext cx="3398687"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构造一个空栈 </a:t>
            </a:r>
            <a:r>
              <a:rPr lang="en-US" altLang="zh-CN" sz="3200" dirty="0">
                <a:solidFill>
                  <a:srgbClr val="000000"/>
                </a:solidFill>
                <a:ea typeface="楷体_GB2312" pitchFamily="49" charset="-122"/>
              </a:rPr>
              <a:t>S</a:t>
            </a:r>
            <a:r>
              <a:rPr lang="zh-CN" altLang="en-US" sz="3200" dirty="0">
                <a:solidFill>
                  <a:srgbClr val="000000"/>
                </a:solidFill>
                <a:ea typeface="楷体_GB2312" pitchFamily="49" charset="-122"/>
              </a:rPr>
              <a:t>。</a:t>
            </a:r>
          </a:p>
        </p:txBody>
      </p:sp>
      <p:sp>
        <p:nvSpPr>
          <p:cNvPr id="7"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xfrm>
            <a:off x="6375400" y="6400800"/>
            <a:ext cx="1905000" cy="457200"/>
          </a:xfrm>
          <a:noFill/>
        </p:spPr>
        <p:txBody>
          <a:bodyPr/>
          <a:lstStyle/>
          <a:p>
            <a:fld id="{6F87F4BF-D5B9-456D-B801-979B3BED907A}" type="slidenum">
              <a:rPr lang="en-US" altLang="zh-CN"/>
              <a:pPr/>
              <a:t>11</a:t>
            </a:fld>
            <a:endParaRPr lang="en-US" altLang="zh-CN"/>
          </a:p>
        </p:txBody>
      </p:sp>
      <p:sp>
        <p:nvSpPr>
          <p:cNvPr id="11267" name="Rectangle 2"/>
          <p:cNvSpPr>
            <a:spLocks noGrp="1" noChangeArrowheads="1"/>
          </p:cNvSpPr>
          <p:nvPr>
            <p:ph type="title" idx="4294967295"/>
          </p:nvPr>
        </p:nvSpPr>
        <p:spPr>
          <a:xfrm>
            <a:off x="1073150" y="3848100"/>
            <a:ext cx="6900863" cy="1143000"/>
          </a:xfrm>
        </p:spPr>
        <p:txBody>
          <a:bodyPr/>
          <a:lstStyle/>
          <a:p>
            <a:pPr algn="l" eaLnBrk="1" hangingPunct="1">
              <a:lnSpc>
                <a:spcPct val="120000"/>
              </a:lnSpc>
            </a:pPr>
            <a:r>
              <a:rPr lang="en-US" altLang="zh-CN" sz="3200" dirty="0">
                <a:solidFill>
                  <a:srgbClr val="000000"/>
                </a:solidFill>
                <a:ea typeface="楷体_GB2312" pitchFamily="49" charset="-122"/>
              </a:rPr>
              <a:t/>
            </a:r>
            <a:br>
              <a:rPr lang="en-US" altLang="zh-CN" sz="3200" dirty="0">
                <a:solidFill>
                  <a:srgbClr val="000000"/>
                </a:solidFill>
                <a:ea typeface="楷体_GB2312" pitchFamily="49" charset="-122"/>
              </a:rPr>
            </a:br>
            <a:r>
              <a:rPr lang="en-US" altLang="zh-CN" sz="3200" dirty="0" err="1">
                <a:solidFill>
                  <a:srgbClr val="FF0000"/>
                </a:solidFill>
                <a:ea typeface="楷体_GB2312" pitchFamily="49" charset="-122"/>
              </a:rPr>
              <a:t>StackEmpty</a:t>
            </a:r>
            <a:r>
              <a:rPr lang="en-US" altLang="zh-CN" sz="3200" dirty="0">
                <a:solidFill>
                  <a:srgbClr val="FF0000"/>
                </a:solidFill>
                <a:ea typeface="楷体_GB2312" pitchFamily="49" charset="-122"/>
              </a:rPr>
              <a:t>(S)</a:t>
            </a: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判定</a:t>
            </a:r>
            <a:r>
              <a:rPr lang="en-US" altLang="zh-CN" sz="3200" dirty="0">
                <a:solidFill>
                  <a:srgbClr val="000000"/>
                </a:solidFill>
                <a:ea typeface="楷体_GB2312" pitchFamily="49" charset="-122"/>
              </a:rPr>
              <a:t>S</a:t>
            </a:r>
            <a:r>
              <a:rPr lang="zh-CN" altLang="en-US" sz="3200" dirty="0">
                <a:solidFill>
                  <a:srgbClr val="000000"/>
                </a:solidFill>
                <a:ea typeface="楷体_GB2312" pitchFamily="49" charset="-122"/>
              </a:rPr>
              <a:t>是否为空栈</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初始条件：</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操作结果：</a:t>
            </a:r>
          </a:p>
        </p:txBody>
      </p:sp>
      <p:sp>
        <p:nvSpPr>
          <p:cNvPr id="11268" name="Rectangle 3"/>
          <p:cNvSpPr>
            <a:spLocks noChangeArrowheads="1"/>
          </p:cNvSpPr>
          <p:nvPr/>
        </p:nvSpPr>
        <p:spPr bwMode="auto">
          <a:xfrm>
            <a:off x="1016000" y="1714500"/>
            <a:ext cx="5849938" cy="1658938"/>
          </a:xfrm>
          <a:prstGeom prst="rect">
            <a:avLst/>
          </a:prstGeom>
          <a:noFill/>
          <a:ln w="9525">
            <a:noFill/>
            <a:miter lim="800000"/>
            <a:headEnd/>
            <a:tailEnd/>
          </a:ln>
        </p:spPr>
        <p:txBody>
          <a:bodyPr anchor="ctr"/>
          <a:lstStyle/>
          <a:p>
            <a:pPr>
              <a:lnSpc>
                <a:spcPct val="120000"/>
              </a:lnSpc>
            </a:pPr>
            <a:r>
              <a:rPr lang="en-US" altLang="zh-CN" sz="3200" dirty="0">
                <a:solidFill>
                  <a:srgbClr val="000000"/>
                </a:solidFill>
                <a:ea typeface="楷体_GB2312" pitchFamily="49" charset="-122"/>
              </a:rPr>
              <a:t/>
            </a:r>
            <a:br>
              <a:rPr lang="en-US" altLang="zh-CN" sz="3200" dirty="0">
                <a:solidFill>
                  <a:srgbClr val="000000"/>
                </a:solidFill>
                <a:ea typeface="楷体_GB2312" pitchFamily="49" charset="-122"/>
              </a:rPr>
            </a:br>
            <a:r>
              <a:rPr lang="en-US" altLang="zh-CN" sz="3200" dirty="0" err="1">
                <a:solidFill>
                  <a:srgbClr val="FF0000"/>
                </a:solidFill>
                <a:ea typeface="楷体_GB2312" pitchFamily="49" charset="-122"/>
              </a:rPr>
              <a:t>StackLength</a:t>
            </a:r>
            <a:r>
              <a:rPr lang="en-US" altLang="zh-CN" sz="3200" dirty="0">
                <a:solidFill>
                  <a:srgbClr val="FF0000"/>
                </a:solidFill>
                <a:ea typeface="楷体_GB2312" pitchFamily="49" charset="-122"/>
              </a:rPr>
              <a:t>(S)   </a:t>
            </a:r>
            <a:r>
              <a:rPr lang="zh-CN" altLang="en-US" sz="3200" dirty="0">
                <a:solidFill>
                  <a:srgbClr val="000000"/>
                </a:solidFill>
                <a:ea typeface="楷体_GB2312" pitchFamily="49" charset="-122"/>
              </a:rPr>
              <a:t>求栈的长度</a:t>
            </a:r>
          </a:p>
          <a:p>
            <a:pPr>
              <a:lnSpc>
                <a:spcPct val="120000"/>
              </a:lnSpc>
            </a:pPr>
            <a:r>
              <a:rPr lang="zh-CN" altLang="en-US" sz="3200" dirty="0">
                <a:solidFill>
                  <a:srgbClr val="000000"/>
                </a:solidFill>
                <a:ea typeface="楷体_GB2312" pitchFamily="49" charset="-122"/>
              </a:rPr>
              <a:t>初始条件：</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操作结果：</a:t>
            </a:r>
          </a:p>
        </p:txBody>
      </p:sp>
      <p:sp>
        <p:nvSpPr>
          <p:cNvPr id="11269" name="Rectangle 4"/>
          <p:cNvSpPr>
            <a:spLocks noChangeArrowheads="1"/>
          </p:cNvSpPr>
          <p:nvPr/>
        </p:nvSpPr>
        <p:spPr bwMode="auto">
          <a:xfrm>
            <a:off x="2805112" y="2571750"/>
            <a:ext cx="6211888" cy="1143000"/>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a:t>
            </a:r>
          </a:p>
          <a:p>
            <a:pPr>
              <a:lnSpc>
                <a:spcPct val="120000"/>
              </a:lnSpc>
            </a:pPr>
            <a:r>
              <a:rPr lang="zh-CN" altLang="en-US" sz="3200" dirty="0">
                <a:solidFill>
                  <a:srgbClr val="000000"/>
                </a:solidFill>
                <a:ea typeface="楷体_GB2312" pitchFamily="49" charset="-122"/>
              </a:rPr>
              <a:t>返回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的元素个数，即栈的长度。</a:t>
            </a:r>
          </a:p>
        </p:txBody>
      </p:sp>
      <p:sp>
        <p:nvSpPr>
          <p:cNvPr id="11270" name="Rectangle 5"/>
          <p:cNvSpPr>
            <a:spLocks noChangeArrowheads="1"/>
          </p:cNvSpPr>
          <p:nvPr/>
        </p:nvSpPr>
        <p:spPr bwMode="auto">
          <a:xfrm>
            <a:off x="3114675" y="4359275"/>
            <a:ext cx="5851525" cy="1898650"/>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若栈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为空栈，则返回</a:t>
            </a:r>
            <a:r>
              <a:rPr lang="en-US" altLang="zh-CN" sz="3200" dirty="0">
                <a:solidFill>
                  <a:srgbClr val="000000"/>
                </a:solidFill>
                <a:ea typeface="楷体_GB2312" pitchFamily="49" charset="-122"/>
              </a:rPr>
              <a:t>TRUE,</a:t>
            </a:r>
            <a:r>
              <a:rPr lang="zh-CN" altLang="en-US" sz="3200" dirty="0">
                <a:solidFill>
                  <a:srgbClr val="000000"/>
                </a:solidFill>
                <a:ea typeface="楷体_GB2312" pitchFamily="49" charset="-122"/>
              </a:rPr>
              <a:t>                    否则 </a:t>
            </a:r>
            <a:r>
              <a:rPr lang="en-US" altLang="zh-CN" sz="3200" dirty="0">
                <a:solidFill>
                  <a:srgbClr val="000000"/>
                </a:solidFill>
                <a:ea typeface="楷体_GB2312" pitchFamily="49" charset="-122"/>
              </a:rPr>
              <a:t>FALSE</a:t>
            </a:r>
            <a:r>
              <a:rPr lang="zh-CN" altLang="en-US" sz="3200" dirty="0">
                <a:solidFill>
                  <a:srgbClr val="000000"/>
                </a:solidFill>
                <a:ea typeface="楷体_GB2312" pitchFamily="49" charset="-122"/>
              </a:rPr>
              <a:t>。</a:t>
            </a:r>
          </a:p>
        </p:txBody>
      </p:sp>
      <p:sp>
        <p:nvSpPr>
          <p:cNvPr id="7"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p>
            <a:fld id="{E5239279-41FC-4691-8DCD-E57E0EE75C0D}" type="slidenum">
              <a:rPr lang="en-US" altLang="zh-CN"/>
              <a:pPr/>
              <a:t>12</a:t>
            </a:fld>
            <a:endParaRPr lang="en-US" altLang="zh-CN"/>
          </a:p>
        </p:txBody>
      </p:sp>
      <p:sp>
        <p:nvSpPr>
          <p:cNvPr id="12291" name="Rectangle 2"/>
          <p:cNvSpPr>
            <a:spLocks noGrp="1" noChangeArrowheads="1"/>
          </p:cNvSpPr>
          <p:nvPr>
            <p:ph type="title" idx="4294967295"/>
          </p:nvPr>
        </p:nvSpPr>
        <p:spPr>
          <a:xfrm>
            <a:off x="793750" y="1695450"/>
            <a:ext cx="6254750" cy="2286000"/>
          </a:xfrm>
        </p:spPr>
        <p:txBody>
          <a:bodyPr/>
          <a:lstStyle/>
          <a:p>
            <a:pPr algn="l" eaLnBrk="1" hangingPunct="1">
              <a:lnSpc>
                <a:spcPct val="120000"/>
              </a:lnSpc>
            </a:pPr>
            <a:r>
              <a:rPr lang="en-US" altLang="zh-CN" sz="3200" dirty="0" err="1">
                <a:solidFill>
                  <a:srgbClr val="FF0000"/>
                </a:solidFill>
                <a:ea typeface="楷体_GB2312" pitchFamily="49" charset="-122"/>
              </a:rPr>
              <a:t>GetTop</a:t>
            </a:r>
            <a:r>
              <a:rPr lang="en-US" altLang="zh-CN" sz="3200" dirty="0">
                <a:solidFill>
                  <a:srgbClr val="FF0000"/>
                </a:solidFill>
                <a:ea typeface="楷体_GB2312" pitchFamily="49" charset="-122"/>
              </a:rPr>
              <a:t>(S, &amp;e)    </a:t>
            </a:r>
            <a:r>
              <a:rPr lang="zh-CN" altLang="en-US" sz="3200" dirty="0">
                <a:solidFill>
                  <a:srgbClr val="000000"/>
                </a:solidFill>
                <a:ea typeface="楷体_GB2312" pitchFamily="49" charset="-122"/>
              </a:rPr>
              <a:t>取栈顶元素</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初始条件：</a:t>
            </a:r>
            <a:r>
              <a:rPr lang="zh-CN" altLang="en-US" dirty="0">
                <a:solidFill>
                  <a:srgbClr val="000000"/>
                </a:solidFill>
                <a:ea typeface="楷体_GB2312" pitchFamily="49" charset="-122"/>
              </a:rPr>
              <a:t/>
            </a:r>
            <a:br>
              <a:rPr lang="zh-CN" altLang="en-US" dirty="0">
                <a:solidFill>
                  <a:srgbClr val="000000"/>
                </a:solidFill>
                <a:ea typeface="楷体_GB2312" pitchFamily="49" charset="-122"/>
              </a:rPr>
            </a:br>
            <a:r>
              <a:rPr lang="zh-CN" altLang="en-US" sz="3200" dirty="0">
                <a:solidFill>
                  <a:srgbClr val="000000"/>
                </a:solidFill>
                <a:ea typeface="楷体_GB2312" pitchFamily="49" charset="-122"/>
              </a:rPr>
              <a:t>操作结果：</a:t>
            </a:r>
          </a:p>
        </p:txBody>
      </p:sp>
      <p:sp>
        <p:nvSpPr>
          <p:cNvPr id="12292" name="Line 3"/>
          <p:cNvSpPr>
            <a:spLocks noChangeShapeType="1"/>
          </p:cNvSpPr>
          <p:nvPr/>
        </p:nvSpPr>
        <p:spPr bwMode="auto">
          <a:xfrm>
            <a:off x="1806575" y="4362450"/>
            <a:ext cx="1588" cy="1295400"/>
          </a:xfrm>
          <a:prstGeom prst="line">
            <a:avLst/>
          </a:prstGeom>
          <a:noFill/>
          <a:ln w="9525">
            <a:solidFill>
              <a:schemeClr val="tx1"/>
            </a:solidFill>
            <a:round/>
            <a:headEnd/>
            <a:tailEnd/>
          </a:ln>
        </p:spPr>
        <p:txBody>
          <a:bodyPr wrap="none" anchor="ctr"/>
          <a:lstStyle/>
          <a:p>
            <a:endParaRPr lang="zh-CN" altLang="en-US">
              <a:solidFill>
                <a:srgbClr val="000000"/>
              </a:solidFill>
            </a:endParaRPr>
          </a:p>
        </p:txBody>
      </p:sp>
      <p:sp>
        <p:nvSpPr>
          <p:cNvPr id="12293" name="Line 4"/>
          <p:cNvSpPr>
            <a:spLocks noChangeShapeType="1"/>
          </p:cNvSpPr>
          <p:nvPr/>
        </p:nvSpPr>
        <p:spPr bwMode="auto">
          <a:xfrm>
            <a:off x="1806575" y="4591050"/>
            <a:ext cx="5616575" cy="1588"/>
          </a:xfrm>
          <a:prstGeom prst="line">
            <a:avLst/>
          </a:prstGeom>
          <a:noFill/>
          <a:ln w="9525">
            <a:solidFill>
              <a:schemeClr val="tx1"/>
            </a:solidFill>
            <a:round/>
            <a:headEnd/>
            <a:tailEnd/>
          </a:ln>
        </p:spPr>
        <p:txBody>
          <a:bodyPr wrap="none" anchor="ctr"/>
          <a:lstStyle/>
          <a:p>
            <a:endParaRPr lang="zh-CN" altLang="en-US">
              <a:solidFill>
                <a:srgbClr val="000000"/>
              </a:solidFill>
            </a:endParaRPr>
          </a:p>
        </p:txBody>
      </p:sp>
      <p:sp>
        <p:nvSpPr>
          <p:cNvPr id="12294" name="Line 5"/>
          <p:cNvSpPr>
            <a:spLocks noChangeShapeType="1"/>
          </p:cNvSpPr>
          <p:nvPr/>
        </p:nvSpPr>
        <p:spPr bwMode="auto">
          <a:xfrm>
            <a:off x="1806575" y="5429250"/>
            <a:ext cx="5616575" cy="1588"/>
          </a:xfrm>
          <a:prstGeom prst="line">
            <a:avLst/>
          </a:prstGeom>
          <a:noFill/>
          <a:ln w="9525">
            <a:solidFill>
              <a:schemeClr val="tx1"/>
            </a:solidFill>
            <a:round/>
            <a:headEnd/>
            <a:tailEnd/>
          </a:ln>
        </p:spPr>
        <p:txBody>
          <a:bodyPr wrap="none" anchor="ctr"/>
          <a:lstStyle/>
          <a:p>
            <a:endParaRPr lang="zh-CN" altLang="en-US">
              <a:solidFill>
                <a:srgbClr val="000000"/>
              </a:solidFill>
            </a:endParaRPr>
          </a:p>
        </p:txBody>
      </p:sp>
      <p:sp>
        <p:nvSpPr>
          <p:cNvPr id="12295" name="Text Box 6"/>
          <p:cNvSpPr txBox="1">
            <a:spLocks noChangeArrowheads="1"/>
          </p:cNvSpPr>
          <p:nvPr/>
        </p:nvSpPr>
        <p:spPr bwMode="auto">
          <a:xfrm>
            <a:off x="1825625" y="4641850"/>
            <a:ext cx="583814" cy="707886"/>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000000"/>
                </a:solidFill>
              </a:rPr>
              <a:t>a</a:t>
            </a:r>
            <a:r>
              <a:rPr lang="en-US" altLang="zh-CN" sz="4000" baseline="-25000">
                <a:solidFill>
                  <a:srgbClr val="000000"/>
                </a:solidFill>
              </a:rPr>
              <a:t>1</a:t>
            </a:r>
            <a:endParaRPr lang="en-US" altLang="zh-CN" sz="4000">
              <a:solidFill>
                <a:srgbClr val="000000"/>
              </a:solidFill>
            </a:endParaRPr>
          </a:p>
        </p:txBody>
      </p:sp>
      <p:sp>
        <p:nvSpPr>
          <p:cNvPr id="12296" name="Text Box 7"/>
          <p:cNvSpPr txBox="1">
            <a:spLocks noChangeArrowheads="1"/>
          </p:cNvSpPr>
          <p:nvPr/>
        </p:nvSpPr>
        <p:spPr bwMode="auto">
          <a:xfrm>
            <a:off x="2435225" y="4641850"/>
            <a:ext cx="583814" cy="707886"/>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000000"/>
                </a:solidFill>
              </a:rPr>
              <a:t>a</a:t>
            </a:r>
            <a:r>
              <a:rPr lang="en-US" altLang="zh-CN" sz="4000" baseline="-25000">
                <a:solidFill>
                  <a:srgbClr val="000000"/>
                </a:solidFill>
              </a:rPr>
              <a:t>2</a:t>
            </a:r>
            <a:endParaRPr lang="en-US" altLang="zh-CN" sz="4000">
              <a:solidFill>
                <a:srgbClr val="000000"/>
              </a:solidFill>
            </a:endParaRPr>
          </a:p>
        </p:txBody>
      </p:sp>
      <p:sp>
        <p:nvSpPr>
          <p:cNvPr id="12297" name="Text Box 8"/>
          <p:cNvSpPr txBox="1">
            <a:spLocks noChangeArrowheads="1"/>
          </p:cNvSpPr>
          <p:nvPr/>
        </p:nvSpPr>
        <p:spPr bwMode="auto">
          <a:xfrm>
            <a:off x="5407025" y="4641850"/>
            <a:ext cx="583814" cy="707886"/>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000000"/>
                </a:solidFill>
              </a:rPr>
              <a:t>a</a:t>
            </a:r>
            <a:r>
              <a:rPr lang="en-US" altLang="zh-CN" sz="4000" baseline="-25000">
                <a:solidFill>
                  <a:srgbClr val="000000"/>
                </a:solidFill>
              </a:rPr>
              <a:t>n</a:t>
            </a:r>
            <a:endParaRPr lang="en-US" altLang="zh-CN" sz="4000">
              <a:solidFill>
                <a:srgbClr val="000000"/>
              </a:solidFill>
            </a:endParaRPr>
          </a:p>
        </p:txBody>
      </p:sp>
      <p:sp>
        <p:nvSpPr>
          <p:cNvPr id="12298" name="Line 9"/>
          <p:cNvSpPr>
            <a:spLocks noChangeShapeType="1"/>
          </p:cNvSpPr>
          <p:nvPr/>
        </p:nvSpPr>
        <p:spPr bwMode="auto">
          <a:xfrm flipV="1">
            <a:off x="5692775" y="5429250"/>
            <a:ext cx="1588" cy="685800"/>
          </a:xfrm>
          <a:prstGeom prst="line">
            <a:avLst/>
          </a:prstGeom>
          <a:noFill/>
          <a:ln w="25400">
            <a:solidFill>
              <a:srgbClr val="FF0000"/>
            </a:solidFill>
            <a:round/>
            <a:headEnd/>
            <a:tailEnd type="triangle" w="med" len="lg"/>
          </a:ln>
        </p:spPr>
        <p:txBody>
          <a:bodyPr wrap="none" anchor="ctr"/>
          <a:lstStyle/>
          <a:p>
            <a:endParaRPr lang="zh-CN" altLang="en-US">
              <a:solidFill>
                <a:srgbClr val="000000"/>
              </a:solidFill>
            </a:endParaRPr>
          </a:p>
        </p:txBody>
      </p:sp>
      <p:sp>
        <p:nvSpPr>
          <p:cNvPr id="12299" name="Text Box 10"/>
          <p:cNvSpPr txBox="1">
            <a:spLocks noChangeArrowheads="1"/>
          </p:cNvSpPr>
          <p:nvPr/>
        </p:nvSpPr>
        <p:spPr bwMode="auto">
          <a:xfrm>
            <a:off x="3451225" y="4587875"/>
            <a:ext cx="1327150" cy="701675"/>
          </a:xfrm>
          <a:prstGeom prst="rect">
            <a:avLst/>
          </a:prstGeom>
          <a:noFill/>
          <a:ln w="9525">
            <a:noFill/>
            <a:miter lim="800000"/>
            <a:headEnd/>
            <a:tailEnd/>
          </a:ln>
        </p:spPr>
        <p:txBody>
          <a:bodyPr wrap="none">
            <a:spAutoFit/>
          </a:bodyPr>
          <a:lstStyle/>
          <a:p>
            <a:r>
              <a:rPr lang="en-US" altLang="zh-CN" sz="4000">
                <a:solidFill>
                  <a:srgbClr val="000000"/>
                </a:solidFill>
              </a:rPr>
              <a:t>… …</a:t>
            </a:r>
          </a:p>
        </p:txBody>
      </p:sp>
      <p:sp>
        <p:nvSpPr>
          <p:cNvPr id="12300" name="Rectangle 11"/>
          <p:cNvSpPr>
            <a:spLocks noChangeArrowheads="1"/>
          </p:cNvSpPr>
          <p:nvPr/>
        </p:nvSpPr>
        <p:spPr bwMode="auto">
          <a:xfrm>
            <a:off x="2794000" y="2262188"/>
            <a:ext cx="6089650" cy="1744662"/>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已存在且非空。</a:t>
            </a:r>
            <a:r>
              <a:rPr lang="zh-CN" altLang="en-US" sz="4400" dirty="0">
                <a:solidFill>
                  <a:srgbClr val="000000"/>
                </a:solidFill>
                <a:ea typeface="楷体_GB2312" pitchFamily="49" charset="-122"/>
              </a:rPr>
              <a:t/>
            </a:r>
            <a:br>
              <a:rPr lang="zh-CN" altLang="en-US" sz="4400" dirty="0">
                <a:solidFill>
                  <a:srgbClr val="000000"/>
                </a:solidFill>
                <a:ea typeface="楷体_GB2312" pitchFamily="49" charset="-122"/>
              </a:rPr>
            </a:br>
            <a:r>
              <a:rPr lang="zh-CN" altLang="en-US" sz="3200" dirty="0">
                <a:solidFill>
                  <a:srgbClr val="000000"/>
                </a:solidFill>
                <a:ea typeface="楷体_GB2312" pitchFamily="49" charset="-122"/>
              </a:rPr>
              <a:t>用 </a:t>
            </a:r>
            <a:r>
              <a:rPr lang="en-US" altLang="zh-CN" sz="3200" dirty="0">
                <a:solidFill>
                  <a:srgbClr val="000000"/>
                </a:solidFill>
                <a:ea typeface="楷体_GB2312" pitchFamily="49" charset="-122"/>
              </a:rPr>
              <a:t>e </a:t>
            </a:r>
            <a:r>
              <a:rPr lang="zh-CN" altLang="en-US" sz="3200" dirty="0">
                <a:solidFill>
                  <a:srgbClr val="000000"/>
                </a:solidFill>
                <a:ea typeface="楷体_GB2312" pitchFamily="49" charset="-122"/>
              </a:rPr>
              <a:t>返回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的栈顶元素。</a:t>
            </a:r>
          </a:p>
        </p:txBody>
      </p:sp>
      <p:sp>
        <p:nvSpPr>
          <p:cNvPr id="13"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p>
            <a:fld id="{05063AB2-280D-4189-A427-FC03E3E40033}" type="slidenum">
              <a:rPr lang="en-US" altLang="zh-CN"/>
              <a:pPr/>
              <a:t>13</a:t>
            </a:fld>
            <a:endParaRPr lang="en-US" altLang="zh-CN"/>
          </a:p>
        </p:txBody>
      </p:sp>
      <p:sp>
        <p:nvSpPr>
          <p:cNvPr id="13315" name="Rectangle 2"/>
          <p:cNvSpPr>
            <a:spLocks noGrp="1" noChangeArrowheads="1"/>
          </p:cNvSpPr>
          <p:nvPr>
            <p:ph type="title" idx="4294967295"/>
          </p:nvPr>
        </p:nvSpPr>
        <p:spPr>
          <a:xfrm>
            <a:off x="1193800" y="1428750"/>
            <a:ext cx="6477000" cy="2819400"/>
          </a:xfrm>
        </p:spPr>
        <p:txBody>
          <a:bodyPr/>
          <a:lstStyle/>
          <a:p>
            <a:pPr algn="l" eaLnBrk="1" hangingPunct="1">
              <a:lnSpc>
                <a:spcPct val="120000"/>
              </a:lnSpc>
            </a:pPr>
            <a:r>
              <a:rPr lang="en-US" altLang="zh-CN" sz="3200" dirty="0" err="1">
                <a:solidFill>
                  <a:srgbClr val="FF0000"/>
                </a:solidFill>
                <a:ea typeface="楷体_GB2312" pitchFamily="49" charset="-122"/>
              </a:rPr>
              <a:t>ClearStack</a:t>
            </a:r>
            <a:r>
              <a:rPr lang="en-US" altLang="zh-CN" sz="3200" dirty="0">
                <a:solidFill>
                  <a:srgbClr val="FF0000"/>
                </a:solidFill>
                <a:ea typeface="楷体_GB2312" pitchFamily="49" charset="-122"/>
              </a:rPr>
              <a:t>(&amp;S)   </a:t>
            </a:r>
            <a:r>
              <a:rPr lang="zh-CN" altLang="en-US" sz="3200" b="1" dirty="0">
                <a:solidFill>
                  <a:schemeClr val="bg1">
                    <a:lumMod val="10000"/>
                  </a:schemeClr>
                </a:solidFill>
                <a:ea typeface="楷体_GB2312" pitchFamily="49" charset="-122"/>
              </a:rPr>
              <a:t>栈置空操作</a:t>
            </a:r>
            <a:br>
              <a:rPr lang="zh-CN" altLang="en-US" sz="3200" b="1"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初始条件：</a:t>
            </a:r>
            <a:r>
              <a:rPr lang="zh-CN" altLang="en-US" dirty="0">
                <a:solidFill>
                  <a:schemeClr val="bg1">
                    <a:lumMod val="10000"/>
                  </a:schemeClr>
                </a:solidFill>
                <a:ea typeface="楷体_GB2312" pitchFamily="49" charset="-122"/>
              </a:rPr>
              <a:t/>
            </a:r>
            <a:br>
              <a:rPr lang="zh-CN" altLang="en-US"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操作结果：</a:t>
            </a:r>
          </a:p>
        </p:txBody>
      </p:sp>
      <p:sp>
        <p:nvSpPr>
          <p:cNvPr id="13316" name="Rectangle 3"/>
          <p:cNvSpPr>
            <a:spLocks noChangeArrowheads="1"/>
          </p:cNvSpPr>
          <p:nvPr/>
        </p:nvSpPr>
        <p:spPr bwMode="auto">
          <a:xfrm>
            <a:off x="3241675" y="2451100"/>
            <a:ext cx="3795713" cy="1358900"/>
          </a:xfrm>
          <a:prstGeom prst="rect">
            <a:avLst/>
          </a:prstGeom>
          <a:noFill/>
          <a:ln w="9525">
            <a:noFill/>
            <a:miter lim="800000"/>
            <a:headEnd/>
            <a:tailEnd/>
          </a:ln>
        </p:spPr>
        <p:txBody>
          <a:bodyPr anchor="ctr"/>
          <a:lstStyle/>
          <a:p>
            <a:pPr>
              <a:lnSpc>
                <a:spcPct val="120000"/>
              </a:lnSpc>
            </a:pPr>
            <a:r>
              <a:rPr lang="zh-CN" altLang="en-US" sz="3200" b="1" dirty="0">
                <a:solidFill>
                  <a:schemeClr val="bg1">
                    <a:lumMod val="10000"/>
                  </a:schemeClr>
                </a:solidFill>
                <a:ea typeface="楷体_GB2312" pitchFamily="49" charset="-122"/>
              </a:rPr>
              <a:t>栈 </a:t>
            </a:r>
            <a:r>
              <a:rPr lang="en-US" altLang="zh-CN" sz="3200" b="1" dirty="0">
                <a:solidFill>
                  <a:schemeClr val="bg1">
                    <a:lumMod val="10000"/>
                  </a:schemeClr>
                </a:solidFill>
                <a:ea typeface="楷体_GB2312" pitchFamily="49" charset="-122"/>
              </a:rPr>
              <a:t>S </a:t>
            </a:r>
            <a:r>
              <a:rPr lang="zh-CN" altLang="en-US" sz="3200" b="1" dirty="0">
                <a:solidFill>
                  <a:schemeClr val="bg1">
                    <a:lumMod val="10000"/>
                  </a:schemeClr>
                </a:solidFill>
                <a:ea typeface="楷体_GB2312" pitchFamily="49" charset="-122"/>
              </a:rPr>
              <a:t>已存在。</a:t>
            </a:r>
            <a:r>
              <a:rPr lang="zh-CN" altLang="en-US" sz="4400" dirty="0">
                <a:solidFill>
                  <a:schemeClr val="bg1">
                    <a:lumMod val="10000"/>
                  </a:schemeClr>
                </a:solidFill>
                <a:ea typeface="楷体_GB2312" pitchFamily="49" charset="-122"/>
              </a:rPr>
              <a:t/>
            </a:r>
            <a:br>
              <a:rPr lang="zh-CN" altLang="en-US" sz="4400"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将 </a:t>
            </a:r>
            <a:r>
              <a:rPr lang="en-US" altLang="zh-CN" sz="3200" b="1" dirty="0">
                <a:solidFill>
                  <a:schemeClr val="bg1">
                    <a:lumMod val="10000"/>
                  </a:schemeClr>
                </a:solidFill>
                <a:ea typeface="楷体_GB2312" pitchFamily="49" charset="-122"/>
              </a:rPr>
              <a:t>S </a:t>
            </a:r>
            <a:r>
              <a:rPr lang="zh-CN" altLang="en-US" sz="3200" b="1" dirty="0">
                <a:solidFill>
                  <a:schemeClr val="bg1">
                    <a:lumMod val="10000"/>
                  </a:schemeClr>
                </a:solidFill>
                <a:ea typeface="楷体_GB2312" pitchFamily="49" charset="-122"/>
              </a:rPr>
              <a:t>清为空栈。</a:t>
            </a:r>
          </a:p>
        </p:txBody>
      </p:sp>
      <p:sp>
        <p:nvSpPr>
          <p:cNvPr id="5"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p:spPr>
        <p:txBody>
          <a:bodyPr/>
          <a:lstStyle/>
          <a:p>
            <a:fld id="{595534BA-549C-48EF-B194-ACA9520E422A}" type="slidenum">
              <a:rPr lang="en-US" altLang="zh-CN"/>
              <a:pPr/>
              <a:t>14</a:t>
            </a:fld>
            <a:endParaRPr lang="en-US" altLang="zh-CN"/>
          </a:p>
        </p:txBody>
      </p:sp>
      <p:sp>
        <p:nvSpPr>
          <p:cNvPr id="14339" name="Rectangle 2"/>
          <p:cNvSpPr>
            <a:spLocks noGrp="1" noChangeArrowheads="1"/>
          </p:cNvSpPr>
          <p:nvPr>
            <p:ph type="title" idx="4294967295"/>
          </p:nvPr>
        </p:nvSpPr>
        <p:spPr>
          <a:xfrm>
            <a:off x="781050" y="1270000"/>
            <a:ext cx="7696200" cy="2667000"/>
          </a:xfrm>
        </p:spPr>
        <p:txBody>
          <a:bodyPr/>
          <a:lstStyle/>
          <a:p>
            <a:pPr algn="l" eaLnBrk="1" hangingPunct="1">
              <a:lnSpc>
                <a:spcPct val="120000"/>
              </a:lnSpc>
            </a:pPr>
            <a:r>
              <a:rPr lang="en-US" altLang="zh-CN" sz="3200" dirty="0">
                <a:solidFill>
                  <a:srgbClr val="FF0000"/>
                </a:solidFill>
                <a:ea typeface="楷体_GB2312" pitchFamily="49" charset="-122"/>
              </a:rPr>
              <a:t>Push(&amp;S, e)    </a:t>
            </a:r>
            <a:r>
              <a:rPr lang="zh-CN" altLang="en-US" sz="3200" b="1" dirty="0">
                <a:solidFill>
                  <a:schemeClr val="bg1">
                    <a:lumMod val="10000"/>
                  </a:schemeClr>
                </a:solidFill>
                <a:ea typeface="楷体_GB2312" pitchFamily="49" charset="-122"/>
              </a:rPr>
              <a:t>入栈操作</a:t>
            </a:r>
            <a:br>
              <a:rPr lang="zh-CN" altLang="en-US" sz="3200" b="1"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初始条件：</a:t>
            </a:r>
            <a:br>
              <a:rPr lang="zh-CN" altLang="en-US" sz="3200" b="1"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操作结果：</a:t>
            </a:r>
          </a:p>
        </p:txBody>
      </p:sp>
      <p:sp>
        <p:nvSpPr>
          <p:cNvPr id="14340" name="Line 3"/>
          <p:cNvSpPr>
            <a:spLocks noChangeShapeType="1"/>
          </p:cNvSpPr>
          <p:nvPr/>
        </p:nvSpPr>
        <p:spPr bwMode="auto">
          <a:xfrm>
            <a:off x="1546225" y="3860800"/>
            <a:ext cx="0" cy="1295400"/>
          </a:xfrm>
          <a:prstGeom prst="line">
            <a:avLst/>
          </a:prstGeom>
          <a:noFill/>
          <a:ln w="9525">
            <a:solidFill>
              <a:schemeClr val="tx1"/>
            </a:solidFill>
            <a:round/>
            <a:headEnd/>
            <a:tailEnd/>
          </a:ln>
        </p:spPr>
        <p:txBody>
          <a:bodyPr wrap="none" anchor="ctr"/>
          <a:lstStyle/>
          <a:p>
            <a:endParaRPr lang="zh-CN" altLang="en-US"/>
          </a:p>
        </p:txBody>
      </p:sp>
      <p:sp>
        <p:nvSpPr>
          <p:cNvPr id="14341" name="Line 4"/>
          <p:cNvSpPr>
            <a:spLocks noChangeShapeType="1"/>
          </p:cNvSpPr>
          <p:nvPr/>
        </p:nvSpPr>
        <p:spPr bwMode="auto">
          <a:xfrm>
            <a:off x="1546225" y="4089400"/>
            <a:ext cx="5562600" cy="0"/>
          </a:xfrm>
          <a:prstGeom prst="line">
            <a:avLst/>
          </a:prstGeom>
          <a:noFill/>
          <a:ln w="9525">
            <a:solidFill>
              <a:schemeClr val="tx1"/>
            </a:solidFill>
            <a:round/>
            <a:headEnd/>
            <a:tailEnd/>
          </a:ln>
        </p:spPr>
        <p:txBody>
          <a:bodyPr wrap="none" anchor="ctr"/>
          <a:lstStyle/>
          <a:p>
            <a:endParaRPr lang="zh-CN" altLang="en-US"/>
          </a:p>
        </p:txBody>
      </p:sp>
      <p:sp>
        <p:nvSpPr>
          <p:cNvPr id="14342" name="Line 5"/>
          <p:cNvSpPr>
            <a:spLocks noChangeShapeType="1"/>
          </p:cNvSpPr>
          <p:nvPr/>
        </p:nvSpPr>
        <p:spPr bwMode="auto">
          <a:xfrm>
            <a:off x="1546225" y="4927600"/>
            <a:ext cx="5562600" cy="0"/>
          </a:xfrm>
          <a:prstGeom prst="line">
            <a:avLst/>
          </a:prstGeom>
          <a:noFill/>
          <a:ln w="9525">
            <a:solidFill>
              <a:schemeClr val="tx1"/>
            </a:solidFill>
            <a:round/>
            <a:headEnd/>
            <a:tailEnd/>
          </a:ln>
        </p:spPr>
        <p:txBody>
          <a:bodyPr wrap="none" anchor="ctr"/>
          <a:lstStyle/>
          <a:p>
            <a:endParaRPr lang="zh-CN" altLang="en-US"/>
          </a:p>
        </p:txBody>
      </p:sp>
      <p:sp>
        <p:nvSpPr>
          <p:cNvPr id="14343" name="Text Box 6"/>
          <p:cNvSpPr txBox="1">
            <a:spLocks noChangeArrowheads="1"/>
          </p:cNvSpPr>
          <p:nvPr/>
        </p:nvSpPr>
        <p:spPr bwMode="auto">
          <a:xfrm>
            <a:off x="1565275" y="41402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4344" name="Text Box 7"/>
          <p:cNvSpPr txBox="1">
            <a:spLocks noChangeArrowheads="1"/>
          </p:cNvSpPr>
          <p:nvPr/>
        </p:nvSpPr>
        <p:spPr bwMode="auto">
          <a:xfrm>
            <a:off x="2174875" y="41402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4345" name="Text Box 8"/>
          <p:cNvSpPr txBox="1">
            <a:spLocks noChangeArrowheads="1"/>
          </p:cNvSpPr>
          <p:nvPr/>
        </p:nvSpPr>
        <p:spPr bwMode="auto">
          <a:xfrm>
            <a:off x="5146675" y="41402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4346" name="Line 9"/>
          <p:cNvSpPr>
            <a:spLocks noChangeShapeType="1"/>
          </p:cNvSpPr>
          <p:nvPr/>
        </p:nvSpPr>
        <p:spPr bwMode="auto">
          <a:xfrm flipV="1">
            <a:off x="6042025" y="4927600"/>
            <a:ext cx="0" cy="685800"/>
          </a:xfrm>
          <a:prstGeom prst="line">
            <a:avLst/>
          </a:prstGeom>
          <a:noFill/>
          <a:ln w="25400">
            <a:solidFill>
              <a:srgbClr val="FF0000"/>
            </a:solidFill>
            <a:round/>
            <a:headEnd/>
            <a:tailEnd type="triangle" w="med" len="lg"/>
          </a:ln>
        </p:spPr>
        <p:txBody>
          <a:bodyPr wrap="none" anchor="ctr"/>
          <a:lstStyle/>
          <a:p>
            <a:endParaRPr lang="zh-CN" altLang="en-US"/>
          </a:p>
        </p:txBody>
      </p:sp>
      <p:sp>
        <p:nvSpPr>
          <p:cNvPr id="14347" name="Text Box 10"/>
          <p:cNvSpPr txBox="1">
            <a:spLocks noChangeArrowheads="1"/>
          </p:cNvSpPr>
          <p:nvPr/>
        </p:nvSpPr>
        <p:spPr bwMode="auto">
          <a:xfrm>
            <a:off x="5772150" y="4140200"/>
            <a:ext cx="54610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e </a:t>
            </a:r>
            <a:endParaRPr lang="en-US" altLang="zh-CN" sz="4000"/>
          </a:p>
        </p:txBody>
      </p:sp>
      <p:sp>
        <p:nvSpPr>
          <p:cNvPr id="14348" name="Text Box 11"/>
          <p:cNvSpPr txBox="1">
            <a:spLocks noChangeArrowheads="1"/>
          </p:cNvSpPr>
          <p:nvPr/>
        </p:nvSpPr>
        <p:spPr bwMode="auto">
          <a:xfrm>
            <a:off x="3190875" y="4086225"/>
            <a:ext cx="1327150" cy="701675"/>
          </a:xfrm>
          <a:prstGeom prst="rect">
            <a:avLst/>
          </a:prstGeom>
          <a:noFill/>
          <a:ln w="9525">
            <a:noFill/>
            <a:miter lim="800000"/>
            <a:headEnd/>
            <a:tailEnd/>
          </a:ln>
        </p:spPr>
        <p:txBody>
          <a:bodyPr wrap="none">
            <a:spAutoFit/>
          </a:bodyPr>
          <a:lstStyle/>
          <a:p>
            <a:r>
              <a:rPr lang="en-US" altLang="zh-CN" sz="4000" b="1">
                <a:solidFill>
                  <a:srgbClr val="FF0000"/>
                </a:solidFill>
              </a:rPr>
              <a:t>… …</a:t>
            </a:r>
            <a:endParaRPr lang="en-US" altLang="zh-CN" sz="4000"/>
          </a:p>
        </p:txBody>
      </p:sp>
      <p:sp>
        <p:nvSpPr>
          <p:cNvPr id="14349" name="Rectangle 12"/>
          <p:cNvSpPr>
            <a:spLocks noChangeArrowheads="1"/>
          </p:cNvSpPr>
          <p:nvPr/>
        </p:nvSpPr>
        <p:spPr bwMode="auto">
          <a:xfrm>
            <a:off x="2882900" y="2006600"/>
            <a:ext cx="5851525" cy="1811338"/>
          </a:xfrm>
          <a:prstGeom prst="rect">
            <a:avLst/>
          </a:prstGeom>
          <a:noFill/>
          <a:ln w="9525">
            <a:noFill/>
            <a:miter lim="800000"/>
            <a:headEnd/>
            <a:tailEnd/>
          </a:ln>
        </p:spPr>
        <p:txBody>
          <a:bodyPr anchor="ctr"/>
          <a:lstStyle/>
          <a:p>
            <a:pPr>
              <a:lnSpc>
                <a:spcPct val="120000"/>
              </a:lnSpc>
            </a:pPr>
            <a:r>
              <a:rPr lang="zh-CN" altLang="en-US" sz="3200" b="1" dirty="0">
                <a:solidFill>
                  <a:schemeClr val="bg1">
                    <a:lumMod val="10000"/>
                  </a:schemeClr>
                </a:solidFill>
                <a:ea typeface="楷体_GB2312" pitchFamily="49" charset="-122"/>
              </a:rPr>
              <a:t>栈 </a:t>
            </a:r>
            <a:r>
              <a:rPr lang="en-US" altLang="zh-CN" sz="3200" b="1" dirty="0">
                <a:solidFill>
                  <a:schemeClr val="bg1">
                    <a:lumMod val="10000"/>
                  </a:schemeClr>
                </a:solidFill>
                <a:ea typeface="楷体_GB2312" pitchFamily="49" charset="-122"/>
              </a:rPr>
              <a:t>S </a:t>
            </a:r>
            <a:r>
              <a:rPr lang="zh-CN" altLang="en-US" sz="3200" b="1" dirty="0">
                <a:solidFill>
                  <a:schemeClr val="bg1">
                    <a:lumMod val="10000"/>
                  </a:schemeClr>
                </a:solidFill>
                <a:ea typeface="楷体_GB2312" pitchFamily="49" charset="-122"/>
              </a:rPr>
              <a:t>已存在。</a:t>
            </a:r>
            <a:r>
              <a:rPr lang="zh-CN" altLang="en-US" sz="4400" dirty="0">
                <a:solidFill>
                  <a:schemeClr val="bg1">
                    <a:lumMod val="10000"/>
                  </a:schemeClr>
                </a:solidFill>
                <a:ea typeface="楷体_GB2312" pitchFamily="49" charset="-122"/>
              </a:rPr>
              <a:t/>
            </a:r>
            <a:br>
              <a:rPr lang="zh-CN" altLang="en-US" sz="4400" dirty="0">
                <a:solidFill>
                  <a:schemeClr val="bg1">
                    <a:lumMod val="10000"/>
                  </a:schemeClr>
                </a:solidFill>
                <a:ea typeface="楷体_GB2312" pitchFamily="49" charset="-122"/>
              </a:rPr>
            </a:br>
            <a:r>
              <a:rPr lang="zh-CN" altLang="en-US" sz="3200" b="1" dirty="0">
                <a:solidFill>
                  <a:schemeClr val="bg1">
                    <a:lumMod val="10000"/>
                  </a:schemeClr>
                </a:solidFill>
                <a:ea typeface="楷体_GB2312" pitchFamily="49" charset="-122"/>
              </a:rPr>
              <a:t>插入元素 </a:t>
            </a:r>
            <a:r>
              <a:rPr lang="en-US" altLang="zh-CN" sz="3200" b="1" dirty="0">
                <a:solidFill>
                  <a:schemeClr val="bg1">
                    <a:lumMod val="10000"/>
                  </a:schemeClr>
                </a:solidFill>
                <a:ea typeface="楷体_GB2312" pitchFamily="49" charset="-122"/>
              </a:rPr>
              <a:t>e </a:t>
            </a:r>
            <a:r>
              <a:rPr lang="zh-CN" altLang="en-US" sz="3200" b="1" dirty="0">
                <a:solidFill>
                  <a:schemeClr val="bg1">
                    <a:lumMod val="10000"/>
                  </a:schemeClr>
                </a:solidFill>
                <a:ea typeface="楷体_GB2312" pitchFamily="49" charset="-122"/>
              </a:rPr>
              <a:t>为新的栈顶元素。</a:t>
            </a:r>
          </a:p>
        </p:txBody>
      </p:sp>
      <p:sp>
        <p:nvSpPr>
          <p:cNvPr id="14350" name="Text Box 13"/>
          <p:cNvSpPr txBox="1">
            <a:spLocks noChangeArrowheads="1"/>
          </p:cNvSpPr>
          <p:nvPr/>
        </p:nvSpPr>
        <p:spPr bwMode="auto">
          <a:xfrm>
            <a:off x="5729288" y="5626100"/>
            <a:ext cx="944562" cy="457200"/>
          </a:xfrm>
          <a:prstGeom prst="rect">
            <a:avLst/>
          </a:prstGeom>
          <a:noFill/>
          <a:ln w="9525">
            <a:noFill/>
            <a:miter lim="800000"/>
            <a:headEnd/>
            <a:tailEnd/>
          </a:ln>
        </p:spPr>
        <p:txBody>
          <a:bodyPr>
            <a:spAutoFit/>
          </a:bodyPr>
          <a:lstStyle/>
          <a:p>
            <a:pPr>
              <a:spcBef>
                <a:spcPct val="50000"/>
              </a:spcBef>
            </a:pPr>
            <a:r>
              <a:rPr lang="en-US" altLang="zh-CN" dirty="0"/>
              <a:t>Top</a:t>
            </a:r>
          </a:p>
        </p:txBody>
      </p:sp>
      <p:sp>
        <p:nvSpPr>
          <p:cNvPr id="15"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p>
            <a:fld id="{539C9BFF-BC40-47D1-8DB1-06AB8647D65D}" type="slidenum">
              <a:rPr lang="en-US" altLang="zh-CN"/>
              <a:pPr/>
              <a:t>15</a:t>
            </a:fld>
            <a:endParaRPr lang="en-US" altLang="zh-CN"/>
          </a:p>
        </p:txBody>
      </p:sp>
      <p:sp>
        <p:nvSpPr>
          <p:cNvPr id="15363" name="Rectangle 2"/>
          <p:cNvSpPr>
            <a:spLocks noGrp="1" noChangeArrowheads="1"/>
          </p:cNvSpPr>
          <p:nvPr>
            <p:ph type="title" idx="4294967295"/>
          </p:nvPr>
        </p:nvSpPr>
        <p:spPr>
          <a:xfrm>
            <a:off x="990600" y="1117600"/>
            <a:ext cx="8153400" cy="2819400"/>
          </a:xfrm>
        </p:spPr>
        <p:txBody>
          <a:bodyPr/>
          <a:lstStyle/>
          <a:p>
            <a:pPr algn="l" eaLnBrk="1" hangingPunct="1">
              <a:lnSpc>
                <a:spcPct val="120000"/>
              </a:lnSpc>
            </a:pPr>
            <a:r>
              <a:rPr lang="en-US" altLang="zh-CN" sz="3200" dirty="0">
                <a:solidFill>
                  <a:srgbClr val="FF0000"/>
                </a:solidFill>
                <a:ea typeface="楷体_GB2312" pitchFamily="49" charset="-122"/>
              </a:rPr>
              <a:t>Pop(&amp;S, &amp;e)</a:t>
            </a: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出栈操作</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初始条件：</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操作结果：</a:t>
            </a:r>
          </a:p>
        </p:txBody>
      </p:sp>
      <p:sp>
        <p:nvSpPr>
          <p:cNvPr id="15364" name="Line 3"/>
          <p:cNvSpPr>
            <a:spLocks noChangeShapeType="1"/>
          </p:cNvSpPr>
          <p:nvPr/>
        </p:nvSpPr>
        <p:spPr bwMode="auto">
          <a:xfrm>
            <a:off x="1828800" y="3962400"/>
            <a:ext cx="0" cy="1295400"/>
          </a:xfrm>
          <a:prstGeom prst="line">
            <a:avLst/>
          </a:prstGeom>
          <a:noFill/>
          <a:ln w="9525">
            <a:solidFill>
              <a:schemeClr val="tx1"/>
            </a:solidFill>
            <a:round/>
            <a:headEnd/>
            <a:tailEnd/>
          </a:ln>
        </p:spPr>
        <p:txBody>
          <a:bodyPr wrap="none" anchor="ctr"/>
          <a:lstStyle/>
          <a:p>
            <a:endParaRPr lang="zh-CN" altLang="en-US"/>
          </a:p>
        </p:txBody>
      </p:sp>
      <p:sp>
        <p:nvSpPr>
          <p:cNvPr id="15365" name="Line 4"/>
          <p:cNvSpPr>
            <a:spLocks noChangeShapeType="1"/>
          </p:cNvSpPr>
          <p:nvPr/>
        </p:nvSpPr>
        <p:spPr bwMode="auto">
          <a:xfrm>
            <a:off x="1828800" y="4191000"/>
            <a:ext cx="5562600" cy="0"/>
          </a:xfrm>
          <a:prstGeom prst="line">
            <a:avLst/>
          </a:prstGeom>
          <a:noFill/>
          <a:ln w="9525">
            <a:solidFill>
              <a:schemeClr val="tx1"/>
            </a:solidFill>
            <a:round/>
            <a:headEnd/>
            <a:tailEnd/>
          </a:ln>
        </p:spPr>
        <p:txBody>
          <a:bodyPr wrap="none" anchor="ctr"/>
          <a:lstStyle/>
          <a:p>
            <a:endParaRPr lang="zh-CN" altLang="en-US"/>
          </a:p>
        </p:txBody>
      </p:sp>
      <p:sp>
        <p:nvSpPr>
          <p:cNvPr id="15366" name="Line 5"/>
          <p:cNvSpPr>
            <a:spLocks noChangeShapeType="1"/>
          </p:cNvSpPr>
          <p:nvPr/>
        </p:nvSpPr>
        <p:spPr bwMode="auto">
          <a:xfrm>
            <a:off x="1828800" y="5029200"/>
            <a:ext cx="5562600" cy="0"/>
          </a:xfrm>
          <a:prstGeom prst="line">
            <a:avLst/>
          </a:prstGeom>
          <a:noFill/>
          <a:ln w="9525">
            <a:solidFill>
              <a:schemeClr val="tx1"/>
            </a:solidFill>
            <a:round/>
            <a:headEnd/>
            <a:tailEnd/>
          </a:ln>
        </p:spPr>
        <p:txBody>
          <a:bodyPr wrap="none" anchor="ctr"/>
          <a:lstStyle/>
          <a:p>
            <a:endParaRPr lang="zh-CN" altLang="en-US"/>
          </a:p>
        </p:txBody>
      </p:sp>
      <p:sp>
        <p:nvSpPr>
          <p:cNvPr id="15367" name="Text Box 6"/>
          <p:cNvSpPr txBox="1">
            <a:spLocks noChangeArrowheads="1"/>
          </p:cNvSpPr>
          <p:nvPr/>
        </p:nvSpPr>
        <p:spPr bwMode="auto">
          <a:xfrm>
            <a:off x="1847850" y="42418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1</a:t>
            </a:r>
            <a:endParaRPr lang="en-US" altLang="zh-CN" sz="4000"/>
          </a:p>
        </p:txBody>
      </p:sp>
      <p:sp>
        <p:nvSpPr>
          <p:cNvPr id="15368" name="Text Box 7"/>
          <p:cNvSpPr txBox="1">
            <a:spLocks noChangeArrowheads="1"/>
          </p:cNvSpPr>
          <p:nvPr/>
        </p:nvSpPr>
        <p:spPr bwMode="auto">
          <a:xfrm>
            <a:off x="2457450" y="42418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2</a:t>
            </a:r>
            <a:endParaRPr lang="en-US" altLang="zh-CN" sz="4000"/>
          </a:p>
        </p:txBody>
      </p:sp>
      <p:sp>
        <p:nvSpPr>
          <p:cNvPr id="15369" name="Text Box 8"/>
          <p:cNvSpPr txBox="1">
            <a:spLocks noChangeArrowheads="1"/>
          </p:cNvSpPr>
          <p:nvPr/>
        </p:nvSpPr>
        <p:spPr bwMode="auto">
          <a:xfrm>
            <a:off x="5562600" y="4241800"/>
            <a:ext cx="59055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n</a:t>
            </a:r>
            <a:endParaRPr lang="en-US" altLang="zh-CN" sz="4000"/>
          </a:p>
        </p:txBody>
      </p:sp>
      <p:sp>
        <p:nvSpPr>
          <p:cNvPr id="15370" name="Line 9"/>
          <p:cNvSpPr>
            <a:spLocks noChangeShapeType="1"/>
          </p:cNvSpPr>
          <p:nvPr/>
        </p:nvSpPr>
        <p:spPr bwMode="auto">
          <a:xfrm flipV="1">
            <a:off x="5105400" y="5029200"/>
            <a:ext cx="0" cy="685800"/>
          </a:xfrm>
          <a:prstGeom prst="line">
            <a:avLst/>
          </a:prstGeom>
          <a:noFill/>
          <a:ln w="25400">
            <a:solidFill>
              <a:srgbClr val="FF0000"/>
            </a:solidFill>
            <a:round/>
            <a:headEnd/>
            <a:tailEnd type="triangle" w="med" len="lg"/>
          </a:ln>
        </p:spPr>
        <p:txBody>
          <a:bodyPr wrap="none" anchor="ctr"/>
          <a:lstStyle/>
          <a:p>
            <a:endParaRPr lang="zh-CN" altLang="en-US"/>
          </a:p>
        </p:txBody>
      </p:sp>
      <p:sp>
        <p:nvSpPr>
          <p:cNvPr id="15371" name="Text Box 10"/>
          <p:cNvSpPr txBox="1">
            <a:spLocks noChangeArrowheads="1"/>
          </p:cNvSpPr>
          <p:nvPr/>
        </p:nvSpPr>
        <p:spPr bwMode="auto">
          <a:xfrm>
            <a:off x="4724400" y="4241800"/>
            <a:ext cx="876300" cy="711200"/>
          </a:xfrm>
          <a:prstGeom prst="rect">
            <a:avLst/>
          </a:prstGeom>
          <a:solidFill>
            <a:srgbClr val="FFFFCC"/>
          </a:solidFill>
          <a:ln w="9525">
            <a:solidFill>
              <a:srgbClr val="800000"/>
            </a:solidFill>
            <a:miter lim="800000"/>
            <a:headEnd/>
            <a:tailEnd/>
          </a:ln>
        </p:spPr>
        <p:txBody>
          <a:bodyPr wrap="none">
            <a:spAutoFit/>
          </a:bodyPr>
          <a:lstStyle/>
          <a:p>
            <a:r>
              <a:rPr lang="en-US" altLang="zh-CN" sz="4000">
                <a:solidFill>
                  <a:srgbClr val="FF0000"/>
                </a:solidFill>
              </a:rPr>
              <a:t>a</a:t>
            </a:r>
            <a:r>
              <a:rPr lang="en-US" altLang="zh-CN" sz="4000" baseline="-25000">
                <a:solidFill>
                  <a:srgbClr val="FF0000"/>
                </a:solidFill>
              </a:rPr>
              <a:t>n-1</a:t>
            </a:r>
            <a:endParaRPr lang="en-US" altLang="zh-CN" sz="4000"/>
          </a:p>
        </p:txBody>
      </p:sp>
      <p:sp>
        <p:nvSpPr>
          <p:cNvPr id="15372" name="Text Box 11"/>
          <p:cNvSpPr txBox="1">
            <a:spLocks noChangeArrowheads="1"/>
          </p:cNvSpPr>
          <p:nvPr/>
        </p:nvSpPr>
        <p:spPr bwMode="auto">
          <a:xfrm>
            <a:off x="5546725" y="4111625"/>
            <a:ext cx="438150" cy="701675"/>
          </a:xfrm>
          <a:prstGeom prst="rect">
            <a:avLst/>
          </a:prstGeom>
          <a:noFill/>
          <a:ln w="9525">
            <a:noFill/>
            <a:miter lim="800000"/>
            <a:headEnd/>
            <a:tailEnd/>
          </a:ln>
        </p:spPr>
        <p:txBody>
          <a:bodyPr wrap="none">
            <a:spAutoFit/>
          </a:bodyPr>
          <a:lstStyle/>
          <a:p>
            <a:r>
              <a:rPr lang="en-US" altLang="zh-CN" sz="4000"/>
              <a:t>  </a:t>
            </a:r>
          </a:p>
        </p:txBody>
      </p:sp>
      <p:sp useBgFill="1">
        <p:nvSpPr>
          <p:cNvPr id="15373" name="Text Box 12"/>
          <p:cNvSpPr txBox="1">
            <a:spLocks noChangeArrowheads="1"/>
          </p:cNvSpPr>
          <p:nvPr/>
        </p:nvSpPr>
        <p:spPr bwMode="auto">
          <a:xfrm>
            <a:off x="5562600" y="4241800"/>
            <a:ext cx="574675" cy="711200"/>
          </a:xfrm>
          <a:prstGeom prst="rect">
            <a:avLst/>
          </a:prstGeom>
          <a:ln w="9525">
            <a:solidFill>
              <a:srgbClr val="800000"/>
            </a:solidFill>
            <a:miter lim="800000"/>
            <a:headEnd/>
            <a:tailEnd/>
          </a:ln>
        </p:spPr>
        <p:txBody>
          <a:bodyPr wrap="none">
            <a:spAutoFit/>
          </a:bodyPr>
          <a:lstStyle/>
          <a:p>
            <a:r>
              <a:rPr lang="en-US" altLang="zh-CN" sz="4000"/>
              <a:t>   </a:t>
            </a:r>
          </a:p>
        </p:txBody>
      </p:sp>
      <p:sp>
        <p:nvSpPr>
          <p:cNvPr id="15374" name="Text Box 13"/>
          <p:cNvSpPr txBox="1">
            <a:spLocks noChangeArrowheads="1"/>
          </p:cNvSpPr>
          <p:nvPr/>
        </p:nvSpPr>
        <p:spPr bwMode="auto">
          <a:xfrm>
            <a:off x="3352800" y="4187825"/>
            <a:ext cx="1327150" cy="701675"/>
          </a:xfrm>
          <a:prstGeom prst="rect">
            <a:avLst/>
          </a:prstGeom>
          <a:noFill/>
          <a:ln w="9525">
            <a:noFill/>
            <a:miter lim="800000"/>
            <a:headEnd/>
            <a:tailEnd/>
          </a:ln>
        </p:spPr>
        <p:txBody>
          <a:bodyPr wrap="none">
            <a:spAutoFit/>
          </a:bodyPr>
          <a:lstStyle/>
          <a:p>
            <a:r>
              <a:rPr lang="en-US" altLang="zh-CN" sz="4000" b="1">
                <a:solidFill>
                  <a:srgbClr val="FF0000"/>
                </a:solidFill>
              </a:rPr>
              <a:t>… …</a:t>
            </a:r>
            <a:endParaRPr lang="en-US" altLang="zh-CN" sz="4000"/>
          </a:p>
        </p:txBody>
      </p:sp>
      <p:sp>
        <p:nvSpPr>
          <p:cNvPr id="15375" name="Rectangle 14"/>
          <p:cNvSpPr>
            <a:spLocks noChangeArrowheads="1"/>
          </p:cNvSpPr>
          <p:nvPr/>
        </p:nvSpPr>
        <p:spPr bwMode="auto">
          <a:xfrm>
            <a:off x="3143250" y="2241550"/>
            <a:ext cx="5805487" cy="1739900"/>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已存在且非空。</a:t>
            </a:r>
            <a:r>
              <a:rPr lang="zh-CN" altLang="en-US" sz="4400" dirty="0">
                <a:solidFill>
                  <a:srgbClr val="000000"/>
                </a:solidFill>
                <a:ea typeface="楷体_GB2312" pitchFamily="49" charset="-122"/>
              </a:rPr>
              <a:t/>
            </a:r>
            <a:br>
              <a:rPr lang="zh-CN" altLang="en-US" sz="4400" dirty="0">
                <a:solidFill>
                  <a:srgbClr val="000000"/>
                </a:solidFill>
                <a:ea typeface="楷体_GB2312" pitchFamily="49" charset="-122"/>
              </a:rPr>
            </a:br>
            <a:r>
              <a:rPr lang="zh-CN" altLang="en-US" sz="3200" dirty="0">
                <a:solidFill>
                  <a:srgbClr val="000000"/>
                </a:solidFill>
                <a:ea typeface="楷体_GB2312" pitchFamily="49" charset="-122"/>
              </a:rPr>
              <a:t>删除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的栈顶元素，并用 </a:t>
            </a:r>
            <a:r>
              <a:rPr lang="en-US" altLang="zh-CN" sz="3200" dirty="0">
                <a:solidFill>
                  <a:srgbClr val="000000"/>
                </a:solidFill>
                <a:ea typeface="楷体_GB2312" pitchFamily="49" charset="-122"/>
              </a:rPr>
              <a:t>e </a:t>
            </a:r>
            <a:r>
              <a:rPr lang="zh-CN" altLang="en-US" sz="3200" dirty="0">
                <a:solidFill>
                  <a:srgbClr val="000000"/>
                </a:solidFill>
                <a:ea typeface="楷体_GB2312" pitchFamily="49" charset="-122"/>
              </a:rPr>
              <a:t>返回其值。</a:t>
            </a:r>
          </a:p>
        </p:txBody>
      </p:sp>
      <p:sp>
        <p:nvSpPr>
          <p:cNvPr id="15376" name="Text Box 15"/>
          <p:cNvSpPr txBox="1">
            <a:spLocks noChangeArrowheads="1"/>
          </p:cNvSpPr>
          <p:nvPr/>
        </p:nvSpPr>
        <p:spPr bwMode="auto">
          <a:xfrm>
            <a:off x="4797425" y="5678488"/>
            <a:ext cx="944563" cy="457200"/>
          </a:xfrm>
          <a:prstGeom prst="rect">
            <a:avLst/>
          </a:prstGeom>
          <a:noFill/>
          <a:ln w="9525">
            <a:noFill/>
            <a:miter lim="800000"/>
            <a:headEnd/>
            <a:tailEnd/>
          </a:ln>
        </p:spPr>
        <p:txBody>
          <a:bodyPr>
            <a:spAutoFit/>
          </a:bodyPr>
          <a:lstStyle/>
          <a:p>
            <a:pPr>
              <a:spcBef>
                <a:spcPct val="50000"/>
              </a:spcBef>
            </a:pPr>
            <a:r>
              <a:rPr lang="en-US" altLang="zh-CN" dirty="0"/>
              <a:t>Top</a:t>
            </a:r>
          </a:p>
        </p:txBody>
      </p:sp>
      <p:sp>
        <p:nvSpPr>
          <p:cNvPr id="17"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p>
            <a:fld id="{539C9BFF-BC40-47D1-8DB1-06AB8647D65D}" type="slidenum">
              <a:rPr lang="en-US" altLang="zh-CN">
                <a:solidFill>
                  <a:srgbClr val="333399"/>
                </a:solidFill>
              </a:rPr>
              <a:pPr/>
              <a:t>16</a:t>
            </a:fld>
            <a:endParaRPr lang="en-US" altLang="zh-CN">
              <a:solidFill>
                <a:srgbClr val="333399"/>
              </a:solidFill>
            </a:endParaRPr>
          </a:p>
        </p:txBody>
      </p:sp>
      <p:sp>
        <p:nvSpPr>
          <p:cNvPr id="15363" name="Rectangle 2"/>
          <p:cNvSpPr>
            <a:spLocks noGrp="1" noChangeArrowheads="1"/>
          </p:cNvSpPr>
          <p:nvPr>
            <p:ph type="title" idx="4294967295"/>
          </p:nvPr>
        </p:nvSpPr>
        <p:spPr>
          <a:xfrm>
            <a:off x="990600" y="1117600"/>
            <a:ext cx="8153400" cy="2819400"/>
          </a:xfrm>
        </p:spPr>
        <p:txBody>
          <a:bodyPr/>
          <a:lstStyle/>
          <a:p>
            <a:pPr algn="l" eaLnBrk="1" hangingPunct="1">
              <a:lnSpc>
                <a:spcPct val="120000"/>
              </a:lnSpc>
            </a:pPr>
            <a:r>
              <a:rPr lang="en-US" altLang="zh-CN" sz="3200" dirty="0" err="1">
                <a:solidFill>
                  <a:srgbClr val="FF0000"/>
                </a:solidFill>
                <a:ea typeface="楷体_GB2312" pitchFamily="49" charset="-122"/>
              </a:rPr>
              <a:t>StackTravers</a:t>
            </a:r>
            <a:r>
              <a:rPr lang="en-US" altLang="zh-CN" sz="3200" dirty="0">
                <a:solidFill>
                  <a:srgbClr val="FF0000"/>
                </a:solidFill>
                <a:ea typeface="楷体_GB2312" pitchFamily="49" charset="-122"/>
              </a:rPr>
              <a:t>(S, visit()) </a:t>
            </a:r>
            <a:r>
              <a:rPr lang="zh-CN" altLang="en-US" sz="3200" dirty="0">
                <a:solidFill>
                  <a:srgbClr val="000000"/>
                </a:solidFill>
                <a:ea typeface="楷体_GB2312" pitchFamily="49" charset="-122"/>
              </a:rPr>
              <a:t>查找栈元素操作</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初始条件：</a:t>
            </a:r>
            <a:br>
              <a:rPr lang="zh-CN" altLang="en-US" sz="3200" dirty="0">
                <a:solidFill>
                  <a:srgbClr val="000000"/>
                </a:solidFill>
                <a:ea typeface="楷体_GB2312" pitchFamily="49" charset="-122"/>
              </a:rPr>
            </a:br>
            <a:r>
              <a:rPr lang="zh-CN" altLang="en-US" sz="3200" dirty="0">
                <a:solidFill>
                  <a:srgbClr val="000000"/>
                </a:solidFill>
                <a:ea typeface="楷体_GB2312" pitchFamily="49" charset="-122"/>
              </a:rPr>
              <a:t>操作结果：</a:t>
            </a:r>
          </a:p>
        </p:txBody>
      </p:sp>
      <p:sp>
        <p:nvSpPr>
          <p:cNvPr id="15372" name="Text Box 11"/>
          <p:cNvSpPr txBox="1">
            <a:spLocks noChangeArrowheads="1"/>
          </p:cNvSpPr>
          <p:nvPr/>
        </p:nvSpPr>
        <p:spPr bwMode="auto">
          <a:xfrm>
            <a:off x="5546725" y="4111625"/>
            <a:ext cx="438150" cy="701675"/>
          </a:xfrm>
          <a:prstGeom prst="rect">
            <a:avLst/>
          </a:prstGeom>
          <a:noFill/>
          <a:ln w="9525">
            <a:noFill/>
            <a:miter lim="800000"/>
            <a:headEnd/>
            <a:tailEnd/>
          </a:ln>
        </p:spPr>
        <p:txBody>
          <a:bodyPr wrap="none">
            <a:spAutoFit/>
          </a:bodyPr>
          <a:lstStyle/>
          <a:p>
            <a:r>
              <a:rPr lang="en-US" altLang="zh-CN" sz="4000">
                <a:solidFill>
                  <a:srgbClr val="333399"/>
                </a:solidFill>
              </a:rPr>
              <a:t>  </a:t>
            </a:r>
          </a:p>
        </p:txBody>
      </p:sp>
      <p:sp>
        <p:nvSpPr>
          <p:cNvPr id="15375" name="Rectangle 14"/>
          <p:cNvSpPr>
            <a:spLocks noChangeArrowheads="1"/>
          </p:cNvSpPr>
          <p:nvPr/>
        </p:nvSpPr>
        <p:spPr bwMode="auto">
          <a:xfrm>
            <a:off x="3082131" y="2509916"/>
            <a:ext cx="5805487" cy="1739900"/>
          </a:xfrm>
          <a:prstGeom prst="rect">
            <a:avLst/>
          </a:prstGeom>
          <a:noFill/>
          <a:ln w="9525">
            <a:noFill/>
            <a:miter lim="800000"/>
            <a:headEnd/>
            <a:tailEnd/>
          </a:ln>
        </p:spPr>
        <p:txBody>
          <a:bodyPr anchor="ctr"/>
          <a:lstStyle/>
          <a:p>
            <a:pPr>
              <a:lnSpc>
                <a:spcPct val="120000"/>
              </a:lnSpc>
            </a:pPr>
            <a:r>
              <a:rPr lang="zh-CN" altLang="en-US" sz="3200" dirty="0">
                <a:solidFill>
                  <a:srgbClr val="000000"/>
                </a:solidFill>
                <a:ea typeface="楷体_GB2312" pitchFamily="49" charset="-122"/>
              </a:rPr>
              <a:t>栈 </a:t>
            </a:r>
            <a:r>
              <a:rPr lang="en-US" altLang="zh-CN" sz="3200" dirty="0">
                <a:solidFill>
                  <a:srgbClr val="000000"/>
                </a:solidFill>
                <a:ea typeface="楷体_GB2312" pitchFamily="49" charset="-122"/>
              </a:rPr>
              <a:t>S </a:t>
            </a:r>
            <a:r>
              <a:rPr lang="zh-CN" altLang="en-US" sz="3200" dirty="0">
                <a:solidFill>
                  <a:srgbClr val="000000"/>
                </a:solidFill>
                <a:ea typeface="楷体_GB2312" pitchFamily="49" charset="-122"/>
              </a:rPr>
              <a:t>已存在且非空。</a:t>
            </a:r>
            <a:r>
              <a:rPr lang="zh-CN" altLang="en-US" sz="4400" dirty="0">
                <a:solidFill>
                  <a:srgbClr val="000000"/>
                </a:solidFill>
                <a:ea typeface="楷体_GB2312" pitchFamily="49" charset="-122"/>
              </a:rPr>
              <a:t/>
            </a:r>
            <a:br>
              <a:rPr lang="zh-CN" altLang="en-US" sz="4400" dirty="0">
                <a:solidFill>
                  <a:srgbClr val="000000"/>
                </a:solidFill>
                <a:ea typeface="楷体_GB2312" pitchFamily="49" charset="-122"/>
              </a:rPr>
            </a:br>
            <a:r>
              <a:rPr lang="zh-CN" altLang="en-US" sz="3200" dirty="0">
                <a:solidFill>
                  <a:srgbClr val="000000"/>
                </a:solidFill>
                <a:ea typeface="楷体_GB2312" pitchFamily="49" charset="-122"/>
              </a:rPr>
              <a:t>从栈底到栈顶对</a:t>
            </a:r>
            <a:r>
              <a:rPr lang="en-US" altLang="zh-CN" sz="3200" dirty="0">
                <a:solidFill>
                  <a:srgbClr val="000000"/>
                </a:solidFill>
                <a:ea typeface="楷体_GB2312" pitchFamily="49" charset="-122"/>
              </a:rPr>
              <a:t>S</a:t>
            </a:r>
            <a:r>
              <a:rPr lang="zh-CN" altLang="en-US" sz="3200" dirty="0">
                <a:solidFill>
                  <a:srgbClr val="000000"/>
                </a:solidFill>
                <a:ea typeface="楷体_GB2312" pitchFamily="49" charset="-122"/>
              </a:rPr>
              <a:t>的每个元素调用</a:t>
            </a:r>
            <a:r>
              <a:rPr lang="en-US" altLang="zh-CN" sz="3200" dirty="0">
                <a:solidFill>
                  <a:srgbClr val="000000"/>
                </a:solidFill>
                <a:ea typeface="楷体_GB2312" pitchFamily="49" charset="-122"/>
              </a:rPr>
              <a:t>visit()</a:t>
            </a:r>
            <a:r>
              <a:rPr lang="zh-CN" altLang="en-US" sz="3200" dirty="0">
                <a:solidFill>
                  <a:srgbClr val="000000"/>
                </a:solidFill>
                <a:ea typeface="楷体_GB2312" pitchFamily="49" charset="-122"/>
              </a:rPr>
              <a:t>，一旦</a:t>
            </a:r>
            <a:r>
              <a:rPr lang="en-US" altLang="zh-CN" sz="3200" dirty="0">
                <a:solidFill>
                  <a:srgbClr val="000000"/>
                </a:solidFill>
                <a:ea typeface="楷体_GB2312" pitchFamily="49" charset="-122"/>
              </a:rPr>
              <a:t>visit()</a:t>
            </a:r>
            <a:r>
              <a:rPr lang="zh-CN" altLang="en-US" sz="3200" dirty="0">
                <a:solidFill>
                  <a:srgbClr val="000000"/>
                </a:solidFill>
                <a:ea typeface="楷体_GB2312" pitchFamily="49" charset="-122"/>
              </a:rPr>
              <a:t>失败，则操作失败。</a:t>
            </a:r>
          </a:p>
        </p:txBody>
      </p:sp>
      <p:sp>
        <p:nvSpPr>
          <p:cNvPr id="17"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rgbClr val="FFFFEB">
                    <a:lumMod val="10000"/>
                  </a:srgbClr>
                </a:solidFill>
                <a:latin typeface="楷体_GB2312" pitchFamily="49" charset="-122"/>
                <a:ea typeface="楷体_GB2312" pitchFamily="49" charset="-122"/>
              </a:rPr>
              <a:t>3.1 </a:t>
            </a:r>
            <a:r>
              <a:rPr lang="zh-CN" altLang="en-US" sz="3200" b="1" dirty="0">
                <a:solidFill>
                  <a:srgbClr val="FFFFEB">
                    <a:lumMod val="10000"/>
                  </a:srgbClr>
                </a:solidFill>
                <a:latin typeface="楷体_GB2312" pitchFamily="49" charset="-122"/>
                <a:ea typeface="楷体_GB2312" pitchFamily="49" charset="-122"/>
              </a:rPr>
              <a:t>栈</a:t>
            </a:r>
          </a:p>
        </p:txBody>
      </p:sp>
    </p:spTree>
    <p:extLst>
      <p:ext uri="{BB962C8B-B14F-4D97-AF65-F5344CB8AC3E}">
        <p14:creationId xmlns:p14="http://schemas.microsoft.com/office/powerpoint/2010/main" val="279302913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灯片编号占位符 4"/>
          <p:cNvSpPr>
            <a:spLocks noGrp="1"/>
          </p:cNvSpPr>
          <p:nvPr>
            <p:ph type="sldNum" sz="quarter" idx="12"/>
          </p:nvPr>
        </p:nvSpPr>
        <p:spPr>
          <a:noFill/>
        </p:spPr>
        <p:txBody>
          <a:bodyPr/>
          <a:lstStyle/>
          <a:p>
            <a:fld id="{DFFD17D3-13BA-48AC-A261-3C3C4B45CE33}" type="slidenum">
              <a:rPr lang="en-US" altLang="zh-CN"/>
              <a:pPr/>
              <a:t>17</a:t>
            </a:fld>
            <a:endParaRPr lang="en-US" altLang="zh-CN"/>
          </a:p>
        </p:txBody>
      </p:sp>
      <p:sp>
        <p:nvSpPr>
          <p:cNvPr id="16387" name="Rectangle 2"/>
          <p:cNvSpPr>
            <a:spLocks noGrp="1" noChangeArrowheads="1"/>
          </p:cNvSpPr>
          <p:nvPr>
            <p:ph idx="4294967295"/>
          </p:nvPr>
        </p:nvSpPr>
        <p:spPr>
          <a:xfrm>
            <a:off x="304800" y="1517650"/>
            <a:ext cx="8229600" cy="2209800"/>
          </a:xfrm>
        </p:spPr>
        <p:txBody>
          <a:bodyPr/>
          <a:lstStyle/>
          <a:p>
            <a:pPr indent="738188" eaLnBrk="1" hangingPunct="1">
              <a:buFontTx/>
              <a:buNone/>
            </a:pPr>
            <a:r>
              <a:rPr lang="zh-CN" altLang="en-US" sz="2800" dirty="0">
                <a:solidFill>
                  <a:srgbClr val="000000"/>
                </a:solidFill>
              </a:rPr>
              <a:t>例 </a:t>
            </a:r>
            <a:r>
              <a:rPr lang="en-US" altLang="zh-CN" sz="2800" dirty="0">
                <a:solidFill>
                  <a:srgbClr val="000000"/>
                </a:solidFill>
              </a:rPr>
              <a:t>:</a:t>
            </a:r>
            <a:r>
              <a:rPr lang="zh-CN" altLang="en-US" sz="2800" dirty="0">
                <a:solidFill>
                  <a:srgbClr val="000000"/>
                </a:solidFill>
                <a:latin typeface="楷体_GB2312" pitchFamily="49" charset="-122"/>
                <a:ea typeface="楷体_GB2312" pitchFamily="49" charset="-122"/>
              </a:rPr>
              <a:t>有三个元素的进栈顺序为</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举出此三个元素可能的出栈序列，并写出相应的进栈和出栈操作序列（假设以</a:t>
            </a:r>
            <a:r>
              <a:rPr lang="en-US" altLang="zh-CN" sz="2800" dirty="0">
                <a:solidFill>
                  <a:srgbClr val="000000"/>
                </a:solidFill>
                <a:latin typeface="楷体_GB2312" pitchFamily="49" charset="-122"/>
                <a:ea typeface="楷体_GB2312" pitchFamily="49" charset="-122"/>
              </a:rPr>
              <a:t>s</a:t>
            </a:r>
            <a:r>
              <a:rPr lang="zh-CN" altLang="en-US" sz="2800" dirty="0">
                <a:solidFill>
                  <a:srgbClr val="000000"/>
                </a:solidFill>
                <a:latin typeface="楷体_GB2312" pitchFamily="49" charset="-122"/>
                <a:ea typeface="楷体_GB2312" pitchFamily="49" charset="-122"/>
              </a:rPr>
              <a:t>和</a:t>
            </a:r>
            <a:r>
              <a:rPr lang="en-US" altLang="zh-CN" sz="2800" dirty="0">
                <a:solidFill>
                  <a:srgbClr val="000000"/>
                </a:solidFill>
                <a:latin typeface="楷体_GB2312" pitchFamily="49" charset="-122"/>
                <a:ea typeface="楷体_GB2312" pitchFamily="49" charset="-122"/>
              </a:rPr>
              <a:t>x</a:t>
            </a:r>
            <a:r>
              <a:rPr lang="zh-CN" altLang="en-US" sz="2800" dirty="0">
                <a:solidFill>
                  <a:srgbClr val="000000"/>
                </a:solidFill>
                <a:latin typeface="楷体_GB2312" pitchFamily="49" charset="-122"/>
                <a:ea typeface="楷体_GB2312" pitchFamily="49" charset="-122"/>
              </a:rPr>
              <a:t>分别表示进栈和出栈操作）。</a:t>
            </a:r>
          </a:p>
          <a:p>
            <a:pPr eaLnBrk="1" hangingPunct="1">
              <a:buFontTx/>
              <a:buNone/>
            </a:pPr>
            <a:r>
              <a:rPr lang="zh-CN" altLang="en-US" sz="2800" dirty="0">
                <a:solidFill>
                  <a:srgbClr val="000000"/>
                </a:solidFill>
                <a:latin typeface="楷体_GB2312" pitchFamily="49" charset="-122"/>
                <a:ea typeface="楷体_GB2312" pitchFamily="49" charset="-122"/>
              </a:rPr>
              <a:t>    </a:t>
            </a:r>
          </a:p>
        </p:txBody>
      </p:sp>
      <p:sp>
        <p:nvSpPr>
          <p:cNvPr id="16388" name="AutoShape 3"/>
          <p:cNvSpPr>
            <a:spLocks noChangeAspect="1" noChangeArrowheads="1"/>
          </p:cNvSpPr>
          <p:nvPr/>
        </p:nvSpPr>
        <p:spPr bwMode="auto">
          <a:xfrm>
            <a:off x="1143000" y="2971800"/>
            <a:ext cx="6781800" cy="2895600"/>
          </a:xfrm>
          <a:prstGeom prst="rect">
            <a:avLst/>
          </a:prstGeom>
          <a:noFill/>
          <a:ln w="9525">
            <a:noFill/>
            <a:miter lim="800000"/>
            <a:headEnd/>
            <a:tailEnd/>
          </a:ln>
        </p:spPr>
        <p:txBody>
          <a:bodyPr/>
          <a:lstStyle/>
          <a:p>
            <a:endParaRPr lang="zh-CN" altLang="en-US"/>
          </a:p>
        </p:txBody>
      </p:sp>
      <p:sp>
        <p:nvSpPr>
          <p:cNvPr id="16389" name="Text Box 4"/>
          <p:cNvSpPr txBox="1">
            <a:spLocks noChangeArrowheads="1"/>
          </p:cNvSpPr>
          <p:nvPr/>
        </p:nvSpPr>
        <p:spPr bwMode="auto">
          <a:xfrm>
            <a:off x="444500" y="3340100"/>
            <a:ext cx="2730500" cy="3082925"/>
          </a:xfrm>
          <a:prstGeom prst="rect">
            <a:avLst/>
          </a:prstGeom>
          <a:noFill/>
          <a:ln w="9525">
            <a:noFill/>
            <a:miter lim="800000"/>
            <a:headEnd/>
            <a:tailEnd/>
          </a:ln>
        </p:spPr>
        <p:txBody>
          <a:bodyPr>
            <a:spAutoFit/>
          </a:bodyPr>
          <a:lstStyle/>
          <a:p>
            <a:pPr>
              <a:spcBef>
                <a:spcPct val="20000"/>
              </a:spcBef>
            </a:pPr>
            <a:r>
              <a:rPr lang="en-US" altLang="zh-CN" sz="2800" dirty="0">
                <a:solidFill>
                  <a:srgbClr val="000000"/>
                </a:solidFill>
                <a:latin typeface="楷体_GB2312" pitchFamily="49" charset="-122"/>
                <a:ea typeface="楷体_GB2312" pitchFamily="49" charset="-122"/>
              </a:rPr>
              <a:t>    </a:t>
            </a:r>
            <a:r>
              <a:rPr lang="zh-CN" altLang="en-US" sz="2800" dirty="0">
                <a:solidFill>
                  <a:srgbClr val="FF0000"/>
                </a:solidFill>
                <a:latin typeface="楷体_GB2312" pitchFamily="49" charset="-122"/>
                <a:ea typeface="楷体_GB2312" pitchFamily="49" charset="-122"/>
              </a:rPr>
              <a:t>出栈</a:t>
            </a:r>
            <a:r>
              <a:rPr lang="zh-CN" altLang="en-US" sz="2800" dirty="0">
                <a:solidFill>
                  <a:srgbClr val="000000"/>
                </a:solidFill>
                <a:latin typeface="楷体_GB2312" pitchFamily="49" charset="-122"/>
                <a:ea typeface="楷体_GB2312" pitchFamily="49" charset="-122"/>
              </a:rPr>
              <a:t>序列 </a:t>
            </a:r>
          </a:p>
          <a:p>
            <a:pPr>
              <a:spcBef>
                <a:spcPts val="600"/>
              </a:spcBef>
            </a:pPr>
            <a:r>
              <a:rPr lang="zh-CN" altLang="en-US" sz="2800" dirty="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p>
          <a:p>
            <a:pPr>
              <a:spcBef>
                <a:spcPts val="600"/>
              </a:spcBef>
            </a:pPr>
            <a:r>
              <a:rPr lang="en-US" altLang="zh-CN" sz="2800" dirty="0">
                <a:solidFill>
                  <a:srgbClr val="000000"/>
                </a:solidFill>
                <a:latin typeface="楷体_GB2312" pitchFamily="49" charset="-122"/>
                <a:ea typeface="楷体_GB2312" pitchFamily="49" charset="-122"/>
              </a:rPr>
              <a:t>    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p>
          <a:p>
            <a:pPr>
              <a:spcBef>
                <a:spcPts val="600"/>
              </a:spcBef>
            </a:pPr>
            <a:r>
              <a:rPr lang="en-US" altLang="zh-CN" sz="2800" dirty="0">
                <a:solidFill>
                  <a:srgbClr val="000000"/>
                </a:solidFill>
                <a:latin typeface="楷体_GB2312" pitchFamily="49" charset="-122"/>
                <a:ea typeface="楷体_GB2312" pitchFamily="49" charset="-122"/>
              </a:rPr>
              <a:t>    2</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p>
          <a:p>
            <a:pPr>
              <a:spcBef>
                <a:spcPts val="600"/>
              </a:spcBef>
            </a:pPr>
            <a:r>
              <a:rPr lang="en-US" altLang="zh-CN" sz="2800" dirty="0">
                <a:solidFill>
                  <a:srgbClr val="000000"/>
                </a:solidFill>
                <a:latin typeface="楷体_GB2312" pitchFamily="49" charset="-122"/>
                <a:ea typeface="楷体_GB2312" pitchFamily="49" charset="-122"/>
              </a:rPr>
              <a:t>    2</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 </a:t>
            </a:r>
          </a:p>
          <a:p>
            <a:pPr>
              <a:spcBef>
                <a:spcPts val="600"/>
              </a:spcBef>
            </a:pPr>
            <a:r>
              <a:rPr lang="en-US" altLang="zh-CN" sz="2800" dirty="0">
                <a:solidFill>
                  <a:srgbClr val="000000"/>
                </a:solidFill>
                <a:latin typeface="楷体_GB2312" pitchFamily="49" charset="-122"/>
                <a:ea typeface="楷体_GB2312" pitchFamily="49" charset="-122"/>
              </a:rPr>
              <a:t>    3</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a:t>
            </a:r>
            <a:endParaRPr lang="en-US" altLang="zh-CN" sz="3600" dirty="0">
              <a:solidFill>
                <a:srgbClr val="000000"/>
              </a:solidFill>
            </a:endParaRPr>
          </a:p>
        </p:txBody>
      </p:sp>
      <p:sp>
        <p:nvSpPr>
          <p:cNvPr id="16390" name="Text Box 5"/>
          <p:cNvSpPr txBox="1">
            <a:spLocks noChangeArrowheads="1"/>
          </p:cNvSpPr>
          <p:nvPr/>
        </p:nvSpPr>
        <p:spPr bwMode="auto">
          <a:xfrm>
            <a:off x="3900488" y="3340100"/>
            <a:ext cx="3384550" cy="3082925"/>
          </a:xfrm>
          <a:prstGeom prst="rect">
            <a:avLst/>
          </a:prstGeom>
          <a:noFill/>
          <a:ln w="9525">
            <a:noFill/>
            <a:miter lim="800000"/>
            <a:headEnd/>
            <a:tailEnd/>
          </a:ln>
        </p:spPr>
        <p:txBody>
          <a:bodyPr>
            <a:spAutoFit/>
          </a:bodyPr>
          <a:lstStyle/>
          <a:p>
            <a:pPr>
              <a:spcBef>
                <a:spcPct val="20000"/>
              </a:spcBef>
            </a:pPr>
            <a:r>
              <a:rPr lang="zh-CN" altLang="en-US" sz="2800" dirty="0">
                <a:solidFill>
                  <a:srgbClr val="FF0000"/>
                </a:solidFill>
                <a:latin typeface="楷体_GB2312" pitchFamily="49" charset="-122"/>
                <a:ea typeface="楷体_GB2312" pitchFamily="49" charset="-122"/>
              </a:rPr>
              <a:t>操作</a:t>
            </a:r>
            <a:r>
              <a:rPr lang="zh-CN" altLang="en-US" sz="2800" dirty="0">
                <a:solidFill>
                  <a:srgbClr val="000000"/>
                </a:solidFill>
                <a:latin typeface="楷体_GB2312" pitchFamily="49" charset="-122"/>
                <a:ea typeface="楷体_GB2312" pitchFamily="49" charset="-122"/>
              </a:rPr>
              <a:t>序列</a:t>
            </a:r>
          </a:p>
          <a:p>
            <a:pPr>
              <a:spcBef>
                <a:spcPts val="600"/>
              </a:spcBef>
            </a:pPr>
            <a:r>
              <a:rPr lang="en-US" altLang="zh-CN" sz="2800" dirty="0">
                <a:solidFill>
                  <a:srgbClr val="000000"/>
                </a:solidFill>
                <a:latin typeface="楷体_GB2312" pitchFamily="49" charset="-122"/>
                <a:ea typeface="楷体_GB2312" pitchFamily="49" charset="-122"/>
              </a:rPr>
              <a:t>s  x  s  x  s  x</a:t>
            </a:r>
          </a:p>
          <a:p>
            <a:pPr>
              <a:spcBef>
                <a:spcPts val="600"/>
              </a:spcBef>
            </a:pPr>
            <a:r>
              <a:rPr lang="en-US" altLang="zh-CN" sz="2800" dirty="0">
                <a:solidFill>
                  <a:srgbClr val="000000"/>
                </a:solidFill>
                <a:latin typeface="楷体_GB2312" pitchFamily="49" charset="-122"/>
                <a:ea typeface="楷体_GB2312" pitchFamily="49" charset="-122"/>
              </a:rPr>
              <a:t>s  x  s  </a:t>
            </a:r>
            <a:r>
              <a:rPr lang="en-US" altLang="zh-CN" sz="2800" dirty="0" err="1">
                <a:solidFill>
                  <a:srgbClr val="000000"/>
                </a:solidFill>
                <a:latin typeface="楷体_GB2312" pitchFamily="49" charset="-122"/>
                <a:ea typeface="楷体_GB2312" pitchFamily="49" charset="-122"/>
              </a:rPr>
              <a:t>s</a:t>
            </a:r>
            <a:r>
              <a:rPr lang="en-US" altLang="zh-CN" sz="2800" dirty="0">
                <a:solidFill>
                  <a:srgbClr val="000000"/>
                </a:solidFill>
                <a:latin typeface="楷体_GB2312" pitchFamily="49" charset="-122"/>
                <a:ea typeface="楷体_GB2312" pitchFamily="49" charset="-122"/>
              </a:rPr>
              <a:t>  x  </a:t>
            </a:r>
            <a:r>
              <a:rPr lang="en-US" altLang="zh-CN" sz="2800" dirty="0" err="1">
                <a:solidFill>
                  <a:srgbClr val="000000"/>
                </a:solidFill>
                <a:latin typeface="楷体_GB2312" pitchFamily="49" charset="-122"/>
                <a:ea typeface="楷体_GB2312" pitchFamily="49" charset="-122"/>
              </a:rPr>
              <a:t>x</a:t>
            </a:r>
            <a:endParaRPr lang="en-US" altLang="zh-CN" sz="2800" dirty="0">
              <a:solidFill>
                <a:srgbClr val="000000"/>
              </a:solidFill>
              <a:latin typeface="楷体_GB2312" pitchFamily="49" charset="-122"/>
              <a:ea typeface="楷体_GB2312" pitchFamily="49" charset="-122"/>
            </a:endParaRPr>
          </a:p>
          <a:p>
            <a:pPr>
              <a:spcBef>
                <a:spcPts val="600"/>
              </a:spcBef>
            </a:pPr>
            <a:r>
              <a:rPr lang="en-US" altLang="zh-CN" sz="2800" dirty="0">
                <a:solidFill>
                  <a:srgbClr val="000000"/>
                </a:solidFill>
                <a:latin typeface="楷体_GB2312" pitchFamily="49" charset="-122"/>
                <a:ea typeface="楷体_GB2312" pitchFamily="49" charset="-122"/>
              </a:rPr>
              <a:t>s  </a:t>
            </a:r>
            <a:r>
              <a:rPr lang="en-US" altLang="zh-CN" sz="2800" dirty="0" err="1">
                <a:solidFill>
                  <a:srgbClr val="000000"/>
                </a:solidFill>
                <a:latin typeface="楷体_GB2312" pitchFamily="49" charset="-122"/>
                <a:ea typeface="楷体_GB2312" pitchFamily="49" charset="-122"/>
              </a:rPr>
              <a:t>s</a:t>
            </a:r>
            <a:r>
              <a:rPr lang="en-US" altLang="zh-CN" sz="2800" dirty="0">
                <a:solidFill>
                  <a:srgbClr val="000000"/>
                </a:solidFill>
                <a:latin typeface="楷体_GB2312" pitchFamily="49" charset="-122"/>
                <a:ea typeface="楷体_GB2312" pitchFamily="49" charset="-122"/>
              </a:rPr>
              <a:t>  x  </a:t>
            </a:r>
            <a:r>
              <a:rPr lang="en-US" altLang="zh-CN" sz="2800" dirty="0" err="1">
                <a:solidFill>
                  <a:srgbClr val="000000"/>
                </a:solidFill>
                <a:latin typeface="楷体_GB2312" pitchFamily="49" charset="-122"/>
                <a:ea typeface="楷体_GB2312" pitchFamily="49" charset="-122"/>
              </a:rPr>
              <a:t>x</a:t>
            </a:r>
            <a:r>
              <a:rPr lang="en-US" altLang="zh-CN" sz="2800" dirty="0">
                <a:solidFill>
                  <a:srgbClr val="000000"/>
                </a:solidFill>
                <a:latin typeface="楷体_GB2312" pitchFamily="49" charset="-122"/>
                <a:ea typeface="楷体_GB2312" pitchFamily="49" charset="-122"/>
              </a:rPr>
              <a:t>  s  x</a:t>
            </a:r>
          </a:p>
          <a:p>
            <a:pPr>
              <a:spcBef>
                <a:spcPts val="600"/>
              </a:spcBef>
            </a:pPr>
            <a:r>
              <a:rPr lang="en-US" altLang="zh-CN" sz="2800" dirty="0">
                <a:solidFill>
                  <a:srgbClr val="000000"/>
                </a:solidFill>
                <a:latin typeface="楷体_GB2312" pitchFamily="49" charset="-122"/>
                <a:ea typeface="楷体_GB2312" pitchFamily="49" charset="-122"/>
              </a:rPr>
              <a:t>s  </a:t>
            </a:r>
            <a:r>
              <a:rPr lang="en-US" altLang="zh-CN" sz="2800" dirty="0" err="1">
                <a:solidFill>
                  <a:srgbClr val="000000"/>
                </a:solidFill>
                <a:latin typeface="楷体_GB2312" pitchFamily="49" charset="-122"/>
                <a:ea typeface="楷体_GB2312" pitchFamily="49" charset="-122"/>
              </a:rPr>
              <a:t>s</a:t>
            </a:r>
            <a:r>
              <a:rPr lang="en-US" altLang="zh-CN" sz="2800" dirty="0">
                <a:solidFill>
                  <a:srgbClr val="000000"/>
                </a:solidFill>
                <a:latin typeface="楷体_GB2312" pitchFamily="49" charset="-122"/>
                <a:ea typeface="楷体_GB2312" pitchFamily="49" charset="-122"/>
              </a:rPr>
              <a:t>  x  s  x  </a:t>
            </a:r>
            <a:r>
              <a:rPr lang="en-US" altLang="zh-CN" sz="2800" dirty="0" err="1">
                <a:solidFill>
                  <a:srgbClr val="000000"/>
                </a:solidFill>
                <a:latin typeface="楷体_GB2312" pitchFamily="49" charset="-122"/>
                <a:ea typeface="楷体_GB2312" pitchFamily="49" charset="-122"/>
              </a:rPr>
              <a:t>x</a:t>
            </a:r>
            <a:endParaRPr lang="en-US" altLang="zh-CN" sz="2800" dirty="0">
              <a:solidFill>
                <a:srgbClr val="000000"/>
              </a:solidFill>
              <a:latin typeface="楷体_GB2312" pitchFamily="49" charset="-122"/>
              <a:ea typeface="楷体_GB2312" pitchFamily="49" charset="-122"/>
            </a:endParaRPr>
          </a:p>
          <a:p>
            <a:pPr>
              <a:spcBef>
                <a:spcPts val="600"/>
              </a:spcBef>
            </a:pPr>
            <a:r>
              <a:rPr lang="en-US" altLang="zh-CN" sz="2800" dirty="0">
                <a:solidFill>
                  <a:srgbClr val="000000"/>
                </a:solidFill>
                <a:latin typeface="楷体_GB2312" pitchFamily="49" charset="-122"/>
                <a:ea typeface="楷体_GB2312" pitchFamily="49" charset="-122"/>
              </a:rPr>
              <a:t>s  </a:t>
            </a:r>
            <a:r>
              <a:rPr lang="en-US" altLang="zh-CN" sz="2800" dirty="0" err="1">
                <a:solidFill>
                  <a:srgbClr val="000000"/>
                </a:solidFill>
                <a:latin typeface="楷体_GB2312" pitchFamily="49" charset="-122"/>
                <a:ea typeface="楷体_GB2312" pitchFamily="49" charset="-122"/>
              </a:rPr>
              <a:t>s</a:t>
            </a:r>
            <a:r>
              <a:rPr lang="en-US" altLang="zh-CN" sz="2800" dirty="0">
                <a:solidFill>
                  <a:srgbClr val="000000"/>
                </a:solidFill>
                <a:latin typeface="楷体_GB2312" pitchFamily="49" charset="-122"/>
                <a:ea typeface="楷体_GB2312" pitchFamily="49" charset="-122"/>
              </a:rPr>
              <a:t>  </a:t>
            </a:r>
            <a:r>
              <a:rPr lang="en-US" altLang="zh-CN" sz="2800" dirty="0" err="1">
                <a:solidFill>
                  <a:srgbClr val="000000"/>
                </a:solidFill>
                <a:latin typeface="楷体_GB2312" pitchFamily="49" charset="-122"/>
                <a:ea typeface="楷体_GB2312" pitchFamily="49" charset="-122"/>
              </a:rPr>
              <a:t>s</a:t>
            </a:r>
            <a:r>
              <a:rPr lang="en-US" altLang="zh-CN" sz="2800" dirty="0">
                <a:solidFill>
                  <a:srgbClr val="000000"/>
                </a:solidFill>
                <a:latin typeface="楷体_GB2312" pitchFamily="49" charset="-122"/>
                <a:ea typeface="楷体_GB2312" pitchFamily="49" charset="-122"/>
              </a:rPr>
              <a:t>  x  </a:t>
            </a:r>
            <a:r>
              <a:rPr lang="en-US" altLang="zh-CN" sz="2800" dirty="0" err="1">
                <a:solidFill>
                  <a:srgbClr val="000000"/>
                </a:solidFill>
                <a:latin typeface="楷体_GB2312" pitchFamily="49" charset="-122"/>
                <a:ea typeface="楷体_GB2312" pitchFamily="49" charset="-122"/>
              </a:rPr>
              <a:t>x</a:t>
            </a:r>
            <a:r>
              <a:rPr lang="en-US" altLang="zh-CN" sz="2800" dirty="0">
                <a:solidFill>
                  <a:srgbClr val="000000"/>
                </a:solidFill>
                <a:latin typeface="楷体_GB2312" pitchFamily="49" charset="-122"/>
                <a:ea typeface="楷体_GB2312" pitchFamily="49" charset="-122"/>
              </a:rPr>
              <a:t>  </a:t>
            </a:r>
            <a:r>
              <a:rPr lang="en-US" altLang="zh-CN" sz="2800" dirty="0" err="1">
                <a:solidFill>
                  <a:srgbClr val="000000"/>
                </a:solidFill>
                <a:latin typeface="楷体_GB2312" pitchFamily="49" charset="-122"/>
                <a:ea typeface="楷体_GB2312" pitchFamily="49" charset="-122"/>
              </a:rPr>
              <a:t>x</a:t>
            </a:r>
            <a:endParaRPr lang="en-US" altLang="zh-CN" sz="3600" dirty="0">
              <a:solidFill>
                <a:srgbClr val="000000"/>
              </a:solidFill>
            </a:endParaRPr>
          </a:p>
        </p:txBody>
      </p:sp>
      <p:sp>
        <p:nvSpPr>
          <p:cNvPr id="7" name="Rectangle 3"/>
          <p:cNvSpPr>
            <a:spLocks noChangeArrowheads="1"/>
          </p:cNvSpPr>
          <p:nvPr/>
        </p:nvSpPr>
        <p:spPr bwMode="auto">
          <a:xfrm>
            <a:off x="0" y="762000"/>
            <a:ext cx="6350000" cy="666750"/>
          </a:xfrm>
          <a:prstGeom prst="rect">
            <a:avLst/>
          </a:prstGeom>
          <a:noFill/>
          <a:ln w="9525">
            <a:noFill/>
            <a:miter lim="800000"/>
            <a:headEnd/>
            <a:tailEnd/>
          </a:ln>
        </p:spPr>
        <p:txBody>
          <a:bodyPr anchor="ctr"/>
          <a:lstStyle/>
          <a:p>
            <a:r>
              <a:rPr lang="en-US" altLang="zh-CN" sz="3200" b="1" dirty="0">
                <a:solidFill>
                  <a:schemeClr val="bg1">
                    <a:lumMod val="10000"/>
                  </a:schemeClr>
                </a:solidFill>
                <a:latin typeface="楷体_GB2312" pitchFamily="49" charset="-122"/>
                <a:ea typeface="楷体_GB2312" pitchFamily="49" charset="-122"/>
              </a:rPr>
              <a:t>3.1 </a:t>
            </a:r>
            <a:r>
              <a:rPr lang="zh-CN" altLang="en-US" sz="3200" b="1" dirty="0">
                <a:solidFill>
                  <a:schemeClr val="bg1">
                    <a:lumMod val="10000"/>
                  </a:schemeClr>
                </a:solidFill>
                <a:latin typeface="楷体_GB2312" pitchFamily="49" charset="-122"/>
                <a:ea typeface="楷体_GB2312" pitchFamily="49" charset="-122"/>
              </a:rPr>
              <a:t>栈</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灯片编号占位符 4"/>
          <p:cNvSpPr>
            <a:spLocks noGrp="1"/>
          </p:cNvSpPr>
          <p:nvPr>
            <p:ph type="sldNum" sz="quarter" idx="12"/>
          </p:nvPr>
        </p:nvSpPr>
        <p:spPr>
          <a:noFill/>
        </p:spPr>
        <p:txBody>
          <a:bodyPr/>
          <a:lstStyle/>
          <a:p>
            <a:fld id="{29A1FEB9-FC98-4C9B-8518-6CF90339A0C5}" type="slidenum">
              <a:rPr lang="en-US" altLang="zh-CN"/>
              <a:pPr/>
              <a:t>18</a:t>
            </a:fld>
            <a:endParaRPr lang="en-US" altLang="zh-CN"/>
          </a:p>
        </p:txBody>
      </p:sp>
      <p:sp>
        <p:nvSpPr>
          <p:cNvPr id="17411" name="Rectangle 2"/>
          <p:cNvSpPr>
            <a:spLocks noGrp="1" noChangeArrowheads="1"/>
          </p:cNvSpPr>
          <p:nvPr>
            <p:ph idx="4294967295"/>
          </p:nvPr>
        </p:nvSpPr>
        <p:spPr>
          <a:xfrm>
            <a:off x="515480" y="2843935"/>
            <a:ext cx="8001000" cy="3429000"/>
          </a:xfrm>
        </p:spPr>
        <p:txBody>
          <a:bodyPr/>
          <a:lstStyle/>
          <a:p>
            <a:pPr marL="0" indent="714375" eaLnBrk="1" hangingPunct="1">
              <a:lnSpc>
                <a:spcPct val="120000"/>
              </a:lnSpc>
              <a:spcBef>
                <a:spcPct val="30000"/>
              </a:spcBef>
              <a:buNone/>
            </a:pPr>
            <a:r>
              <a:rPr lang="zh-CN" altLang="en-US" sz="2800" dirty="0">
                <a:solidFill>
                  <a:srgbClr val="000000"/>
                </a:solidFill>
                <a:latin typeface="楷体_GB2312" pitchFamily="49" charset="-122"/>
                <a:ea typeface="楷体_GB2312" pitchFamily="49" charset="-122"/>
              </a:rPr>
              <a:t>顺序结构：利用一组地址连续的存储单元依次存放从栈底到栈顶的数据元素，数组的上界</a:t>
            </a:r>
            <a:r>
              <a:rPr lang="en-US" altLang="zh-CN" sz="2800" dirty="0">
                <a:solidFill>
                  <a:srgbClr val="000000"/>
                </a:solidFill>
              </a:rPr>
              <a:t>MAXSIZE</a:t>
            </a:r>
            <a:r>
              <a:rPr lang="zh-CN" altLang="en-US" sz="2800" dirty="0">
                <a:solidFill>
                  <a:srgbClr val="000000"/>
                </a:solidFill>
                <a:latin typeface="楷体_GB2312" pitchFamily="49" charset="-122"/>
                <a:ea typeface="楷体_GB2312" pitchFamily="49" charset="-122"/>
              </a:rPr>
              <a:t>表示栈的最大容量；附设栈顶指针</a:t>
            </a:r>
            <a:r>
              <a:rPr lang="en-US" altLang="zh-CN" sz="2800" dirty="0">
                <a:solidFill>
                  <a:srgbClr val="000000"/>
                </a:solidFill>
                <a:latin typeface="楷体_GB2312" pitchFamily="49" charset="-122"/>
                <a:ea typeface="楷体_GB2312" pitchFamily="49" charset="-122"/>
              </a:rPr>
              <a:t>Top</a:t>
            </a:r>
            <a:r>
              <a:rPr lang="zh-CN" altLang="en-US" sz="2800" dirty="0">
                <a:solidFill>
                  <a:srgbClr val="000000"/>
                </a:solidFill>
                <a:latin typeface="楷体_GB2312" pitchFamily="49" charset="-122"/>
                <a:ea typeface="楷体_GB2312" pitchFamily="49" charset="-122"/>
              </a:rPr>
              <a:t>来指示栈顶元素在数组中的位置。</a:t>
            </a:r>
            <a:endParaRPr lang="en-US" altLang="zh-CN" sz="2800" dirty="0">
              <a:solidFill>
                <a:srgbClr val="000000"/>
              </a:solidFill>
              <a:latin typeface="楷体_GB2312" pitchFamily="49" charset="-122"/>
              <a:ea typeface="楷体_GB2312" pitchFamily="49" charset="-122"/>
            </a:endParaRPr>
          </a:p>
        </p:txBody>
      </p:sp>
      <p:sp>
        <p:nvSpPr>
          <p:cNvPr id="17412" name="Text Box 3"/>
          <p:cNvSpPr txBox="1">
            <a:spLocks noChangeArrowheads="1"/>
          </p:cNvSpPr>
          <p:nvPr/>
        </p:nvSpPr>
        <p:spPr bwMode="auto">
          <a:xfrm>
            <a:off x="304800" y="1606550"/>
            <a:ext cx="7687580" cy="1077218"/>
          </a:xfrm>
          <a:prstGeom prst="rect">
            <a:avLst/>
          </a:prstGeom>
          <a:noFill/>
          <a:ln w="9525">
            <a:noFill/>
            <a:miter lim="800000"/>
            <a:headEnd/>
            <a:tailEnd/>
          </a:ln>
        </p:spPr>
        <p:txBody>
          <a:bodyPr wrap="square">
            <a:spAutoFit/>
          </a:bodyPr>
          <a:lstStyle/>
          <a:p>
            <a:r>
              <a:rPr lang="zh-CN" altLang="en-US" sz="3200" dirty="0">
                <a:solidFill>
                  <a:srgbClr val="000000"/>
                </a:solidFill>
                <a:ea typeface="楷体_GB2312" pitchFamily="49" charset="-122"/>
              </a:rPr>
              <a:t>栈有两种存储方法：</a:t>
            </a:r>
            <a:endParaRPr lang="en-US" altLang="zh-CN" sz="3200" dirty="0">
              <a:solidFill>
                <a:srgbClr val="000000"/>
              </a:solidFill>
              <a:ea typeface="楷体_GB2312" pitchFamily="49" charset="-122"/>
            </a:endParaRPr>
          </a:p>
          <a:p>
            <a:r>
              <a:rPr lang="zh-CN" altLang="en-US" sz="3200" dirty="0">
                <a:solidFill>
                  <a:srgbClr val="000000"/>
                </a:solidFill>
                <a:ea typeface="楷体_GB2312" pitchFamily="49" charset="-122"/>
              </a:rPr>
              <a:t>栈的顺序存储结构和栈的链式结构</a:t>
            </a:r>
          </a:p>
        </p:txBody>
      </p:sp>
      <p:sp>
        <p:nvSpPr>
          <p:cNvPr id="17413"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灯片编号占位符 4"/>
          <p:cNvSpPr>
            <a:spLocks noGrp="1"/>
          </p:cNvSpPr>
          <p:nvPr>
            <p:ph type="sldNum" sz="quarter" idx="12"/>
          </p:nvPr>
        </p:nvSpPr>
        <p:spPr>
          <a:noFill/>
        </p:spPr>
        <p:txBody>
          <a:bodyPr/>
          <a:lstStyle/>
          <a:p>
            <a:fld id="{29A1FEB9-FC98-4C9B-8518-6CF90339A0C5}" type="slidenum">
              <a:rPr lang="en-US" altLang="zh-CN"/>
              <a:pPr/>
              <a:t>19</a:t>
            </a:fld>
            <a:endParaRPr lang="en-US" altLang="zh-CN"/>
          </a:p>
        </p:txBody>
      </p:sp>
      <p:sp>
        <p:nvSpPr>
          <p:cNvPr id="17411" name="Rectangle 2"/>
          <p:cNvSpPr>
            <a:spLocks noGrp="1" noChangeArrowheads="1"/>
          </p:cNvSpPr>
          <p:nvPr>
            <p:ph idx="4294967295"/>
          </p:nvPr>
        </p:nvSpPr>
        <p:spPr>
          <a:xfrm>
            <a:off x="431540" y="1718810"/>
            <a:ext cx="8001000" cy="3429000"/>
          </a:xfrm>
        </p:spPr>
        <p:txBody>
          <a:bodyPr/>
          <a:lstStyle/>
          <a:p>
            <a:pPr marL="0" indent="714375" eaLnBrk="1" hangingPunct="1">
              <a:lnSpc>
                <a:spcPct val="120000"/>
              </a:lnSpc>
              <a:spcBef>
                <a:spcPct val="30000"/>
              </a:spcBef>
              <a:buNone/>
            </a:pPr>
            <a:r>
              <a:rPr lang="zh-CN" altLang="en-US" sz="2800" dirty="0">
                <a:solidFill>
                  <a:srgbClr val="000000"/>
                </a:solidFill>
                <a:latin typeface="楷体_GB2312" pitchFamily="49" charset="-122"/>
                <a:ea typeface="楷体_GB2312" pitchFamily="49" charset="-122"/>
              </a:rPr>
              <a:t>先为栈分配一个基本容量，以后再根据情况变化。</a:t>
            </a:r>
            <a:endParaRPr lang="en-US" altLang="zh-CN" sz="2800" dirty="0">
              <a:solidFill>
                <a:srgbClr val="000000"/>
              </a:solidFill>
              <a:latin typeface="楷体_GB2312" pitchFamily="49" charset="-122"/>
              <a:ea typeface="楷体_GB2312" pitchFamily="49" charset="-122"/>
            </a:endParaRPr>
          </a:p>
          <a:p>
            <a:pPr marL="0" indent="714375" eaLnBrk="1" hangingPunct="1">
              <a:lnSpc>
                <a:spcPct val="120000"/>
              </a:lnSpc>
              <a:spcBef>
                <a:spcPct val="30000"/>
              </a:spcBef>
              <a:buNone/>
            </a:pPr>
            <a:r>
              <a:rPr lang="zh-CN" altLang="en-US" sz="2800" dirty="0">
                <a:solidFill>
                  <a:srgbClr val="000000"/>
                </a:solidFill>
                <a:latin typeface="楷体_GB2312" pitchFamily="49" charset="-122"/>
                <a:ea typeface="楷体_GB2312" pitchFamily="49" charset="-122"/>
              </a:rPr>
              <a:t>一个栈的栈底位置是固定的</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栈顶位置随着进栈和出栈操作而变化。  </a:t>
            </a:r>
            <a:endParaRPr lang="zh-CN" altLang="en-US" sz="2800" dirty="0">
              <a:solidFill>
                <a:srgbClr val="000000"/>
              </a:solidFill>
            </a:endParaRPr>
          </a:p>
        </p:txBody>
      </p:sp>
      <p:sp>
        <p:nvSpPr>
          <p:cNvPr id="17413"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extLst>
      <p:ext uri="{BB962C8B-B14F-4D97-AF65-F5344CB8AC3E}">
        <p14:creationId xmlns:p14="http://schemas.microsoft.com/office/powerpoint/2010/main" val="155948087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p>
            <a:fld id="{D440B953-7B9D-4D3F-B89E-51D303B664A6}" type="slidenum">
              <a:rPr lang="en-US" altLang="zh-CN"/>
              <a:pPr/>
              <a:t>20</a:t>
            </a:fld>
            <a:endParaRPr lang="en-US" altLang="zh-CN"/>
          </a:p>
        </p:txBody>
      </p:sp>
      <p:sp>
        <p:nvSpPr>
          <p:cNvPr id="18435" name="Rectangle 2"/>
          <p:cNvSpPr>
            <a:spLocks noChangeArrowheads="1"/>
          </p:cNvSpPr>
          <p:nvPr/>
        </p:nvSpPr>
        <p:spPr bwMode="auto">
          <a:xfrm>
            <a:off x="8794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36" name="Rectangle 3"/>
          <p:cNvSpPr>
            <a:spLocks noChangeArrowheads="1"/>
          </p:cNvSpPr>
          <p:nvPr/>
        </p:nvSpPr>
        <p:spPr bwMode="auto">
          <a:xfrm>
            <a:off x="15652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37" name="Rectangle 4"/>
          <p:cNvSpPr>
            <a:spLocks noChangeArrowheads="1"/>
          </p:cNvSpPr>
          <p:nvPr/>
        </p:nvSpPr>
        <p:spPr bwMode="auto">
          <a:xfrm>
            <a:off x="22510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38" name="Rectangle 5"/>
          <p:cNvSpPr>
            <a:spLocks noChangeArrowheads="1"/>
          </p:cNvSpPr>
          <p:nvPr/>
        </p:nvSpPr>
        <p:spPr bwMode="auto">
          <a:xfrm>
            <a:off x="29368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39" name="Rectangle 6"/>
          <p:cNvSpPr>
            <a:spLocks noChangeArrowheads="1"/>
          </p:cNvSpPr>
          <p:nvPr/>
        </p:nvSpPr>
        <p:spPr bwMode="auto">
          <a:xfrm>
            <a:off x="36226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40" name="Rectangle 7"/>
          <p:cNvSpPr>
            <a:spLocks noChangeArrowheads="1"/>
          </p:cNvSpPr>
          <p:nvPr/>
        </p:nvSpPr>
        <p:spPr bwMode="auto">
          <a:xfrm>
            <a:off x="4308475" y="46291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41" name="Rectangle 8"/>
          <p:cNvSpPr>
            <a:spLocks noChangeArrowheads="1"/>
          </p:cNvSpPr>
          <p:nvPr/>
        </p:nvSpPr>
        <p:spPr bwMode="auto">
          <a:xfrm>
            <a:off x="8794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A</a:t>
            </a:r>
          </a:p>
        </p:txBody>
      </p:sp>
      <p:sp>
        <p:nvSpPr>
          <p:cNvPr id="18442" name="Rectangle 9"/>
          <p:cNvSpPr>
            <a:spLocks noChangeArrowheads="1"/>
          </p:cNvSpPr>
          <p:nvPr/>
        </p:nvSpPr>
        <p:spPr bwMode="auto">
          <a:xfrm>
            <a:off x="15652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B</a:t>
            </a:r>
          </a:p>
        </p:txBody>
      </p:sp>
      <p:sp>
        <p:nvSpPr>
          <p:cNvPr id="18443" name="Rectangle 10"/>
          <p:cNvSpPr>
            <a:spLocks noChangeArrowheads="1"/>
          </p:cNvSpPr>
          <p:nvPr/>
        </p:nvSpPr>
        <p:spPr bwMode="auto">
          <a:xfrm>
            <a:off x="22510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C</a:t>
            </a:r>
          </a:p>
        </p:txBody>
      </p:sp>
      <p:sp>
        <p:nvSpPr>
          <p:cNvPr id="18444" name="Rectangle 11"/>
          <p:cNvSpPr>
            <a:spLocks noChangeArrowheads="1"/>
          </p:cNvSpPr>
          <p:nvPr/>
        </p:nvSpPr>
        <p:spPr bwMode="auto">
          <a:xfrm>
            <a:off x="28606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a:t>D</a:t>
            </a:r>
          </a:p>
        </p:txBody>
      </p:sp>
      <p:sp>
        <p:nvSpPr>
          <p:cNvPr id="18445" name="Rectangle 12"/>
          <p:cNvSpPr>
            <a:spLocks noChangeArrowheads="1"/>
          </p:cNvSpPr>
          <p:nvPr/>
        </p:nvSpPr>
        <p:spPr bwMode="auto">
          <a:xfrm>
            <a:off x="3546475" y="56197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46" name="Rectangle 13"/>
          <p:cNvSpPr>
            <a:spLocks noChangeArrowheads="1"/>
          </p:cNvSpPr>
          <p:nvPr/>
        </p:nvSpPr>
        <p:spPr bwMode="auto">
          <a:xfrm>
            <a:off x="4232275" y="561975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47" name="Rectangle 14"/>
          <p:cNvSpPr>
            <a:spLocks noChangeArrowheads="1"/>
          </p:cNvSpPr>
          <p:nvPr/>
        </p:nvSpPr>
        <p:spPr bwMode="auto">
          <a:xfrm>
            <a:off x="4083050" y="6229350"/>
            <a:ext cx="938213"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Top=5</a:t>
            </a:r>
            <a:endParaRPr lang="en-US" altLang="zh-CN">
              <a:latin typeface="楷体_GB2312" pitchFamily="49" charset="-122"/>
              <a:ea typeface="楷体_GB2312" pitchFamily="49" charset="-122"/>
            </a:endParaRPr>
          </a:p>
        </p:txBody>
      </p:sp>
      <p:sp>
        <p:nvSpPr>
          <p:cNvPr id="18448" name="Line 15"/>
          <p:cNvSpPr>
            <a:spLocks noChangeShapeType="1"/>
          </p:cNvSpPr>
          <p:nvPr/>
        </p:nvSpPr>
        <p:spPr bwMode="auto">
          <a:xfrm flipV="1">
            <a:off x="803275" y="5010150"/>
            <a:ext cx="0" cy="304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449" name="Rectangle 16"/>
          <p:cNvSpPr>
            <a:spLocks noChangeArrowheads="1"/>
          </p:cNvSpPr>
          <p:nvPr/>
        </p:nvSpPr>
        <p:spPr bwMode="auto">
          <a:xfrm>
            <a:off x="238125" y="5162550"/>
            <a:ext cx="1089025"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Top=-1</a:t>
            </a:r>
            <a:endParaRPr lang="en-US" altLang="zh-CN">
              <a:latin typeface="楷体_GB2312" pitchFamily="49" charset="-122"/>
              <a:ea typeface="楷体_GB2312" pitchFamily="49" charset="-122"/>
            </a:endParaRPr>
          </a:p>
        </p:txBody>
      </p:sp>
      <p:sp>
        <p:nvSpPr>
          <p:cNvPr id="18450" name="Line 17"/>
          <p:cNvSpPr>
            <a:spLocks noChangeShapeType="1"/>
          </p:cNvSpPr>
          <p:nvPr/>
        </p:nvSpPr>
        <p:spPr bwMode="auto">
          <a:xfrm flipV="1">
            <a:off x="4540250" y="6076950"/>
            <a:ext cx="0" cy="304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451" name="Rectangle 18"/>
          <p:cNvSpPr>
            <a:spLocks noChangeArrowheads="1"/>
          </p:cNvSpPr>
          <p:nvPr/>
        </p:nvSpPr>
        <p:spPr bwMode="auto">
          <a:xfrm>
            <a:off x="4953000" y="4573588"/>
            <a:ext cx="3689350"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空栈</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再出栈产生</a:t>
            </a:r>
            <a:r>
              <a:rPr lang="zh-CN" altLang="en-US" b="1">
                <a:ea typeface="楷体_GB2312" pitchFamily="49" charset="-122"/>
              </a:rPr>
              <a:t>“</a:t>
            </a:r>
            <a:r>
              <a:rPr lang="zh-CN" altLang="en-US" b="1">
                <a:latin typeface="楷体_GB2312" pitchFamily="49" charset="-122"/>
                <a:ea typeface="楷体_GB2312" pitchFamily="49" charset="-122"/>
              </a:rPr>
              <a:t>下溢</a:t>
            </a:r>
            <a:r>
              <a:rPr lang="zh-CN" altLang="en-US" b="1">
                <a:ea typeface="楷体_GB2312" pitchFamily="49" charset="-122"/>
              </a:rPr>
              <a:t>”</a:t>
            </a:r>
            <a:r>
              <a:rPr lang="en-US" altLang="zh-CN" b="1">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18452" name="Rectangle 19"/>
          <p:cNvSpPr>
            <a:spLocks noChangeArrowheads="1"/>
          </p:cNvSpPr>
          <p:nvPr/>
        </p:nvSpPr>
        <p:spPr bwMode="auto">
          <a:xfrm>
            <a:off x="4918075" y="5640388"/>
            <a:ext cx="3684588"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栈满</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再入栈产生</a:t>
            </a:r>
            <a:r>
              <a:rPr lang="zh-CN" altLang="en-US" b="1">
                <a:ea typeface="楷体_GB2312" pitchFamily="49" charset="-122"/>
              </a:rPr>
              <a:t>“</a:t>
            </a:r>
            <a:r>
              <a:rPr lang="zh-CN" altLang="en-US" b="1">
                <a:latin typeface="楷体_GB2312" pitchFamily="49" charset="-122"/>
                <a:ea typeface="楷体_GB2312" pitchFamily="49" charset="-122"/>
              </a:rPr>
              <a:t>上溢</a:t>
            </a:r>
            <a:r>
              <a:rPr lang="zh-CN" altLang="en-US" b="1">
                <a:ea typeface="楷体_GB2312" pitchFamily="49" charset="-122"/>
              </a:rPr>
              <a:t>”</a:t>
            </a:r>
            <a:r>
              <a:rPr lang="en-US" altLang="zh-CN" b="1">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18453" name="Rectangle 20"/>
          <p:cNvSpPr>
            <a:spLocks noChangeArrowheads="1"/>
          </p:cNvSpPr>
          <p:nvPr/>
        </p:nvSpPr>
        <p:spPr bwMode="auto">
          <a:xfrm>
            <a:off x="8826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4" name="Rectangle 21"/>
          <p:cNvSpPr>
            <a:spLocks noChangeArrowheads="1"/>
          </p:cNvSpPr>
          <p:nvPr/>
        </p:nvSpPr>
        <p:spPr bwMode="auto">
          <a:xfrm>
            <a:off x="15684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5" name="Rectangle 22"/>
          <p:cNvSpPr>
            <a:spLocks noChangeArrowheads="1"/>
          </p:cNvSpPr>
          <p:nvPr/>
        </p:nvSpPr>
        <p:spPr bwMode="auto">
          <a:xfrm>
            <a:off x="22542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6" name="Rectangle 23"/>
          <p:cNvSpPr>
            <a:spLocks noChangeArrowheads="1"/>
          </p:cNvSpPr>
          <p:nvPr/>
        </p:nvSpPr>
        <p:spPr bwMode="auto">
          <a:xfrm>
            <a:off x="29400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7" name="Rectangle 24"/>
          <p:cNvSpPr>
            <a:spLocks noChangeArrowheads="1"/>
          </p:cNvSpPr>
          <p:nvPr/>
        </p:nvSpPr>
        <p:spPr bwMode="auto">
          <a:xfrm>
            <a:off x="36258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8" name="Rectangle 25"/>
          <p:cNvSpPr>
            <a:spLocks noChangeArrowheads="1"/>
          </p:cNvSpPr>
          <p:nvPr/>
        </p:nvSpPr>
        <p:spPr bwMode="auto">
          <a:xfrm>
            <a:off x="4311650" y="15367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59" name="Rectangle 26"/>
          <p:cNvSpPr>
            <a:spLocks noChangeArrowheads="1"/>
          </p:cNvSpPr>
          <p:nvPr/>
        </p:nvSpPr>
        <p:spPr bwMode="auto">
          <a:xfrm>
            <a:off x="882650" y="252730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A</a:t>
            </a:r>
          </a:p>
        </p:txBody>
      </p:sp>
      <p:sp>
        <p:nvSpPr>
          <p:cNvPr id="18460" name="Rectangle 27"/>
          <p:cNvSpPr>
            <a:spLocks noChangeArrowheads="1"/>
          </p:cNvSpPr>
          <p:nvPr/>
        </p:nvSpPr>
        <p:spPr bwMode="auto">
          <a:xfrm>
            <a:off x="1568450" y="252730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B</a:t>
            </a:r>
          </a:p>
        </p:txBody>
      </p:sp>
      <p:sp>
        <p:nvSpPr>
          <p:cNvPr id="18461" name="Rectangle 28"/>
          <p:cNvSpPr>
            <a:spLocks noChangeArrowheads="1"/>
          </p:cNvSpPr>
          <p:nvPr/>
        </p:nvSpPr>
        <p:spPr bwMode="auto">
          <a:xfrm>
            <a:off x="2254250" y="252730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C</a:t>
            </a:r>
          </a:p>
        </p:txBody>
      </p:sp>
      <p:sp>
        <p:nvSpPr>
          <p:cNvPr id="18462" name="Rectangle 29"/>
          <p:cNvSpPr>
            <a:spLocks noChangeArrowheads="1"/>
          </p:cNvSpPr>
          <p:nvPr/>
        </p:nvSpPr>
        <p:spPr bwMode="auto">
          <a:xfrm>
            <a:off x="2863850" y="25273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63" name="Rectangle 30"/>
          <p:cNvSpPr>
            <a:spLocks noChangeArrowheads="1"/>
          </p:cNvSpPr>
          <p:nvPr/>
        </p:nvSpPr>
        <p:spPr bwMode="auto">
          <a:xfrm>
            <a:off x="3549650" y="25273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64" name="Rectangle 31"/>
          <p:cNvSpPr>
            <a:spLocks noChangeArrowheads="1"/>
          </p:cNvSpPr>
          <p:nvPr/>
        </p:nvSpPr>
        <p:spPr bwMode="auto">
          <a:xfrm>
            <a:off x="4235450" y="25273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65" name="Rectangle 32"/>
          <p:cNvSpPr>
            <a:spLocks noChangeArrowheads="1"/>
          </p:cNvSpPr>
          <p:nvPr/>
        </p:nvSpPr>
        <p:spPr bwMode="auto">
          <a:xfrm>
            <a:off x="882650" y="359410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A</a:t>
            </a:r>
          </a:p>
        </p:txBody>
      </p:sp>
      <p:sp>
        <p:nvSpPr>
          <p:cNvPr id="18466" name="Rectangle 33"/>
          <p:cNvSpPr>
            <a:spLocks noChangeArrowheads="1"/>
          </p:cNvSpPr>
          <p:nvPr/>
        </p:nvSpPr>
        <p:spPr bwMode="auto">
          <a:xfrm>
            <a:off x="1568450" y="359410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b="1"/>
              <a:t>B</a:t>
            </a:r>
          </a:p>
        </p:txBody>
      </p:sp>
      <p:sp>
        <p:nvSpPr>
          <p:cNvPr id="18467" name="Rectangle 34"/>
          <p:cNvSpPr>
            <a:spLocks noChangeArrowheads="1"/>
          </p:cNvSpPr>
          <p:nvPr/>
        </p:nvSpPr>
        <p:spPr bwMode="auto">
          <a:xfrm>
            <a:off x="2254250" y="35941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68" name="Rectangle 35"/>
          <p:cNvSpPr>
            <a:spLocks noChangeArrowheads="1"/>
          </p:cNvSpPr>
          <p:nvPr/>
        </p:nvSpPr>
        <p:spPr bwMode="auto">
          <a:xfrm>
            <a:off x="2863850" y="35941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69" name="Rectangle 36"/>
          <p:cNvSpPr>
            <a:spLocks noChangeArrowheads="1"/>
          </p:cNvSpPr>
          <p:nvPr/>
        </p:nvSpPr>
        <p:spPr bwMode="auto">
          <a:xfrm>
            <a:off x="3549650" y="35941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70" name="Rectangle 37"/>
          <p:cNvSpPr>
            <a:spLocks noChangeArrowheads="1"/>
          </p:cNvSpPr>
          <p:nvPr/>
        </p:nvSpPr>
        <p:spPr bwMode="auto">
          <a:xfrm>
            <a:off x="4235450" y="3594100"/>
            <a:ext cx="685800" cy="38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8471" name="Rectangle 38"/>
          <p:cNvSpPr>
            <a:spLocks noChangeArrowheads="1"/>
          </p:cNvSpPr>
          <p:nvPr/>
        </p:nvSpPr>
        <p:spPr bwMode="auto">
          <a:xfrm>
            <a:off x="2101850" y="3136900"/>
            <a:ext cx="938213"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Top=2</a:t>
            </a:r>
            <a:endParaRPr lang="en-US" altLang="zh-CN">
              <a:latin typeface="楷体_GB2312" pitchFamily="49" charset="-122"/>
              <a:ea typeface="楷体_GB2312" pitchFamily="49" charset="-122"/>
            </a:endParaRPr>
          </a:p>
        </p:txBody>
      </p:sp>
      <p:sp>
        <p:nvSpPr>
          <p:cNvPr id="18472" name="Rectangle 39"/>
          <p:cNvSpPr>
            <a:spLocks noChangeArrowheads="1"/>
          </p:cNvSpPr>
          <p:nvPr/>
        </p:nvSpPr>
        <p:spPr bwMode="auto">
          <a:xfrm>
            <a:off x="1416050" y="4127500"/>
            <a:ext cx="938213"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Top=1</a:t>
            </a:r>
            <a:endParaRPr lang="en-US" altLang="zh-CN">
              <a:latin typeface="楷体_GB2312" pitchFamily="49" charset="-122"/>
              <a:ea typeface="楷体_GB2312" pitchFamily="49" charset="-122"/>
            </a:endParaRPr>
          </a:p>
        </p:txBody>
      </p:sp>
      <p:sp>
        <p:nvSpPr>
          <p:cNvPr id="18473" name="Line 40"/>
          <p:cNvSpPr>
            <a:spLocks noChangeShapeType="1"/>
          </p:cNvSpPr>
          <p:nvPr/>
        </p:nvSpPr>
        <p:spPr bwMode="auto">
          <a:xfrm flipV="1">
            <a:off x="806450" y="1917700"/>
            <a:ext cx="0" cy="304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474" name="Rectangle 41"/>
          <p:cNvSpPr>
            <a:spLocks noChangeArrowheads="1"/>
          </p:cNvSpPr>
          <p:nvPr/>
        </p:nvSpPr>
        <p:spPr bwMode="auto">
          <a:xfrm>
            <a:off x="241300" y="2070100"/>
            <a:ext cx="1089025"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Top=-1</a:t>
            </a:r>
            <a:endParaRPr lang="en-US" altLang="zh-CN">
              <a:latin typeface="楷体_GB2312" pitchFamily="49" charset="-122"/>
              <a:ea typeface="楷体_GB2312" pitchFamily="49" charset="-122"/>
            </a:endParaRPr>
          </a:p>
        </p:txBody>
      </p:sp>
      <p:sp>
        <p:nvSpPr>
          <p:cNvPr id="18475" name="Line 42"/>
          <p:cNvSpPr>
            <a:spLocks noChangeShapeType="1"/>
          </p:cNvSpPr>
          <p:nvPr/>
        </p:nvSpPr>
        <p:spPr bwMode="auto">
          <a:xfrm flipV="1">
            <a:off x="2559050" y="2984500"/>
            <a:ext cx="0" cy="304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476" name="Line 43"/>
          <p:cNvSpPr>
            <a:spLocks noChangeShapeType="1"/>
          </p:cNvSpPr>
          <p:nvPr/>
        </p:nvSpPr>
        <p:spPr bwMode="auto">
          <a:xfrm flipV="1">
            <a:off x="1873250" y="3975100"/>
            <a:ext cx="0" cy="304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8477" name="Rectangle 44"/>
          <p:cNvSpPr>
            <a:spLocks noChangeArrowheads="1"/>
          </p:cNvSpPr>
          <p:nvPr/>
        </p:nvSpPr>
        <p:spPr bwMode="auto">
          <a:xfrm>
            <a:off x="4997450" y="1460500"/>
            <a:ext cx="1095375"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空栈</a:t>
            </a:r>
            <a:r>
              <a:rPr lang="en-US" altLang="zh-CN" b="1">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18478" name="Rectangle 45"/>
          <p:cNvSpPr>
            <a:spLocks noChangeArrowheads="1"/>
          </p:cNvSpPr>
          <p:nvPr/>
        </p:nvSpPr>
        <p:spPr bwMode="auto">
          <a:xfrm>
            <a:off x="4921250" y="2527300"/>
            <a:ext cx="3746538" cy="461665"/>
          </a:xfrm>
          <a:prstGeom prst="rect">
            <a:avLst/>
          </a:prstGeom>
          <a:noFill/>
          <a:ln w="9525">
            <a:noFill/>
            <a:miter lim="800000"/>
            <a:headEnd/>
            <a:tailEnd/>
          </a:ln>
        </p:spPr>
        <p:txBody>
          <a:bodyPr wrap="none">
            <a:spAutoFit/>
          </a:bodyPr>
          <a:lstStyle/>
          <a:p>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C</a:t>
            </a:r>
            <a:r>
              <a:rPr lang="zh-CN" altLang="en-US" b="1" dirty="0">
                <a:latin typeface="楷体_GB2312" pitchFamily="49" charset="-122"/>
                <a:ea typeface="楷体_GB2312" pitchFamily="49" charset="-122"/>
              </a:rPr>
              <a:t>入栈后栈的状态</a:t>
            </a:r>
            <a:r>
              <a:rPr lang="en-US" altLang="zh-CN" b="1"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p:txBody>
      </p:sp>
      <p:sp>
        <p:nvSpPr>
          <p:cNvPr id="18479" name="Rectangle 46"/>
          <p:cNvSpPr>
            <a:spLocks noChangeArrowheads="1"/>
          </p:cNvSpPr>
          <p:nvPr/>
        </p:nvSpPr>
        <p:spPr bwMode="auto">
          <a:xfrm>
            <a:off x="4895850" y="3594100"/>
            <a:ext cx="1855788" cy="457200"/>
          </a:xfrm>
          <a:prstGeom prst="rect">
            <a:avLst/>
          </a:prstGeom>
          <a:noFill/>
          <a:ln w="9525">
            <a:noFill/>
            <a:miter lim="800000"/>
            <a:headEnd/>
            <a:tailEnd/>
          </a:ln>
        </p:spPr>
        <p:txBody>
          <a:bodyPr wrap="none">
            <a:spAutoFit/>
          </a:bodyPr>
          <a:lstStyle/>
          <a:p>
            <a:r>
              <a:rPr lang="en-US" altLang="zh-CN" b="1">
                <a:latin typeface="楷体_GB2312" pitchFamily="49" charset="-122"/>
                <a:ea typeface="楷体_GB2312" pitchFamily="49" charset="-122"/>
              </a:rPr>
              <a:t>(C</a:t>
            </a:r>
            <a:r>
              <a:rPr lang="zh-CN" altLang="en-US" b="1">
                <a:latin typeface="楷体_GB2312" pitchFamily="49" charset="-122"/>
                <a:ea typeface="楷体_GB2312" pitchFamily="49" charset="-122"/>
              </a:rPr>
              <a:t>出栈后的</a:t>
            </a:r>
            <a:r>
              <a:rPr lang="en-US" altLang="zh-CN" b="1">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18480" name="Rectangle 47"/>
          <p:cNvSpPr>
            <a:spLocks noChangeArrowheads="1"/>
          </p:cNvSpPr>
          <p:nvPr/>
        </p:nvSpPr>
        <p:spPr bwMode="auto">
          <a:xfrm>
            <a:off x="35464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a:t>E</a:t>
            </a:r>
          </a:p>
        </p:txBody>
      </p:sp>
      <p:sp>
        <p:nvSpPr>
          <p:cNvPr id="18481" name="Rectangle 48"/>
          <p:cNvSpPr>
            <a:spLocks noChangeArrowheads="1"/>
          </p:cNvSpPr>
          <p:nvPr/>
        </p:nvSpPr>
        <p:spPr bwMode="auto">
          <a:xfrm>
            <a:off x="4232275" y="5619750"/>
            <a:ext cx="685800" cy="381000"/>
          </a:xfrm>
          <a:prstGeom prst="rect">
            <a:avLst/>
          </a:prstGeom>
          <a:solidFill>
            <a:schemeClr val="accent1"/>
          </a:solidFill>
          <a:ln w="9525">
            <a:solidFill>
              <a:schemeClr val="tx1"/>
            </a:solidFill>
            <a:miter lim="800000"/>
            <a:headEnd/>
            <a:tailEnd/>
          </a:ln>
        </p:spPr>
        <p:txBody>
          <a:bodyPr wrap="none" anchor="ctr"/>
          <a:lstStyle/>
          <a:p>
            <a:pPr algn="ctr"/>
            <a:r>
              <a:rPr lang="en-US" altLang="zh-CN"/>
              <a:t>F</a:t>
            </a:r>
          </a:p>
        </p:txBody>
      </p:sp>
      <p:sp>
        <p:nvSpPr>
          <p:cNvPr id="50"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8AF33D1E-1538-4679-8FB1-F9598744963F}" type="slidenum">
              <a:rPr lang="en-US" altLang="zh-CN"/>
              <a:pPr/>
              <a:t>21</a:t>
            </a:fld>
            <a:endParaRPr lang="en-US" altLang="zh-CN"/>
          </a:p>
        </p:txBody>
      </p:sp>
      <p:sp>
        <p:nvSpPr>
          <p:cNvPr id="19459" name="Rectangle 2"/>
          <p:cNvSpPr>
            <a:spLocks noGrp="1" noChangeArrowheads="1"/>
          </p:cNvSpPr>
          <p:nvPr>
            <p:ph type="body" idx="4294967295"/>
          </p:nvPr>
        </p:nvSpPr>
        <p:spPr>
          <a:xfrm>
            <a:off x="571500" y="2228850"/>
            <a:ext cx="8572500" cy="3956050"/>
          </a:xfrm>
        </p:spPr>
        <p:txBody>
          <a:bodyPr/>
          <a:lstStyle/>
          <a:p>
            <a:pPr eaLnBrk="1" hangingPunct="1">
              <a:lnSpc>
                <a:spcPct val="90000"/>
              </a:lnSpc>
              <a:buNone/>
            </a:pPr>
            <a:r>
              <a:rPr lang="en-US" altLang="zh-CN" sz="2800" dirty="0">
                <a:solidFill>
                  <a:srgbClr val="000000"/>
                </a:solidFill>
                <a:latin typeface="楷体_GB2312" pitchFamily="49" charset="-122"/>
                <a:ea typeface="楷体_GB2312" pitchFamily="49" charset="-122"/>
              </a:rPr>
              <a:t>C</a:t>
            </a:r>
            <a:r>
              <a:rPr lang="zh-CN" altLang="en-US" sz="2800" dirty="0">
                <a:solidFill>
                  <a:srgbClr val="000000"/>
                </a:solidFill>
                <a:latin typeface="楷体_GB2312" pitchFamily="49" charset="-122"/>
                <a:ea typeface="楷体_GB2312" pitchFamily="49" charset="-122"/>
              </a:rPr>
              <a:t>语言描述（类似于线性表的顺序存储结构）</a:t>
            </a:r>
          </a:p>
          <a:p>
            <a:pPr eaLnBrk="1" hangingPunct="1">
              <a:lnSpc>
                <a:spcPct val="90000"/>
              </a:lnSpc>
              <a:spcBef>
                <a:spcPts val="1800"/>
              </a:spcBef>
              <a:buFontTx/>
              <a:buNone/>
            </a:pPr>
            <a:r>
              <a:rPr lang="en-US" altLang="zh-CN" sz="2800" dirty="0">
                <a:solidFill>
                  <a:srgbClr val="000000"/>
                </a:solidFill>
              </a:rPr>
              <a:t>#Define  MAXSIZE   n    </a:t>
            </a:r>
            <a:r>
              <a:rPr lang="en-US" altLang="zh-CN" sz="2000" dirty="0">
                <a:solidFill>
                  <a:srgbClr val="006600"/>
                </a:solidFill>
                <a:latin typeface="楷体_GB2312" pitchFamily="49" charset="-122"/>
                <a:ea typeface="楷体_GB2312" pitchFamily="49" charset="-122"/>
              </a:rPr>
              <a:t>/*n</a:t>
            </a:r>
            <a:r>
              <a:rPr lang="zh-CN" altLang="en-US" sz="2000" dirty="0">
                <a:solidFill>
                  <a:srgbClr val="006600"/>
                </a:solidFill>
                <a:latin typeface="楷体_GB2312" pitchFamily="49" charset="-122"/>
                <a:ea typeface="楷体_GB2312" pitchFamily="49" charset="-122"/>
              </a:rPr>
              <a:t>为栈中数据元素个数的最大可能值*</a:t>
            </a:r>
            <a:r>
              <a:rPr lang="en-US" altLang="zh-CN" sz="2000" dirty="0">
                <a:solidFill>
                  <a:srgbClr val="006600"/>
                </a:solidFill>
                <a:latin typeface="楷体_GB2312" pitchFamily="49" charset="-122"/>
                <a:ea typeface="楷体_GB2312" pitchFamily="49" charset="-122"/>
              </a:rPr>
              <a:t>/</a:t>
            </a:r>
          </a:p>
          <a:p>
            <a:pPr eaLnBrk="1" hangingPunct="1">
              <a:lnSpc>
                <a:spcPct val="90000"/>
              </a:lnSpc>
              <a:buFontTx/>
              <a:buNone/>
            </a:pPr>
            <a:r>
              <a:rPr lang="en-US" altLang="zh-CN" sz="2800" dirty="0" err="1">
                <a:solidFill>
                  <a:srgbClr val="000000"/>
                </a:solidFill>
              </a:rPr>
              <a:t>Typedef</a:t>
            </a:r>
            <a:r>
              <a:rPr lang="en-US" altLang="zh-CN" sz="2800" dirty="0">
                <a:solidFill>
                  <a:srgbClr val="000000"/>
                </a:solidFill>
              </a:rPr>
              <a:t> </a:t>
            </a:r>
            <a:r>
              <a:rPr lang="en-US" altLang="zh-CN" sz="2800" dirty="0" err="1">
                <a:solidFill>
                  <a:srgbClr val="000000"/>
                </a:solidFill>
              </a:rPr>
              <a:t>Struct</a:t>
            </a:r>
            <a:endParaRPr lang="en-US" altLang="zh-CN" sz="2800" dirty="0">
              <a:solidFill>
                <a:srgbClr val="000000"/>
              </a:solidFill>
            </a:endParaRPr>
          </a:p>
          <a:p>
            <a:pPr eaLnBrk="1" hangingPunct="1">
              <a:lnSpc>
                <a:spcPct val="90000"/>
              </a:lnSpc>
              <a:buFontTx/>
              <a:buNone/>
            </a:pPr>
            <a:r>
              <a:rPr lang="en-US" altLang="zh-CN" sz="2800" dirty="0">
                <a:solidFill>
                  <a:srgbClr val="000000"/>
                </a:solidFill>
              </a:rPr>
              <a:t>   {</a:t>
            </a:r>
          </a:p>
          <a:p>
            <a:pPr eaLnBrk="1" hangingPunct="1">
              <a:lnSpc>
                <a:spcPct val="90000"/>
              </a:lnSpc>
              <a:buFontTx/>
              <a:buNone/>
            </a:pPr>
            <a:endParaRPr lang="en-US" altLang="zh-CN" sz="2800" dirty="0">
              <a:solidFill>
                <a:srgbClr val="000000"/>
              </a:solidFill>
            </a:endParaRPr>
          </a:p>
          <a:p>
            <a:pPr eaLnBrk="1" hangingPunct="1">
              <a:lnSpc>
                <a:spcPct val="90000"/>
              </a:lnSpc>
              <a:buFontTx/>
              <a:buNone/>
            </a:pPr>
            <a:endParaRPr lang="en-US" altLang="zh-CN" sz="2800" dirty="0">
              <a:solidFill>
                <a:srgbClr val="000000"/>
              </a:solidFill>
            </a:endParaRPr>
          </a:p>
          <a:p>
            <a:pPr eaLnBrk="1" hangingPunct="1">
              <a:lnSpc>
                <a:spcPct val="90000"/>
              </a:lnSpc>
              <a:buFontTx/>
              <a:buNone/>
            </a:pPr>
            <a:r>
              <a:rPr lang="en-US" altLang="zh-CN" sz="2800" dirty="0">
                <a:solidFill>
                  <a:srgbClr val="000000"/>
                </a:solidFill>
              </a:rPr>
              <a:t>   } </a:t>
            </a:r>
            <a:r>
              <a:rPr lang="en-US" altLang="zh-CN" sz="2800" dirty="0" err="1">
                <a:solidFill>
                  <a:srgbClr val="000000"/>
                </a:solidFill>
              </a:rPr>
              <a:t>SqStack</a:t>
            </a:r>
            <a:r>
              <a:rPr lang="en-US" altLang="zh-CN" sz="2800" dirty="0">
                <a:solidFill>
                  <a:srgbClr val="000000"/>
                </a:solidFill>
              </a:rPr>
              <a:t>;  </a:t>
            </a:r>
            <a:br>
              <a:rPr lang="en-US" altLang="zh-CN" sz="2800" dirty="0">
                <a:solidFill>
                  <a:srgbClr val="000000"/>
                </a:solidFill>
              </a:rPr>
            </a:br>
            <a:endParaRPr lang="en-US" altLang="zh-CN" sz="2800" dirty="0">
              <a:solidFill>
                <a:srgbClr val="000000"/>
              </a:solidFill>
            </a:endParaRPr>
          </a:p>
        </p:txBody>
      </p:sp>
      <p:sp>
        <p:nvSpPr>
          <p:cNvPr id="19460" name="Rectangle 3"/>
          <p:cNvSpPr>
            <a:spLocks noGrp="1" noChangeArrowheads="1"/>
          </p:cNvSpPr>
          <p:nvPr>
            <p:ph type="title" idx="4294967295"/>
          </p:nvPr>
        </p:nvSpPr>
        <p:spPr>
          <a:xfrm>
            <a:off x="171450" y="1333500"/>
            <a:ext cx="7772400" cy="762000"/>
          </a:xfrm>
        </p:spPr>
        <p:txBody>
          <a:bodyPr/>
          <a:lstStyle/>
          <a:p>
            <a:pPr algn="l" eaLnBrk="1" hangingPunct="1"/>
            <a:r>
              <a:rPr lang="zh-CN" altLang="en-US" sz="3200" dirty="0">
                <a:solidFill>
                  <a:srgbClr val="000000"/>
                </a:solidFill>
                <a:ea typeface="楷体_GB2312" pitchFamily="49" charset="-122"/>
              </a:rPr>
              <a:t>栈的顺序存储结构方法一</a:t>
            </a:r>
          </a:p>
        </p:txBody>
      </p:sp>
      <p:sp>
        <p:nvSpPr>
          <p:cNvPr id="19461" name="Rectangle 4"/>
          <p:cNvSpPr>
            <a:spLocks noChangeArrowheads="1"/>
          </p:cNvSpPr>
          <p:nvPr/>
        </p:nvSpPr>
        <p:spPr bwMode="auto">
          <a:xfrm>
            <a:off x="1692275" y="3968750"/>
            <a:ext cx="5175250" cy="1636713"/>
          </a:xfrm>
          <a:prstGeom prst="rect">
            <a:avLst/>
          </a:prstGeom>
          <a:noFill/>
          <a:ln w="9525">
            <a:noFill/>
            <a:miter lim="800000"/>
            <a:headEnd/>
            <a:tailEnd/>
          </a:ln>
        </p:spPr>
        <p:txBody>
          <a:bodyPr/>
          <a:lstStyle/>
          <a:p>
            <a:pPr marL="342900" indent="-342900">
              <a:lnSpc>
                <a:spcPct val="90000"/>
              </a:lnSpc>
              <a:spcBef>
                <a:spcPct val="20000"/>
              </a:spcBef>
            </a:pPr>
            <a:r>
              <a:rPr lang="en-US" altLang="zh-CN" sz="3200" dirty="0" err="1">
                <a:solidFill>
                  <a:srgbClr val="000000"/>
                </a:solidFill>
              </a:rPr>
              <a:t>Elemtype</a:t>
            </a:r>
            <a:r>
              <a:rPr lang="en-US" altLang="zh-CN" sz="3200" dirty="0">
                <a:solidFill>
                  <a:srgbClr val="000000"/>
                </a:solidFill>
              </a:rPr>
              <a:t> Stack[MAXSIZE];  </a:t>
            </a:r>
          </a:p>
          <a:p>
            <a:pPr marL="342900" indent="-342900">
              <a:lnSpc>
                <a:spcPct val="90000"/>
              </a:lnSpc>
              <a:spcBef>
                <a:spcPct val="20000"/>
              </a:spcBef>
            </a:pPr>
            <a:r>
              <a:rPr lang="en-US" altLang="zh-CN" sz="3200" dirty="0" err="1" smtClean="0">
                <a:solidFill>
                  <a:srgbClr val="000000"/>
                </a:solidFill>
              </a:rPr>
              <a:t>int</a:t>
            </a:r>
            <a:r>
              <a:rPr lang="en-US" altLang="zh-CN" sz="3200" dirty="0" smtClean="0">
                <a:solidFill>
                  <a:srgbClr val="000000"/>
                </a:solidFill>
              </a:rPr>
              <a:t>  </a:t>
            </a:r>
            <a:r>
              <a:rPr lang="en-US" altLang="zh-CN" sz="3200" dirty="0">
                <a:solidFill>
                  <a:srgbClr val="000000"/>
                </a:solidFill>
              </a:rPr>
              <a:t>Top;          </a:t>
            </a:r>
          </a:p>
        </p:txBody>
      </p:sp>
      <p:sp>
        <p:nvSpPr>
          <p:cNvPr id="6"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68D3DD39-61BA-4E00-8D52-86A6E97A0938}" type="slidenum">
              <a:rPr lang="en-US" altLang="zh-CN"/>
              <a:pPr/>
              <a:t>22</a:t>
            </a:fld>
            <a:endParaRPr lang="en-US" altLang="zh-CN"/>
          </a:p>
        </p:txBody>
      </p:sp>
      <p:sp>
        <p:nvSpPr>
          <p:cNvPr id="20483" name="Rectangle 2"/>
          <p:cNvSpPr>
            <a:spLocks noGrp="1" noChangeArrowheads="1"/>
          </p:cNvSpPr>
          <p:nvPr>
            <p:ph type="body" idx="4294967295"/>
          </p:nvPr>
        </p:nvSpPr>
        <p:spPr>
          <a:xfrm>
            <a:off x="746575" y="2308225"/>
            <a:ext cx="8153400" cy="4226120"/>
          </a:xfrm>
        </p:spPr>
        <p:txBody>
          <a:bodyPr/>
          <a:lstStyle/>
          <a:p>
            <a:pPr eaLnBrk="1" hangingPunct="1">
              <a:buFontTx/>
              <a:buNone/>
            </a:pPr>
            <a:r>
              <a:rPr lang="en-US" altLang="zh-CN" sz="2800" dirty="0">
                <a:solidFill>
                  <a:srgbClr val="000000"/>
                </a:solidFill>
                <a:ea typeface="楷体_GB2312" pitchFamily="49" charset="-122"/>
              </a:rPr>
              <a:t>Status </a:t>
            </a:r>
            <a:r>
              <a:rPr lang="en-US" altLang="zh-CN" sz="2800" dirty="0" err="1">
                <a:solidFill>
                  <a:srgbClr val="000000"/>
                </a:solidFill>
                <a:ea typeface="楷体_GB2312" pitchFamily="49" charset="-122"/>
              </a:rPr>
              <a:t>InitStack</a:t>
            </a:r>
            <a:r>
              <a:rPr lang="en-US" altLang="zh-CN" sz="2800" dirty="0">
                <a:solidFill>
                  <a:srgbClr val="000000"/>
                </a:solidFill>
                <a:ea typeface="楷体_GB2312" pitchFamily="49" charset="-122"/>
              </a:rPr>
              <a:t>(</a:t>
            </a:r>
            <a:r>
              <a:rPr lang="en-US" altLang="zh-CN" sz="2800" dirty="0" err="1">
                <a:solidFill>
                  <a:srgbClr val="000000"/>
                </a:solidFill>
                <a:ea typeface="楷体_GB2312" pitchFamily="49" charset="-122"/>
              </a:rPr>
              <a:t>Sqstack</a:t>
            </a:r>
            <a:r>
              <a:rPr lang="en-US" altLang="zh-CN" sz="2800" dirty="0">
                <a:solidFill>
                  <a:srgbClr val="000000"/>
                </a:solidFill>
                <a:ea typeface="楷体_GB2312" pitchFamily="49" charset="-122"/>
              </a:rPr>
              <a:t> &amp;S)</a:t>
            </a:r>
          </a:p>
          <a:p>
            <a:pPr eaLnBrk="1" hangingPunct="1">
              <a:buFontTx/>
              <a:buNone/>
            </a:pPr>
            <a:r>
              <a:rPr lang="en-US" altLang="zh-CN" sz="2800" dirty="0">
                <a:solidFill>
                  <a:srgbClr val="000000"/>
                </a:solidFill>
                <a:ea typeface="楷体_GB2312" pitchFamily="49" charset="-122"/>
              </a:rPr>
              <a:t>    { </a:t>
            </a:r>
          </a:p>
          <a:p>
            <a:pPr eaLnBrk="1" hangingPunct="1">
              <a:buFontTx/>
              <a:buNone/>
            </a:pPr>
            <a:r>
              <a:rPr lang="en-US" altLang="zh-CN" sz="2800" dirty="0">
                <a:solidFill>
                  <a:srgbClr val="000000"/>
                </a:solidFill>
                <a:ea typeface="楷体_GB2312" pitchFamily="49" charset="-122"/>
              </a:rPr>
              <a:t>        S = (</a:t>
            </a:r>
            <a:r>
              <a:rPr lang="en-US" altLang="zh-CN" sz="2800" dirty="0" err="1">
                <a:solidFill>
                  <a:srgbClr val="000000"/>
                </a:solidFill>
                <a:ea typeface="楷体_GB2312" pitchFamily="49" charset="-122"/>
              </a:rPr>
              <a:t>SqStack</a:t>
            </a: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malloc</a:t>
            </a:r>
            <a:r>
              <a:rPr lang="en-US" altLang="zh-CN" sz="2800" dirty="0">
                <a:solidFill>
                  <a:srgbClr val="000000"/>
                </a:solidFill>
                <a:ea typeface="楷体_GB2312" pitchFamily="49" charset="-122"/>
              </a:rPr>
              <a:t>(</a:t>
            </a:r>
            <a:r>
              <a:rPr lang="en-US" altLang="zh-CN" sz="2800" dirty="0" err="1">
                <a:solidFill>
                  <a:srgbClr val="000000"/>
                </a:solidFill>
                <a:ea typeface="楷体_GB2312" pitchFamily="49" charset="-122"/>
              </a:rPr>
              <a:t>sizeof</a:t>
            </a:r>
            <a:r>
              <a:rPr lang="en-US" altLang="zh-CN" sz="2800" dirty="0">
                <a:solidFill>
                  <a:srgbClr val="000000"/>
                </a:solidFill>
                <a:ea typeface="楷体_GB2312" pitchFamily="49" charset="-122"/>
              </a:rPr>
              <a:t>(</a:t>
            </a:r>
            <a:r>
              <a:rPr lang="en-US" altLang="zh-CN" sz="2800" dirty="0" err="1">
                <a:solidFill>
                  <a:srgbClr val="000000"/>
                </a:solidFill>
                <a:ea typeface="楷体_GB2312" pitchFamily="49" charset="-122"/>
              </a:rPr>
              <a:t>SqStack</a:t>
            </a:r>
            <a:r>
              <a:rPr lang="en-US" altLang="zh-CN" sz="2800" dirty="0">
                <a:solidFill>
                  <a:srgbClr val="000000"/>
                </a:solidFill>
                <a:ea typeface="楷体_GB2312" pitchFamily="49" charset="-122"/>
              </a:rPr>
              <a:t>));</a:t>
            </a:r>
          </a:p>
          <a:p>
            <a:pPr eaLnBrk="1" hangingPunct="1">
              <a:buFontTx/>
              <a:buNone/>
            </a:pPr>
            <a:r>
              <a:rPr lang="en-US" altLang="zh-CN" sz="2800" dirty="0">
                <a:solidFill>
                  <a:srgbClr val="000000"/>
                </a:solidFill>
                <a:ea typeface="楷体_GB2312" pitchFamily="49" charset="-122"/>
              </a:rPr>
              <a:t>        if (S == TRUE)</a:t>
            </a:r>
          </a:p>
          <a:p>
            <a:pPr eaLnBrk="1" hangingPunct="1">
              <a:buNone/>
            </a:pPr>
            <a:r>
              <a:rPr lang="en-US" altLang="zh-CN" sz="2800" dirty="0">
                <a:solidFill>
                  <a:srgbClr val="000000"/>
                </a:solidFill>
                <a:ea typeface="楷体_GB2312" pitchFamily="49" charset="-122"/>
              </a:rPr>
              <a:t>      { S </a:t>
            </a:r>
            <a:r>
              <a:rPr lang="en-US" altLang="zh-CN" sz="2000" dirty="0">
                <a:solidFill>
                  <a:srgbClr val="000000"/>
                </a:solidFill>
                <a:sym typeface="Symbol" pitchFamily="18" charset="2"/>
              </a:rPr>
              <a:t>.</a:t>
            </a:r>
            <a:r>
              <a:rPr lang="en-US" altLang="zh-CN" sz="2800" dirty="0">
                <a:solidFill>
                  <a:srgbClr val="000000"/>
                </a:solidFill>
                <a:ea typeface="楷体_GB2312" pitchFamily="49" charset="-122"/>
              </a:rPr>
              <a:t> Top = -1;     </a:t>
            </a:r>
            <a:r>
              <a:rPr lang="en-US" altLang="zh-CN" sz="2800" dirty="0">
                <a:solidFill>
                  <a:srgbClr val="006600"/>
                </a:solidFill>
                <a:latin typeface="楷体_GB2312" pitchFamily="49" charset="-122"/>
                <a:ea typeface="楷体_GB2312" pitchFamily="49" charset="-122"/>
                <a:sym typeface="Symbol" pitchFamily="18" charset="2"/>
              </a:rPr>
              <a:t>//</a:t>
            </a:r>
            <a:r>
              <a:rPr lang="zh-CN" altLang="en-US" sz="2800" dirty="0">
                <a:solidFill>
                  <a:srgbClr val="006600"/>
                </a:solidFill>
                <a:latin typeface="楷体_GB2312" pitchFamily="49" charset="-122"/>
                <a:ea typeface="楷体_GB2312" pitchFamily="49" charset="-122"/>
              </a:rPr>
              <a:t>设置栈顶指针</a:t>
            </a:r>
            <a:r>
              <a:rPr lang="en-US" altLang="zh-CN" sz="2800" dirty="0">
                <a:solidFill>
                  <a:srgbClr val="006600"/>
                </a:solidFill>
                <a:latin typeface="楷体_GB2312" pitchFamily="49" charset="-122"/>
                <a:ea typeface="楷体_GB2312" pitchFamily="49" charset="-122"/>
              </a:rPr>
              <a:t>Top</a:t>
            </a:r>
            <a:r>
              <a:rPr lang="zh-CN" altLang="en-US" sz="2800" dirty="0">
                <a:solidFill>
                  <a:srgbClr val="006600"/>
                </a:solidFill>
                <a:latin typeface="楷体_GB2312" pitchFamily="49" charset="-122"/>
                <a:ea typeface="楷体_GB2312" pitchFamily="49" charset="-122"/>
              </a:rPr>
              <a:t>，表示栈空</a:t>
            </a:r>
            <a:endParaRPr lang="zh-CN" altLang="en-US" sz="2800" dirty="0">
              <a:ea typeface="楷体_GB2312" pitchFamily="49" charset="-122"/>
            </a:endParaRPr>
          </a:p>
          <a:p>
            <a:pPr eaLnBrk="1" hangingPunct="1">
              <a:buFontTx/>
              <a:buNone/>
            </a:pP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S.stacksize</a:t>
            </a:r>
            <a:r>
              <a:rPr lang="en-US" altLang="zh-CN" sz="2800" dirty="0">
                <a:solidFill>
                  <a:srgbClr val="000000"/>
                </a:solidFill>
                <a:ea typeface="楷体_GB2312" pitchFamily="49" charset="-122"/>
              </a:rPr>
              <a:t> = STACK_INIT_SIZE;}</a:t>
            </a:r>
          </a:p>
          <a:p>
            <a:pPr eaLnBrk="1" hangingPunct="1">
              <a:buFontTx/>
              <a:buNone/>
            </a:pPr>
            <a:r>
              <a:rPr lang="en-US" altLang="zh-CN" sz="2800" dirty="0">
                <a:solidFill>
                  <a:srgbClr val="000000"/>
                </a:solidFill>
                <a:ea typeface="楷体_GB2312" pitchFamily="49" charset="-122"/>
              </a:rPr>
              <a:t>       return S;</a:t>
            </a:r>
          </a:p>
          <a:p>
            <a:pPr eaLnBrk="1" hangingPunct="1">
              <a:buFontTx/>
              <a:buNone/>
            </a:pPr>
            <a:r>
              <a:rPr lang="en-US" altLang="zh-CN" sz="2800" dirty="0">
                <a:solidFill>
                  <a:srgbClr val="000000"/>
                </a:solidFill>
                <a:ea typeface="楷体_GB2312" pitchFamily="49" charset="-122"/>
              </a:rPr>
              <a:t>     }</a:t>
            </a:r>
            <a:r>
              <a:rPr lang="en-US" altLang="zh-CN" sz="2800" dirty="0">
                <a:solidFill>
                  <a:srgbClr val="006600"/>
                </a:solidFill>
                <a:ea typeface="楷体_GB2312" pitchFamily="49" charset="-122"/>
                <a:sym typeface="Symbol" pitchFamily="18" charset="2"/>
              </a:rPr>
              <a:t> //</a:t>
            </a:r>
            <a:r>
              <a:rPr lang="en-US" altLang="zh-CN" sz="2800" dirty="0" err="1">
                <a:solidFill>
                  <a:srgbClr val="006600"/>
                </a:solidFill>
                <a:ea typeface="楷体_GB2312" pitchFamily="49" charset="-122"/>
              </a:rPr>
              <a:t>InitStack</a:t>
            </a:r>
            <a:endParaRPr lang="en-US" altLang="zh-CN" sz="2800" dirty="0">
              <a:solidFill>
                <a:srgbClr val="006600"/>
              </a:solidFill>
              <a:ea typeface="楷体_GB2312" pitchFamily="49" charset="-122"/>
            </a:endParaRPr>
          </a:p>
        </p:txBody>
      </p:sp>
      <p:sp>
        <p:nvSpPr>
          <p:cNvPr id="20484" name="Rectangle 3"/>
          <p:cNvSpPr>
            <a:spLocks noGrp="1" noChangeArrowheads="1"/>
          </p:cNvSpPr>
          <p:nvPr>
            <p:ph type="title" idx="4294967295"/>
          </p:nvPr>
        </p:nvSpPr>
        <p:spPr>
          <a:xfrm>
            <a:off x="393700" y="1651000"/>
            <a:ext cx="7772400" cy="657225"/>
          </a:xfrm>
        </p:spPr>
        <p:txBody>
          <a:bodyPr/>
          <a:lstStyle/>
          <a:p>
            <a:pPr algn="l" eaLnBrk="1" hangingPunct="1"/>
            <a:r>
              <a:rPr lang="zh-CN" altLang="en-US" sz="3200" dirty="0">
                <a:solidFill>
                  <a:srgbClr val="000000"/>
                </a:solidFill>
                <a:latin typeface="楷体_GB2312" pitchFamily="49" charset="-122"/>
                <a:ea typeface="楷体_GB2312" pitchFamily="49" charset="-122"/>
              </a:rPr>
              <a:t>初始化栈算法</a:t>
            </a:r>
          </a:p>
        </p:txBody>
      </p:sp>
      <p:sp>
        <p:nvSpPr>
          <p:cNvPr id="6"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A297DEF2-1159-4B9F-BF02-24B11AE80171}" type="slidenum">
              <a:rPr lang="en-US" altLang="zh-CN"/>
              <a:pPr/>
              <a:t>23</a:t>
            </a:fld>
            <a:endParaRPr lang="en-US" altLang="zh-CN"/>
          </a:p>
        </p:txBody>
      </p:sp>
      <p:sp>
        <p:nvSpPr>
          <p:cNvPr id="21507" name="Rectangle 2"/>
          <p:cNvSpPr>
            <a:spLocks noGrp="1" noChangeArrowheads="1"/>
          </p:cNvSpPr>
          <p:nvPr>
            <p:ph type="body" idx="4294967295"/>
          </p:nvPr>
        </p:nvSpPr>
        <p:spPr>
          <a:xfrm>
            <a:off x="1016000" y="2406650"/>
            <a:ext cx="7772400" cy="4191000"/>
          </a:xfrm>
        </p:spPr>
        <p:txBody>
          <a:bodyPr/>
          <a:lstStyle/>
          <a:p>
            <a:pPr eaLnBrk="1" hangingPunct="1">
              <a:buFontTx/>
              <a:buNone/>
            </a:pPr>
            <a:r>
              <a:rPr lang="en-US" altLang="zh-CN" dirty="0">
                <a:solidFill>
                  <a:srgbClr val="000000"/>
                </a:solidFill>
                <a:ea typeface="楷体_GB2312" pitchFamily="49" charset="-122"/>
              </a:rPr>
              <a:t>Status Push(</a:t>
            </a:r>
            <a:r>
              <a:rPr lang="en-US" altLang="zh-CN" dirty="0" err="1">
                <a:solidFill>
                  <a:srgbClr val="000000"/>
                </a:solidFill>
                <a:ea typeface="楷体_GB2312" pitchFamily="49" charset="-122"/>
              </a:rPr>
              <a:t>Sqstack</a:t>
            </a:r>
            <a:r>
              <a:rPr lang="en-US" altLang="zh-CN" dirty="0">
                <a:solidFill>
                  <a:srgbClr val="000000"/>
                </a:solidFill>
                <a:ea typeface="楷体_GB2312" pitchFamily="49" charset="-122"/>
              </a:rPr>
              <a:t> &amp;S, </a:t>
            </a:r>
            <a:r>
              <a:rPr lang="en-US" altLang="zh-CN" dirty="0" err="1">
                <a:solidFill>
                  <a:srgbClr val="000000"/>
                </a:solidFill>
                <a:ea typeface="楷体_GB2312" pitchFamily="49" charset="-122"/>
              </a:rPr>
              <a:t>Elemtype</a:t>
            </a:r>
            <a:r>
              <a:rPr lang="en-US" altLang="zh-CN" dirty="0">
                <a:solidFill>
                  <a:srgbClr val="000000"/>
                </a:solidFill>
                <a:ea typeface="楷体_GB2312" pitchFamily="49" charset="-122"/>
              </a:rPr>
              <a:t> x)</a:t>
            </a:r>
          </a:p>
          <a:p>
            <a:pPr eaLnBrk="1" hangingPunct="1">
              <a:buFontTx/>
              <a:buNone/>
            </a:pPr>
            <a:r>
              <a:rPr lang="en-US" altLang="zh-CN" dirty="0">
                <a:solidFill>
                  <a:srgbClr val="000000"/>
                </a:solidFill>
                <a:ea typeface="楷体_GB2312" pitchFamily="49" charset="-122"/>
              </a:rPr>
              <a:t>     { </a:t>
            </a:r>
            <a:r>
              <a:rPr lang="en-US" altLang="zh-CN" dirty="0" smtClean="0">
                <a:solidFill>
                  <a:srgbClr val="000000"/>
                </a:solidFill>
                <a:ea typeface="楷体_GB2312" pitchFamily="49" charset="-122"/>
              </a:rPr>
              <a:t>if </a:t>
            </a:r>
            <a:r>
              <a:rPr lang="en-US" altLang="zh-CN" dirty="0">
                <a:solidFill>
                  <a:srgbClr val="000000"/>
                </a:solidFill>
                <a:ea typeface="楷体_GB2312" pitchFamily="49" charset="-122"/>
              </a:rPr>
              <a:t>(</a:t>
            </a:r>
            <a:r>
              <a:rPr lang="en-US" altLang="zh-CN" dirty="0" err="1">
                <a:solidFill>
                  <a:srgbClr val="000000"/>
                </a:solidFill>
                <a:ea typeface="楷体_GB2312" pitchFamily="49" charset="-122"/>
              </a:rPr>
              <a:t>S.</a:t>
            </a:r>
            <a:r>
              <a:rPr lang="en-US" altLang="zh-CN" sz="2800" dirty="0" err="1">
                <a:solidFill>
                  <a:srgbClr val="000000"/>
                </a:solidFill>
                <a:sym typeface="Symbol" pitchFamily="18" charset="2"/>
              </a:rPr>
              <a:t>Top</a:t>
            </a:r>
            <a:r>
              <a:rPr lang="en-US" altLang="zh-CN" sz="2800" dirty="0">
                <a:solidFill>
                  <a:srgbClr val="000000"/>
                </a:solidFill>
                <a:sym typeface="Symbol" pitchFamily="18" charset="2"/>
              </a:rPr>
              <a:t>&gt;=MAXSIZE-1)</a:t>
            </a:r>
          </a:p>
          <a:p>
            <a:pPr eaLnBrk="1" hangingPunct="1">
              <a:buFontTx/>
              <a:buNone/>
            </a:pPr>
            <a:r>
              <a:rPr lang="en-US" altLang="zh-CN" sz="2800" dirty="0">
                <a:solidFill>
                  <a:srgbClr val="000000"/>
                </a:solidFill>
                <a:sym typeface="Symbol" pitchFamily="18" charset="2"/>
              </a:rPr>
              <a:t>              Return ERROR;       </a:t>
            </a:r>
            <a:r>
              <a:rPr lang="en-US" altLang="zh-CN" sz="2400" dirty="0">
                <a:solidFill>
                  <a:srgbClr val="006600"/>
                </a:solidFill>
                <a:latin typeface="楷体_GB2312" pitchFamily="49" charset="-122"/>
                <a:ea typeface="楷体_GB2312" pitchFamily="49" charset="-122"/>
                <a:sym typeface="Symbol" pitchFamily="18" charset="2"/>
              </a:rPr>
              <a:t>//</a:t>
            </a:r>
            <a:r>
              <a:rPr lang="zh-CN" altLang="en-US" sz="2400" dirty="0">
                <a:solidFill>
                  <a:srgbClr val="006600"/>
                </a:solidFill>
                <a:latin typeface="楷体_GB2312" pitchFamily="49" charset="-122"/>
                <a:ea typeface="楷体_GB2312" pitchFamily="49" charset="-122"/>
                <a:sym typeface="Symbol" pitchFamily="18" charset="2"/>
              </a:rPr>
              <a:t>栈满，上溢</a:t>
            </a:r>
          </a:p>
          <a:p>
            <a:pPr eaLnBrk="1" hangingPunct="1">
              <a:spcBef>
                <a:spcPts val="0"/>
              </a:spcBef>
              <a:buFontTx/>
              <a:buNone/>
            </a:pPr>
            <a:r>
              <a:rPr lang="zh-CN" altLang="en-US" sz="2800" b="1" dirty="0">
                <a:sym typeface="Symbol" pitchFamily="18" charset="2"/>
              </a:rPr>
              <a:t>         </a:t>
            </a:r>
            <a:r>
              <a:rPr lang="en-US" altLang="zh-CN" sz="2800" dirty="0" smtClean="0">
                <a:solidFill>
                  <a:srgbClr val="000000"/>
                </a:solidFill>
                <a:sym typeface="Symbol" pitchFamily="18" charset="2"/>
              </a:rPr>
              <a:t>else </a:t>
            </a:r>
            <a:r>
              <a:rPr lang="en-US" altLang="zh-CN" sz="2800" dirty="0">
                <a:solidFill>
                  <a:srgbClr val="000000"/>
                </a:solidFill>
                <a:sym typeface="Symbol" pitchFamily="18" charset="2"/>
              </a:rPr>
              <a:t>{ </a:t>
            </a:r>
            <a:r>
              <a:rPr lang="en-US" altLang="zh-CN" dirty="0" err="1">
                <a:solidFill>
                  <a:srgbClr val="000000"/>
                </a:solidFill>
                <a:ea typeface="楷体_GB2312" pitchFamily="49" charset="-122"/>
              </a:rPr>
              <a:t>S</a:t>
            </a:r>
            <a:r>
              <a:rPr lang="en-US" altLang="zh-CN" sz="2000" dirty="0" err="1">
                <a:solidFill>
                  <a:srgbClr val="000000"/>
                </a:solidFill>
                <a:sym typeface="Symbol" pitchFamily="18" charset="2"/>
              </a:rPr>
              <a:t>.</a:t>
            </a:r>
            <a:r>
              <a:rPr lang="en-US" altLang="zh-CN" sz="2800" dirty="0" err="1">
                <a:solidFill>
                  <a:srgbClr val="000000"/>
                </a:solidFill>
                <a:sym typeface="Symbol" pitchFamily="18" charset="2"/>
              </a:rPr>
              <a:t>top</a:t>
            </a:r>
            <a:r>
              <a:rPr lang="en-US" altLang="zh-CN" sz="2800" dirty="0">
                <a:solidFill>
                  <a:srgbClr val="000000"/>
                </a:solidFill>
                <a:sym typeface="Symbol" pitchFamily="18" charset="2"/>
              </a:rPr>
              <a:t>++;</a:t>
            </a:r>
          </a:p>
          <a:p>
            <a:pPr eaLnBrk="1" hangingPunct="1">
              <a:spcBef>
                <a:spcPts val="0"/>
              </a:spcBef>
              <a:buFontTx/>
              <a:buNone/>
            </a:pPr>
            <a:r>
              <a:rPr lang="en-US" altLang="zh-CN" sz="2800" dirty="0">
                <a:solidFill>
                  <a:srgbClr val="000000"/>
                </a:solidFill>
                <a:sym typeface="Symbol" pitchFamily="18" charset="2"/>
              </a:rPr>
              <a:t>                   </a:t>
            </a:r>
            <a:r>
              <a:rPr lang="en-US" altLang="zh-CN" dirty="0" err="1">
                <a:solidFill>
                  <a:srgbClr val="000000"/>
                </a:solidFill>
                <a:ea typeface="楷体_GB2312" pitchFamily="49" charset="-122"/>
              </a:rPr>
              <a:t>S</a:t>
            </a:r>
            <a:r>
              <a:rPr lang="en-US" altLang="zh-CN" sz="2000" dirty="0" err="1">
                <a:solidFill>
                  <a:srgbClr val="000000"/>
                </a:solidFill>
                <a:sym typeface="Symbol" pitchFamily="18" charset="2"/>
              </a:rPr>
              <a:t>.</a:t>
            </a:r>
            <a:r>
              <a:rPr lang="en-US" altLang="zh-CN" sz="2800" dirty="0" err="1">
                <a:solidFill>
                  <a:srgbClr val="000000"/>
                </a:solidFill>
                <a:sym typeface="Symbol" pitchFamily="18" charset="2"/>
              </a:rPr>
              <a:t>Stack</a:t>
            </a:r>
            <a:r>
              <a:rPr lang="en-US" altLang="zh-CN" sz="2800" dirty="0">
                <a:solidFill>
                  <a:srgbClr val="000000"/>
                </a:solidFill>
                <a:sym typeface="Symbol" pitchFamily="18" charset="2"/>
              </a:rPr>
              <a:t>[Top]=x;</a:t>
            </a:r>
          </a:p>
          <a:p>
            <a:pPr eaLnBrk="1" hangingPunct="1">
              <a:spcBef>
                <a:spcPts val="0"/>
              </a:spcBef>
              <a:buFontTx/>
              <a:buNone/>
            </a:pPr>
            <a:r>
              <a:rPr lang="en-US" altLang="zh-CN" sz="2800" dirty="0">
                <a:solidFill>
                  <a:srgbClr val="000000"/>
                </a:solidFill>
                <a:sym typeface="Symbol" pitchFamily="18" charset="2"/>
              </a:rPr>
              <a:t>                   Return OK; }</a:t>
            </a:r>
          </a:p>
          <a:p>
            <a:pPr eaLnBrk="1" hangingPunct="1">
              <a:spcBef>
                <a:spcPts val="0"/>
              </a:spcBef>
              <a:buFontTx/>
              <a:buNone/>
            </a:pPr>
            <a:r>
              <a:rPr lang="en-US" altLang="zh-CN" sz="2800" dirty="0">
                <a:solidFill>
                  <a:srgbClr val="000000"/>
                </a:solidFill>
                <a:sym typeface="Symbol" pitchFamily="18" charset="2"/>
              </a:rPr>
              <a:t>     }</a:t>
            </a:r>
            <a:r>
              <a:rPr lang="en-US" altLang="zh-CN" sz="2800" b="1" dirty="0">
                <a:sym typeface="Symbol" pitchFamily="18" charset="2"/>
              </a:rPr>
              <a:t>   </a:t>
            </a:r>
            <a:r>
              <a:rPr lang="en-US" altLang="zh-CN" dirty="0">
                <a:solidFill>
                  <a:srgbClr val="006600"/>
                </a:solidFill>
                <a:ea typeface="楷体_GB2312" pitchFamily="49" charset="-122"/>
                <a:sym typeface="Symbol" pitchFamily="18" charset="2"/>
              </a:rPr>
              <a:t>//Push</a:t>
            </a:r>
          </a:p>
          <a:p>
            <a:pPr eaLnBrk="1" hangingPunct="1">
              <a:buFontTx/>
              <a:buNone/>
            </a:pPr>
            <a:endParaRPr lang="en-US" altLang="zh-CN" sz="2000" b="1" dirty="0">
              <a:sym typeface="Symbol" pitchFamily="18" charset="2"/>
            </a:endParaRPr>
          </a:p>
        </p:txBody>
      </p:sp>
      <p:sp>
        <p:nvSpPr>
          <p:cNvPr id="21508" name="Rectangle 3"/>
          <p:cNvSpPr>
            <a:spLocks noGrp="1" noChangeArrowheads="1"/>
          </p:cNvSpPr>
          <p:nvPr>
            <p:ph type="title" idx="4294967295"/>
          </p:nvPr>
        </p:nvSpPr>
        <p:spPr>
          <a:xfrm>
            <a:off x="393700" y="1695450"/>
            <a:ext cx="7772400" cy="657225"/>
          </a:xfrm>
        </p:spPr>
        <p:txBody>
          <a:bodyPr/>
          <a:lstStyle/>
          <a:p>
            <a:pPr algn="l" eaLnBrk="1" hangingPunct="1"/>
            <a:r>
              <a:rPr lang="zh-CN" altLang="en-US" sz="3200" dirty="0">
                <a:solidFill>
                  <a:srgbClr val="000000"/>
                </a:solidFill>
                <a:latin typeface="楷体_GB2312" pitchFamily="49" charset="-122"/>
                <a:ea typeface="楷体_GB2312" pitchFamily="49" charset="-122"/>
              </a:rPr>
              <a:t>进栈算法</a:t>
            </a: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2E6ED346-B6D5-49BE-8545-353C8B8F0C09}" type="slidenum">
              <a:rPr lang="en-US" altLang="zh-CN"/>
              <a:pPr/>
              <a:t>24</a:t>
            </a:fld>
            <a:endParaRPr lang="en-US" altLang="zh-CN"/>
          </a:p>
        </p:txBody>
      </p:sp>
      <p:sp>
        <p:nvSpPr>
          <p:cNvPr id="22531" name="Rectangle 2"/>
          <p:cNvSpPr>
            <a:spLocks noGrp="1" noChangeArrowheads="1"/>
          </p:cNvSpPr>
          <p:nvPr>
            <p:ph type="title" idx="4294967295"/>
          </p:nvPr>
        </p:nvSpPr>
        <p:spPr>
          <a:xfrm>
            <a:off x="393700" y="1784350"/>
            <a:ext cx="7772400" cy="558800"/>
          </a:xfrm>
        </p:spPr>
        <p:txBody>
          <a:bodyPr/>
          <a:lstStyle/>
          <a:p>
            <a:pPr algn="l" eaLnBrk="1" hangingPunct="1"/>
            <a:r>
              <a:rPr lang="zh-CN" altLang="en-US" sz="3200" dirty="0">
                <a:solidFill>
                  <a:srgbClr val="000000"/>
                </a:solidFill>
                <a:latin typeface="楷体_GB2312" pitchFamily="49" charset="-122"/>
                <a:ea typeface="楷体_GB2312" pitchFamily="49" charset="-122"/>
              </a:rPr>
              <a:t>出栈算法</a:t>
            </a:r>
          </a:p>
        </p:txBody>
      </p:sp>
      <p:sp>
        <p:nvSpPr>
          <p:cNvPr id="22532" name="Rectangle 3"/>
          <p:cNvSpPr>
            <a:spLocks noGrp="1" noChangeArrowheads="1"/>
          </p:cNvSpPr>
          <p:nvPr>
            <p:ph type="body" idx="4294967295"/>
          </p:nvPr>
        </p:nvSpPr>
        <p:spPr>
          <a:xfrm>
            <a:off x="990600" y="2362200"/>
            <a:ext cx="8153400" cy="4495800"/>
          </a:xfrm>
          <a:noFill/>
        </p:spPr>
        <p:txBody>
          <a:bodyPr/>
          <a:lstStyle/>
          <a:p>
            <a:pPr eaLnBrk="1" hangingPunct="1">
              <a:buFontTx/>
              <a:buNone/>
            </a:pPr>
            <a:r>
              <a:rPr lang="en-US" altLang="zh-CN" sz="2800" dirty="0">
                <a:solidFill>
                  <a:srgbClr val="000000"/>
                </a:solidFill>
                <a:ea typeface="楷体_GB2312" pitchFamily="49" charset="-122"/>
              </a:rPr>
              <a:t>Status</a:t>
            </a:r>
            <a:r>
              <a:rPr lang="en-US" altLang="zh-CN" dirty="0">
                <a:solidFill>
                  <a:srgbClr val="000000"/>
                </a:solidFill>
                <a:ea typeface="楷体_GB2312" pitchFamily="49" charset="-122"/>
              </a:rPr>
              <a:t> Pop(</a:t>
            </a:r>
            <a:r>
              <a:rPr lang="en-US" altLang="zh-CN" dirty="0" err="1">
                <a:solidFill>
                  <a:srgbClr val="000000"/>
                </a:solidFill>
                <a:ea typeface="楷体_GB2312" pitchFamily="49" charset="-122"/>
              </a:rPr>
              <a:t>Sqstack</a:t>
            </a:r>
            <a:r>
              <a:rPr lang="en-US" altLang="zh-CN" dirty="0">
                <a:solidFill>
                  <a:srgbClr val="000000"/>
                </a:solidFill>
                <a:ea typeface="楷体_GB2312" pitchFamily="49" charset="-122"/>
              </a:rPr>
              <a:t> &amp;S, </a:t>
            </a:r>
            <a:r>
              <a:rPr lang="en-US" altLang="zh-CN" dirty="0" err="1">
                <a:solidFill>
                  <a:srgbClr val="000000"/>
                </a:solidFill>
                <a:ea typeface="楷体_GB2312" pitchFamily="49" charset="-122"/>
              </a:rPr>
              <a:t>Elemtype</a:t>
            </a:r>
            <a:r>
              <a:rPr lang="en-US" altLang="zh-CN" dirty="0">
                <a:solidFill>
                  <a:srgbClr val="000000"/>
                </a:solidFill>
                <a:ea typeface="楷体_GB2312" pitchFamily="49" charset="-122"/>
              </a:rPr>
              <a:t> &amp;e)</a:t>
            </a:r>
          </a:p>
          <a:p>
            <a:pPr eaLnBrk="1" hangingPunct="1">
              <a:buFontTx/>
              <a:buNone/>
            </a:pPr>
            <a:r>
              <a:rPr lang="en-US" altLang="zh-CN" dirty="0">
                <a:solidFill>
                  <a:srgbClr val="000000"/>
                </a:solidFill>
                <a:ea typeface="楷体_GB2312" pitchFamily="49" charset="-122"/>
              </a:rPr>
              <a:t>     { </a:t>
            </a:r>
            <a:r>
              <a:rPr lang="en-US" altLang="zh-CN" dirty="0" smtClean="0">
                <a:solidFill>
                  <a:srgbClr val="000000"/>
                </a:solidFill>
                <a:ea typeface="楷体_GB2312" pitchFamily="49" charset="-122"/>
              </a:rPr>
              <a:t>if </a:t>
            </a:r>
            <a:r>
              <a:rPr lang="en-US" altLang="zh-CN" dirty="0">
                <a:solidFill>
                  <a:srgbClr val="000000"/>
                </a:solidFill>
                <a:ea typeface="楷体_GB2312" pitchFamily="49" charset="-122"/>
              </a:rPr>
              <a:t>(S</a:t>
            </a:r>
            <a:r>
              <a:rPr lang="en-US" altLang="zh-CN" sz="2000" dirty="0">
                <a:solidFill>
                  <a:srgbClr val="000000"/>
                </a:solidFill>
                <a:sym typeface="Symbol" pitchFamily="18" charset="2"/>
              </a:rPr>
              <a:t>. </a:t>
            </a:r>
            <a:r>
              <a:rPr lang="en-US" altLang="zh-CN" sz="2800" dirty="0">
                <a:solidFill>
                  <a:srgbClr val="000000"/>
                </a:solidFill>
                <a:sym typeface="Symbol" pitchFamily="18" charset="2"/>
              </a:rPr>
              <a:t>Top&lt;0)</a:t>
            </a:r>
          </a:p>
          <a:p>
            <a:pPr eaLnBrk="1" hangingPunct="1">
              <a:buFontTx/>
              <a:buNone/>
            </a:pPr>
            <a:r>
              <a:rPr lang="en-US" altLang="zh-CN" sz="2800" dirty="0">
                <a:solidFill>
                  <a:srgbClr val="000000"/>
                </a:solidFill>
                <a:sym typeface="Symbol" pitchFamily="18" charset="2"/>
              </a:rPr>
              <a:t>              Return ERROR;       </a:t>
            </a:r>
            <a:r>
              <a:rPr lang="en-US" altLang="zh-CN" sz="2400" dirty="0">
                <a:solidFill>
                  <a:srgbClr val="006600"/>
                </a:solidFill>
                <a:latin typeface="楷体_GB2312" pitchFamily="49" charset="-122"/>
                <a:ea typeface="楷体_GB2312" pitchFamily="49" charset="-122"/>
                <a:sym typeface="Symbol" pitchFamily="18" charset="2"/>
              </a:rPr>
              <a:t>//</a:t>
            </a:r>
            <a:r>
              <a:rPr lang="zh-CN" altLang="en-US" sz="2400" dirty="0">
                <a:solidFill>
                  <a:srgbClr val="006600"/>
                </a:solidFill>
                <a:latin typeface="楷体_GB2312" pitchFamily="49" charset="-122"/>
                <a:ea typeface="楷体_GB2312" pitchFamily="49" charset="-122"/>
                <a:sym typeface="Symbol" pitchFamily="18" charset="2"/>
              </a:rPr>
              <a:t>栈空，下溢</a:t>
            </a:r>
          </a:p>
          <a:p>
            <a:pPr eaLnBrk="1" hangingPunct="1">
              <a:spcBef>
                <a:spcPts val="0"/>
              </a:spcBef>
              <a:buFontTx/>
              <a:buNone/>
            </a:pPr>
            <a:r>
              <a:rPr lang="zh-CN" altLang="en-US" sz="2800" dirty="0">
                <a:solidFill>
                  <a:srgbClr val="000000"/>
                </a:solidFill>
                <a:sym typeface="Symbol" pitchFamily="18" charset="2"/>
              </a:rPr>
              <a:t>         </a:t>
            </a:r>
            <a:r>
              <a:rPr lang="en-US" altLang="zh-CN" sz="2800" dirty="0" smtClean="0">
                <a:solidFill>
                  <a:srgbClr val="000000"/>
                </a:solidFill>
                <a:sym typeface="Symbol" pitchFamily="18" charset="2"/>
              </a:rPr>
              <a:t>else </a:t>
            </a:r>
            <a:r>
              <a:rPr lang="en-US" altLang="zh-CN" sz="2800" dirty="0">
                <a:solidFill>
                  <a:srgbClr val="000000"/>
                </a:solidFill>
                <a:sym typeface="Symbol" pitchFamily="18" charset="2"/>
              </a:rPr>
              <a:t>{  e= </a:t>
            </a:r>
            <a:r>
              <a:rPr lang="en-US" altLang="zh-CN" dirty="0">
                <a:solidFill>
                  <a:srgbClr val="000000"/>
                </a:solidFill>
                <a:ea typeface="楷体_GB2312" pitchFamily="49" charset="-122"/>
              </a:rPr>
              <a:t>S</a:t>
            </a:r>
            <a:r>
              <a:rPr lang="en-US" altLang="zh-CN" sz="2000" dirty="0">
                <a:solidFill>
                  <a:srgbClr val="000000"/>
                </a:solidFill>
                <a:sym typeface="Symbol" pitchFamily="18" charset="2"/>
              </a:rPr>
              <a:t>. </a:t>
            </a:r>
            <a:r>
              <a:rPr lang="en-US" altLang="zh-CN" sz="2800" dirty="0">
                <a:solidFill>
                  <a:srgbClr val="000000"/>
                </a:solidFill>
                <a:sym typeface="Symbol" pitchFamily="18" charset="2"/>
              </a:rPr>
              <a:t>Stack[top];</a:t>
            </a:r>
          </a:p>
          <a:p>
            <a:pPr eaLnBrk="1" hangingPunct="1">
              <a:spcBef>
                <a:spcPts val="0"/>
              </a:spcBef>
              <a:buFontTx/>
              <a:buNone/>
            </a:pPr>
            <a:r>
              <a:rPr lang="en-US" altLang="zh-CN" dirty="0">
                <a:solidFill>
                  <a:srgbClr val="000000"/>
                </a:solidFill>
                <a:ea typeface="楷体_GB2312" pitchFamily="49" charset="-122"/>
              </a:rPr>
              <a:t>                  </a:t>
            </a:r>
            <a:r>
              <a:rPr lang="en-US" altLang="zh-CN" dirty="0" err="1">
                <a:solidFill>
                  <a:srgbClr val="000000"/>
                </a:solidFill>
                <a:ea typeface="楷体_GB2312" pitchFamily="49" charset="-122"/>
              </a:rPr>
              <a:t>S</a:t>
            </a:r>
            <a:r>
              <a:rPr lang="en-US" altLang="zh-CN" sz="2000" dirty="0" err="1">
                <a:solidFill>
                  <a:srgbClr val="000000"/>
                </a:solidFill>
                <a:sym typeface="Symbol" pitchFamily="18" charset="2"/>
              </a:rPr>
              <a:t>.</a:t>
            </a:r>
            <a:r>
              <a:rPr lang="en-US" altLang="zh-CN" sz="2800" dirty="0" err="1">
                <a:solidFill>
                  <a:srgbClr val="000000"/>
                </a:solidFill>
                <a:sym typeface="Symbol" pitchFamily="18" charset="2"/>
              </a:rPr>
              <a:t>Top</a:t>
            </a:r>
            <a:r>
              <a:rPr lang="en-US" altLang="zh-CN" sz="2800" dirty="0">
                <a:solidFill>
                  <a:srgbClr val="000000"/>
                </a:solidFill>
                <a:sym typeface="Symbol" pitchFamily="18" charset="2"/>
              </a:rPr>
              <a:t>--;</a:t>
            </a:r>
          </a:p>
          <a:p>
            <a:pPr eaLnBrk="1" hangingPunct="1">
              <a:spcBef>
                <a:spcPts val="0"/>
              </a:spcBef>
              <a:buFontTx/>
              <a:buNone/>
            </a:pPr>
            <a:r>
              <a:rPr lang="en-US" altLang="zh-CN" sz="2800" dirty="0">
                <a:solidFill>
                  <a:srgbClr val="000000"/>
                </a:solidFill>
                <a:sym typeface="Symbol" pitchFamily="18" charset="2"/>
              </a:rPr>
              <a:t>                   return OK; }</a:t>
            </a:r>
          </a:p>
          <a:p>
            <a:pPr eaLnBrk="1" hangingPunct="1">
              <a:buFontTx/>
              <a:buNone/>
            </a:pPr>
            <a:r>
              <a:rPr lang="en-US" altLang="zh-CN" sz="2800" dirty="0">
                <a:solidFill>
                  <a:srgbClr val="000000"/>
                </a:solidFill>
                <a:sym typeface="Symbol" pitchFamily="18" charset="2"/>
              </a:rPr>
              <a:t>     }  </a:t>
            </a:r>
            <a:r>
              <a:rPr lang="en-US" altLang="zh-CN" sz="2800" dirty="0">
                <a:solidFill>
                  <a:srgbClr val="006600"/>
                </a:solidFill>
                <a:sym typeface="Symbol" pitchFamily="18" charset="2"/>
              </a:rPr>
              <a:t>// </a:t>
            </a:r>
            <a:r>
              <a:rPr lang="en-US" altLang="zh-CN" dirty="0">
                <a:solidFill>
                  <a:srgbClr val="006600"/>
                </a:solidFill>
                <a:ea typeface="楷体_GB2312" pitchFamily="49" charset="-122"/>
              </a:rPr>
              <a:t>Pop</a:t>
            </a:r>
            <a:endParaRPr lang="en-US" altLang="zh-CN" sz="2800" dirty="0">
              <a:solidFill>
                <a:srgbClr val="006600"/>
              </a:solidFill>
              <a:sym typeface="Symbol" pitchFamily="18" charset="2"/>
            </a:endParaRPr>
          </a:p>
          <a:p>
            <a:pPr eaLnBrk="1" hangingPunct="1">
              <a:buFontTx/>
              <a:buNone/>
            </a:pPr>
            <a:endParaRPr lang="en-US" altLang="zh-CN" sz="2000" b="1" dirty="0">
              <a:sym typeface="Symbol" pitchFamily="18" charset="2"/>
            </a:endParaRP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69E73AC8-F5F5-4FBA-9D23-D75002E4031C}" type="slidenum">
              <a:rPr lang="en-US" altLang="zh-CN"/>
              <a:pPr/>
              <a:t>25</a:t>
            </a:fld>
            <a:endParaRPr lang="en-US" altLang="zh-CN"/>
          </a:p>
        </p:txBody>
      </p:sp>
      <p:sp>
        <p:nvSpPr>
          <p:cNvPr id="23555" name="Rectangle 2"/>
          <p:cNvSpPr>
            <a:spLocks noGrp="1" noChangeArrowheads="1"/>
          </p:cNvSpPr>
          <p:nvPr>
            <p:ph type="title" idx="4294967295"/>
          </p:nvPr>
        </p:nvSpPr>
        <p:spPr>
          <a:xfrm>
            <a:off x="171450" y="1739900"/>
            <a:ext cx="7772400" cy="558800"/>
          </a:xfrm>
        </p:spPr>
        <p:txBody>
          <a:bodyPr/>
          <a:lstStyle/>
          <a:p>
            <a:pPr algn="l" eaLnBrk="1" hangingPunct="1"/>
            <a:r>
              <a:rPr lang="zh-CN" altLang="en-US" sz="3200" dirty="0">
                <a:solidFill>
                  <a:srgbClr val="000000"/>
                </a:solidFill>
                <a:latin typeface="楷体_GB2312" pitchFamily="49" charset="-122"/>
                <a:ea typeface="楷体_GB2312" pitchFamily="49" charset="-122"/>
              </a:rPr>
              <a:t>取栈顶元素算法</a:t>
            </a:r>
          </a:p>
        </p:txBody>
      </p:sp>
      <p:sp>
        <p:nvSpPr>
          <p:cNvPr id="23556" name="Rectangle 3"/>
          <p:cNvSpPr>
            <a:spLocks noGrp="1" noChangeArrowheads="1"/>
          </p:cNvSpPr>
          <p:nvPr>
            <p:ph type="body" idx="4294967295"/>
          </p:nvPr>
        </p:nvSpPr>
        <p:spPr>
          <a:xfrm>
            <a:off x="838200" y="2406650"/>
            <a:ext cx="7772400" cy="3511550"/>
          </a:xfrm>
          <a:noFill/>
        </p:spPr>
        <p:txBody>
          <a:bodyPr/>
          <a:lstStyle/>
          <a:p>
            <a:pPr eaLnBrk="1" hangingPunct="1">
              <a:buFontTx/>
              <a:buNone/>
            </a:pPr>
            <a:r>
              <a:rPr lang="en-US" altLang="zh-CN" sz="2800" dirty="0">
                <a:solidFill>
                  <a:srgbClr val="000000"/>
                </a:solidFill>
                <a:ea typeface="楷体_GB2312" pitchFamily="49" charset="-122"/>
              </a:rPr>
              <a:t>Status</a:t>
            </a:r>
            <a:r>
              <a:rPr lang="en-US" altLang="zh-CN" dirty="0">
                <a:solidFill>
                  <a:srgbClr val="000000"/>
                </a:solidFill>
                <a:ea typeface="楷体_GB2312" pitchFamily="49" charset="-122"/>
              </a:rPr>
              <a:t> </a:t>
            </a:r>
            <a:r>
              <a:rPr lang="en-US" altLang="zh-CN" dirty="0" err="1">
                <a:solidFill>
                  <a:srgbClr val="000000"/>
                </a:solidFill>
                <a:ea typeface="楷体_GB2312" pitchFamily="49" charset="-122"/>
              </a:rPr>
              <a:t>Gettop</a:t>
            </a:r>
            <a:r>
              <a:rPr lang="en-US" altLang="zh-CN" dirty="0">
                <a:solidFill>
                  <a:srgbClr val="000000"/>
                </a:solidFill>
                <a:ea typeface="楷体_GB2312" pitchFamily="49" charset="-122"/>
              </a:rPr>
              <a:t>(</a:t>
            </a:r>
            <a:r>
              <a:rPr lang="en-US" altLang="zh-CN" dirty="0" err="1">
                <a:solidFill>
                  <a:srgbClr val="000000"/>
                </a:solidFill>
                <a:ea typeface="楷体_GB2312" pitchFamily="49" charset="-122"/>
              </a:rPr>
              <a:t>Sqstack</a:t>
            </a:r>
            <a:r>
              <a:rPr lang="en-US" altLang="zh-CN" dirty="0">
                <a:solidFill>
                  <a:srgbClr val="000000"/>
                </a:solidFill>
                <a:ea typeface="楷体_GB2312" pitchFamily="49" charset="-122"/>
              </a:rPr>
              <a:t> S, </a:t>
            </a:r>
            <a:r>
              <a:rPr lang="en-US" altLang="zh-CN" dirty="0" err="1">
                <a:solidFill>
                  <a:srgbClr val="000000"/>
                </a:solidFill>
                <a:ea typeface="楷体_GB2312" pitchFamily="49" charset="-122"/>
              </a:rPr>
              <a:t>Elemtype</a:t>
            </a:r>
            <a:r>
              <a:rPr lang="en-US" altLang="zh-CN" dirty="0">
                <a:solidFill>
                  <a:srgbClr val="000000"/>
                </a:solidFill>
                <a:ea typeface="楷体_GB2312" pitchFamily="49" charset="-122"/>
              </a:rPr>
              <a:t> &amp;e)</a:t>
            </a:r>
          </a:p>
          <a:p>
            <a:pPr eaLnBrk="1" hangingPunct="1">
              <a:buFontTx/>
              <a:buNone/>
            </a:pPr>
            <a:r>
              <a:rPr lang="en-US" altLang="zh-CN" dirty="0">
                <a:solidFill>
                  <a:srgbClr val="000000"/>
                </a:solidFill>
                <a:ea typeface="楷体_GB2312" pitchFamily="49" charset="-122"/>
              </a:rPr>
              <a:t>     { </a:t>
            </a:r>
            <a:r>
              <a:rPr lang="en-US" altLang="zh-CN" dirty="0" smtClean="0">
                <a:solidFill>
                  <a:srgbClr val="000000"/>
                </a:solidFill>
                <a:ea typeface="楷体_GB2312" pitchFamily="49" charset="-122"/>
              </a:rPr>
              <a:t>if </a:t>
            </a:r>
            <a:r>
              <a:rPr lang="en-US" altLang="zh-CN" dirty="0">
                <a:solidFill>
                  <a:srgbClr val="000000"/>
                </a:solidFill>
                <a:ea typeface="楷体_GB2312" pitchFamily="49" charset="-122"/>
              </a:rPr>
              <a:t>(S</a:t>
            </a:r>
            <a:r>
              <a:rPr lang="en-US" altLang="zh-CN" sz="2000" dirty="0">
                <a:solidFill>
                  <a:srgbClr val="000000"/>
                </a:solidFill>
                <a:sym typeface="Symbol" pitchFamily="18" charset="2"/>
              </a:rPr>
              <a:t>. </a:t>
            </a:r>
            <a:r>
              <a:rPr lang="en-US" altLang="zh-CN" sz="2800" dirty="0">
                <a:solidFill>
                  <a:srgbClr val="000000"/>
                </a:solidFill>
                <a:sym typeface="Symbol" pitchFamily="18" charset="2"/>
              </a:rPr>
              <a:t>Top&lt;0)</a:t>
            </a:r>
          </a:p>
          <a:p>
            <a:pPr eaLnBrk="1" hangingPunct="1">
              <a:buFontTx/>
              <a:buNone/>
            </a:pPr>
            <a:r>
              <a:rPr lang="en-US" altLang="zh-CN" sz="2800" dirty="0">
                <a:solidFill>
                  <a:srgbClr val="000000"/>
                </a:solidFill>
                <a:sym typeface="Symbol" pitchFamily="18" charset="2"/>
              </a:rPr>
              <a:t>              Return NULL;       </a:t>
            </a:r>
            <a:r>
              <a:rPr lang="en-US" altLang="zh-CN" sz="2400" b="1" dirty="0">
                <a:solidFill>
                  <a:srgbClr val="006600"/>
                </a:solidFill>
                <a:latin typeface="楷体_GB2312" pitchFamily="49" charset="-122"/>
                <a:ea typeface="楷体_GB2312" pitchFamily="49" charset="-122"/>
                <a:sym typeface="Symbol" pitchFamily="18" charset="2"/>
              </a:rPr>
              <a:t>//</a:t>
            </a:r>
            <a:r>
              <a:rPr lang="zh-CN" altLang="en-US" sz="2400" b="1" dirty="0">
                <a:solidFill>
                  <a:srgbClr val="006600"/>
                </a:solidFill>
                <a:latin typeface="楷体_GB2312" pitchFamily="49" charset="-122"/>
                <a:ea typeface="楷体_GB2312" pitchFamily="49" charset="-122"/>
                <a:sym typeface="Symbol" pitchFamily="18" charset="2"/>
              </a:rPr>
              <a:t>栈空，返回空值</a:t>
            </a:r>
          </a:p>
          <a:p>
            <a:pPr eaLnBrk="1" hangingPunct="1">
              <a:buFontTx/>
              <a:buNone/>
            </a:pPr>
            <a:r>
              <a:rPr lang="zh-CN" altLang="en-US" sz="2800" dirty="0">
                <a:solidFill>
                  <a:srgbClr val="000000"/>
                </a:solidFill>
                <a:sym typeface="Symbol" pitchFamily="18" charset="2"/>
              </a:rPr>
              <a:t>         </a:t>
            </a:r>
            <a:r>
              <a:rPr lang="en-US" altLang="zh-CN" sz="2800" dirty="0" smtClean="0">
                <a:solidFill>
                  <a:srgbClr val="000000"/>
                </a:solidFill>
                <a:sym typeface="Symbol" pitchFamily="18" charset="2"/>
              </a:rPr>
              <a:t>else </a:t>
            </a:r>
            <a:r>
              <a:rPr lang="en-US" altLang="zh-CN" sz="2800" dirty="0">
                <a:solidFill>
                  <a:srgbClr val="000000"/>
                </a:solidFill>
                <a:sym typeface="Symbol" pitchFamily="18" charset="2"/>
              </a:rPr>
              <a:t>{  e = </a:t>
            </a:r>
            <a:r>
              <a:rPr lang="en-US" altLang="zh-CN" sz="2800" dirty="0" err="1">
                <a:solidFill>
                  <a:srgbClr val="000000"/>
                </a:solidFill>
                <a:ea typeface="楷体_GB2312" pitchFamily="49" charset="-122"/>
              </a:rPr>
              <a:t>S.S</a:t>
            </a:r>
            <a:r>
              <a:rPr lang="en-US" altLang="zh-CN" sz="2800" dirty="0" err="1">
                <a:solidFill>
                  <a:srgbClr val="000000"/>
                </a:solidFill>
                <a:sym typeface="Symbol" pitchFamily="18" charset="2"/>
              </a:rPr>
              <a:t>tack</a:t>
            </a:r>
            <a:r>
              <a:rPr lang="en-US" altLang="zh-CN" sz="2800" dirty="0">
                <a:solidFill>
                  <a:srgbClr val="000000"/>
                </a:solidFill>
                <a:sym typeface="Symbol" pitchFamily="18" charset="2"/>
              </a:rPr>
              <a:t>[Top];</a:t>
            </a:r>
          </a:p>
          <a:p>
            <a:pPr eaLnBrk="1" hangingPunct="1">
              <a:buFontTx/>
              <a:buNone/>
            </a:pPr>
            <a:r>
              <a:rPr lang="en-US" altLang="zh-CN" sz="2800" dirty="0">
                <a:solidFill>
                  <a:srgbClr val="000000"/>
                </a:solidFill>
                <a:sym typeface="Symbol" pitchFamily="18" charset="2"/>
              </a:rPr>
              <a:t>                     return OK; }</a:t>
            </a:r>
          </a:p>
          <a:p>
            <a:pPr eaLnBrk="1" hangingPunct="1">
              <a:buFontTx/>
              <a:buNone/>
            </a:pPr>
            <a:r>
              <a:rPr lang="en-US" altLang="zh-CN" sz="2800" dirty="0">
                <a:solidFill>
                  <a:srgbClr val="000000"/>
                </a:solidFill>
                <a:sym typeface="Symbol" pitchFamily="18" charset="2"/>
              </a:rPr>
              <a:t>} </a:t>
            </a:r>
            <a:r>
              <a:rPr lang="en-US" altLang="zh-CN" sz="2800" b="1" dirty="0">
                <a:sym typeface="Symbol" pitchFamily="18" charset="2"/>
              </a:rPr>
              <a:t> </a:t>
            </a:r>
            <a:r>
              <a:rPr lang="en-US" altLang="zh-CN" sz="2800" b="1" dirty="0">
                <a:solidFill>
                  <a:srgbClr val="006600"/>
                </a:solidFill>
                <a:sym typeface="Symbol" pitchFamily="18" charset="2"/>
              </a:rPr>
              <a:t>// </a:t>
            </a:r>
            <a:r>
              <a:rPr lang="en-US" altLang="zh-CN" b="1" dirty="0" err="1">
                <a:solidFill>
                  <a:srgbClr val="006600"/>
                </a:solidFill>
                <a:ea typeface="楷体_GB2312" pitchFamily="49" charset="-122"/>
              </a:rPr>
              <a:t>Gettop</a:t>
            </a:r>
            <a:endParaRPr lang="en-US" altLang="zh-CN" sz="2800" b="1" dirty="0">
              <a:solidFill>
                <a:srgbClr val="006600"/>
              </a:solidFill>
              <a:sym typeface="Symbol" pitchFamily="18" charset="2"/>
            </a:endParaRPr>
          </a:p>
          <a:p>
            <a:pPr eaLnBrk="1" hangingPunct="1">
              <a:buFontTx/>
              <a:buNone/>
            </a:pPr>
            <a:endParaRPr lang="en-US" altLang="zh-CN" sz="2000" b="1" dirty="0">
              <a:sym typeface="Symbol" pitchFamily="18" charset="2"/>
            </a:endParaRP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F7D4A3F4-381F-4086-BE85-C5723B67EE5A}" type="slidenum">
              <a:rPr lang="en-US" altLang="zh-CN"/>
              <a:pPr/>
              <a:t>26</a:t>
            </a:fld>
            <a:endParaRPr lang="en-US" altLang="zh-CN"/>
          </a:p>
        </p:txBody>
      </p:sp>
      <p:sp>
        <p:nvSpPr>
          <p:cNvPr id="24579" name="Rectangle 2"/>
          <p:cNvSpPr>
            <a:spLocks noGrp="1" noChangeArrowheads="1"/>
          </p:cNvSpPr>
          <p:nvPr>
            <p:ph type="title" idx="4294967295"/>
          </p:nvPr>
        </p:nvSpPr>
        <p:spPr>
          <a:xfrm>
            <a:off x="260350" y="1784350"/>
            <a:ext cx="7772400" cy="558800"/>
          </a:xfrm>
        </p:spPr>
        <p:txBody>
          <a:bodyPr/>
          <a:lstStyle/>
          <a:p>
            <a:pPr algn="l" eaLnBrk="1" hangingPunct="1"/>
            <a:r>
              <a:rPr lang="zh-CN" altLang="en-US" sz="3200" dirty="0">
                <a:solidFill>
                  <a:srgbClr val="000000"/>
                </a:solidFill>
                <a:latin typeface="楷体_GB2312" pitchFamily="49" charset="-122"/>
                <a:ea typeface="楷体_GB2312" pitchFamily="49" charset="-122"/>
              </a:rPr>
              <a:t>判栈空算法</a:t>
            </a:r>
          </a:p>
        </p:txBody>
      </p:sp>
      <p:sp>
        <p:nvSpPr>
          <p:cNvPr id="24580" name="Rectangle 3"/>
          <p:cNvSpPr>
            <a:spLocks noGrp="1" noChangeArrowheads="1"/>
          </p:cNvSpPr>
          <p:nvPr>
            <p:ph type="body" idx="4294967295"/>
          </p:nvPr>
        </p:nvSpPr>
        <p:spPr>
          <a:xfrm>
            <a:off x="881590" y="2528900"/>
            <a:ext cx="7772400" cy="3272045"/>
          </a:xfrm>
          <a:noFill/>
        </p:spPr>
        <p:txBody>
          <a:bodyPr/>
          <a:lstStyle/>
          <a:p>
            <a:pPr eaLnBrk="1" hangingPunct="1">
              <a:spcBef>
                <a:spcPts val="0"/>
              </a:spcBef>
              <a:buFontTx/>
              <a:buNone/>
            </a:pPr>
            <a:r>
              <a:rPr lang="en-US" altLang="zh-CN" dirty="0">
                <a:solidFill>
                  <a:srgbClr val="000000"/>
                </a:solidFill>
                <a:ea typeface="楷体_GB2312" pitchFamily="49" charset="-122"/>
              </a:rPr>
              <a:t>Status Empty (</a:t>
            </a:r>
            <a:r>
              <a:rPr lang="en-US" altLang="zh-CN" dirty="0" err="1">
                <a:solidFill>
                  <a:srgbClr val="000000"/>
                </a:solidFill>
                <a:ea typeface="楷体_GB2312" pitchFamily="49" charset="-122"/>
              </a:rPr>
              <a:t>Sqstack</a:t>
            </a:r>
            <a:r>
              <a:rPr lang="en-US" altLang="zh-CN" dirty="0">
                <a:solidFill>
                  <a:srgbClr val="000000"/>
                </a:solidFill>
                <a:ea typeface="楷体_GB2312" pitchFamily="49" charset="-122"/>
              </a:rPr>
              <a:t> S)</a:t>
            </a:r>
          </a:p>
          <a:p>
            <a:pPr eaLnBrk="1" hangingPunct="1">
              <a:spcBef>
                <a:spcPts val="0"/>
              </a:spcBef>
              <a:buFontTx/>
              <a:buNone/>
            </a:pPr>
            <a:r>
              <a:rPr lang="en-US" altLang="zh-CN" dirty="0">
                <a:solidFill>
                  <a:srgbClr val="000000"/>
                </a:solidFill>
                <a:ea typeface="楷体_GB2312" pitchFamily="49" charset="-122"/>
              </a:rPr>
              <a:t>     { if (S.</a:t>
            </a:r>
            <a:r>
              <a:rPr lang="en-US" altLang="zh-CN" dirty="0">
                <a:solidFill>
                  <a:srgbClr val="000000"/>
                </a:solidFill>
                <a:sym typeface="Symbol" pitchFamily="18" charset="2"/>
              </a:rPr>
              <a:t> Top&lt;0)</a:t>
            </a:r>
          </a:p>
          <a:p>
            <a:pPr eaLnBrk="1" hangingPunct="1">
              <a:spcBef>
                <a:spcPts val="0"/>
              </a:spcBef>
              <a:buFontTx/>
              <a:buNone/>
            </a:pPr>
            <a:r>
              <a:rPr lang="en-US" altLang="zh-CN" dirty="0">
                <a:solidFill>
                  <a:srgbClr val="000000"/>
                </a:solidFill>
                <a:sym typeface="Symbol" pitchFamily="18" charset="2"/>
              </a:rPr>
              <a:t>              Return TRUE</a:t>
            </a:r>
            <a:r>
              <a:rPr lang="en-US" altLang="zh-CN" sz="2800" dirty="0">
                <a:solidFill>
                  <a:srgbClr val="000000"/>
                </a:solidFill>
                <a:sym typeface="Symbol" pitchFamily="18" charset="2"/>
              </a:rPr>
              <a:t>;       </a:t>
            </a:r>
            <a:r>
              <a:rPr lang="en-US" altLang="zh-CN" sz="2400" b="1" kern="1200" dirty="0">
                <a:solidFill>
                  <a:srgbClr val="006600"/>
                </a:solidFill>
                <a:latin typeface="楷体_GB2312" pitchFamily="49" charset="-122"/>
                <a:ea typeface="楷体_GB2312" pitchFamily="49" charset="-122"/>
                <a:sym typeface="Symbol" pitchFamily="18" charset="2"/>
              </a:rPr>
              <a:t>//</a:t>
            </a:r>
            <a:r>
              <a:rPr lang="zh-CN" altLang="en-US" sz="2400" b="1" kern="1200" dirty="0">
                <a:solidFill>
                  <a:srgbClr val="006600"/>
                </a:solidFill>
                <a:latin typeface="楷体_GB2312" pitchFamily="49" charset="-122"/>
                <a:ea typeface="楷体_GB2312" pitchFamily="49" charset="-122"/>
                <a:sym typeface="Symbol" pitchFamily="18" charset="2"/>
              </a:rPr>
              <a:t>栈空，返回</a:t>
            </a:r>
            <a:r>
              <a:rPr lang="en-US" altLang="zh-CN" sz="2400" b="1" kern="1200" dirty="0">
                <a:solidFill>
                  <a:srgbClr val="006600"/>
                </a:solidFill>
                <a:latin typeface="楷体_GB2312" pitchFamily="49" charset="-122"/>
                <a:ea typeface="楷体_GB2312" pitchFamily="49" charset="-122"/>
                <a:sym typeface="Symbol" pitchFamily="18" charset="2"/>
              </a:rPr>
              <a:t>TRUE</a:t>
            </a:r>
          </a:p>
          <a:p>
            <a:pPr eaLnBrk="1" hangingPunct="1">
              <a:spcBef>
                <a:spcPts val="0"/>
              </a:spcBef>
              <a:buFontTx/>
              <a:buNone/>
            </a:pPr>
            <a:r>
              <a:rPr lang="en-US" altLang="zh-CN" dirty="0">
                <a:solidFill>
                  <a:srgbClr val="000000"/>
                </a:solidFill>
                <a:sym typeface="Symbol" pitchFamily="18" charset="2"/>
              </a:rPr>
              <a:t>        </a:t>
            </a:r>
            <a:r>
              <a:rPr lang="en-US" altLang="zh-CN" dirty="0" smtClean="0">
                <a:solidFill>
                  <a:srgbClr val="000000"/>
                </a:solidFill>
                <a:sym typeface="Symbol" pitchFamily="18" charset="2"/>
              </a:rPr>
              <a:t>else</a:t>
            </a:r>
            <a:endParaRPr lang="en-US" altLang="zh-CN" dirty="0">
              <a:solidFill>
                <a:srgbClr val="000000"/>
              </a:solidFill>
              <a:sym typeface="Symbol" pitchFamily="18" charset="2"/>
            </a:endParaRPr>
          </a:p>
          <a:p>
            <a:pPr eaLnBrk="1" hangingPunct="1">
              <a:spcBef>
                <a:spcPts val="0"/>
              </a:spcBef>
              <a:buFontTx/>
              <a:buNone/>
            </a:pPr>
            <a:r>
              <a:rPr lang="en-US" altLang="zh-CN" dirty="0">
                <a:solidFill>
                  <a:srgbClr val="000000"/>
                </a:solidFill>
                <a:sym typeface="Symbol" pitchFamily="18" charset="2"/>
              </a:rPr>
              <a:t>              Return FALSE;</a:t>
            </a:r>
          </a:p>
          <a:p>
            <a:pPr eaLnBrk="1" hangingPunct="1">
              <a:spcBef>
                <a:spcPts val="0"/>
              </a:spcBef>
              <a:buFontTx/>
              <a:buNone/>
            </a:pPr>
            <a:r>
              <a:rPr lang="en-US" altLang="zh-CN" dirty="0">
                <a:solidFill>
                  <a:srgbClr val="000000"/>
                </a:solidFill>
                <a:sym typeface="Symbol" pitchFamily="18" charset="2"/>
              </a:rPr>
              <a:t>      }  // </a:t>
            </a:r>
            <a:r>
              <a:rPr lang="en-US" altLang="zh-CN" dirty="0">
                <a:solidFill>
                  <a:srgbClr val="000000"/>
                </a:solidFill>
                <a:ea typeface="楷体_GB2312" pitchFamily="49" charset="-122"/>
              </a:rPr>
              <a:t>Empty</a:t>
            </a:r>
            <a:endParaRPr lang="en-US" altLang="zh-CN" dirty="0">
              <a:solidFill>
                <a:srgbClr val="000000"/>
              </a:solidFill>
              <a:sym typeface="Symbol" pitchFamily="18" charset="2"/>
            </a:endParaRPr>
          </a:p>
          <a:p>
            <a:pPr eaLnBrk="1" hangingPunct="1">
              <a:spcBef>
                <a:spcPts val="0"/>
              </a:spcBef>
              <a:buFontTx/>
              <a:buNone/>
            </a:pPr>
            <a:endParaRPr lang="en-US" altLang="zh-CN" dirty="0">
              <a:solidFill>
                <a:srgbClr val="000000"/>
              </a:solidFill>
              <a:sym typeface="Symbol" pitchFamily="18" charset="2"/>
            </a:endParaRP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p>
            <a:fld id="{4048AC54-D50F-4E84-9625-87F933C907C0}" type="slidenum">
              <a:rPr lang="en-US" altLang="zh-CN"/>
              <a:pPr/>
              <a:t>27</a:t>
            </a:fld>
            <a:endParaRPr lang="en-US" altLang="zh-CN"/>
          </a:p>
        </p:txBody>
      </p:sp>
      <p:sp>
        <p:nvSpPr>
          <p:cNvPr id="25603" name="Text Box 2"/>
          <p:cNvSpPr txBox="1">
            <a:spLocks noChangeArrowheads="1"/>
          </p:cNvSpPr>
          <p:nvPr/>
        </p:nvSpPr>
        <p:spPr bwMode="auto">
          <a:xfrm>
            <a:off x="571500" y="1517650"/>
            <a:ext cx="8001000" cy="1587500"/>
          </a:xfrm>
          <a:prstGeom prst="rect">
            <a:avLst/>
          </a:prstGeom>
          <a:noFill/>
          <a:ln w="9525">
            <a:noFill/>
            <a:miter lim="800000"/>
            <a:headEnd/>
            <a:tailEnd/>
          </a:ln>
        </p:spPr>
        <p:txBody>
          <a:bodyPr>
            <a:spAutoFit/>
          </a:bodyPr>
          <a:lstStyle/>
          <a:p>
            <a:pPr>
              <a:spcBef>
                <a:spcPct val="50000"/>
              </a:spcBef>
            </a:pPr>
            <a:r>
              <a:rPr lang="en-US" altLang="zh-CN" sz="2800" b="1" dirty="0">
                <a:ea typeface="楷体_GB2312" pitchFamily="49" charset="-122"/>
              </a:rPr>
              <a:t>        </a:t>
            </a:r>
            <a:r>
              <a:rPr lang="zh-CN" altLang="en-US" sz="2800" b="1" dirty="0">
                <a:ea typeface="楷体_GB2312" pitchFamily="49" charset="-122"/>
              </a:rPr>
              <a:t>在实现上述这些操作时，可以不把栈</a:t>
            </a:r>
            <a:r>
              <a:rPr lang="en-US" altLang="zh-CN" sz="2800" b="1" dirty="0">
                <a:ea typeface="楷体_GB2312" pitchFamily="49" charset="-122"/>
              </a:rPr>
              <a:t>S</a:t>
            </a:r>
            <a:r>
              <a:rPr lang="zh-CN" altLang="en-US" sz="2800" b="1" dirty="0">
                <a:ea typeface="楷体_GB2312" pitchFamily="49" charset="-122"/>
              </a:rPr>
              <a:t>定义为结构体类型（</a:t>
            </a:r>
            <a:r>
              <a:rPr lang="en-US" altLang="zh-CN" sz="2800" b="1" dirty="0" err="1">
                <a:ea typeface="楷体_GB2312" pitchFamily="49" charset="-122"/>
              </a:rPr>
              <a:t>Sqstack</a:t>
            </a:r>
            <a:r>
              <a:rPr lang="en-US" altLang="zh-CN" sz="2800" b="1" dirty="0">
                <a:ea typeface="楷体_GB2312" pitchFamily="49" charset="-122"/>
              </a:rPr>
              <a:t>  S)</a:t>
            </a:r>
            <a:endParaRPr lang="en-US" altLang="zh-CN" sz="2800" b="1" dirty="0">
              <a:ea typeface="楷体_GB2312" pitchFamily="49" charset="-122"/>
              <a:sym typeface="Symbol" pitchFamily="18" charset="2"/>
            </a:endParaRPr>
          </a:p>
          <a:p>
            <a:pPr>
              <a:spcBef>
                <a:spcPct val="50000"/>
              </a:spcBef>
            </a:pPr>
            <a:r>
              <a:rPr lang="en-US" altLang="zh-CN" sz="2800" b="1" dirty="0">
                <a:ea typeface="楷体_GB2312" pitchFamily="49" charset="-122"/>
              </a:rPr>
              <a:t>       </a:t>
            </a:r>
            <a:r>
              <a:rPr lang="zh-CN" altLang="en-US" sz="2800" b="1" dirty="0">
                <a:ea typeface="楷体_GB2312" pitchFamily="49" charset="-122"/>
              </a:rPr>
              <a:t>而是定义为指向结构体的指针类型</a:t>
            </a:r>
            <a:r>
              <a:rPr lang="en-US" altLang="zh-CN" sz="2800" b="1" dirty="0">
                <a:ea typeface="楷体_GB2312" pitchFamily="49" charset="-122"/>
              </a:rPr>
              <a:t>:</a:t>
            </a:r>
          </a:p>
        </p:txBody>
      </p:sp>
      <p:sp>
        <p:nvSpPr>
          <p:cNvPr id="25604" name="Text Box 3"/>
          <p:cNvSpPr txBox="1">
            <a:spLocks noChangeArrowheads="1"/>
          </p:cNvSpPr>
          <p:nvPr/>
        </p:nvSpPr>
        <p:spPr bwMode="auto">
          <a:xfrm>
            <a:off x="796925" y="4083050"/>
            <a:ext cx="8001000" cy="1801813"/>
          </a:xfrm>
          <a:prstGeom prst="rect">
            <a:avLst/>
          </a:prstGeom>
          <a:noFill/>
          <a:ln w="9525">
            <a:noFill/>
            <a:miter lim="800000"/>
            <a:headEnd/>
            <a:tailEnd/>
          </a:ln>
        </p:spPr>
        <p:txBody>
          <a:bodyPr>
            <a:spAutoFit/>
          </a:bodyPr>
          <a:lstStyle/>
          <a:p>
            <a:pPr>
              <a:spcBef>
                <a:spcPct val="50000"/>
              </a:spcBef>
            </a:pPr>
            <a:r>
              <a:rPr lang="zh-CN" altLang="en-US" sz="2800" b="1" dirty="0">
                <a:ea typeface="楷体_GB2312" pitchFamily="49" charset="-122"/>
              </a:rPr>
              <a:t>这样在编程时，只需将</a:t>
            </a:r>
          </a:p>
          <a:p>
            <a:pPr>
              <a:spcBef>
                <a:spcPct val="50000"/>
              </a:spcBef>
            </a:pPr>
            <a:r>
              <a:rPr lang="zh-CN" altLang="en-US" sz="2800" b="1" dirty="0">
                <a:ea typeface="楷体_GB2312" pitchFamily="49" charset="-122"/>
              </a:rPr>
              <a:t>               </a:t>
            </a:r>
            <a:r>
              <a:rPr lang="en-US" altLang="zh-CN" sz="2800" b="1" dirty="0">
                <a:ea typeface="楷体_GB2312" pitchFamily="49" charset="-122"/>
              </a:rPr>
              <a:t>S </a:t>
            </a:r>
            <a:r>
              <a:rPr lang="en-US" altLang="zh-CN" sz="2000" b="1" dirty="0">
                <a:sym typeface="Symbol" pitchFamily="18" charset="2"/>
              </a:rPr>
              <a:t>.</a:t>
            </a:r>
            <a:r>
              <a:rPr lang="en-US" altLang="zh-CN" sz="2800" b="1" dirty="0">
                <a:sym typeface="Symbol" pitchFamily="18" charset="2"/>
              </a:rPr>
              <a:t>Top </a:t>
            </a:r>
            <a:r>
              <a:rPr lang="zh-CN" altLang="en-US" sz="2800" b="1" dirty="0">
                <a:ea typeface="楷体_GB2312" pitchFamily="49" charset="-122"/>
                <a:sym typeface="Symbol" pitchFamily="18" charset="2"/>
              </a:rPr>
              <a:t>改为</a:t>
            </a:r>
            <a:r>
              <a:rPr lang="en-US" altLang="zh-CN" sz="2800" b="1" dirty="0">
                <a:solidFill>
                  <a:schemeClr val="hlink"/>
                </a:solidFill>
                <a:ea typeface="楷体_GB2312" pitchFamily="49" charset="-122"/>
              </a:rPr>
              <a:t>S </a:t>
            </a:r>
            <a:r>
              <a:rPr lang="en-US" altLang="zh-CN" sz="2000" b="1" dirty="0">
                <a:solidFill>
                  <a:schemeClr val="hlink"/>
                </a:solidFill>
                <a:sym typeface="Symbol" pitchFamily="18" charset="2"/>
              </a:rPr>
              <a:t></a:t>
            </a:r>
            <a:r>
              <a:rPr lang="en-US" altLang="zh-CN" sz="2800" b="1" dirty="0">
                <a:solidFill>
                  <a:schemeClr val="hlink"/>
                </a:solidFill>
                <a:sym typeface="Symbol" pitchFamily="18" charset="2"/>
              </a:rPr>
              <a:t>Top</a:t>
            </a:r>
            <a:r>
              <a:rPr lang="en-US" altLang="zh-CN" sz="2800" b="1" dirty="0">
                <a:sym typeface="Symbol" pitchFamily="18" charset="2"/>
              </a:rPr>
              <a:t> </a:t>
            </a:r>
          </a:p>
          <a:p>
            <a:pPr>
              <a:spcBef>
                <a:spcPct val="50000"/>
              </a:spcBef>
            </a:pPr>
            <a:r>
              <a:rPr lang="en-US" altLang="zh-CN" sz="2800" b="1" dirty="0">
                <a:ea typeface="楷体_GB2312" pitchFamily="49" charset="-122"/>
              </a:rPr>
              <a:t>               </a:t>
            </a:r>
            <a:r>
              <a:rPr lang="en-US" altLang="zh-CN" sz="2800" b="1" dirty="0" err="1">
                <a:ea typeface="楷体_GB2312" pitchFamily="49" charset="-122"/>
              </a:rPr>
              <a:t>S</a:t>
            </a:r>
            <a:r>
              <a:rPr lang="en-US" altLang="zh-CN" sz="2000" b="1" dirty="0" err="1">
                <a:sym typeface="Symbol" pitchFamily="18" charset="2"/>
              </a:rPr>
              <a:t>.</a:t>
            </a:r>
            <a:r>
              <a:rPr lang="en-US" altLang="zh-CN" sz="2800" b="1" dirty="0" err="1">
                <a:sym typeface="Symbol" pitchFamily="18" charset="2"/>
              </a:rPr>
              <a:t>Stack</a:t>
            </a:r>
            <a:r>
              <a:rPr lang="en-US" altLang="zh-CN" sz="2800" b="1" dirty="0">
                <a:sym typeface="Symbol" pitchFamily="18" charset="2"/>
              </a:rPr>
              <a:t>[ ] </a:t>
            </a:r>
            <a:r>
              <a:rPr lang="zh-CN" altLang="en-US" sz="2800" b="1" dirty="0">
                <a:ea typeface="楷体_GB2312" pitchFamily="49" charset="-122"/>
                <a:sym typeface="Symbol" pitchFamily="18" charset="2"/>
              </a:rPr>
              <a:t>改为</a:t>
            </a:r>
            <a:r>
              <a:rPr lang="en-US" altLang="zh-CN" sz="2800" b="1" dirty="0">
                <a:solidFill>
                  <a:schemeClr val="hlink"/>
                </a:solidFill>
                <a:ea typeface="楷体_GB2312" pitchFamily="49" charset="-122"/>
              </a:rPr>
              <a:t>S </a:t>
            </a:r>
            <a:r>
              <a:rPr lang="en-US" altLang="zh-CN" sz="2000" b="1" dirty="0">
                <a:solidFill>
                  <a:schemeClr val="hlink"/>
                </a:solidFill>
                <a:sym typeface="Symbol" pitchFamily="18" charset="2"/>
              </a:rPr>
              <a:t> </a:t>
            </a:r>
            <a:r>
              <a:rPr lang="en-US" altLang="zh-CN" sz="2800" b="1" dirty="0">
                <a:solidFill>
                  <a:schemeClr val="hlink"/>
                </a:solidFill>
                <a:sym typeface="Symbol" pitchFamily="18" charset="2"/>
              </a:rPr>
              <a:t>Stack[ ]</a:t>
            </a:r>
            <a:r>
              <a:rPr lang="zh-CN" altLang="en-US" sz="2800" b="1" dirty="0">
                <a:ea typeface="楷体_GB2312" pitchFamily="49" charset="-122"/>
                <a:sym typeface="Symbol" pitchFamily="18" charset="2"/>
              </a:rPr>
              <a:t>即可。</a:t>
            </a:r>
          </a:p>
        </p:txBody>
      </p:sp>
      <p:sp>
        <p:nvSpPr>
          <p:cNvPr id="25605" name="Rectangle 4"/>
          <p:cNvSpPr>
            <a:spLocks noChangeArrowheads="1"/>
          </p:cNvSpPr>
          <p:nvPr/>
        </p:nvSpPr>
        <p:spPr bwMode="auto">
          <a:xfrm>
            <a:off x="1787525" y="3182938"/>
            <a:ext cx="4572000" cy="1066800"/>
          </a:xfrm>
          <a:prstGeom prst="rect">
            <a:avLst/>
          </a:prstGeom>
          <a:noFill/>
          <a:ln w="9525">
            <a:noFill/>
            <a:miter lim="800000"/>
            <a:headEnd/>
            <a:tailEnd/>
          </a:ln>
        </p:spPr>
        <p:txBody>
          <a:bodyPr>
            <a:spAutoFit/>
          </a:bodyPr>
          <a:lstStyle/>
          <a:p>
            <a:r>
              <a:rPr lang="en-US" altLang="zh-CN" sz="3200" b="1" dirty="0" err="1"/>
              <a:t>Sqstack</a:t>
            </a:r>
            <a:r>
              <a:rPr lang="en-US" altLang="zh-CN" sz="3200" b="1" dirty="0"/>
              <a:t> </a:t>
            </a:r>
            <a:r>
              <a:rPr lang="en-US" altLang="zh-CN" sz="3200" b="1" dirty="0">
                <a:solidFill>
                  <a:schemeClr val="hlink"/>
                </a:solidFill>
              </a:rPr>
              <a:t>*S</a:t>
            </a:r>
            <a:r>
              <a:rPr lang="en-US" altLang="zh-CN" sz="3200" b="1" dirty="0"/>
              <a:t>;</a:t>
            </a:r>
            <a:r>
              <a:rPr lang="en-US" altLang="zh-CN" sz="3200" dirty="0"/>
              <a:t>  </a:t>
            </a:r>
            <a:br>
              <a:rPr lang="en-US" altLang="zh-CN" sz="3200" dirty="0"/>
            </a:br>
            <a:endParaRPr lang="en-US" altLang="zh-CN" sz="3200" dirty="0"/>
          </a:p>
        </p:txBody>
      </p:sp>
      <p:sp>
        <p:nvSpPr>
          <p:cNvPr id="6"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p:spPr>
        <p:txBody>
          <a:bodyPr/>
          <a:lstStyle/>
          <a:p>
            <a:fld id="{F8ACD314-A385-441D-8282-587EEAE36279}" type="slidenum">
              <a:rPr lang="en-US" altLang="zh-CN"/>
              <a:pPr/>
              <a:t>28</a:t>
            </a:fld>
            <a:endParaRPr lang="en-US" altLang="zh-CN"/>
          </a:p>
        </p:txBody>
      </p:sp>
      <p:sp>
        <p:nvSpPr>
          <p:cNvPr id="26627" name="Text Box 2"/>
          <p:cNvSpPr txBox="1">
            <a:spLocks noChangeArrowheads="1"/>
          </p:cNvSpPr>
          <p:nvPr/>
        </p:nvSpPr>
        <p:spPr bwMode="auto">
          <a:xfrm>
            <a:off x="393700" y="2317750"/>
            <a:ext cx="8318760" cy="3560975"/>
          </a:xfrm>
          <a:prstGeom prst="rect">
            <a:avLst/>
          </a:prstGeom>
          <a:noFill/>
          <a:ln w="9525">
            <a:noFill/>
            <a:miter lim="800000"/>
            <a:headEnd/>
            <a:tailEnd/>
          </a:ln>
        </p:spPr>
        <p:txBody>
          <a:bodyPr wrap="square">
            <a:spAutoFit/>
          </a:bodyPr>
          <a:lstStyle/>
          <a:p>
            <a:pPr eaLnBrk="0" hangingPunct="0">
              <a:lnSpc>
                <a:spcPct val="115000"/>
              </a:lnSpc>
            </a:pPr>
            <a:r>
              <a:rPr lang="en-US" altLang="zh-CN" sz="2800" dirty="0"/>
              <a:t>#Define  STACK_INIT_SIZE  100; </a:t>
            </a:r>
          </a:p>
          <a:p>
            <a:pPr eaLnBrk="0" hangingPunct="0">
              <a:lnSpc>
                <a:spcPct val="115000"/>
              </a:lnSpc>
            </a:pPr>
            <a:r>
              <a:rPr lang="en-US" altLang="zh-CN" sz="2800" dirty="0"/>
              <a:t>#Define  STACKINCREMENT   10;  </a:t>
            </a:r>
          </a:p>
          <a:p>
            <a:pPr eaLnBrk="0" hangingPunct="0">
              <a:lnSpc>
                <a:spcPct val="115000"/>
              </a:lnSpc>
            </a:pPr>
            <a:r>
              <a:rPr lang="en-US" altLang="zh-CN" sz="2800" dirty="0" err="1"/>
              <a:t>Typedef</a:t>
            </a:r>
            <a:r>
              <a:rPr lang="en-US" altLang="zh-CN" sz="2800" dirty="0"/>
              <a:t> </a:t>
            </a:r>
            <a:r>
              <a:rPr lang="en-US" altLang="zh-CN" sz="2800" dirty="0" err="1"/>
              <a:t>Struct</a:t>
            </a:r>
            <a:endParaRPr lang="en-US" altLang="zh-CN" sz="2800" dirty="0"/>
          </a:p>
          <a:p>
            <a:pPr eaLnBrk="0" hangingPunct="0">
              <a:lnSpc>
                <a:spcPct val="115000"/>
              </a:lnSpc>
            </a:pPr>
            <a:r>
              <a:rPr lang="en-US" altLang="zh-CN" sz="2800" dirty="0"/>
              <a:t>{  </a:t>
            </a:r>
            <a:r>
              <a:rPr lang="en-US" altLang="zh-CN" sz="2800" dirty="0" err="1"/>
              <a:t>SElemType</a:t>
            </a:r>
            <a:r>
              <a:rPr lang="en-US" altLang="zh-CN" sz="2800" dirty="0"/>
              <a:t>  </a:t>
            </a:r>
            <a:r>
              <a:rPr lang="en-US" altLang="zh-CN" sz="2800" dirty="0">
                <a:solidFill>
                  <a:schemeClr val="hlink"/>
                </a:solidFill>
              </a:rPr>
              <a:t>*Base</a:t>
            </a:r>
            <a:r>
              <a:rPr lang="en-US" altLang="zh-CN" sz="2800" dirty="0"/>
              <a:t>;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栈底指针</a:t>
            </a:r>
            <a:endParaRPr lang="en-US" altLang="zh-CN" dirty="0"/>
          </a:p>
          <a:p>
            <a:pPr eaLnBrk="0" hangingPunct="0">
              <a:lnSpc>
                <a:spcPct val="115000"/>
              </a:lnSpc>
            </a:pPr>
            <a:r>
              <a:rPr lang="en-US" altLang="zh-CN" sz="2800" dirty="0"/>
              <a:t>    </a:t>
            </a:r>
            <a:r>
              <a:rPr lang="en-US" altLang="zh-CN" sz="2800" dirty="0" err="1"/>
              <a:t>SElemType</a:t>
            </a:r>
            <a:r>
              <a:rPr lang="en-US" altLang="zh-CN" sz="2800" dirty="0"/>
              <a:t>  </a:t>
            </a:r>
            <a:r>
              <a:rPr lang="en-US" altLang="zh-CN" sz="2800" dirty="0">
                <a:solidFill>
                  <a:schemeClr val="hlink"/>
                </a:solidFill>
              </a:rPr>
              <a:t>*Top</a:t>
            </a:r>
            <a:r>
              <a:rPr lang="en-US" altLang="zh-CN" sz="2800" dirty="0"/>
              <a:t>;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栈顶指针，指向栈顶的下一个位置</a:t>
            </a:r>
          </a:p>
          <a:p>
            <a:pPr eaLnBrk="0" hangingPunct="0">
              <a:lnSpc>
                <a:spcPct val="115000"/>
              </a:lnSpc>
            </a:pPr>
            <a:r>
              <a:rPr lang="zh-CN" altLang="en-US" sz="2800" dirty="0"/>
              <a:t>    </a:t>
            </a:r>
            <a:r>
              <a:rPr lang="en-US" altLang="zh-CN" sz="2800" dirty="0" err="1"/>
              <a:t>int</a:t>
            </a:r>
            <a:r>
              <a:rPr lang="en-US" altLang="zh-CN" sz="2800" dirty="0"/>
              <a:t>  </a:t>
            </a:r>
            <a:r>
              <a:rPr lang="en-US" altLang="zh-CN" sz="2800" dirty="0" err="1">
                <a:solidFill>
                  <a:schemeClr val="hlink"/>
                </a:solidFill>
              </a:rPr>
              <a:t>Stacksize</a:t>
            </a:r>
            <a:r>
              <a:rPr lang="en-US" altLang="zh-CN" sz="2800" dirty="0"/>
              <a:t>;    </a:t>
            </a:r>
          </a:p>
          <a:p>
            <a:pPr eaLnBrk="0" hangingPunct="0">
              <a:lnSpc>
                <a:spcPct val="115000"/>
              </a:lnSpc>
            </a:pPr>
            <a:r>
              <a:rPr lang="en-US" altLang="zh-CN" sz="2800" dirty="0"/>
              <a:t> } </a:t>
            </a:r>
            <a:r>
              <a:rPr lang="en-US" altLang="zh-CN" sz="2800" dirty="0" err="1"/>
              <a:t>SqStack</a:t>
            </a:r>
            <a:r>
              <a:rPr lang="en-US" altLang="zh-CN" sz="2800" dirty="0"/>
              <a:t>;</a:t>
            </a:r>
          </a:p>
        </p:txBody>
      </p:sp>
      <p:sp>
        <p:nvSpPr>
          <p:cNvPr id="26629" name="Text Box 4"/>
          <p:cNvSpPr txBox="1">
            <a:spLocks noChangeArrowheads="1"/>
          </p:cNvSpPr>
          <p:nvPr/>
        </p:nvSpPr>
        <p:spPr bwMode="auto">
          <a:xfrm>
            <a:off x="6096000" y="4287838"/>
            <a:ext cx="2301875" cy="457200"/>
          </a:xfrm>
          <a:prstGeom prst="rect">
            <a:avLst/>
          </a:prstGeom>
          <a:noFill/>
          <a:ln w="9525">
            <a:noFill/>
            <a:miter lim="800000"/>
            <a:headEnd/>
            <a:tailEnd/>
          </a:ln>
        </p:spPr>
        <p:txBody>
          <a:bodyPr>
            <a:spAutoFit/>
          </a:bodyPr>
          <a:lstStyle/>
          <a:p>
            <a:endParaRPr lang="zh-CN" altLang="zh-CN"/>
          </a:p>
        </p:txBody>
      </p:sp>
      <p:sp>
        <p:nvSpPr>
          <p:cNvPr id="26630" name="Text Box 6"/>
          <p:cNvSpPr txBox="1">
            <a:spLocks noChangeArrowheads="1"/>
          </p:cNvSpPr>
          <p:nvPr/>
        </p:nvSpPr>
        <p:spPr bwMode="auto">
          <a:xfrm>
            <a:off x="260350" y="1517650"/>
            <a:ext cx="7086600" cy="584775"/>
          </a:xfrm>
          <a:prstGeom prst="rect">
            <a:avLst/>
          </a:prstGeom>
          <a:noFill/>
          <a:ln w="9525">
            <a:noFill/>
            <a:miter lim="800000"/>
            <a:headEnd/>
            <a:tailEnd/>
          </a:ln>
        </p:spPr>
        <p:txBody>
          <a:bodyPr>
            <a:spAutoFit/>
          </a:bodyPr>
          <a:lstStyle/>
          <a:p>
            <a:pPr>
              <a:spcBef>
                <a:spcPct val="50000"/>
              </a:spcBef>
            </a:pPr>
            <a:r>
              <a:rPr lang="zh-CN" altLang="en-US" sz="3200" dirty="0">
                <a:solidFill>
                  <a:srgbClr val="000000"/>
                </a:solidFill>
                <a:ea typeface="楷体_GB2312" pitchFamily="49" charset="-122"/>
              </a:rPr>
              <a:t>栈的顺序存储结构方法二</a:t>
            </a:r>
          </a:p>
        </p:txBody>
      </p:sp>
      <p:sp>
        <p:nvSpPr>
          <p:cNvPr id="7"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p:spPr>
        <p:txBody>
          <a:bodyPr/>
          <a:lstStyle/>
          <a:p>
            <a:fld id="{4AF6A562-C6F9-4144-9AF0-ACF6B4A1BBFC}" type="slidenum">
              <a:rPr lang="en-US" altLang="zh-CN"/>
              <a:pPr/>
              <a:t>29</a:t>
            </a:fld>
            <a:endParaRPr lang="en-US" altLang="zh-CN"/>
          </a:p>
        </p:txBody>
      </p:sp>
      <p:sp>
        <p:nvSpPr>
          <p:cNvPr id="27651" name="Text Box 2"/>
          <p:cNvSpPr txBox="1">
            <a:spLocks noChangeArrowheads="1"/>
          </p:cNvSpPr>
          <p:nvPr/>
        </p:nvSpPr>
        <p:spPr bwMode="auto">
          <a:xfrm>
            <a:off x="349251" y="1606550"/>
            <a:ext cx="8534400" cy="4142673"/>
          </a:xfrm>
          <a:prstGeom prst="rect">
            <a:avLst/>
          </a:prstGeom>
          <a:noFill/>
          <a:ln w="9525">
            <a:noFill/>
            <a:miter lim="800000"/>
            <a:headEnd/>
            <a:tailEnd/>
          </a:ln>
        </p:spPr>
        <p:txBody>
          <a:bodyPr wrap="square">
            <a:spAutoFit/>
          </a:bodyPr>
          <a:lstStyle/>
          <a:p>
            <a:pPr eaLnBrk="0" hangingPunct="0">
              <a:lnSpc>
                <a:spcPct val="120000"/>
              </a:lnSpc>
            </a:pPr>
            <a:r>
              <a:rPr lang="en-US" altLang="zh-CN" sz="2800" dirty="0"/>
              <a:t> Status </a:t>
            </a:r>
            <a:r>
              <a:rPr lang="en-US" altLang="zh-CN" sz="2800" dirty="0" err="1"/>
              <a:t>InitStack</a:t>
            </a:r>
            <a:r>
              <a:rPr lang="en-US" altLang="zh-CN" sz="2800" dirty="0"/>
              <a:t> (</a:t>
            </a:r>
            <a:r>
              <a:rPr lang="en-US" altLang="zh-CN" sz="2800" dirty="0" err="1"/>
              <a:t>SqStack</a:t>
            </a:r>
            <a:r>
              <a:rPr lang="en-US" altLang="zh-CN" sz="2800" dirty="0"/>
              <a:t> &amp;S)</a:t>
            </a:r>
            <a:r>
              <a:rPr lang="en-US" altLang="zh-CN" dirty="0">
                <a:solidFill>
                  <a:srgbClr val="006600"/>
                </a:solidFill>
                <a:latin typeface="楷体_GB2312" pitchFamily="49" charset="-122"/>
                <a:ea typeface="楷体_GB2312" pitchFamily="49" charset="-122"/>
              </a:rPr>
              <a:t>      // </a:t>
            </a:r>
            <a:r>
              <a:rPr lang="zh-CN" altLang="en-US" dirty="0">
                <a:solidFill>
                  <a:srgbClr val="006600"/>
                </a:solidFill>
                <a:latin typeface="楷体_GB2312" pitchFamily="49" charset="-122"/>
                <a:ea typeface="楷体_GB2312" pitchFamily="49" charset="-122"/>
              </a:rPr>
              <a:t>构造一个空栈</a:t>
            </a:r>
            <a:r>
              <a:rPr lang="en-US" altLang="zh-CN" dirty="0">
                <a:solidFill>
                  <a:srgbClr val="006600"/>
                </a:solidFill>
                <a:latin typeface="楷体_GB2312" pitchFamily="49" charset="-122"/>
                <a:ea typeface="楷体_GB2312" pitchFamily="49" charset="-122"/>
              </a:rPr>
              <a:t>S</a:t>
            </a:r>
            <a:endParaRPr lang="en-US" altLang="zh-CN" dirty="0">
              <a:solidFill>
                <a:srgbClr val="993300"/>
              </a:solidFill>
            </a:endParaRPr>
          </a:p>
          <a:p>
            <a:pPr eaLnBrk="0" hangingPunct="0">
              <a:lnSpc>
                <a:spcPct val="120000"/>
              </a:lnSpc>
            </a:pPr>
            <a:r>
              <a:rPr lang="en-US" altLang="zh-CN" sz="2800" dirty="0"/>
              <a:t>{  </a:t>
            </a:r>
            <a:r>
              <a:rPr lang="en-US" altLang="zh-CN" sz="2800" dirty="0" err="1"/>
              <a:t>S.Base</a:t>
            </a:r>
            <a:r>
              <a:rPr lang="en-US" altLang="zh-CN" sz="2800" dirty="0"/>
              <a:t> = (</a:t>
            </a:r>
            <a:r>
              <a:rPr lang="en-US" altLang="zh-CN" sz="2800" dirty="0" err="1"/>
              <a:t>SElemType</a:t>
            </a:r>
            <a:r>
              <a:rPr lang="en-US" altLang="zh-CN" sz="2800" dirty="0"/>
              <a:t> *) </a:t>
            </a:r>
            <a:r>
              <a:rPr lang="en-US" altLang="zh-CN" sz="2800" dirty="0" err="1"/>
              <a:t>malloc</a:t>
            </a:r>
            <a:r>
              <a:rPr lang="en-US" altLang="zh-CN" sz="2800" dirty="0"/>
              <a:t>(STACK_INIT_SIZE *</a:t>
            </a:r>
          </a:p>
          <a:p>
            <a:pPr eaLnBrk="0" hangingPunct="0">
              <a:lnSpc>
                <a:spcPct val="120000"/>
              </a:lnSpc>
            </a:pPr>
            <a:r>
              <a:rPr lang="en-US" altLang="zh-CN" sz="2800" dirty="0"/>
              <a:t>    </a:t>
            </a:r>
            <a:r>
              <a:rPr lang="en-US" altLang="zh-CN" sz="2800" dirty="0" err="1"/>
              <a:t>sizeof</a:t>
            </a:r>
            <a:r>
              <a:rPr lang="en-US" altLang="zh-CN" sz="2800" dirty="0"/>
              <a:t>(</a:t>
            </a:r>
            <a:r>
              <a:rPr lang="en-US" altLang="zh-CN" sz="2800" dirty="0" err="1"/>
              <a:t>SElemType</a:t>
            </a:r>
            <a:r>
              <a:rPr lang="en-US" altLang="zh-CN" sz="2800" dirty="0"/>
              <a:t>));</a:t>
            </a:r>
          </a:p>
          <a:p>
            <a:pPr eaLnBrk="0" hangingPunct="0">
              <a:lnSpc>
                <a:spcPct val="120000"/>
              </a:lnSpc>
            </a:pPr>
            <a:r>
              <a:rPr lang="en-US" altLang="zh-CN" sz="2800" dirty="0"/>
              <a:t>   If (!</a:t>
            </a:r>
            <a:r>
              <a:rPr lang="en-US" altLang="zh-CN" sz="2800" dirty="0" err="1"/>
              <a:t>S.Base</a:t>
            </a:r>
            <a:r>
              <a:rPr lang="en-US" altLang="zh-CN" sz="2800" dirty="0"/>
              <a:t>) Exit (OVERFLOW);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存储分配失败</a:t>
            </a:r>
          </a:p>
          <a:p>
            <a:pPr eaLnBrk="0" hangingPunct="0">
              <a:lnSpc>
                <a:spcPct val="120000"/>
              </a:lnSpc>
            </a:pPr>
            <a:r>
              <a:rPr lang="zh-CN" altLang="en-US" sz="2800" dirty="0"/>
              <a:t>   </a:t>
            </a:r>
            <a:r>
              <a:rPr lang="zh-CN" altLang="en-US" sz="2800" dirty="0">
                <a:solidFill>
                  <a:srgbClr val="800000"/>
                </a:solidFill>
              </a:rPr>
              <a:t> </a:t>
            </a:r>
          </a:p>
          <a:p>
            <a:pPr eaLnBrk="0" hangingPunct="0">
              <a:lnSpc>
                <a:spcPct val="120000"/>
              </a:lnSpc>
            </a:pPr>
            <a:endParaRPr lang="zh-CN" altLang="en-US" sz="2800" dirty="0">
              <a:solidFill>
                <a:srgbClr val="800000"/>
              </a:solidFill>
            </a:endParaRPr>
          </a:p>
          <a:p>
            <a:pPr eaLnBrk="0" hangingPunct="0">
              <a:lnSpc>
                <a:spcPct val="120000"/>
              </a:lnSpc>
            </a:pPr>
            <a:endParaRPr lang="zh-CN" altLang="en-US" sz="2800" dirty="0"/>
          </a:p>
          <a:p>
            <a:pPr eaLnBrk="0" hangingPunct="0"/>
            <a:r>
              <a:rPr lang="en-US" altLang="zh-CN" sz="2800" dirty="0"/>
              <a:t>}  </a:t>
            </a:r>
            <a:r>
              <a:rPr lang="en-US" altLang="zh-CN" dirty="0">
                <a:solidFill>
                  <a:srgbClr val="006600"/>
                </a:solidFill>
                <a:latin typeface="楷体_GB2312" pitchFamily="49" charset="-122"/>
                <a:ea typeface="楷体_GB2312" pitchFamily="49" charset="-122"/>
              </a:rPr>
              <a:t>//</a:t>
            </a:r>
            <a:r>
              <a:rPr lang="en-US" altLang="zh-CN" dirty="0"/>
              <a:t> </a:t>
            </a:r>
            <a:r>
              <a:rPr lang="en-US" altLang="zh-CN" dirty="0" err="1"/>
              <a:t>InitStack</a:t>
            </a:r>
            <a:endParaRPr lang="en-US" altLang="zh-CN" dirty="0"/>
          </a:p>
        </p:txBody>
      </p:sp>
      <p:sp>
        <p:nvSpPr>
          <p:cNvPr id="27652" name="Text Box 3"/>
          <p:cNvSpPr txBox="1">
            <a:spLocks noChangeArrowheads="1"/>
          </p:cNvSpPr>
          <p:nvPr/>
        </p:nvSpPr>
        <p:spPr bwMode="auto">
          <a:xfrm>
            <a:off x="349250" y="3695700"/>
            <a:ext cx="9007475" cy="1643527"/>
          </a:xfrm>
          <a:prstGeom prst="rect">
            <a:avLst/>
          </a:prstGeom>
          <a:noFill/>
          <a:ln w="9525">
            <a:noFill/>
            <a:miter lim="800000"/>
            <a:headEnd/>
            <a:tailEnd/>
          </a:ln>
        </p:spPr>
        <p:txBody>
          <a:bodyPr>
            <a:spAutoFit/>
          </a:bodyPr>
          <a:lstStyle/>
          <a:p>
            <a:pPr eaLnBrk="0" hangingPunct="0">
              <a:lnSpc>
                <a:spcPct val="120000"/>
              </a:lnSpc>
            </a:pPr>
            <a:r>
              <a:rPr lang="en-US" altLang="zh-CN" sz="2800" dirty="0">
                <a:solidFill>
                  <a:srgbClr val="800000"/>
                </a:solidFill>
              </a:rPr>
              <a:t>   </a:t>
            </a:r>
            <a:r>
              <a:rPr lang="en-US" altLang="zh-CN" sz="2800" dirty="0" err="1">
                <a:solidFill>
                  <a:srgbClr val="800000"/>
                </a:solidFill>
              </a:rPr>
              <a:t>S.Top</a:t>
            </a:r>
            <a:r>
              <a:rPr lang="en-US" altLang="zh-CN" sz="2800" dirty="0">
                <a:solidFill>
                  <a:srgbClr val="800000"/>
                </a:solidFill>
              </a:rPr>
              <a:t> = </a:t>
            </a:r>
            <a:r>
              <a:rPr lang="en-US" altLang="zh-CN" sz="2800" dirty="0" err="1">
                <a:solidFill>
                  <a:srgbClr val="800000"/>
                </a:solidFill>
              </a:rPr>
              <a:t>S.Base</a:t>
            </a:r>
            <a:r>
              <a:rPr lang="en-US" altLang="zh-CN" sz="2800" dirty="0"/>
              <a:t>;</a:t>
            </a:r>
          </a:p>
          <a:p>
            <a:pPr eaLnBrk="0" hangingPunct="0">
              <a:lnSpc>
                <a:spcPct val="120000"/>
              </a:lnSpc>
            </a:pPr>
            <a:r>
              <a:rPr lang="en-US" altLang="zh-CN" sz="2800" dirty="0"/>
              <a:t>   </a:t>
            </a:r>
            <a:r>
              <a:rPr lang="en-US" altLang="zh-CN" sz="2800" dirty="0" err="1"/>
              <a:t>S.Stacksize</a:t>
            </a:r>
            <a:r>
              <a:rPr lang="en-US" altLang="zh-CN" sz="2800" dirty="0"/>
              <a:t> = STACK_INIT_SIZE;</a:t>
            </a:r>
          </a:p>
          <a:p>
            <a:pPr eaLnBrk="0" hangingPunct="0">
              <a:lnSpc>
                <a:spcPct val="120000"/>
              </a:lnSpc>
            </a:pPr>
            <a:r>
              <a:rPr lang="en-US" altLang="zh-CN" sz="2800" dirty="0"/>
              <a:t>   Return OK; </a:t>
            </a: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p:spPr>
        <p:txBody>
          <a:bodyPr/>
          <a:lstStyle/>
          <a:p>
            <a:fld id="{4AF6A562-C6F9-4144-9AF0-ACF6B4A1BBFC}" type="slidenum">
              <a:rPr lang="en-US" altLang="zh-CN"/>
              <a:pPr/>
              <a:t>30</a:t>
            </a:fld>
            <a:endParaRPr lang="en-US" altLang="zh-CN"/>
          </a:p>
        </p:txBody>
      </p:sp>
      <p:sp>
        <p:nvSpPr>
          <p:cNvPr id="27651" name="Text Box 2"/>
          <p:cNvSpPr txBox="1">
            <a:spLocks noChangeArrowheads="1"/>
          </p:cNvSpPr>
          <p:nvPr/>
        </p:nvSpPr>
        <p:spPr bwMode="auto">
          <a:xfrm>
            <a:off x="349251" y="2168860"/>
            <a:ext cx="8534400" cy="3034677"/>
          </a:xfrm>
          <a:prstGeom prst="rect">
            <a:avLst/>
          </a:prstGeom>
          <a:noFill/>
          <a:ln w="9525">
            <a:noFill/>
            <a:miter lim="800000"/>
            <a:headEnd/>
            <a:tailEnd/>
          </a:ln>
        </p:spPr>
        <p:txBody>
          <a:bodyPr wrap="square">
            <a:spAutoFit/>
          </a:bodyPr>
          <a:lstStyle/>
          <a:p>
            <a:pPr eaLnBrk="0" hangingPunct="0">
              <a:lnSpc>
                <a:spcPct val="120000"/>
              </a:lnSpc>
            </a:pPr>
            <a:r>
              <a:rPr lang="en-US" altLang="zh-CN" sz="2800" dirty="0"/>
              <a:t> Status </a:t>
            </a:r>
            <a:r>
              <a:rPr lang="en-US" altLang="zh-CN" sz="2800" dirty="0" err="1"/>
              <a:t>GetTop</a:t>
            </a:r>
            <a:r>
              <a:rPr lang="en-US" altLang="zh-CN" sz="2800" dirty="0"/>
              <a:t>(</a:t>
            </a:r>
            <a:r>
              <a:rPr lang="en-US" altLang="zh-CN" sz="2800" dirty="0" err="1"/>
              <a:t>SqStack</a:t>
            </a:r>
            <a:r>
              <a:rPr lang="en-US" altLang="zh-CN" sz="2800" dirty="0"/>
              <a:t> S, </a:t>
            </a:r>
            <a:r>
              <a:rPr lang="en-US" altLang="zh-CN" sz="2800" dirty="0" err="1"/>
              <a:t>SElemType</a:t>
            </a:r>
            <a:r>
              <a:rPr lang="en-US" altLang="zh-CN" sz="2800" dirty="0"/>
              <a:t> &amp;e)</a:t>
            </a:r>
            <a:r>
              <a:rPr lang="en-US" altLang="zh-CN" dirty="0">
                <a:solidFill>
                  <a:srgbClr val="006600"/>
                </a:solidFill>
                <a:latin typeface="楷体_GB2312" pitchFamily="49" charset="-122"/>
                <a:ea typeface="楷体_GB2312" pitchFamily="49" charset="-122"/>
              </a:rPr>
              <a:t>      </a:t>
            </a:r>
          </a:p>
          <a:p>
            <a:pPr eaLnBrk="0" hangingPunct="0">
              <a:lnSpc>
                <a:spcPct val="120000"/>
              </a:lnSpc>
            </a:pPr>
            <a:r>
              <a:rPr lang="en-US" altLang="zh-CN" dirty="0">
                <a:solidFill>
                  <a:srgbClr val="006600"/>
                </a:solidFill>
                <a:latin typeface="楷体_GB2312" pitchFamily="49" charset="-122"/>
                <a:ea typeface="楷体_GB2312" pitchFamily="49" charset="-122"/>
              </a:rPr>
              <a:t>// </a:t>
            </a:r>
            <a:r>
              <a:rPr lang="zh-CN" altLang="en-US" dirty="0">
                <a:solidFill>
                  <a:srgbClr val="006600"/>
                </a:solidFill>
                <a:latin typeface="楷体_GB2312" pitchFamily="49" charset="-122"/>
                <a:ea typeface="楷体_GB2312" pitchFamily="49" charset="-122"/>
              </a:rPr>
              <a:t>若栈非空，则返回栈顶元素，并返回</a:t>
            </a:r>
            <a:r>
              <a:rPr lang="en-US" altLang="zh-CN" dirty="0">
                <a:solidFill>
                  <a:srgbClr val="006600"/>
                </a:solidFill>
                <a:latin typeface="楷体_GB2312" pitchFamily="49" charset="-122"/>
                <a:ea typeface="楷体_GB2312" pitchFamily="49" charset="-122"/>
              </a:rPr>
              <a:t>OK</a:t>
            </a:r>
            <a:r>
              <a:rPr lang="zh-CN" altLang="en-US" dirty="0">
                <a:solidFill>
                  <a:srgbClr val="006600"/>
                </a:solidFill>
                <a:latin typeface="楷体_GB2312" pitchFamily="49" charset="-122"/>
                <a:ea typeface="楷体_GB2312" pitchFamily="49" charset="-122"/>
              </a:rPr>
              <a:t>；否则返回</a:t>
            </a:r>
            <a:r>
              <a:rPr lang="en-US" altLang="zh-CN" dirty="0">
                <a:solidFill>
                  <a:srgbClr val="006600"/>
                </a:solidFill>
                <a:latin typeface="楷体_GB2312" pitchFamily="49" charset="-122"/>
                <a:ea typeface="楷体_GB2312" pitchFamily="49" charset="-122"/>
              </a:rPr>
              <a:t>ERROR</a:t>
            </a:r>
            <a:endParaRPr lang="en-US" altLang="zh-CN" dirty="0">
              <a:solidFill>
                <a:srgbClr val="993300"/>
              </a:solidFill>
            </a:endParaRPr>
          </a:p>
          <a:p>
            <a:pPr eaLnBrk="0" hangingPunct="0">
              <a:lnSpc>
                <a:spcPct val="120000"/>
              </a:lnSpc>
            </a:pPr>
            <a:r>
              <a:rPr lang="en-US" altLang="zh-CN" sz="2800" dirty="0"/>
              <a:t>{  if (</a:t>
            </a:r>
            <a:r>
              <a:rPr lang="en-US" altLang="zh-CN" sz="2800" dirty="0" err="1"/>
              <a:t>S.top</a:t>
            </a:r>
            <a:r>
              <a:rPr lang="en-US" altLang="zh-CN" sz="2800" dirty="0"/>
              <a:t> == </a:t>
            </a:r>
            <a:r>
              <a:rPr lang="en-US" altLang="zh-CN" sz="2800" dirty="0" err="1"/>
              <a:t>S.base</a:t>
            </a:r>
            <a:r>
              <a:rPr lang="en-US" altLang="zh-CN" sz="2800" dirty="0"/>
              <a:t>) Return ERROR;</a:t>
            </a:r>
          </a:p>
          <a:p>
            <a:pPr eaLnBrk="0" hangingPunct="0">
              <a:lnSpc>
                <a:spcPct val="120000"/>
              </a:lnSpc>
            </a:pPr>
            <a:r>
              <a:rPr lang="en-US" altLang="zh-CN" sz="2800" dirty="0"/>
              <a:t>   e = *(</a:t>
            </a:r>
            <a:r>
              <a:rPr lang="en-US" altLang="zh-CN" sz="2800" dirty="0" err="1"/>
              <a:t>S.top</a:t>
            </a:r>
            <a:r>
              <a:rPr lang="en-US" altLang="zh-CN" sz="2800" dirty="0"/>
              <a:t> - 1) ;    </a:t>
            </a:r>
            <a:r>
              <a:rPr lang="zh-CN" altLang="en-US" sz="2800" dirty="0"/>
              <a:t>   </a:t>
            </a:r>
            <a:r>
              <a:rPr lang="zh-CN" altLang="en-US" sz="2800" dirty="0">
                <a:solidFill>
                  <a:srgbClr val="800000"/>
                </a:solidFill>
              </a:rPr>
              <a:t> </a:t>
            </a:r>
          </a:p>
          <a:p>
            <a:pPr eaLnBrk="0" hangingPunct="0">
              <a:lnSpc>
                <a:spcPct val="120000"/>
              </a:lnSpc>
            </a:pPr>
            <a:r>
              <a:rPr lang="en-US" altLang="zh-CN" sz="2800" dirty="0"/>
              <a:t>   Return OK;</a:t>
            </a:r>
            <a:endParaRPr lang="zh-CN" altLang="en-US" sz="2800" dirty="0">
              <a:solidFill>
                <a:srgbClr val="800000"/>
              </a:solidFill>
            </a:endParaRPr>
          </a:p>
          <a:p>
            <a:pPr eaLnBrk="0" hangingPunct="0"/>
            <a:r>
              <a:rPr lang="en-US" altLang="zh-CN" sz="2800" dirty="0"/>
              <a:t> }</a:t>
            </a: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
        <p:nvSpPr>
          <p:cNvPr id="6" name="Rectangle 3"/>
          <p:cNvSpPr>
            <a:spLocks noChangeArrowheads="1"/>
          </p:cNvSpPr>
          <p:nvPr/>
        </p:nvSpPr>
        <p:spPr bwMode="auto">
          <a:xfrm>
            <a:off x="124446" y="1465675"/>
            <a:ext cx="1828800" cy="838200"/>
          </a:xfrm>
          <a:prstGeom prst="rect">
            <a:avLst/>
          </a:prstGeom>
          <a:noFill/>
          <a:ln w="9525">
            <a:noFill/>
            <a:miter lim="800000"/>
            <a:headEnd/>
            <a:tailEnd/>
          </a:ln>
        </p:spPr>
        <p:txBody>
          <a:bodyPr anchor="ctr"/>
          <a:lstStyle/>
          <a:p>
            <a:r>
              <a:rPr lang="zh-CN" altLang="en-US" sz="3200" dirty="0">
                <a:solidFill>
                  <a:srgbClr val="000000"/>
                </a:solidFill>
              </a:rPr>
              <a:t>取栈元素</a:t>
            </a:r>
          </a:p>
        </p:txBody>
      </p:sp>
    </p:spTree>
    <p:extLst>
      <p:ext uri="{BB962C8B-B14F-4D97-AF65-F5344CB8AC3E}">
        <p14:creationId xmlns:p14="http://schemas.microsoft.com/office/powerpoint/2010/main" val="220900418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p:spPr>
        <p:txBody>
          <a:bodyPr/>
          <a:lstStyle/>
          <a:p>
            <a:fld id="{5BA0899A-DA48-46AF-B1D7-B5472798927B}" type="slidenum">
              <a:rPr lang="en-US" altLang="zh-CN"/>
              <a:pPr/>
              <a:t>31</a:t>
            </a:fld>
            <a:endParaRPr lang="en-US" altLang="zh-CN"/>
          </a:p>
        </p:txBody>
      </p:sp>
      <p:sp>
        <p:nvSpPr>
          <p:cNvPr id="28675" name="Text Box 2"/>
          <p:cNvSpPr txBox="1">
            <a:spLocks noChangeArrowheads="1"/>
          </p:cNvSpPr>
          <p:nvPr/>
        </p:nvSpPr>
        <p:spPr bwMode="auto">
          <a:xfrm>
            <a:off x="260350" y="1881253"/>
            <a:ext cx="8883650" cy="4976747"/>
          </a:xfrm>
          <a:prstGeom prst="rect">
            <a:avLst/>
          </a:prstGeom>
          <a:noFill/>
          <a:ln w="9525">
            <a:noFill/>
            <a:miter lim="800000"/>
            <a:headEnd/>
            <a:tailEnd/>
          </a:ln>
        </p:spPr>
        <p:txBody>
          <a:bodyPr wrap="square">
            <a:spAutoFit/>
          </a:bodyPr>
          <a:lstStyle/>
          <a:p>
            <a:pPr eaLnBrk="0" hangingPunct="0">
              <a:lnSpc>
                <a:spcPct val="115000"/>
              </a:lnSpc>
            </a:pPr>
            <a:r>
              <a:rPr lang="en-US" altLang="zh-CN" sz="2800" dirty="0"/>
              <a:t> Status Push (</a:t>
            </a:r>
            <a:r>
              <a:rPr lang="en-US" altLang="zh-CN" sz="2800" dirty="0" err="1"/>
              <a:t>SqStack</a:t>
            </a:r>
            <a:r>
              <a:rPr lang="en-US" altLang="zh-CN" sz="2800" dirty="0"/>
              <a:t> &amp;S, </a:t>
            </a:r>
            <a:r>
              <a:rPr lang="en-US" altLang="zh-CN" sz="2800" dirty="0" err="1"/>
              <a:t>SElemType</a:t>
            </a:r>
            <a:r>
              <a:rPr lang="en-US" altLang="zh-CN" sz="2800" dirty="0"/>
              <a:t> e)</a:t>
            </a:r>
            <a:endParaRPr lang="en-US" altLang="zh-CN" sz="2800" dirty="0">
              <a:solidFill>
                <a:srgbClr val="993300"/>
              </a:solidFill>
            </a:endParaRPr>
          </a:p>
          <a:p>
            <a:pPr eaLnBrk="0" hangingPunct="0">
              <a:lnSpc>
                <a:spcPct val="115000"/>
              </a:lnSpc>
            </a:pPr>
            <a:r>
              <a:rPr lang="en-US" altLang="zh-CN" sz="2800" dirty="0"/>
              <a:t> {  If (</a:t>
            </a:r>
            <a:r>
              <a:rPr lang="en-US" altLang="zh-CN" sz="2800" dirty="0" err="1">
                <a:solidFill>
                  <a:srgbClr val="FF0000"/>
                </a:solidFill>
              </a:rPr>
              <a:t>S.Top</a:t>
            </a:r>
            <a:r>
              <a:rPr lang="en-US" altLang="zh-CN" sz="2800" dirty="0">
                <a:solidFill>
                  <a:srgbClr val="FF0000"/>
                </a:solidFill>
              </a:rPr>
              <a:t> - </a:t>
            </a:r>
            <a:r>
              <a:rPr lang="en-US" altLang="zh-CN" sz="2800" dirty="0" err="1">
                <a:solidFill>
                  <a:srgbClr val="FF0000"/>
                </a:solidFill>
              </a:rPr>
              <a:t>S.Base</a:t>
            </a:r>
            <a:r>
              <a:rPr lang="en-US" altLang="zh-CN" sz="2800" dirty="0">
                <a:solidFill>
                  <a:srgbClr val="FF0000"/>
                </a:solidFill>
              </a:rPr>
              <a:t> &gt;= </a:t>
            </a:r>
            <a:r>
              <a:rPr lang="en-US" altLang="zh-CN" sz="2800" dirty="0" err="1">
                <a:solidFill>
                  <a:srgbClr val="FF0000"/>
                </a:solidFill>
              </a:rPr>
              <a:t>S.Stacksize</a:t>
            </a:r>
            <a:r>
              <a:rPr lang="en-US" altLang="zh-CN" sz="2800" dirty="0"/>
              <a:t>)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栈满，追加存储空间</a:t>
            </a:r>
          </a:p>
          <a:p>
            <a:pPr eaLnBrk="0" hangingPunct="0">
              <a:lnSpc>
                <a:spcPct val="115000"/>
              </a:lnSpc>
            </a:pPr>
            <a:r>
              <a:rPr lang="zh-CN" altLang="en-US" sz="2800" dirty="0"/>
              <a:t>     </a:t>
            </a:r>
            <a:r>
              <a:rPr lang="en-US" altLang="zh-CN" sz="2800" dirty="0"/>
              <a:t>{</a:t>
            </a:r>
            <a:r>
              <a:rPr lang="zh-CN" altLang="en-US" sz="2800" dirty="0"/>
              <a:t> </a:t>
            </a:r>
            <a:r>
              <a:rPr lang="en-US" altLang="zh-CN" sz="2800" dirty="0" err="1">
                <a:solidFill>
                  <a:srgbClr val="800000"/>
                </a:solidFill>
              </a:rPr>
              <a:t>S.Base</a:t>
            </a:r>
            <a:r>
              <a:rPr lang="en-US" altLang="zh-CN" sz="2800" dirty="0">
                <a:solidFill>
                  <a:srgbClr val="800000"/>
                </a:solidFill>
              </a:rPr>
              <a:t> = </a:t>
            </a:r>
            <a:r>
              <a:rPr lang="en-US" altLang="zh-CN" dirty="0">
                <a:solidFill>
                  <a:srgbClr val="800000"/>
                </a:solidFill>
              </a:rPr>
              <a:t>(</a:t>
            </a:r>
            <a:r>
              <a:rPr lang="en-US" altLang="zh-CN" dirty="0" err="1">
                <a:solidFill>
                  <a:srgbClr val="800000"/>
                </a:solidFill>
              </a:rPr>
              <a:t>SElemType</a:t>
            </a:r>
            <a:r>
              <a:rPr lang="en-US" altLang="zh-CN" dirty="0">
                <a:solidFill>
                  <a:srgbClr val="800000"/>
                </a:solidFill>
              </a:rPr>
              <a:t> *) </a:t>
            </a:r>
            <a:r>
              <a:rPr lang="en-US" altLang="zh-CN" dirty="0" err="1">
                <a:solidFill>
                  <a:srgbClr val="800000"/>
                </a:solidFill>
              </a:rPr>
              <a:t>realloc</a:t>
            </a:r>
            <a:r>
              <a:rPr lang="en-US" altLang="zh-CN" dirty="0">
                <a:solidFill>
                  <a:srgbClr val="800000"/>
                </a:solidFill>
              </a:rPr>
              <a:t> ( </a:t>
            </a:r>
            <a:r>
              <a:rPr lang="en-US" altLang="zh-CN" dirty="0" err="1">
                <a:solidFill>
                  <a:srgbClr val="800000"/>
                </a:solidFill>
              </a:rPr>
              <a:t>S.Base</a:t>
            </a:r>
            <a:r>
              <a:rPr lang="en-US" altLang="zh-CN" dirty="0">
                <a:solidFill>
                  <a:srgbClr val="800000"/>
                </a:solidFill>
              </a:rPr>
              <a:t>,</a:t>
            </a:r>
          </a:p>
          <a:p>
            <a:pPr lvl="1" eaLnBrk="0" hangingPunct="0">
              <a:lnSpc>
                <a:spcPct val="115000"/>
              </a:lnSpc>
            </a:pPr>
            <a:r>
              <a:rPr lang="en-US" altLang="zh-CN" dirty="0">
                <a:solidFill>
                  <a:srgbClr val="800000"/>
                </a:solidFill>
              </a:rPr>
              <a:t>       (</a:t>
            </a:r>
            <a:r>
              <a:rPr lang="en-US" altLang="zh-CN" dirty="0" err="1">
                <a:solidFill>
                  <a:srgbClr val="800000"/>
                </a:solidFill>
              </a:rPr>
              <a:t>S.Stacksize</a:t>
            </a:r>
            <a:r>
              <a:rPr lang="en-US" altLang="zh-CN" dirty="0">
                <a:solidFill>
                  <a:srgbClr val="800000"/>
                </a:solidFill>
              </a:rPr>
              <a:t> + STACKINCREMENT) * </a:t>
            </a:r>
            <a:r>
              <a:rPr lang="en-US" altLang="zh-CN" dirty="0" err="1">
                <a:solidFill>
                  <a:srgbClr val="800000"/>
                </a:solidFill>
              </a:rPr>
              <a:t>Sizeof</a:t>
            </a:r>
            <a:r>
              <a:rPr lang="en-US" altLang="zh-CN" dirty="0">
                <a:solidFill>
                  <a:srgbClr val="800000"/>
                </a:solidFill>
              </a:rPr>
              <a:t> (</a:t>
            </a:r>
            <a:r>
              <a:rPr lang="en-US" altLang="zh-CN" dirty="0" err="1">
                <a:solidFill>
                  <a:srgbClr val="800000"/>
                </a:solidFill>
              </a:rPr>
              <a:t>SElemType</a:t>
            </a:r>
            <a:r>
              <a:rPr lang="en-US" altLang="zh-CN" dirty="0">
                <a:solidFill>
                  <a:srgbClr val="800000"/>
                </a:solidFill>
              </a:rPr>
              <a:t>));</a:t>
            </a:r>
            <a:endParaRPr lang="en-US" altLang="zh-CN" dirty="0"/>
          </a:p>
          <a:p>
            <a:pPr marL="357188" lvl="1" eaLnBrk="0" hangingPunct="0">
              <a:lnSpc>
                <a:spcPct val="115000"/>
              </a:lnSpc>
            </a:pPr>
            <a:r>
              <a:rPr lang="en-US" altLang="zh-CN" sz="2800" dirty="0"/>
              <a:t>  If (!</a:t>
            </a:r>
            <a:r>
              <a:rPr lang="en-US" altLang="zh-CN" sz="2800" dirty="0" err="1"/>
              <a:t>S.base</a:t>
            </a:r>
            <a:r>
              <a:rPr lang="en-US" altLang="zh-CN" sz="2800" dirty="0"/>
              <a:t>) Exit (OVERFLOW);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存储分配失败</a:t>
            </a:r>
          </a:p>
          <a:p>
            <a:pPr eaLnBrk="0" hangingPunct="0">
              <a:lnSpc>
                <a:spcPct val="115000"/>
              </a:lnSpc>
            </a:pPr>
            <a:r>
              <a:rPr lang="zh-CN" altLang="en-US" sz="2800" dirty="0"/>
              <a:t>         </a:t>
            </a:r>
            <a:r>
              <a:rPr lang="en-US" altLang="zh-CN" sz="2800" dirty="0" err="1"/>
              <a:t>S.Top</a:t>
            </a:r>
            <a:r>
              <a:rPr lang="en-US" altLang="zh-CN" sz="2800" dirty="0"/>
              <a:t> = </a:t>
            </a:r>
            <a:r>
              <a:rPr lang="en-US" altLang="zh-CN" sz="2800" dirty="0" err="1"/>
              <a:t>S.Base</a:t>
            </a:r>
            <a:r>
              <a:rPr lang="en-US" altLang="zh-CN" sz="2800" dirty="0"/>
              <a:t> + </a:t>
            </a:r>
            <a:r>
              <a:rPr lang="en-US" altLang="zh-CN" sz="2800" dirty="0" err="1"/>
              <a:t>S.Stacksize</a:t>
            </a:r>
            <a:r>
              <a:rPr lang="en-US" altLang="zh-CN" sz="2800" dirty="0"/>
              <a:t>;</a:t>
            </a:r>
          </a:p>
          <a:p>
            <a:pPr lvl="1" eaLnBrk="0" hangingPunct="0">
              <a:lnSpc>
                <a:spcPct val="115000"/>
              </a:lnSpc>
            </a:pPr>
            <a:r>
              <a:rPr lang="en-US" altLang="zh-CN" sz="2800" dirty="0"/>
              <a:t>    </a:t>
            </a:r>
            <a:r>
              <a:rPr lang="en-US" altLang="zh-CN" sz="2800" dirty="0" err="1"/>
              <a:t>S.Stacksize</a:t>
            </a:r>
            <a:r>
              <a:rPr lang="en-US" altLang="zh-CN" sz="2800" dirty="0"/>
              <a:t> += STACKINCREMENT; }</a:t>
            </a:r>
          </a:p>
          <a:p>
            <a:pPr marL="268288" lvl="1" eaLnBrk="0" hangingPunct="0"/>
            <a:r>
              <a:rPr lang="en-US" altLang="zh-CN" sz="2800" dirty="0">
                <a:solidFill>
                  <a:srgbClr val="800000"/>
                </a:solidFill>
              </a:rPr>
              <a:t>  *</a:t>
            </a:r>
            <a:r>
              <a:rPr lang="en-US" altLang="zh-CN" sz="2800" dirty="0" err="1">
                <a:solidFill>
                  <a:srgbClr val="800000"/>
                </a:solidFill>
              </a:rPr>
              <a:t>S.Top</a:t>
            </a:r>
            <a:r>
              <a:rPr lang="en-US" altLang="zh-CN" sz="2800" dirty="0">
                <a:solidFill>
                  <a:srgbClr val="800000"/>
                </a:solidFill>
              </a:rPr>
              <a:t>++ = e;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先赋值，</a:t>
            </a:r>
            <a:r>
              <a:rPr lang="en-US" altLang="zh-CN" dirty="0">
                <a:solidFill>
                  <a:srgbClr val="006600"/>
                </a:solidFill>
                <a:latin typeface="楷体_GB2312" pitchFamily="49" charset="-122"/>
                <a:ea typeface="楷体_GB2312" pitchFamily="49" charset="-122"/>
              </a:rPr>
              <a:t>top</a:t>
            </a:r>
            <a:r>
              <a:rPr lang="zh-CN" altLang="en-US" dirty="0">
                <a:solidFill>
                  <a:srgbClr val="006600"/>
                </a:solidFill>
                <a:latin typeface="楷体_GB2312" pitchFamily="49" charset="-122"/>
                <a:ea typeface="楷体_GB2312" pitchFamily="49" charset="-122"/>
              </a:rPr>
              <a:t>后加</a:t>
            </a:r>
            <a:r>
              <a:rPr lang="en-US" altLang="zh-CN" dirty="0">
                <a:solidFill>
                  <a:srgbClr val="006600"/>
                </a:solidFill>
                <a:latin typeface="楷体_GB2312" pitchFamily="49" charset="-122"/>
                <a:ea typeface="楷体_GB2312" pitchFamily="49" charset="-122"/>
              </a:rPr>
              <a:t>1</a:t>
            </a:r>
          </a:p>
          <a:p>
            <a:pPr marL="268288" lvl="1" eaLnBrk="0" hangingPunct="0"/>
            <a:r>
              <a:rPr lang="en-US" altLang="zh-CN" sz="2800" dirty="0"/>
              <a:t>   Return OK</a:t>
            </a:r>
          </a:p>
          <a:p>
            <a:pPr marL="177800" lvl="1" eaLnBrk="0" hangingPunct="0">
              <a:lnSpc>
                <a:spcPct val="115000"/>
              </a:lnSpc>
            </a:pPr>
            <a:r>
              <a:rPr lang="en-US" altLang="zh-CN" sz="2800" dirty="0"/>
              <a:t>}</a:t>
            </a:r>
          </a:p>
        </p:txBody>
      </p:sp>
      <p:sp>
        <p:nvSpPr>
          <p:cNvPr id="28676" name="Rectangle 3"/>
          <p:cNvSpPr>
            <a:spLocks noChangeArrowheads="1"/>
          </p:cNvSpPr>
          <p:nvPr/>
        </p:nvSpPr>
        <p:spPr bwMode="auto">
          <a:xfrm>
            <a:off x="127000" y="1250950"/>
            <a:ext cx="1828800" cy="838200"/>
          </a:xfrm>
          <a:prstGeom prst="rect">
            <a:avLst/>
          </a:prstGeom>
          <a:noFill/>
          <a:ln w="9525">
            <a:noFill/>
            <a:miter lim="800000"/>
            <a:headEnd/>
            <a:tailEnd/>
          </a:ln>
        </p:spPr>
        <p:txBody>
          <a:bodyPr anchor="ctr"/>
          <a:lstStyle/>
          <a:p>
            <a:r>
              <a:rPr lang="zh-CN" altLang="en-US" sz="3200" dirty="0">
                <a:solidFill>
                  <a:srgbClr val="000000"/>
                </a:solidFill>
              </a:rPr>
              <a:t>入栈</a:t>
            </a: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p:spPr>
        <p:txBody>
          <a:bodyPr/>
          <a:lstStyle/>
          <a:p>
            <a:fld id="{EAACDBB7-B4A7-486A-9C86-4777BE6F7F07}" type="slidenum">
              <a:rPr lang="en-US" altLang="zh-CN"/>
              <a:pPr/>
              <a:t>32</a:t>
            </a:fld>
            <a:endParaRPr lang="en-US" altLang="zh-CN"/>
          </a:p>
        </p:txBody>
      </p:sp>
      <p:sp>
        <p:nvSpPr>
          <p:cNvPr id="29699" name="Text Box 2"/>
          <p:cNvSpPr txBox="1">
            <a:spLocks noChangeArrowheads="1"/>
          </p:cNvSpPr>
          <p:nvPr/>
        </p:nvSpPr>
        <p:spPr bwMode="auto">
          <a:xfrm>
            <a:off x="215900" y="2095500"/>
            <a:ext cx="8361545" cy="3665619"/>
          </a:xfrm>
          <a:prstGeom prst="rect">
            <a:avLst/>
          </a:prstGeom>
          <a:noFill/>
          <a:ln w="9525">
            <a:noFill/>
            <a:miter lim="800000"/>
            <a:headEnd/>
            <a:tailEnd/>
          </a:ln>
        </p:spPr>
        <p:txBody>
          <a:bodyPr wrap="square">
            <a:spAutoFit/>
          </a:bodyPr>
          <a:lstStyle/>
          <a:p>
            <a:pPr eaLnBrk="0" hangingPunct="0">
              <a:lnSpc>
                <a:spcPct val="125000"/>
              </a:lnSpc>
            </a:pPr>
            <a:r>
              <a:rPr lang="en-US" altLang="zh-CN" sz="2800" dirty="0"/>
              <a:t>Status Pop (</a:t>
            </a:r>
            <a:r>
              <a:rPr lang="en-US" altLang="zh-CN" sz="2800" dirty="0" err="1"/>
              <a:t>SqStack</a:t>
            </a:r>
            <a:r>
              <a:rPr lang="en-US" altLang="zh-CN" sz="2800" dirty="0"/>
              <a:t> &amp;S, </a:t>
            </a:r>
            <a:r>
              <a:rPr lang="en-US" altLang="zh-CN" sz="2800" dirty="0" err="1"/>
              <a:t>SElemType</a:t>
            </a:r>
            <a:r>
              <a:rPr lang="en-US" altLang="zh-CN" sz="2800" dirty="0"/>
              <a:t> &amp;e)</a:t>
            </a:r>
          </a:p>
          <a:p>
            <a:pPr lvl="1" eaLnBrk="0" hangingPunct="0">
              <a:lnSpc>
                <a:spcPct val="110000"/>
              </a:lnSpc>
            </a:pPr>
            <a:r>
              <a:rPr lang="en-US" altLang="zh-CN" sz="2800" dirty="0"/>
              <a:t>{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若栈不空，则删除</a:t>
            </a:r>
            <a:r>
              <a:rPr lang="en-US" altLang="zh-CN" dirty="0">
                <a:solidFill>
                  <a:srgbClr val="006600"/>
                </a:solidFill>
                <a:latin typeface="楷体_GB2312" pitchFamily="49" charset="-122"/>
                <a:ea typeface="楷体_GB2312" pitchFamily="49" charset="-122"/>
              </a:rPr>
              <a:t>S</a:t>
            </a:r>
            <a:r>
              <a:rPr lang="zh-CN" altLang="en-US" dirty="0">
                <a:solidFill>
                  <a:srgbClr val="006600"/>
                </a:solidFill>
                <a:latin typeface="楷体_GB2312" pitchFamily="49" charset="-122"/>
                <a:ea typeface="楷体_GB2312" pitchFamily="49" charset="-122"/>
              </a:rPr>
              <a:t>的栈顶元素，用</a:t>
            </a:r>
            <a:r>
              <a:rPr lang="en-US" altLang="zh-CN" dirty="0">
                <a:solidFill>
                  <a:srgbClr val="006600"/>
                </a:solidFill>
                <a:latin typeface="楷体_GB2312" pitchFamily="49" charset="-122"/>
                <a:ea typeface="楷体_GB2312" pitchFamily="49" charset="-122"/>
              </a:rPr>
              <a:t>e</a:t>
            </a:r>
            <a:r>
              <a:rPr lang="zh-CN" altLang="en-US" dirty="0">
                <a:solidFill>
                  <a:srgbClr val="006600"/>
                </a:solidFill>
                <a:latin typeface="楷体_GB2312" pitchFamily="49" charset="-122"/>
                <a:ea typeface="楷体_GB2312" pitchFamily="49" charset="-122"/>
              </a:rPr>
              <a:t>返回其值，</a:t>
            </a:r>
            <a:r>
              <a:rPr lang="en-US" altLang="zh-CN" dirty="0">
                <a:solidFill>
                  <a:srgbClr val="006600"/>
                </a:solidFill>
                <a:latin typeface="楷体_GB2312" pitchFamily="49" charset="-122"/>
                <a:ea typeface="楷体_GB2312" pitchFamily="49" charset="-122"/>
              </a:rPr>
              <a:t>	  //</a:t>
            </a:r>
            <a:r>
              <a:rPr lang="zh-CN" altLang="en-US" dirty="0">
                <a:solidFill>
                  <a:srgbClr val="006600"/>
                </a:solidFill>
                <a:latin typeface="楷体_GB2312" pitchFamily="49" charset="-122"/>
                <a:ea typeface="楷体_GB2312" pitchFamily="49" charset="-122"/>
              </a:rPr>
              <a:t>并返回</a:t>
            </a:r>
            <a:r>
              <a:rPr lang="en-US" altLang="zh-CN" dirty="0">
                <a:solidFill>
                  <a:srgbClr val="006600"/>
                </a:solidFill>
                <a:latin typeface="楷体_GB2312" pitchFamily="49" charset="-122"/>
                <a:ea typeface="楷体_GB2312" pitchFamily="49" charset="-122"/>
              </a:rPr>
              <a:t>OK</a:t>
            </a:r>
            <a:r>
              <a:rPr lang="zh-CN" altLang="en-US" dirty="0">
                <a:solidFill>
                  <a:srgbClr val="006600"/>
                </a:solidFill>
                <a:latin typeface="楷体_GB2312" pitchFamily="49" charset="-122"/>
                <a:ea typeface="楷体_GB2312" pitchFamily="49" charset="-122"/>
              </a:rPr>
              <a:t>；否则返回</a:t>
            </a:r>
            <a:r>
              <a:rPr lang="en-US" altLang="zh-CN" dirty="0">
                <a:solidFill>
                  <a:srgbClr val="006600"/>
                </a:solidFill>
                <a:latin typeface="楷体_GB2312" pitchFamily="49" charset="-122"/>
                <a:ea typeface="楷体_GB2312" pitchFamily="49" charset="-122"/>
              </a:rPr>
              <a:t>ERROR</a:t>
            </a:r>
          </a:p>
          <a:p>
            <a:pPr eaLnBrk="0" hangingPunct="0">
              <a:lnSpc>
                <a:spcPct val="125000"/>
              </a:lnSpc>
            </a:pPr>
            <a:r>
              <a:rPr lang="en-US" altLang="zh-CN" sz="2800" dirty="0"/>
              <a:t>    If </a:t>
            </a:r>
            <a:r>
              <a:rPr lang="en-US" altLang="zh-CN" sz="2800" dirty="0">
                <a:solidFill>
                  <a:srgbClr val="FF0000"/>
                </a:solidFill>
              </a:rPr>
              <a:t>(</a:t>
            </a:r>
            <a:r>
              <a:rPr lang="en-US" altLang="zh-CN" sz="2800" dirty="0" err="1">
                <a:solidFill>
                  <a:srgbClr val="FF0000"/>
                </a:solidFill>
              </a:rPr>
              <a:t>S.Top</a:t>
            </a:r>
            <a:r>
              <a:rPr lang="en-US" altLang="zh-CN" sz="2800" dirty="0">
                <a:solidFill>
                  <a:srgbClr val="FF0000"/>
                </a:solidFill>
              </a:rPr>
              <a:t> == </a:t>
            </a:r>
            <a:r>
              <a:rPr lang="en-US" altLang="zh-CN" sz="2800" dirty="0" err="1">
                <a:solidFill>
                  <a:srgbClr val="FF0000"/>
                </a:solidFill>
              </a:rPr>
              <a:t>S.Base</a:t>
            </a:r>
            <a:r>
              <a:rPr lang="en-US" altLang="zh-CN" sz="2800" dirty="0">
                <a:solidFill>
                  <a:srgbClr val="FF0000"/>
                </a:solidFill>
              </a:rPr>
              <a:t>)  </a:t>
            </a:r>
            <a:r>
              <a:rPr lang="en-US" altLang="zh-CN" sz="2800" dirty="0"/>
              <a:t>return ERROR;</a:t>
            </a:r>
          </a:p>
          <a:p>
            <a:pPr eaLnBrk="0" hangingPunct="0">
              <a:lnSpc>
                <a:spcPct val="125000"/>
              </a:lnSpc>
            </a:pPr>
            <a:r>
              <a:rPr lang="en-US" altLang="zh-CN" sz="2800" dirty="0"/>
              <a:t>    </a:t>
            </a:r>
            <a:r>
              <a:rPr lang="en-US" altLang="zh-CN" sz="2800" dirty="0">
                <a:solidFill>
                  <a:srgbClr val="FF0000"/>
                </a:solidFill>
              </a:rPr>
              <a:t>e = * --</a:t>
            </a:r>
            <a:r>
              <a:rPr lang="en-US" altLang="zh-CN" sz="2800" dirty="0" err="1">
                <a:solidFill>
                  <a:srgbClr val="FF0000"/>
                </a:solidFill>
              </a:rPr>
              <a:t>S.Top</a:t>
            </a:r>
            <a:r>
              <a:rPr lang="en-US" altLang="zh-CN" sz="2800" dirty="0">
                <a:solidFill>
                  <a:srgbClr val="FF0000"/>
                </a:solidFill>
              </a:rPr>
              <a:t>;       </a:t>
            </a:r>
            <a:r>
              <a:rPr lang="en-US" altLang="zh-CN" dirty="0">
                <a:solidFill>
                  <a:srgbClr val="006600"/>
                </a:solidFill>
                <a:latin typeface="楷体_GB2312" pitchFamily="49" charset="-122"/>
                <a:ea typeface="楷体_GB2312" pitchFamily="49" charset="-122"/>
              </a:rPr>
              <a:t>//</a:t>
            </a:r>
            <a:r>
              <a:rPr lang="zh-CN" altLang="en-US" dirty="0">
                <a:solidFill>
                  <a:srgbClr val="006600"/>
                </a:solidFill>
                <a:latin typeface="楷体_GB2312" pitchFamily="49" charset="-122"/>
                <a:ea typeface="楷体_GB2312" pitchFamily="49" charset="-122"/>
              </a:rPr>
              <a:t>先</a:t>
            </a:r>
            <a:r>
              <a:rPr lang="en-US" altLang="zh-CN" dirty="0">
                <a:solidFill>
                  <a:srgbClr val="006600"/>
                </a:solidFill>
                <a:latin typeface="楷体_GB2312" pitchFamily="49" charset="-122"/>
                <a:ea typeface="楷体_GB2312" pitchFamily="49" charset="-122"/>
              </a:rPr>
              <a:t>top</a:t>
            </a:r>
            <a:r>
              <a:rPr lang="zh-CN" altLang="en-US" dirty="0">
                <a:solidFill>
                  <a:srgbClr val="006600"/>
                </a:solidFill>
                <a:latin typeface="楷体_GB2312" pitchFamily="49" charset="-122"/>
                <a:ea typeface="楷体_GB2312" pitchFamily="49" charset="-122"/>
              </a:rPr>
              <a:t>减</a:t>
            </a:r>
            <a:r>
              <a:rPr lang="en-US" altLang="zh-CN" dirty="0">
                <a:solidFill>
                  <a:srgbClr val="006600"/>
                </a:solidFill>
                <a:latin typeface="楷体_GB2312" pitchFamily="49" charset="-122"/>
                <a:ea typeface="楷体_GB2312" pitchFamily="49" charset="-122"/>
              </a:rPr>
              <a:t>1 </a:t>
            </a:r>
            <a:r>
              <a:rPr lang="zh-CN" altLang="en-US" dirty="0">
                <a:solidFill>
                  <a:srgbClr val="006600"/>
                </a:solidFill>
                <a:latin typeface="楷体_GB2312" pitchFamily="49" charset="-122"/>
                <a:ea typeface="楷体_GB2312" pitchFamily="49" charset="-122"/>
              </a:rPr>
              <a:t>，后取值给</a:t>
            </a:r>
            <a:r>
              <a:rPr lang="en-US" altLang="zh-CN" dirty="0">
                <a:solidFill>
                  <a:srgbClr val="006600"/>
                </a:solidFill>
                <a:latin typeface="楷体_GB2312" pitchFamily="49" charset="-122"/>
                <a:ea typeface="楷体_GB2312" pitchFamily="49" charset="-122"/>
              </a:rPr>
              <a:t>e</a:t>
            </a:r>
          </a:p>
          <a:p>
            <a:pPr lvl="1" eaLnBrk="0" hangingPunct="0">
              <a:lnSpc>
                <a:spcPct val="125000"/>
              </a:lnSpc>
            </a:pPr>
            <a:r>
              <a:rPr lang="en-US" altLang="zh-CN" sz="2800" dirty="0"/>
              <a:t>Return OK;</a:t>
            </a:r>
          </a:p>
          <a:p>
            <a:pPr lvl="1" indent="-368300" eaLnBrk="0" hangingPunct="0">
              <a:lnSpc>
                <a:spcPct val="125000"/>
              </a:lnSpc>
            </a:pPr>
            <a:r>
              <a:rPr lang="en-US" altLang="zh-CN" sz="2800" dirty="0"/>
              <a:t> }</a:t>
            </a:r>
          </a:p>
        </p:txBody>
      </p:sp>
      <p:sp>
        <p:nvSpPr>
          <p:cNvPr id="29700" name="Rectangle 4"/>
          <p:cNvSpPr>
            <a:spLocks noChangeArrowheads="1"/>
          </p:cNvSpPr>
          <p:nvPr/>
        </p:nvSpPr>
        <p:spPr bwMode="auto">
          <a:xfrm>
            <a:off x="215900" y="1250950"/>
            <a:ext cx="3200400" cy="1143000"/>
          </a:xfrm>
          <a:prstGeom prst="rect">
            <a:avLst/>
          </a:prstGeom>
          <a:noFill/>
          <a:ln w="9525">
            <a:noFill/>
            <a:miter lim="800000"/>
            <a:headEnd/>
            <a:tailEnd/>
          </a:ln>
        </p:spPr>
        <p:txBody>
          <a:bodyPr anchor="ctr"/>
          <a:lstStyle/>
          <a:p>
            <a:r>
              <a:rPr lang="zh-CN" altLang="en-US" sz="3200" dirty="0">
                <a:solidFill>
                  <a:srgbClr val="000000"/>
                </a:solidFill>
              </a:rPr>
              <a:t>出栈</a:t>
            </a:r>
          </a:p>
        </p:txBody>
      </p:sp>
      <p:sp>
        <p:nvSpPr>
          <p:cNvPr id="5"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C129CE5F-1FCB-45CE-9658-4A8A41D8B6AD}" type="slidenum">
              <a:rPr lang="en-US" altLang="zh-CN"/>
              <a:pPr/>
              <a:t>33</a:t>
            </a:fld>
            <a:endParaRPr lang="en-US" altLang="zh-CN"/>
          </a:p>
        </p:txBody>
      </p:sp>
      <p:sp>
        <p:nvSpPr>
          <p:cNvPr id="30723" name="Rectangle 2"/>
          <p:cNvSpPr>
            <a:spLocks noGrp="1" noChangeArrowheads="1"/>
          </p:cNvSpPr>
          <p:nvPr>
            <p:ph type="ctrTitle" idx="4294967295"/>
          </p:nvPr>
        </p:nvSpPr>
        <p:spPr>
          <a:xfrm>
            <a:off x="171450" y="1828800"/>
            <a:ext cx="6324600" cy="787400"/>
          </a:xfrm>
        </p:spPr>
        <p:txBody>
          <a:bodyPr/>
          <a:lstStyle/>
          <a:p>
            <a:pPr algn="l" eaLnBrk="1" hangingPunct="1"/>
            <a:r>
              <a:rPr lang="zh-CN" altLang="en-US" sz="3200" kern="1200" dirty="0">
                <a:solidFill>
                  <a:srgbClr val="000000"/>
                </a:solidFill>
                <a:latin typeface="Times New Roman" pitchFamily="18" charset="0"/>
                <a:ea typeface="宋体" pitchFamily="2" charset="-122"/>
                <a:cs typeface="+mn-cs"/>
              </a:rPr>
              <a:t>顺序栈判满、判空条件</a:t>
            </a:r>
          </a:p>
        </p:txBody>
      </p:sp>
      <p:sp>
        <p:nvSpPr>
          <p:cNvPr id="30724" name="Text Box 3"/>
          <p:cNvSpPr txBox="1">
            <a:spLocks noChangeArrowheads="1"/>
          </p:cNvSpPr>
          <p:nvPr/>
        </p:nvSpPr>
        <p:spPr bwMode="auto">
          <a:xfrm>
            <a:off x="527050" y="3651250"/>
            <a:ext cx="3536950" cy="584775"/>
          </a:xfrm>
          <a:prstGeom prst="rect">
            <a:avLst/>
          </a:prstGeom>
          <a:noFill/>
          <a:ln w="9525">
            <a:noFill/>
            <a:miter lim="800000"/>
            <a:headEnd/>
            <a:tailEnd/>
          </a:ln>
        </p:spPr>
        <p:txBody>
          <a:bodyPr>
            <a:spAutoFit/>
          </a:bodyPr>
          <a:lstStyle/>
          <a:p>
            <a:pPr eaLnBrk="0" hangingPunct="0">
              <a:spcBef>
                <a:spcPct val="50000"/>
              </a:spcBef>
            </a:pPr>
            <a:r>
              <a:rPr lang="en-US" altLang="zh-CN" sz="3200" dirty="0">
                <a:solidFill>
                  <a:srgbClr val="000000"/>
                </a:solidFill>
              </a:rPr>
              <a:t>   </a:t>
            </a:r>
            <a:r>
              <a:rPr lang="zh-CN" altLang="en-US" sz="3200" dirty="0">
                <a:solidFill>
                  <a:srgbClr val="000000"/>
                </a:solidFill>
              </a:rPr>
              <a:t>顺序</a:t>
            </a:r>
            <a:r>
              <a:rPr kumimoji="0" lang="zh-CN" altLang="en-US" sz="3200" dirty="0">
                <a:solidFill>
                  <a:srgbClr val="000000"/>
                </a:solidFill>
                <a:latin typeface="Arial" charset="0"/>
              </a:rPr>
              <a:t>栈空时：</a:t>
            </a:r>
            <a:endParaRPr lang="zh-CN" altLang="en-US" sz="3200" dirty="0">
              <a:solidFill>
                <a:srgbClr val="000000"/>
              </a:solidFill>
            </a:endParaRPr>
          </a:p>
        </p:txBody>
      </p:sp>
      <p:sp>
        <p:nvSpPr>
          <p:cNvPr id="654340" name="Comment 4"/>
          <p:cNvSpPr>
            <a:spLocks noChangeArrowheads="1"/>
          </p:cNvSpPr>
          <p:nvPr/>
        </p:nvSpPr>
        <p:spPr bwMode="auto">
          <a:xfrm>
            <a:off x="749300" y="4362450"/>
            <a:ext cx="7543800" cy="1815882"/>
          </a:xfrm>
          <a:prstGeom prst="rect">
            <a:avLst/>
          </a:prstGeom>
          <a:solidFill>
            <a:srgbClr val="FCFDC6"/>
          </a:solidFill>
          <a:ln w="9525">
            <a:solidFill>
              <a:schemeClr val="tx1"/>
            </a:solidFill>
            <a:miter lim="800000"/>
            <a:headEnd/>
            <a:tailEnd/>
          </a:ln>
          <a:effectLst>
            <a:outerShdw dist="107763" dir="2700000" algn="ctr" rotWithShape="0">
              <a:srgbClr val="808080"/>
            </a:outerShdw>
          </a:effectLst>
        </p:spPr>
        <p:txBody>
          <a:bodyPr wrap="square">
            <a:spAutoFit/>
          </a:bodyPr>
          <a:lstStyle/>
          <a:p>
            <a:pPr>
              <a:spcBef>
                <a:spcPct val="50000"/>
              </a:spcBef>
              <a:defRPr/>
            </a:pPr>
            <a:r>
              <a:rPr kumimoji="0" lang="zh-CN" altLang="en-US" sz="3200" b="1" dirty="0">
                <a:solidFill>
                  <a:srgbClr val="800000"/>
                </a:solidFill>
                <a:latin typeface="Arial" charset="0"/>
              </a:rPr>
              <a:t>注意</a:t>
            </a:r>
            <a:r>
              <a:rPr kumimoji="0" lang="en-US" altLang="zh-CN" sz="3200" b="1" dirty="0">
                <a:solidFill>
                  <a:srgbClr val="800000"/>
                </a:solidFill>
                <a:latin typeface="Arial" charset="0"/>
              </a:rPr>
              <a:t>: </a:t>
            </a:r>
          </a:p>
          <a:p>
            <a:pPr>
              <a:spcBef>
                <a:spcPct val="50000"/>
              </a:spcBef>
              <a:defRPr/>
            </a:pPr>
            <a:r>
              <a:rPr kumimoji="0" lang="en-US" altLang="zh-CN" sz="3200" b="1" dirty="0">
                <a:solidFill>
                  <a:srgbClr val="800000"/>
                </a:solidFill>
                <a:latin typeface="Arial" charset="0"/>
              </a:rPr>
              <a:t>        </a:t>
            </a:r>
            <a:r>
              <a:rPr kumimoji="0" lang="zh-CN" altLang="en-US" sz="3200" b="1" dirty="0">
                <a:solidFill>
                  <a:srgbClr val="800000"/>
                </a:solidFill>
                <a:latin typeface="Arial" charset="0"/>
              </a:rPr>
              <a:t>非空栈中的栈顶指针始终在栈顶元素的下一个位置上。</a:t>
            </a:r>
          </a:p>
        </p:txBody>
      </p:sp>
      <p:sp>
        <p:nvSpPr>
          <p:cNvPr id="30726" name="Text Box 5"/>
          <p:cNvSpPr txBox="1">
            <a:spLocks noChangeArrowheads="1"/>
          </p:cNvSpPr>
          <p:nvPr/>
        </p:nvSpPr>
        <p:spPr bwMode="auto">
          <a:xfrm>
            <a:off x="838200" y="2806700"/>
            <a:ext cx="3246437" cy="584775"/>
          </a:xfrm>
          <a:prstGeom prst="rect">
            <a:avLst/>
          </a:prstGeom>
          <a:noFill/>
          <a:ln w="9525">
            <a:noFill/>
            <a:miter lim="800000"/>
            <a:headEnd/>
            <a:tailEnd/>
          </a:ln>
        </p:spPr>
        <p:txBody>
          <a:bodyPr>
            <a:spAutoFit/>
          </a:bodyPr>
          <a:lstStyle/>
          <a:p>
            <a:pPr eaLnBrk="0" hangingPunct="0">
              <a:spcBef>
                <a:spcPct val="50000"/>
              </a:spcBef>
            </a:pPr>
            <a:r>
              <a:rPr lang="zh-CN" altLang="en-US" sz="3200" dirty="0">
                <a:solidFill>
                  <a:srgbClr val="000000"/>
                </a:solidFill>
              </a:rPr>
              <a:t>顺序栈满时：</a:t>
            </a:r>
          </a:p>
        </p:txBody>
      </p:sp>
      <p:sp>
        <p:nvSpPr>
          <p:cNvPr id="30727" name="Text Box 6"/>
          <p:cNvSpPr txBox="1">
            <a:spLocks noChangeArrowheads="1"/>
          </p:cNvSpPr>
          <p:nvPr/>
        </p:nvSpPr>
        <p:spPr bwMode="auto">
          <a:xfrm>
            <a:off x="3194050" y="2762250"/>
            <a:ext cx="5822950" cy="584775"/>
          </a:xfrm>
          <a:prstGeom prst="rect">
            <a:avLst/>
          </a:prstGeom>
          <a:noFill/>
          <a:ln w="9525">
            <a:noFill/>
            <a:miter lim="800000"/>
            <a:headEnd/>
            <a:tailEnd/>
          </a:ln>
        </p:spPr>
        <p:txBody>
          <a:bodyPr wrap="square">
            <a:spAutoFit/>
          </a:bodyPr>
          <a:lstStyle/>
          <a:p>
            <a:pPr eaLnBrk="0" hangingPunct="0">
              <a:spcBef>
                <a:spcPct val="50000"/>
              </a:spcBef>
            </a:pPr>
            <a:r>
              <a:rPr lang="en-US" altLang="zh-CN" sz="3200" dirty="0" err="1"/>
              <a:t>S.Top</a:t>
            </a:r>
            <a:r>
              <a:rPr lang="en-US" altLang="zh-CN" sz="3200" dirty="0"/>
              <a:t> - </a:t>
            </a:r>
            <a:r>
              <a:rPr lang="en-US" altLang="zh-CN" sz="3200" dirty="0" err="1"/>
              <a:t>S.Base</a:t>
            </a:r>
            <a:r>
              <a:rPr lang="en-US" altLang="zh-CN" sz="3200" dirty="0"/>
              <a:t> &gt;= </a:t>
            </a:r>
            <a:r>
              <a:rPr lang="en-US" altLang="zh-CN" sz="3200" dirty="0" err="1"/>
              <a:t>S.Stacksize</a:t>
            </a:r>
            <a:endParaRPr lang="en-US" altLang="zh-CN" sz="3200" dirty="0"/>
          </a:p>
        </p:txBody>
      </p:sp>
      <p:sp>
        <p:nvSpPr>
          <p:cNvPr id="30728" name="Text Box 7"/>
          <p:cNvSpPr txBox="1">
            <a:spLocks noChangeArrowheads="1"/>
          </p:cNvSpPr>
          <p:nvPr/>
        </p:nvSpPr>
        <p:spPr bwMode="auto">
          <a:xfrm>
            <a:off x="3194050" y="3644325"/>
            <a:ext cx="4616450" cy="584775"/>
          </a:xfrm>
          <a:prstGeom prst="rect">
            <a:avLst/>
          </a:prstGeom>
          <a:noFill/>
          <a:ln w="9525">
            <a:noFill/>
            <a:miter lim="800000"/>
            <a:headEnd/>
            <a:tailEnd/>
          </a:ln>
        </p:spPr>
        <p:txBody>
          <a:bodyPr>
            <a:spAutoFit/>
          </a:bodyPr>
          <a:lstStyle/>
          <a:p>
            <a:pPr eaLnBrk="0" hangingPunct="0">
              <a:spcBef>
                <a:spcPct val="50000"/>
              </a:spcBef>
            </a:pPr>
            <a:r>
              <a:rPr lang="en-US" altLang="zh-CN" sz="3200" dirty="0" err="1"/>
              <a:t>S.Top</a:t>
            </a:r>
            <a:r>
              <a:rPr lang="en-US" altLang="zh-CN" sz="3200" dirty="0"/>
              <a:t> = </a:t>
            </a:r>
            <a:r>
              <a:rPr lang="en-US" altLang="zh-CN" sz="3200" dirty="0" err="1"/>
              <a:t>S.Base</a:t>
            </a:r>
            <a:endParaRPr lang="en-US" altLang="zh-CN" sz="3200" dirty="0"/>
          </a:p>
        </p:txBody>
      </p:sp>
      <p:sp>
        <p:nvSpPr>
          <p:cNvPr id="9" name="Text Box 4">
            <a:hlinkClick r:id="rId2" action="ppaction://hlinksldjump"/>
          </p:cNvPr>
          <p:cNvSpPr txBox="1">
            <a:spLocks noChangeArrowheads="1"/>
          </p:cNvSpPr>
          <p:nvPr/>
        </p:nvSpPr>
        <p:spPr bwMode="auto">
          <a:xfrm>
            <a:off x="0" y="762000"/>
            <a:ext cx="4515980"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3.1.2  </a:t>
            </a:r>
            <a:r>
              <a:rPr lang="zh-CN" altLang="en-US" sz="3200" b="1" dirty="0">
                <a:solidFill>
                  <a:schemeClr val="bg1">
                    <a:lumMod val="10000"/>
                  </a:schemeClr>
                </a:solidFill>
                <a:latin typeface="楷体_GB2312" pitchFamily="49" charset="-122"/>
                <a:ea typeface="楷体_GB2312" pitchFamily="49" charset="-122"/>
              </a:rPr>
              <a:t>栈的表示和实现</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BCB6CCF-C6EC-43B1-B20F-2F3CB16D76CF}" type="slidenum">
              <a:rPr lang="en-US" altLang="zh-CN" sz="1400"/>
              <a:pPr/>
              <a:t>34</a:t>
            </a:fld>
            <a:endParaRPr lang="en-US" altLang="zh-CN" sz="1400"/>
          </a:p>
        </p:txBody>
      </p:sp>
      <p:sp>
        <p:nvSpPr>
          <p:cNvPr id="12290" name="Rectangle 2"/>
          <p:cNvSpPr>
            <a:spLocks noGrp="1" noChangeArrowheads="1"/>
          </p:cNvSpPr>
          <p:nvPr>
            <p:ph type="body" idx="1"/>
          </p:nvPr>
        </p:nvSpPr>
        <p:spPr>
          <a:xfrm>
            <a:off x="386535" y="1510630"/>
            <a:ext cx="4572000" cy="2059736"/>
          </a:xfrm>
        </p:spPr>
        <p:txBody>
          <a:bodyPr/>
          <a:lstStyle/>
          <a:p>
            <a:pPr marL="0" indent="0" eaLnBrk="1" hangingPunct="1">
              <a:buFontTx/>
              <a:buNone/>
            </a:pPr>
            <a:r>
              <a:rPr lang="en-US" altLang="zh-CN" dirty="0"/>
              <a:t>       </a:t>
            </a:r>
            <a:r>
              <a:rPr lang="zh-CN" altLang="en-US" sz="2800" b="1" dirty="0">
                <a:latin typeface="楷体_GB2312" pitchFamily="49" charset="-122"/>
                <a:ea typeface="楷体_GB2312" pitchFamily="49" charset="-122"/>
              </a:rPr>
              <a:t>当最大需要容量事先不能估计时</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采用链式存储结构是有效的方法</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链栈的</a:t>
            </a:r>
            <a:r>
              <a:rPr lang="zh-CN" altLang="en-US" sz="2800" b="1" dirty="0">
                <a:solidFill>
                  <a:schemeClr val="hlink"/>
                </a:solidFill>
                <a:latin typeface="楷体_GB2312" pitchFamily="49" charset="-122"/>
                <a:ea typeface="楷体_GB2312" pitchFamily="49" charset="-122"/>
              </a:rPr>
              <a:t>操作只能在栈顶处进行</a:t>
            </a:r>
            <a:r>
              <a:rPr lang="zh-CN" altLang="en-US" sz="2800" b="1" dirty="0">
                <a:latin typeface="楷体_GB2312" pitchFamily="49" charset="-122"/>
                <a:ea typeface="楷体_GB2312" pitchFamily="49" charset="-122"/>
              </a:rPr>
              <a:t>。</a:t>
            </a:r>
            <a:endParaRPr lang="zh-CN" altLang="en-US" b="1" dirty="0"/>
          </a:p>
        </p:txBody>
      </p:sp>
      <p:sp>
        <p:nvSpPr>
          <p:cNvPr id="33796" name="Rectangle 18"/>
          <p:cNvSpPr>
            <a:spLocks noGrp="1" noChangeArrowheads="1"/>
          </p:cNvSpPr>
          <p:nvPr>
            <p:ph type="title"/>
          </p:nvPr>
        </p:nvSpPr>
        <p:spPr>
          <a:xfrm>
            <a:off x="410995" y="548680"/>
            <a:ext cx="8235950" cy="608013"/>
          </a:xfrm>
        </p:spPr>
        <p:txBody>
          <a:bodyPr/>
          <a:lstStyle/>
          <a:p>
            <a:pPr algn="l" eaLnBrk="1" hangingPunct="1"/>
            <a:r>
              <a:rPr lang="zh-CN" altLang="en-US" sz="4000" b="1" dirty="0">
                <a:solidFill>
                  <a:srgbClr val="A50021"/>
                </a:solidFill>
                <a:ea typeface="楷体_GB2312" pitchFamily="49" charset="-122"/>
              </a:rPr>
              <a:t>栈的</a:t>
            </a:r>
            <a:r>
              <a:rPr lang="zh-CN" altLang="en-US" sz="4000" b="1">
                <a:solidFill>
                  <a:srgbClr val="A50021"/>
                </a:solidFill>
                <a:ea typeface="楷体_GB2312" pitchFamily="49" charset="-122"/>
              </a:rPr>
              <a:t>链式存储结构</a:t>
            </a:r>
            <a:endParaRPr lang="zh-CN" altLang="en-US" sz="4000" b="1" dirty="0">
              <a:solidFill>
                <a:srgbClr val="A50021"/>
              </a:solidFill>
              <a:ea typeface="楷体_GB2312" pitchFamily="49" charset="-122"/>
            </a:endParaRPr>
          </a:p>
        </p:txBody>
      </p:sp>
      <p:grpSp>
        <p:nvGrpSpPr>
          <p:cNvPr id="12313" name="Group 25"/>
          <p:cNvGrpSpPr>
            <a:grpSpLocks/>
          </p:cNvGrpSpPr>
          <p:nvPr/>
        </p:nvGrpSpPr>
        <p:grpSpPr bwMode="auto">
          <a:xfrm>
            <a:off x="5202070" y="1301080"/>
            <a:ext cx="3841750" cy="4648200"/>
            <a:chOff x="3264" y="720"/>
            <a:chExt cx="2420" cy="2928"/>
          </a:xfrm>
        </p:grpSpPr>
        <p:sp>
          <p:nvSpPr>
            <p:cNvPr id="33799" name="Rectangle 26"/>
            <p:cNvSpPr>
              <a:spLocks noChangeArrowheads="1"/>
            </p:cNvSpPr>
            <p:nvPr/>
          </p:nvSpPr>
          <p:spPr bwMode="auto">
            <a:xfrm>
              <a:off x="3840" y="1056"/>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5</a:t>
              </a:r>
              <a:endParaRPr lang="en-US" altLang="zh-CN" sz="3200" b="1"/>
            </a:p>
          </p:txBody>
        </p:sp>
        <p:sp>
          <p:nvSpPr>
            <p:cNvPr id="33800" name="Rectangle 27"/>
            <p:cNvSpPr>
              <a:spLocks noChangeArrowheads="1"/>
            </p:cNvSpPr>
            <p:nvPr/>
          </p:nvSpPr>
          <p:spPr bwMode="auto">
            <a:xfrm>
              <a:off x="4512" y="1056"/>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33801" name="Rectangle 28"/>
            <p:cNvSpPr>
              <a:spLocks noChangeArrowheads="1"/>
            </p:cNvSpPr>
            <p:nvPr/>
          </p:nvSpPr>
          <p:spPr bwMode="auto">
            <a:xfrm>
              <a:off x="3840" y="1632"/>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4</a:t>
              </a:r>
              <a:endParaRPr lang="en-US" altLang="zh-CN" sz="3200"/>
            </a:p>
          </p:txBody>
        </p:sp>
        <p:sp>
          <p:nvSpPr>
            <p:cNvPr id="33802" name="Rectangle 29"/>
            <p:cNvSpPr>
              <a:spLocks noChangeArrowheads="1"/>
            </p:cNvSpPr>
            <p:nvPr/>
          </p:nvSpPr>
          <p:spPr bwMode="auto">
            <a:xfrm>
              <a:off x="4512" y="1632"/>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33803" name="Rectangle 30"/>
            <p:cNvSpPr>
              <a:spLocks noChangeArrowheads="1"/>
            </p:cNvSpPr>
            <p:nvPr/>
          </p:nvSpPr>
          <p:spPr bwMode="auto">
            <a:xfrm>
              <a:off x="3840" y="2208"/>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3</a:t>
              </a:r>
              <a:endParaRPr lang="en-US" altLang="zh-CN" sz="3200" b="1"/>
            </a:p>
          </p:txBody>
        </p:sp>
        <p:sp>
          <p:nvSpPr>
            <p:cNvPr id="33804" name="Rectangle 31"/>
            <p:cNvSpPr>
              <a:spLocks noChangeArrowheads="1"/>
            </p:cNvSpPr>
            <p:nvPr/>
          </p:nvSpPr>
          <p:spPr bwMode="auto">
            <a:xfrm>
              <a:off x="4512" y="2208"/>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33805" name="Rectangle 32"/>
            <p:cNvSpPr>
              <a:spLocks noChangeArrowheads="1"/>
            </p:cNvSpPr>
            <p:nvPr/>
          </p:nvSpPr>
          <p:spPr bwMode="auto">
            <a:xfrm>
              <a:off x="3840" y="2784"/>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2</a:t>
              </a:r>
              <a:endParaRPr lang="en-US" altLang="zh-CN" sz="3200" b="1"/>
            </a:p>
          </p:txBody>
        </p:sp>
        <p:sp>
          <p:nvSpPr>
            <p:cNvPr id="33806" name="Rectangle 33"/>
            <p:cNvSpPr>
              <a:spLocks noChangeArrowheads="1"/>
            </p:cNvSpPr>
            <p:nvPr/>
          </p:nvSpPr>
          <p:spPr bwMode="auto">
            <a:xfrm>
              <a:off x="4512" y="2784"/>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33807" name="Rectangle 34"/>
            <p:cNvSpPr>
              <a:spLocks noChangeArrowheads="1"/>
            </p:cNvSpPr>
            <p:nvPr/>
          </p:nvSpPr>
          <p:spPr bwMode="auto">
            <a:xfrm>
              <a:off x="3840" y="3360"/>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1</a:t>
              </a:r>
              <a:endParaRPr lang="en-US" altLang="zh-CN" sz="3200" b="1"/>
            </a:p>
          </p:txBody>
        </p:sp>
        <p:sp>
          <p:nvSpPr>
            <p:cNvPr id="33808" name="Rectangle 35"/>
            <p:cNvSpPr>
              <a:spLocks noChangeArrowheads="1"/>
            </p:cNvSpPr>
            <p:nvPr/>
          </p:nvSpPr>
          <p:spPr bwMode="auto">
            <a:xfrm>
              <a:off x="4512" y="3360"/>
              <a:ext cx="672"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a:t>
              </a:r>
            </a:p>
          </p:txBody>
        </p:sp>
        <p:sp>
          <p:nvSpPr>
            <p:cNvPr id="33809" name="Rectangle 36"/>
            <p:cNvSpPr>
              <a:spLocks noChangeArrowheads="1"/>
            </p:cNvSpPr>
            <p:nvPr/>
          </p:nvSpPr>
          <p:spPr bwMode="auto">
            <a:xfrm>
              <a:off x="5184" y="3345"/>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b="1">
                  <a:ea typeface="楷体_GB2312" pitchFamily="49" charset="-122"/>
                </a:rPr>
                <a:t>栈底</a:t>
              </a:r>
              <a:endParaRPr lang="zh-CN" altLang="en-US" sz="3200" b="1"/>
            </a:p>
          </p:txBody>
        </p:sp>
        <p:cxnSp>
          <p:nvCxnSpPr>
            <p:cNvPr id="33810" name="AutoShape 37"/>
            <p:cNvCxnSpPr>
              <a:cxnSpLocks noChangeShapeType="1"/>
              <a:stCxn id="33800" idx="2"/>
              <a:endCxn id="33801" idx="0"/>
            </p:cNvCxnSpPr>
            <p:nvPr/>
          </p:nvCxnSpPr>
          <p:spPr bwMode="auto">
            <a:xfrm rot="5400000">
              <a:off x="4368" y="1152"/>
              <a:ext cx="288" cy="67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11" name="AutoShape 38"/>
            <p:cNvCxnSpPr>
              <a:cxnSpLocks noChangeShapeType="1"/>
            </p:cNvCxnSpPr>
            <p:nvPr/>
          </p:nvCxnSpPr>
          <p:spPr bwMode="auto">
            <a:xfrm rot="5400000">
              <a:off x="4368" y="1728"/>
              <a:ext cx="288" cy="67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12" name="AutoShape 39"/>
            <p:cNvCxnSpPr>
              <a:cxnSpLocks noChangeShapeType="1"/>
            </p:cNvCxnSpPr>
            <p:nvPr/>
          </p:nvCxnSpPr>
          <p:spPr bwMode="auto">
            <a:xfrm rot="5400000">
              <a:off x="4368" y="2304"/>
              <a:ext cx="288" cy="67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13" name="AutoShape 40"/>
            <p:cNvCxnSpPr>
              <a:cxnSpLocks noChangeShapeType="1"/>
            </p:cNvCxnSpPr>
            <p:nvPr/>
          </p:nvCxnSpPr>
          <p:spPr bwMode="auto">
            <a:xfrm rot="5400000">
              <a:off x="4368" y="2880"/>
              <a:ext cx="288" cy="67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14" name="Rectangle 41"/>
            <p:cNvSpPr>
              <a:spLocks noChangeArrowheads="1"/>
            </p:cNvSpPr>
            <p:nvPr/>
          </p:nvSpPr>
          <p:spPr bwMode="auto">
            <a:xfrm>
              <a:off x="5184" y="1041"/>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b="1">
                  <a:latin typeface="楷体_GB2312" pitchFamily="49" charset="-122"/>
                  <a:ea typeface="楷体_GB2312" pitchFamily="49" charset="-122"/>
                </a:rPr>
                <a:t>栈顶</a:t>
              </a:r>
            </a:p>
          </p:txBody>
        </p:sp>
        <p:sp>
          <p:nvSpPr>
            <p:cNvPr id="33815" name="Line 42"/>
            <p:cNvSpPr>
              <a:spLocks noChangeShapeType="1"/>
            </p:cNvSpPr>
            <p:nvPr/>
          </p:nvSpPr>
          <p:spPr bwMode="auto">
            <a:xfrm>
              <a:off x="3504" y="115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816" name="Text Box 43"/>
            <p:cNvSpPr txBox="1">
              <a:spLocks noChangeArrowheads="1"/>
            </p:cNvSpPr>
            <p:nvPr/>
          </p:nvSpPr>
          <p:spPr bwMode="auto">
            <a:xfrm>
              <a:off x="3264" y="852"/>
              <a:ext cx="6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a:t>  top</a:t>
              </a:r>
            </a:p>
          </p:txBody>
        </p:sp>
        <p:sp>
          <p:nvSpPr>
            <p:cNvPr id="33817" name="Text Box 44"/>
            <p:cNvSpPr txBox="1">
              <a:spLocks noChangeArrowheads="1"/>
            </p:cNvSpPr>
            <p:nvPr/>
          </p:nvSpPr>
          <p:spPr bwMode="auto">
            <a:xfrm>
              <a:off x="3936" y="720"/>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a:t>data     next</a:t>
              </a:r>
            </a:p>
          </p:txBody>
        </p:sp>
      </p:grpSp>
      <p:sp>
        <p:nvSpPr>
          <p:cNvPr id="12333" name="Rectangle 45"/>
          <p:cNvSpPr>
            <a:spLocks noChangeArrowheads="1"/>
          </p:cNvSpPr>
          <p:nvPr/>
        </p:nvSpPr>
        <p:spPr bwMode="auto">
          <a:xfrm>
            <a:off x="630070" y="3425110"/>
            <a:ext cx="4572000" cy="249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spcBef>
                <a:spcPct val="20000"/>
              </a:spcBef>
            </a:pPr>
            <a:r>
              <a:rPr lang="en-US" altLang="zh-CN" sz="3200" b="1" dirty="0" err="1"/>
              <a:t>typedef</a:t>
            </a:r>
            <a:r>
              <a:rPr lang="en-US" altLang="zh-CN" sz="3200" b="1" dirty="0"/>
              <a:t> </a:t>
            </a:r>
            <a:r>
              <a:rPr lang="en-US" altLang="zh-CN" sz="3200" b="1" dirty="0" err="1"/>
              <a:t>struct</a:t>
            </a:r>
            <a:r>
              <a:rPr lang="en-US" altLang="zh-CN" sz="3200" b="1" dirty="0"/>
              <a:t>  </a:t>
            </a:r>
            <a:r>
              <a:rPr lang="en-US" altLang="zh-CN" sz="3200" b="1" dirty="0" err="1"/>
              <a:t>snode</a:t>
            </a:r>
            <a:r>
              <a:rPr lang="en-US" altLang="zh-CN" sz="3200" b="1" dirty="0"/>
              <a:t> </a:t>
            </a:r>
          </a:p>
          <a:p>
            <a:pPr eaLnBrk="1" hangingPunct="1">
              <a:spcBef>
                <a:spcPct val="20000"/>
              </a:spcBef>
            </a:pPr>
            <a:r>
              <a:rPr lang="en-US" altLang="zh-CN" sz="3200" b="1" dirty="0"/>
              <a:t>     { </a:t>
            </a:r>
            <a:r>
              <a:rPr lang="en-US" altLang="zh-CN" sz="3200" b="1" dirty="0" err="1"/>
              <a:t>elemtype</a:t>
            </a:r>
            <a:r>
              <a:rPr lang="en-US" altLang="zh-CN" sz="3200" b="1" dirty="0"/>
              <a:t>  data;      </a:t>
            </a:r>
            <a:r>
              <a:rPr lang="en-US" altLang="zh-CN" sz="3200" b="1" dirty="0">
                <a:latin typeface="楷体_GB2312" pitchFamily="49" charset="-122"/>
                <a:ea typeface="楷体_GB2312" pitchFamily="49" charset="-122"/>
              </a:rPr>
              <a:t>   </a:t>
            </a:r>
            <a:endParaRPr lang="en-US" altLang="zh-CN" sz="3200" b="1" dirty="0"/>
          </a:p>
          <a:p>
            <a:pPr eaLnBrk="1" hangingPunct="1">
              <a:spcBef>
                <a:spcPct val="20000"/>
              </a:spcBef>
            </a:pPr>
            <a:r>
              <a:rPr lang="en-US" altLang="zh-CN" sz="3200" b="1" dirty="0"/>
              <a:t>        </a:t>
            </a:r>
            <a:r>
              <a:rPr lang="en-US" altLang="zh-CN" sz="3200" b="1" dirty="0" err="1"/>
              <a:t>struct</a:t>
            </a:r>
            <a:r>
              <a:rPr lang="en-US" altLang="zh-CN" sz="3200" b="1" dirty="0"/>
              <a:t>  </a:t>
            </a:r>
            <a:r>
              <a:rPr lang="en-US" altLang="zh-CN" sz="3200" b="1" dirty="0" err="1"/>
              <a:t>snode</a:t>
            </a:r>
            <a:r>
              <a:rPr lang="en-US" altLang="zh-CN" sz="3200" b="1" dirty="0"/>
              <a:t>  *next; </a:t>
            </a:r>
          </a:p>
          <a:p>
            <a:pPr eaLnBrk="1" hangingPunct="1">
              <a:spcBef>
                <a:spcPct val="20000"/>
              </a:spcBef>
            </a:pPr>
            <a:r>
              <a:rPr lang="en-US" altLang="zh-CN" sz="3200" b="1" dirty="0"/>
              <a:t>      }*</a:t>
            </a:r>
            <a:r>
              <a:rPr lang="en-US" altLang="zh-CN" sz="3200" b="1" dirty="0" err="1"/>
              <a:t>LinkStack</a:t>
            </a:r>
            <a:r>
              <a:rPr lang="en-US" altLang="zh-CN" sz="3200" b="1" dirty="0"/>
              <a:t>;</a:t>
            </a:r>
          </a:p>
        </p:txBody>
      </p:sp>
    </p:spTree>
    <p:extLst>
      <p:ext uri="{BB962C8B-B14F-4D97-AF65-F5344CB8AC3E}">
        <p14:creationId xmlns:p14="http://schemas.microsoft.com/office/powerpoint/2010/main" val="24973002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 calcmode="lin" valueType="num">
                                      <p:cBhvr additive="base">
                                        <p:cTn id="7" dur="500" fill="hold"/>
                                        <p:tgtEl>
                                          <p:spTgt spid="122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2313"/>
                                        </p:tgtEl>
                                        <p:attrNameLst>
                                          <p:attrName>style.visibility</p:attrName>
                                        </p:attrNameLst>
                                      </p:cBhvr>
                                      <p:to>
                                        <p:strVal val="visible"/>
                                      </p:to>
                                    </p:set>
                                    <p:animEffect transition="in" filter="wipe(up)">
                                      <p:cBhvr>
                                        <p:cTn id="13" dur="500"/>
                                        <p:tgtEl>
                                          <p:spTgt spid="1231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333"/>
                                        </p:tgtEl>
                                        <p:attrNameLst>
                                          <p:attrName>style.visibility</p:attrName>
                                        </p:attrNameLst>
                                      </p:cBhvr>
                                      <p:to>
                                        <p:strVal val="visible"/>
                                      </p:to>
                                    </p:set>
                                    <p:anim calcmode="lin" valueType="num">
                                      <p:cBhvr additive="base">
                                        <p:cTn id="18" dur="500" fill="hold"/>
                                        <p:tgtEl>
                                          <p:spTgt spid="12333"/>
                                        </p:tgtEl>
                                        <p:attrNameLst>
                                          <p:attrName>ppt_x</p:attrName>
                                        </p:attrNameLst>
                                      </p:cBhvr>
                                      <p:tavLst>
                                        <p:tav tm="0">
                                          <p:val>
                                            <p:strVal val="#ppt_x"/>
                                          </p:val>
                                        </p:tav>
                                        <p:tav tm="100000">
                                          <p:val>
                                            <p:strVal val="#ppt_x"/>
                                          </p:val>
                                        </p:tav>
                                      </p:tavLst>
                                    </p:anim>
                                    <p:anim calcmode="lin" valueType="num">
                                      <p:cBhvr additive="base">
                                        <p:cTn id="19" dur="500" fill="hold"/>
                                        <p:tgtEl>
                                          <p:spTgt spid="123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P spid="12333"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13109BA-9DE3-43C6-A416-CFDC1545797D}" type="slidenum">
              <a:rPr lang="en-US" altLang="zh-CN" sz="1400"/>
              <a:pPr/>
              <a:t>35</a:t>
            </a:fld>
            <a:endParaRPr lang="en-US" altLang="zh-CN" sz="1400"/>
          </a:p>
        </p:txBody>
      </p:sp>
      <p:sp>
        <p:nvSpPr>
          <p:cNvPr id="34819" name="Rectangle 2"/>
          <p:cNvSpPr>
            <a:spLocks noGrp="1" noChangeArrowheads="1"/>
          </p:cNvSpPr>
          <p:nvPr>
            <p:ph/>
          </p:nvPr>
        </p:nvSpPr>
        <p:spPr>
          <a:xfrm>
            <a:off x="152400" y="1096728"/>
            <a:ext cx="8452222" cy="5392612"/>
          </a:xfrm>
        </p:spPr>
        <p:txBody>
          <a:bodyPr/>
          <a:lstStyle/>
          <a:p>
            <a:pPr eaLnBrk="1" hangingPunct="1">
              <a:buFontTx/>
              <a:buNone/>
            </a:pPr>
            <a:r>
              <a:rPr lang="en-US" altLang="zh-CN" b="1" dirty="0">
                <a:ea typeface="楷体_GB2312" pitchFamily="49" charset="-122"/>
              </a:rPr>
              <a:t>status</a:t>
            </a:r>
            <a:r>
              <a:rPr lang="en-US" altLang="zh-CN" b="1" dirty="0">
                <a:solidFill>
                  <a:srgbClr val="006600"/>
                </a:solidFill>
              </a:rPr>
              <a:t> push</a:t>
            </a:r>
            <a:r>
              <a:rPr lang="en-US" altLang="zh-CN" b="1" dirty="0"/>
              <a:t> (</a:t>
            </a:r>
            <a:r>
              <a:rPr lang="en-US" altLang="zh-CN" b="1" dirty="0" err="1"/>
              <a:t>linkstack</a:t>
            </a:r>
            <a:r>
              <a:rPr lang="en-US" altLang="zh-CN" b="1" dirty="0"/>
              <a:t> &amp;top, </a:t>
            </a:r>
            <a:r>
              <a:rPr lang="en-US" altLang="zh-CN" b="1" dirty="0" err="1"/>
              <a:t>elemtype</a:t>
            </a:r>
            <a:r>
              <a:rPr lang="en-US" altLang="zh-CN" b="1" dirty="0"/>
              <a:t>  x)</a:t>
            </a:r>
          </a:p>
          <a:p>
            <a:pPr eaLnBrk="1" hangingPunct="1">
              <a:buFontTx/>
              <a:buNone/>
            </a:pPr>
            <a:r>
              <a:rPr lang="en-US" altLang="zh-CN" b="1" dirty="0"/>
              <a:t>{</a:t>
            </a:r>
          </a:p>
          <a:p>
            <a:pPr eaLnBrk="1" hangingPunct="1">
              <a:buFontTx/>
              <a:buNone/>
            </a:pPr>
            <a:endParaRPr lang="en-US" altLang="zh-CN" b="1" dirty="0"/>
          </a:p>
          <a:p>
            <a:pPr eaLnBrk="1" hangingPunct="1">
              <a:buFontTx/>
              <a:buNone/>
            </a:pPr>
            <a:endParaRPr lang="en-US" altLang="zh-CN" b="1" dirty="0"/>
          </a:p>
          <a:p>
            <a:pPr eaLnBrk="1" hangingPunct="1">
              <a:buFontTx/>
              <a:buNone/>
            </a:pPr>
            <a:endParaRPr lang="en-US" altLang="zh-CN" b="1" dirty="0"/>
          </a:p>
          <a:p>
            <a:pPr eaLnBrk="1" hangingPunct="1">
              <a:buFontTx/>
              <a:buNone/>
            </a:pPr>
            <a:endParaRPr lang="en-US" altLang="zh-CN" b="1" dirty="0"/>
          </a:p>
          <a:p>
            <a:pPr eaLnBrk="1" hangingPunct="1">
              <a:buFontTx/>
              <a:buNone/>
            </a:pPr>
            <a:endParaRPr lang="en-US" altLang="zh-CN" b="1" dirty="0"/>
          </a:p>
          <a:p>
            <a:pPr eaLnBrk="1" hangingPunct="1">
              <a:buFontTx/>
              <a:buNone/>
            </a:pPr>
            <a:endParaRPr lang="en-US" altLang="zh-CN" b="1" dirty="0"/>
          </a:p>
          <a:p>
            <a:pPr eaLnBrk="1" hangingPunct="1">
              <a:buFontTx/>
              <a:buNone/>
            </a:pPr>
            <a:r>
              <a:rPr lang="en-US" altLang="zh-CN" b="1" dirty="0"/>
              <a:t>}</a:t>
            </a:r>
            <a:r>
              <a:rPr lang="en-US" altLang="zh-CN" b="1" dirty="0">
                <a:solidFill>
                  <a:srgbClr val="006600"/>
                </a:solidFill>
              </a:rPr>
              <a:t>//push</a:t>
            </a:r>
          </a:p>
        </p:txBody>
      </p:sp>
      <p:sp>
        <p:nvSpPr>
          <p:cNvPr id="34820" name="Rectangle 3"/>
          <p:cNvSpPr>
            <a:spLocks noChangeArrowheads="1"/>
          </p:cNvSpPr>
          <p:nvPr/>
        </p:nvSpPr>
        <p:spPr bwMode="auto">
          <a:xfrm>
            <a:off x="-15744" y="25171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r>
              <a:rPr lang="zh-CN" altLang="en-US" sz="4000" b="1" dirty="0">
                <a:solidFill>
                  <a:srgbClr val="A50021"/>
                </a:solidFill>
                <a:latin typeface="楷体_GB2312" pitchFamily="49" charset="-122"/>
                <a:ea typeface="楷体_GB2312" pitchFamily="49" charset="-122"/>
              </a:rPr>
              <a:t>链式进栈操作</a:t>
            </a:r>
          </a:p>
        </p:txBody>
      </p:sp>
      <p:sp>
        <p:nvSpPr>
          <p:cNvPr id="478238" name="Text Box 30"/>
          <p:cNvSpPr txBox="1">
            <a:spLocks noChangeArrowheads="1"/>
          </p:cNvSpPr>
          <p:nvPr/>
        </p:nvSpPr>
        <p:spPr bwMode="auto">
          <a:xfrm>
            <a:off x="2681288" y="5446713"/>
            <a:ext cx="7207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endParaRPr lang="zh-CN" altLang="zh-CN" sz="2400"/>
          </a:p>
        </p:txBody>
      </p:sp>
      <p:sp>
        <p:nvSpPr>
          <p:cNvPr id="478239" name="Rectangle 31"/>
          <p:cNvSpPr>
            <a:spLocks noChangeArrowheads="1"/>
          </p:cNvSpPr>
          <p:nvPr/>
        </p:nvSpPr>
        <p:spPr bwMode="auto">
          <a:xfrm>
            <a:off x="611560" y="1583795"/>
            <a:ext cx="7993062" cy="351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20000"/>
              </a:spcBef>
            </a:pPr>
            <a:r>
              <a:rPr lang="en-US" altLang="zh-CN" sz="3200" b="1" dirty="0"/>
              <a:t>t= (</a:t>
            </a:r>
            <a:r>
              <a:rPr lang="en-US" altLang="zh-CN" sz="3200" b="1" dirty="0" err="1"/>
              <a:t>linkstack</a:t>
            </a:r>
            <a:r>
              <a:rPr lang="en-US" altLang="zh-CN" sz="3200" b="1" dirty="0"/>
              <a:t>) </a:t>
            </a:r>
            <a:r>
              <a:rPr lang="en-US" altLang="zh-CN" sz="3200" b="1" dirty="0" err="1"/>
              <a:t>malloc</a:t>
            </a:r>
            <a:r>
              <a:rPr lang="en-US" altLang="zh-CN" sz="3200" b="1" dirty="0"/>
              <a:t> (</a:t>
            </a:r>
            <a:r>
              <a:rPr lang="en-US" altLang="zh-CN" sz="3200" b="1" dirty="0" err="1"/>
              <a:t>sizeof</a:t>
            </a:r>
            <a:r>
              <a:rPr lang="en-US" altLang="zh-CN" sz="3200" b="1" dirty="0"/>
              <a:t>(</a:t>
            </a:r>
            <a:r>
              <a:rPr lang="en-US" altLang="zh-CN" sz="3200" b="1" dirty="0" err="1"/>
              <a:t>snode</a:t>
            </a:r>
            <a:r>
              <a:rPr lang="en-US" altLang="zh-CN" sz="3200" b="1" dirty="0"/>
              <a:t>));</a:t>
            </a:r>
          </a:p>
          <a:p>
            <a:pPr marL="342900" indent="-342900" eaLnBrk="1" hangingPunct="1">
              <a:spcBef>
                <a:spcPct val="20000"/>
              </a:spcBef>
            </a:pPr>
            <a:r>
              <a:rPr lang="en-US" altLang="zh-CN" sz="3200" b="1" dirty="0"/>
              <a:t>if  (t == NULL)      </a:t>
            </a:r>
          </a:p>
          <a:p>
            <a:pPr marL="342900" indent="-342900" eaLnBrk="1" hangingPunct="1">
              <a:spcBef>
                <a:spcPct val="20000"/>
              </a:spcBef>
            </a:pPr>
            <a:r>
              <a:rPr lang="en-US" altLang="zh-CN" sz="3200" b="1" dirty="0"/>
              <a:t>   return ERROR;  </a:t>
            </a:r>
            <a:r>
              <a:rPr lang="en-US" altLang="zh-CN" sz="3200" b="1" dirty="0">
                <a:solidFill>
                  <a:srgbClr val="006600"/>
                </a:solidFill>
              </a:rPr>
              <a:t>//</a:t>
            </a:r>
            <a:r>
              <a:rPr lang="zh-CN" altLang="en-US" b="1" dirty="0">
                <a:solidFill>
                  <a:srgbClr val="006600"/>
                </a:solidFill>
                <a:ea typeface="楷体_GB2312" pitchFamily="49" charset="-122"/>
              </a:rPr>
              <a:t>内存无可用空间</a:t>
            </a:r>
            <a:r>
              <a:rPr lang="en-US" altLang="zh-CN" b="1" dirty="0">
                <a:solidFill>
                  <a:srgbClr val="006600"/>
                </a:solidFill>
                <a:ea typeface="楷体_GB2312" pitchFamily="49" charset="-122"/>
              </a:rPr>
              <a:t>,</a:t>
            </a:r>
            <a:r>
              <a:rPr lang="zh-CN" altLang="en-US" b="1" dirty="0">
                <a:solidFill>
                  <a:srgbClr val="006600"/>
                </a:solidFill>
                <a:ea typeface="楷体_GB2312" pitchFamily="49" charset="-122"/>
              </a:rPr>
              <a:t>栈上溢</a:t>
            </a:r>
            <a:endParaRPr lang="zh-CN" altLang="en-US" sz="2800" b="1" dirty="0">
              <a:solidFill>
                <a:srgbClr val="006600"/>
              </a:solidFill>
            </a:endParaRPr>
          </a:p>
          <a:p>
            <a:pPr marL="342900" indent="-342900" eaLnBrk="1" hangingPunct="1">
              <a:spcBef>
                <a:spcPct val="20000"/>
              </a:spcBef>
            </a:pPr>
            <a:r>
              <a:rPr lang="zh-CN" altLang="en-US" sz="3200" b="1" dirty="0"/>
              <a:t> </a:t>
            </a:r>
            <a:r>
              <a:rPr lang="en-US" altLang="zh-CN" sz="3200" b="1" dirty="0"/>
              <a:t>else  { t-&gt;data=x;   </a:t>
            </a:r>
          </a:p>
          <a:p>
            <a:pPr marL="342900" indent="-342900" eaLnBrk="1" hangingPunct="1">
              <a:spcBef>
                <a:spcPct val="20000"/>
              </a:spcBef>
            </a:pPr>
            <a:r>
              <a:rPr lang="en-US" altLang="zh-CN" sz="3200" b="1" dirty="0"/>
              <a:t>            t-&gt;next=top;</a:t>
            </a:r>
          </a:p>
          <a:p>
            <a:pPr marL="342900" indent="-342900" eaLnBrk="1" hangingPunct="1">
              <a:spcBef>
                <a:spcPct val="20000"/>
              </a:spcBef>
            </a:pPr>
            <a:r>
              <a:rPr lang="en-US" altLang="zh-CN" sz="3200" b="1" dirty="0"/>
              <a:t>            top=t;  </a:t>
            </a:r>
          </a:p>
          <a:p>
            <a:pPr marL="342900" indent="-342900" eaLnBrk="1" hangingPunct="1">
              <a:spcBef>
                <a:spcPct val="20000"/>
              </a:spcBef>
            </a:pPr>
            <a:r>
              <a:rPr lang="en-US" altLang="zh-CN" sz="3200" b="1" dirty="0"/>
              <a:t>            return OK; }</a:t>
            </a:r>
            <a:endParaRPr lang="en-US" altLang="zh-CN" sz="3200" b="1" dirty="0">
              <a:solidFill>
                <a:srgbClr val="006600"/>
              </a:solidFill>
            </a:endParaRPr>
          </a:p>
        </p:txBody>
      </p:sp>
    </p:spTree>
    <p:extLst>
      <p:ext uri="{BB962C8B-B14F-4D97-AF65-F5344CB8AC3E}">
        <p14:creationId xmlns:p14="http://schemas.microsoft.com/office/powerpoint/2010/main" val="41382657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82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78239"/>
                                        </p:tgtEl>
                                        <p:attrNameLst>
                                          <p:attrName>style.visibility</p:attrName>
                                        </p:attrNameLst>
                                      </p:cBhvr>
                                      <p:to>
                                        <p:strVal val="visible"/>
                                      </p:to>
                                    </p:set>
                                    <p:animEffect transition="in" filter="wipe(up)">
                                      <p:cBhvr>
                                        <p:cTn id="11" dur="500"/>
                                        <p:tgtEl>
                                          <p:spTgt spid="478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38" grpId="0" animBg="1"/>
      <p:bldP spid="47823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43F9104-E6B5-4F5B-B6CB-5155F8BA58AC}" type="slidenum">
              <a:rPr lang="en-US" altLang="zh-CN" sz="1400"/>
              <a:pPr/>
              <a:t>36</a:t>
            </a:fld>
            <a:endParaRPr lang="en-US" altLang="zh-CN" sz="1400"/>
          </a:p>
        </p:txBody>
      </p:sp>
      <p:sp>
        <p:nvSpPr>
          <p:cNvPr id="35843" name="Rectangle 2"/>
          <p:cNvSpPr>
            <a:spLocks noGrp="1" noChangeArrowheads="1"/>
          </p:cNvSpPr>
          <p:nvPr>
            <p:ph/>
          </p:nvPr>
        </p:nvSpPr>
        <p:spPr>
          <a:xfrm>
            <a:off x="206515" y="664564"/>
            <a:ext cx="8534400" cy="5464736"/>
          </a:xfrm>
        </p:spPr>
        <p:txBody>
          <a:bodyPr/>
          <a:lstStyle/>
          <a:p>
            <a:pPr eaLnBrk="1" hangingPunct="1">
              <a:lnSpc>
                <a:spcPct val="90000"/>
              </a:lnSpc>
              <a:buFontTx/>
              <a:buNone/>
            </a:pPr>
            <a:r>
              <a:rPr lang="en-US" altLang="zh-CN" b="1" dirty="0">
                <a:ea typeface="楷体_GB2312" pitchFamily="49" charset="-122"/>
              </a:rPr>
              <a:t>status</a:t>
            </a:r>
            <a:r>
              <a:rPr lang="en-US" altLang="zh-CN" b="1" dirty="0"/>
              <a:t> </a:t>
            </a:r>
            <a:r>
              <a:rPr lang="en-US" altLang="zh-CN" b="1" dirty="0">
                <a:solidFill>
                  <a:srgbClr val="006600"/>
                </a:solidFill>
              </a:rPr>
              <a:t>pop</a:t>
            </a:r>
            <a:r>
              <a:rPr lang="en-US" altLang="zh-CN" b="1" dirty="0"/>
              <a:t>  (</a:t>
            </a:r>
            <a:r>
              <a:rPr lang="en-US" altLang="zh-CN" b="1" dirty="0" err="1"/>
              <a:t>linkstack</a:t>
            </a:r>
            <a:r>
              <a:rPr lang="en-US" altLang="zh-CN" b="1" dirty="0"/>
              <a:t> &amp;top , </a:t>
            </a:r>
            <a:r>
              <a:rPr lang="en-US" altLang="zh-CN" b="1" dirty="0" err="1"/>
              <a:t>elemtype</a:t>
            </a:r>
            <a:r>
              <a:rPr lang="en-US" altLang="zh-CN" b="1" dirty="0"/>
              <a:t>  &amp;e)</a:t>
            </a:r>
          </a:p>
          <a:p>
            <a:pPr eaLnBrk="1" hangingPunct="1">
              <a:lnSpc>
                <a:spcPct val="90000"/>
              </a:lnSpc>
              <a:buFontTx/>
              <a:buNone/>
            </a:pPr>
            <a:r>
              <a:rPr lang="en-US" altLang="zh-CN" b="1" dirty="0"/>
              <a:t>{  </a:t>
            </a:r>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endParaRPr lang="en-US" altLang="zh-CN" b="1" dirty="0"/>
          </a:p>
          <a:p>
            <a:pPr eaLnBrk="1" hangingPunct="1">
              <a:lnSpc>
                <a:spcPct val="90000"/>
              </a:lnSpc>
              <a:buFontTx/>
              <a:buNone/>
            </a:pPr>
            <a:r>
              <a:rPr lang="en-US" altLang="zh-CN" b="1" dirty="0"/>
              <a:t>}</a:t>
            </a:r>
            <a:r>
              <a:rPr lang="en-US" altLang="zh-CN" b="1" dirty="0">
                <a:solidFill>
                  <a:srgbClr val="006600"/>
                </a:solidFill>
              </a:rPr>
              <a:t>//pop</a:t>
            </a:r>
          </a:p>
        </p:txBody>
      </p:sp>
      <p:sp>
        <p:nvSpPr>
          <p:cNvPr id="35844" name="Rectangle 3"/>
          <p:cNvSpPr>
            <a:spLocks noChangeArrowheads="1"/>
          </p:cNvSpPr>
          <p:nvPr/>
        </p:nvSpPr>
        <p:spPr bwMode="auto">
          <a:xfrm>
            <a:off x="0" y="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r>
              <a:rPr lang="zh-CN" altLang="en-US" sz="4000" b="1" dirty="0">
                <a:solidFill>
                  <a:srgbClr val="A50021"/>
                </a:solidFill>
                <a:latin typeface="楷体_GB2312" pitchFamily="49" charset="-122"/>
                <a:ea typeface="楷体_GB2312" pitchFamily="49" charset="-122"/>
              </a:rPr>
              <a:t>链式</a:t>
            </a:r>
            <a:r>
              <a:rPr lang="zh-CN" altLang="en-US" sz="4400" b="1" dirty="0">
                <a:solidFill>
                  <a:srgbClr val="A50021"/>
                </a:solidFill>
                <a:ea typeface="楷体_GB2312" pitchFamily="49" charset="-122"/>
              </a:rPr>
              <a:t>出</a:t>
            </a:r>
            <a:r>
              <a:rPr lang="zh-CN" altLang="en-US" sz="4000" b="1" dirty="0">
                <a:solidFill>
                  <a:srgbClr val="A50021"/>
                </a:solidFill>
                <a:latin typeface="楷体_GB2312" pitchFamily="49" charset="-122"/>
                <a:ea typeface="楷体_GB2312" pitchFamily="49" charset="-122"/>
              </a:rPr>
              <a:t>栈操作</a:t>
            </a:r>
          </a:p>
        </p:txBody>
      </p:sp>
      <p:sp>
        <p:nvSpPr>
          <p:cNvPr id="479263" name="Rectangle 31"/>
          <p:cNvSpPr>
            <a:spLocks noChangeArrowheads="1"/>
          </p:cNvSpPr>
          <p:nvPr/>
        </p:nvSpPr>
        <p:spPr bwMode="auto">
          <a:xfrm>
            <a:off x="701570" y="1268413"/>
            <a:ext cx="7229980" cy="4320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lnSpc>
                <a:spcPct val="90000"/>
              </a:lnSpc>
              <a:spcBef>
                <a:spcPct val="20000"/>
              </a:spcBef>
            </a:pPr>
            <a:r>
              <a:rPr lang="en-US" altLang="zh-CN" sz="3200" b="1" dirty="0"/>
              <a:t>if  (top == NULL)     </a:t>
            </a:r>
            <a:r>
              <a:rPr lang="en-US" altLang="zh-CN" b="1" dirty="0">
                <a:solidFill>
                  <a:srgbClr val="006600"/>
                </a:solidFill>
              </a:rPr>
              <a:t>//</a:t>
            </a:r>
            <a:r>
              <a:rPr lang="zh-CN" altLang="en-US" b="1" dirty="0">
                <a:solidFill>
                  <a:srgbClr val="006600"/>
                </a:solidFill>
                <a:ea typeface="楷体_GB2312" pitchFamily="49" charset="-122"/>
              </a:rPr>
              <a:t>栈空，栈溢出（下溢）</a:t>
            </a:r>
          </a:p>
          <a:p>
            <a:pPr marL="342900" indent="-342900" eaLnBrk="1" hangingPunct="1">
              <a:lnSpc>
                <a:spcPct val="90000"/>
              </a:lnSpc>
              <a:spcBef>
                <a:spcPct val="20000"/>
              </a:spcBef>
            </a:pPr>
            <a:r>
              <a:rPr lang="zh-CN" altLang="en-US" sz="2800" b="1" dirty="0">
                <a:solidFill>
                  <a:schemeClr val="folHlink"/>
                </a:solidFill>
                <a:ea typeface="楷体_GB2312" pitchFamily="49" charset="-122"/>
              </a:rPr>
              <a:t>         </a:t>
            </a:r>
            <a:r>
              <a:rPr lang="en-US" altLang="zh-CN" sz="3200" b="1" dirty="0">
                <a:ea typeface="楷体_GB2312" pitchFamily="49" charset="-122"/>
              </a:rPr>
              <a:t>return NULL;</a:t>
            </a:r>
            <a:endParaRPr lang="en-US" altLang="zh-CN" sz="3200" b="1" dirty="0"/>
          </a:p>
          <a:p>
            <a:pPr marL="342900" indent="-342900" eaLnBrk="1" hangingPunct="1">
              <a:lnSpc>
                <a:spcPct val="90000"/>
              </a:lnSpc>
              <a:spcBef>
                <a:spcPct val="20000"/>
              </a:spcBef>
            </a:pPr>
            <a:r>
              <a:rPr lang="en-US" altLang="zh-CN" sz="3200" b="1" dirty="0"/>
              <a:t>else  { p = top;</a:t>
            </a:r>
          </a:p>
          <a:p>
            <a:pPr marL="342900" indent="-342900" eaLnBrk="1" hangingPunct="1">
              <a:lnSpc>
                <a:spcPct val="90000"/>
              </a:lnSpc>
              <a:spcBef>
                <a:spcPct val="20000"/>
              </a:spcBef>
            </a:pPr>
            <a:r>
              <a:rPr lang="en-US" altLang="zh-CN" sz="3200" b="1" dirty="0"/>
              <a:t>           top = top-&gt;next;</a:t>
            </a:r>
          </a:p>
          <a:p>
            <a:pPr marL="342900" indent="-342900" eaLnBrk="1" hangingPunct="1">
              <a:lnSpc>
                <a:spcPct val="90000"/>
              </a:lnSpc>
              <a:spcBef>
                <a:spcPct val="20000"/>
              </a:spcBef>
            </a:pPr>
            <a:r>
              <a:rPr lang="en-US" altLang="zh-CN" sz="3200" b="1" dirty="0"/>
              <a:t>           e = p-&gt;data;</a:t>
            </a:r>
          </a:p>
          <a:p>
            <a:pPr marL="342900" indent="-342900" eaLnBrk="1" hangingPunct="1">
              <a:lnSpc>
                <a:spcPct val="90000"/>
              </a:lnSpc>
              <a:spcBef>
                <a:spcPct val="20000"/>
              </a:spcBef>
            </a:pPr>
            <a:r>
              <a:rPr lang="en-US" altLang="zh-CN" sz="3200" b="1" dirty="0"/>
              <a:t>           free (p);   </a:t>
            </a:r>
          </a:p>
          <a:p>
            <a:pPr marL="342900" indent="-342900" eaLnBrk="1" hangingPunct="1">
              <a:lnSpc>
                <a:spcPct val="90000"/>
              </a:lnSpc>
              <a:spcBef>
                <a:spcPct val="20000"/>
              </a:spcBef>
            </a:pPr>
            <a:r>
              <a:rPr lang="en-US" altLang="zh-CN" sz="3200" b="1" dirty="0"/>
              <a:t>           return OK;</a:t>
            </a:r>
          </a:p>
          <a:p>
            <a:pPr marL="342900" indent="-342900" eaLnBrk="1" hangingPunct="1">
              <a:lnSpc>
                <a:spcPct val="90000"/>
              </a:lnSpc>
              <a:spcBef>
                <a:spcPct val="20000"/>
              </a:spcBef>
            </a:pPr>
            <a:r>
              <a:rPr lang="en-US" altLang="zh-CN" sz="3200" b="1" dirty="0"/>
              <a:t>         }                </a:t>
            </a:r>
            <a:endParaRPr lang="en-US" altLang="zh-CN" sz="3200" b="1" dirty="0">
              <a:solidFill>
                <a:srgbClr val="006600"/>
              </a:solidFill>
            </a:endParaRPr>
          </a:p>
        </p:txBody>
      </p:sp>
    </p:spTree>
    <p:extLst>
      <p:ext uri="{BB962C8B-B14F-4D97-AF65-F5344CB8AC3E}">
        <p14:creationId xmlns:p14="http://schemas.microsoft.com/office/powerpoint/2010/main" val="21338899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9263"/>
                                        </p:tgtEl>
                                        <p:attrNameLst>
                                          <p:attrName>style.visibility</p:attrName>
                                        </p:attrNameLst>
                                      </p:cBhvr>
                                      <p:to>
                                        <p:strVal val="visible"/>
                                      </p:to>
                                    </p:set>
                                    <p:animEffect transition="in" filter="wipe(up)">
                                      <p:cBhvr>
                                        <p:cTn id="7" dur="500"/>
                                        <p:tgtEl>
                                          <p:spTgt spid="479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63"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AC0229F-7361-4EAC-9481-6474754FE085}" type="slidenum">
              <a:rPr lang="en-US" altLang="zh-CN" sz="1400"/>
              <a:pPr/>
              <a:t>37</a:t>
            </a:fld>
            <a:endParaRPr lang="en-US" altLang="zh-CN" sz="1400"/>
          </a:p>
        </p:txBody>
      </p:sp>
      <p:sp>
        <p:nvSpPr>
          <p:cNvPr id="36867" name="Text Box 2"/>
          <p:cNvSpPr txBox="1">
            <a:spLocks noChangeArrowheads="1"/>
          </p:cNvSpPr>
          <p:nvPr/>
        </p:nvSpPr>
        <p:spPr bwMode="auto">
          <a:xfrm>
            <a:off x="457200" y="1006475"/>
            <a:ext cx="8305800" cy="447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b="1">
                <a:ea typeface="楷体_GB2312" pitchFamily="49" charset="-122"/>
              </a:rPr>
              <a:t>        </a:t>
            </a:r>
            <a:r>
              <a:rPr lang="zh-CN" altLang="en-US" b="1">
                <a:ea typeface="楷体_GB2312" pitchFamily="49" charset="-122"/>
              </a:rPr>
              <a:t>对于链栈，不会产生单个栈满而其余栈空的情形，只有当系统空间全部用完，</a:t>
            </a:r>
            <a:r>
              <a:rPr lang="en-US" altLang="zh-CN" b="1"/>
              <a:t>malloc</a:t>
            </a:r>
            <a:r>
              <a:rPr lang="zh-CN" altLang="en-US" b="1">
                <a:ea typeface="楷体_GB2312" pitchFamily="49" charset="-122"/>
              </a:rPr>
              <a:t>过程无法实现时才会发生上溢，因此多个链栈共享空间也就是自然的事了。</a:t>
            </a:r>
          </a:p>
          <a:p>
            <a:pPr eaLnBrk="1" hangingPunct="1">
              <a:spcBef>
                <a:spcPct val="50000"/>
              </a:spcBef>
            </a:pPr>
            <a:r>
              <a:rPr lang="zh-CN" altLang="en-US" b="1">
                <a:ea typeface="楷体_GB2312" pitchFamily="49" charset="-122"/>
              </a:rPr>
              <a:t>        可见，对栈这样一种元素多变的数据结构来说，链式存储结构似乎更适宜些。</a:t>
            </a:r>
          </a:p>
          <a:p>
            <a:pPr eaLnBrk="1" hangingPunct="1">
              <a:spcBef>
                <a:spcPct val="50000"/>
              </a:spcBef>
            </a:pPr>
            <a:r>
              <a:rPr lang="zh-CN" altLang="en-US" b="1">
                <a:ea typeface="楷体_GB2312" pitchFamily="49" charset="-122"/>
              </a:rPr>
              <a:t>        此外初始化栈、栈判空操作也很容易实现。</a:t>
            </a:r>
          </a:p>
        </p:txBody>
      </p:sp>
    </p:spTree>
    <p:extLst>
      <p:ext uri="{BB962C8B-B14F-4D97-AF65-F5344CB8AC3E}">
        <p14:creationId xmlns:p14="http://schemas.microsoft.com/office/powerpoint/2010/main" val="2035204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灯片编号占位符 3"/>
          <p:cNvSpPr>
            <a:spLocks noGrp="1"/>
          </p:cNvSpPr>
          <p:nvPr>
            <p:ph type="sldNum" sz="quarter" idx="12"/>
          </p:nvPr>
        </p:nvSpPr>
        <p:spPr>
          <a:noFill/>
        </p:spPr>
        <p:txBody>
          <a:bodyPr/>
          <a:lstStyle/>
          <a:p>
            <a:fld id="{34D04898-2624-4C82-BC71-3A85D809537B}" type="slidenum">
              <a:rPr lang="en-US" altLang="zh-CN"/>
              <a:pPr/>
              <a:t>38</a:t>
            </a:fld>
            <a:endParaRPr lang="en-US" altLang="zh-CN"/>
          </a:p>
        </p:txBody>
      </p:sp>
      <p:sp>
        <p:nvSpPr>
          <p:cNvPr id="44035" name="Text Box 2"/>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
        <p:nvSpPr>
          <p:cNvPr id="44036" name="Text Box 3">
            <a:hlinkClick r:id="rId2" action="ppaction://hlinksldjump"/>
          </p:cNvPr>
          <p:cNvSpPr txBox="1">
            <a:spLocks noChangeArrowheads="1"/>
          </p:cNvSpPr>
          <p:nvPr/>
        </p:nvSpPr>
        <p:spPr bwMode="auto">
          <a:xfrm>
            <a:off x="1764000" y="1808820"/>
            <a:ext cx="3159839"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例一、 数制转换</a:t>
            </a:r>
          </a:p>
        </p:txBody>
      </p:sp>
      <p:sp>
        <p:nvSpPr>
          <p:cNvPr id="44037" name="Text Box 4">
            <a:hlinkClick r:id="rId3" action="ppaction://hlinksldjump"/>
          </p:cNvPr>
          <p:cNvSpPr txBox="1">
            <a:spLocks noChangeArrowheads="1"/>
          </p:cNvSpPr>
          <p:nvPr/>
        </p:nvSpPr>
        <p:spPr bwMode="auto">
          <a:xfrm>
            <a:off x="1764000" y="2418487"/>
            <a:ext cx="4390946"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例二、 括号匹配的检验</a:t>
            </a:r>
          </a:p>
        </p:txBody>
      </p:sp>
      <p:sp>
        <p:nvSpPr>
          <p:cNvPr id="44038" name="Text Box 5">
            <a:hlinkClick r:id="rId4" action="ppaction://hlinksldjump"/>
          </p:cNvPr>
          <p:cNvSpPr txBox="1">
            <a:spLocks noChangeArrowheads="1"/>
          </p:cNvSpPr>
          <p:nvPr/>
        </p:nvSpPr>
        <p:spPr bwMode="auto">
          <a:xfrm>
            <a:off x="1764000" y="3003262"/>
            <a:ext cx="4390946"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例三、 行编辑程序问题</a:t>
            </a:r>
            <a:endParaRPr lang="zh-CN" altLang="en-US" sz="3200" dirty="0">
              <a:solidFill>
                <a:srgbClr val="000000"/>
              </a:solidFill>
            </a:endParaRPr>
          </a:p>
        </p:txBody>
      </p:sp>
      <p:sp>
        <p:nvSpPr>
          <p:cNvPr id="44039" name="Text Box 6">
            <a:hlinkClick r:id="rId5" action="ppaction://hlinksldjump"/>
          </p:cNvPr>
          <p:cNvSpPr txBox="1">
            <a:spLocks noChangeArrowheads="1"/>
          </p:cNvSpPr>
          <p:nvPr/>
        </p:nvSpPr>
        <p:spPr bwMode="auto">
          <a:xfrm>
            <a:off x="1764000" y="3596671"/>
            <a:ext cx="3159839"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例四、 迷宫求解</a:t>
            </a:r>
          </a:p>
        </p:txBody>
      </p:sp>
      <p:sp>
        <p:nvSpPr>
          <p:cNvPr id="44040" name="Text Box 7">
            <a:hlinkClick r:id="rId6" action="ppaction://hlinksldjump"/>
          </p:cNvPr>
          <p:cNvSpPr txBox="1">
            <a:spLocks noChangeArrowheads="1"/>
          </p:cNvSpPr>
          <p:nvPr/>
        </p:nvSpPr>
        <p:spPr bwMode="auto">
          <a:xfrm>
            <a:off x="1764000" y="4185530"/>
            <a:ext cx="3570208"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例五、 表达式求值</a:t>
            </a:r>
          </a:p>
        </p:txBody>
      </p:sp>
      <p:sp>
        <p:nvSpPr>
          <p:cNvPr id="44041" name="Text Box 9"/>
          <p:cNvSpPr txBox="1">
            <a:spLocks noChangeArrowheads="1"/>
          </p:cNvSpPr>
          <p:nvPr/>
        </p:nvSpPr>
        <p:spPr bwMode="auto">
          <a:xfrm>
            <a:off x="1764000" y="4771474"/>
            <a:ext cx="3159839"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例六、 实现递归</a:t>
            </a:r>
          </a:p>
        </p:txBody>
      </p:sp>
      <p:sp>
        <p:nvSpPr>
          <p:cNvPr id="10" name="Text Box 9"/>
          <p:cNvSpPr txBox="1">
            <a:spLocks noChangeArrowheads="1"/>
          </p:cNvSpPr>
          <p:nvPr/>
        </p:nvSpPr>
        <p:spPr bwMode="auto">
          <a:xfrm>
            <a:off x="1764000" y="5364215"/>
            <a:ext cx="3456395"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例七、 </a:t>
            </a:r>
            <a:r>
              <a:rPr lang="en-US" altLang="zh-CN" sz="3200" dirty="0">
                <a:solidFill>
                  <a:srgbClr val="000000"/>
                </a:solidFill>
                <a:ea typeface="楷体_GB2312" pitchFamily="49" charset="-122"/>
              </a:rPr>
              <a:t>N</a:t>
            </a:r>
            <a:r>
              <a:rPr lang="zh-CN" altLang="en-US" sz="3200" dirty="0">
                <a:solidFill>
                  <a:srgbClr val="000000"/>
                </a:solidFill>
                <a:ea typeface="楷体_GB2312" pitchFamily="49" charset="-122"/>
              </a:rPr>
              <a:t>皇后求解</a:t>
            </a:r>
          </a:p>
        </p:txBody>
      </p:sp>
    </p:spTree>
    <p:extLst>
      <p:ext uri="{BB962C8B-B14F-4D97-AF65-F5344CB8AC3E}">
        <p14:creationId xmlns:p14="http://schemas.microsoft.com/office/powerpoint/2010/main" val="201051787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41346EDB-5F60-4BAC-8781-C1E4D38CA8E8}" type="slidenum">
              <a:rPr lang="en-US" altLang="zh-CN" sz="1400"/>
              <a:pPr/>
              <a:t>39</a:t>
            </a:fld>
            <a:endParaRPr lang="en-US" altLang="zh-CN" sz="1400"/>
          </a:p>
        </p:txBody>
      </p:sp>
      <p:sp>
        <p:nvSpPr>
          <p:cNvPr id="38915" name="Rectangle 2"/>
          <p:cNvSpPr>
            <a:spLocks noGrp="1" noChangeArrowheads="1"/>
          </p:cNvSpPr>
          <p:nvPr>
            <p:ph type="title" idx="4294967295"/>
          </p:nvPr>
        </p:nvSpPr>
        <p:spPr>
          <a:xfrm>
            <a:off x="304800" y="2514600"/>
            <a:ext cx="8610600" cy="1676400"/>
          </a:xfrm>
        </p:spPr>
        <p:txBody>
          <a:bodyPr/>
          <a:lstStyle/>
          <a:p>
            <a:pPr algn="l" eaLnBrk="1" hangingPunct="1">
              <a:lnSpc>
                <a:spcPct val="150000"/>
              </a:lnSpc>
            </a:pPr>
            <a:r>
              <a:rPr lang="en-US" altLang="zh-CN">
                <a:solidFill>
                  <a:schemeClr val="tx1"/>
                </a:solidFill>
                <a:ea typeface="楷体_GB2312" pitchFamily="49" charset="-122"/>
              </a:rPr>
              <a:t>  </a:t>
            </a:r>
            <a:r>
              <a:rPr lang="zh-CN" altLang="en-US" b="1">
                <a:solidFill>
                  <a:srgbClr val="FF5050"/>
                </a:solidFill>
                <a:ea typeface="楷体_GB2312" pitchFamily="49" charset="-122"/>
              </a:rPr>
              <a:t>例一、 数制转换</a:t>
            </a:r>
            <a:r>
              <a:rPr lang="zh-CN" altLang="en-US" sz="5400" b="1">
                <a:solidFill>
                  <a:schemeClr val="tx1"/>
                </a:solidFill>
                <a:ea typeface="楷体_GB2312" pitchFamily="49" charset="-122"/>
              </a:rPr>
              <a:t/>
            </a:r>
            <a:br>
              <a:rPr lang="zh-CN" altLang="en-US" sz="5400" b="1">
                <a:solidFill>
                  <a:schemeClr val="tx1"/>
                </a:solidFill>
                <a:ea typeface="楷体_GB2312" pitchFamily="49" charset="-122"/>
              </a:rPr>
            </a:br>
            <a:r>
              <a:rPr lang="zh-CN" altLang="en-US" sz="3200">
                <a:solidFill>
                  <a:schemeClr val="tx1"/>
                </a:solidFill>
                <a:ea typeface="楷体_GB2312" pitchFamily="49" charset="-122"/>
              </a:rPr>
              <a:t>       </a:t>
            </a:r>
            <a:r>
              <a:rPr lang="zh-CN" altLang="en-US" sz="4000">
                <a:solidFill>
                  <a:schemeClr val="tx1"/>
                </a:solidFill>
                <a:ea typeface="楷体_GB2312" pitchFamily="49" charset="-122"/>
              </a:rPr>
              <a:t>算法基于原理：</a:t>
            </a:r>
            <a:r>
              <a:rPr lang="zh-CN" altLang="en-US">
                <a:solidFill>
                  <a:schemeClr val="tx1"/>
                </a:solidFill>
                <a:ea typeface="楷体_GB2312" pitchFamily="49" charset="-122"/>
              </a:rPr>
              <a:t/>
            </a:r>
            <a:br>
              <a:rPr lang="zh-CN" altLang="en-US">
                <a:solidFill>
                  <a:schemeClr val="tx1"/>
                </a:solidFill>
                <a:ea typeface="楷体_GB2312" pitchFamily="49" charset="-122"/>
              </a:rPr>
            </a:br>
            <a:r>
              <a:rPr lang="zh-CN" altLang="en-US" b="1">
                <a:solidFill>
                  <a:srgbClr val="FF0000"/>
                </a:solidFill>
                <a:ea typeface="楷体_GB2312" pitchFamily="49" charset="-122"/>
              </a:rPr>
              <a:t>     </a:t>
            </a:r>
            <a:r>
              <a:rPr lang="en-US" altLang="zh-CN" b="1">
                <a:solidFill>
                  <a:srgbClr val="FF0000"/>
                </a:solidFill>
                <a:ea typeface="楷体_GB2312" pitchFamily="49" charset="-122"/>
              </a:rPr>
              <a:t>N = (N </a:t>
            </a:r>
            <a:r>
              <a:rPr lang="en-US" altLang="zh-CN" b="1">
                <a:solidFill>
                  <a:schemeClr val="tx1"/>
                </a:solidFill>
                <a:ea typeface="楷体_GB2312" pitchFamily="49" charset="-122"/>
              </a:rPr>
              <a:t>div</a:t>
            </a:r>
            <a:r>
              <a:rPr lang="en-US" altLang="zh-CN" b="1">
                <a:solidFill>
                  <a:srgbClr val="FF0000"/>
                </a:solidFill>
                <a:ea typeface="楷体_GB2312" pitchFamily="49" charset="-122"/>
              </a:rPr>
              <a:t> d)×d + N </a:t>
            </a:r>
            <a:r>
              <a:rPr lang="en-US" altLang="zh-CN" b="1">
                <a:solidFill>
                  <a:schemeClr val="tx1"/>
                </a:solidFill>
                <a:ea typeface="楷体_GB2312" pitchFamily="49" charset="-122"/>
              </a:rPr>
              <a:t>mod</a:t>
            </a:r>
            <a:r>
              <a:rPr lang="en-US" altLang="zh-CN" b="1">
                <a:solidFill>
                  <a:srgbClr val="FF0000"/>
                </a:solidFill>
                <a:ea typeface="楷体_GB2312" pitchFamily="49" charset="-122"/>
              </a:rPr>
              <a:t> d  </a:t>
            </a:r>
            <a:r>
              <a:rPr lang="en-US" altLang="zh-CN">
                <a:solidFill>
                  <a:schemeClr val="tx1"/>
                </a:solidFill>
                <a:ea typeface="楷体_GB2312" pitchFamily="49" charset="-122"/>
              </a:rPr>
              <a:t/>
            </a:r>
            <a:br>
              <a:rPr lang="en-US" altLang="zh-CN">
                <a:solidFill>
                  <a:schemeClr val="tx1"/>
                </a:solidFill>
                <a:ea typeface="楷体_GB2312" pitchFamily="49" charset="-122"/>
              </a:rPr>
            </a:br>
            <a:endParaRPr lang="en-US" altLang="zh-CN">
              <a:solidFill>
                <a:schemeClr val="tx1"/>
              </a:solidFill>
              <a:ea typeface="楷体_GB2312" pitchFamily="49" charset="-122"/>
            </a:endParaRPr>
          </a:p>
        </p:txBody>
      </p:sp>
    </p:spTree>
    <p:extLst>
      <p:ext uri="{BB962C8B-B14F-4D97-AF65-F5344CB8AC3E}">
        <p14:creationId xmlns:p14="http://schemas.microsoft.com/office/powerpoint/2010/main" val="894014676"/>
      </p:ext>
    </p:extLst>
  </p:cSld>
  <p:clrMapOvr>
    <a:masterClrMapping/>
  </p:clrMapOvr>
  <p:transition>
    <p:pull dir="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579DE29-A44D-4BED-AE78-3EFC731A47A9}" type="slidenum">
              <a:rPr lang="en-US" altLang="zh-CN" sz="1400"/>
              <a:pPr/>
              <a:t>40</a:t>
            </a:fld>
            <a:endParaRPr lang="en-US" altLang="zh-CN" sz="1400"/>
          </a:p>
        </p:txBody>
      </p:sp>
      <p:sp>
        <p:nvSpPr>
          <p:cNvPr id="39939" name="Rectangle 2"/>
          <p:cNvSpPr>
            <a:spLocks noGrp="1" noChangeArrowheads="1"/>
          </p:cNvSpPr>
          <p:nvPr>
            <p:ph type="title" idx="4294967295"/>
          </p:nvPr>
        </p:nvSpPr>
        <p:spPr>
          <a:xfrm>
            <a:off x="685800" y="457200"/>
            <a:ext cx="8153400" cy="5638800"/>
          </a:xfrm>
        </p:spPr>
        <p:txBody>
          <a:bodyPr/>
          <a:lstStyle/>
          <a:p>
            <a:pPr algn="l" eaLnBrk="1" hangingPunct="1">
              <a:spcAft>
                <a:spcPct val="25000"/>
              </a:spcAft>
            </a:pPr>
            <a:r>
              <a:rPr lang="en-US" altLang="zh-CN" sz="3600" b="1">
                <a:solidFill>
                  <a:schemeClr val="tx1"/>
                </a:solidFill>
                <a:ea typeface="楷体_GB2312" pitchFamily="49" charset="-122"/>
              </a:rPr>
              <a:t> </a:t>
            </a:r>
            <a:r>
              <a:rPr lang="zh-CN" altLang="en-US" sz="4000" b="1">
                <a:solidFill>
                  <a:schemeClr val="tx1"/>
                </a:solidFill>
                <a:ea typeface="楷体_GB2312" pitchFamily="49" charset="-122"/>
              </a:rPr>
              <a:t>例如：</a:t>
            </a:r>
            <a:r>
              <a:rPr lang="zh-CN" altLang="en-US">
                <a:solidFill>
                  <a:schemeClr val="tx1"/>
                </a:solidFill>
                <a:ea typeface="楷体_GB2312" pitchFamily="49" charset="-122"/>
              </a:rPr>
              <a:t/>
            </a:r>
            <a:br>
              <a:rPr lang="zh-CN" altLang="en-US">
                <a:solidFill>
                  <a:schemeClr val="tx1"/>
                </a:solidFill>
                <a:ea typeface="楷体_GB2312" pitchFamily="49" charset="-122"/>
              </a:rPr>
            </a:br>
            <a:r>
              <a:rPr lang="zh-CN" altLang="en-US" sz="3200" b="1">
                <a:solidFill>
                  <a:schemeClr val="tx1"/>
                </a:solidFill>
                <a:ea typeface="楷体_GB2312" pitchFamily="49" charset="-122"/>
              </a:rPr>
              <a:t>（</a:t>
            </a:r>
            <a:r>
              <a:rPr lang="en-US" altLang="zh-CN" sz="3200" b="1">
                <a:solidFill>
                  <a:schemeClr val="tx1"/>
                </a:solidFill>
                <a:ea typeface="楷体_GB2312" pitchFamily="49" charset="-122"/>
              </a:rPr>
              <a:t>1348)</a:t>
            </a:r>
            <a:r>
              <a:rPr lang="en-US" altLang="zh-CN" sz="3200" b="1" baseline="-25000">
                <a:solidFill>
                  <a:schemeClr val="tx1"/>
                </a:solidFill>
                <a:ea typeface="楷体_GB2312" pitchFamily="49" charset="-122"/>
              </a:rPr>
              <a:t>10</a:t>
            </a:r>
            <a:r>
              <a:rPr lang="en-US" altLang="zh-CN" sz="3200" b="1">
                <a:solidFill>
                  <a:schemeClr val="tx1"/>
                </a:solidFill>
                <a:ea typeface="楷体_GB2312" pitchFamily="49" charset="-122"/>
              </a:rPr>
              <a:t> = (2504)</a:t>
            </a:r>
            <a:r>
              <a:rPr lang="en-US" altLang="zh-CN" sz="3200" b="1" baseline="-25000">
                <a:solidFill>
                  <a:schemeClr val="tx1"/>
                </a:solidFill>
                <a:ea typeface="楷体_GB2312" pitchFamily="49" charset="-122"/>
              </a:rPr>
              <a:t>8</a:t>
            </a:r>
            <a:r>
              <a:rPr lang="en-US" altLang="zh-CN" sz="3200" b="1">
                <a:solidFill>
                  <a:schemeClr val="tx1"/>
                </a:solidFill>
                <a:ea typeface="楷体_GB2312" pitchFamily="49" charset="-122"/>
              </a:rPr>
              <a:t> </a:t>
            </a:r>
            <a:r>
              <a:rPr lang="zh-CN" altLang="en-US" sz="3200" b="1">
                <a:solidFill>
                  <a:schemeClr val="tx1"/>
                </a:solidFill>
                <a:ea typeface="楷体_GB2312" pitchFamily="49" charset="-122"/>
              </a:rPr>
              <a:t>，</a:t>
            </a:r>
            <a:r>
              <a:rPr lang="zh-CN" altLang="en-US" sz="3600" b="1">
                <a:solidFill>
                  <a:schemeClr val="tx1"/>
                </a:solidFill>
                <a:ea typeface="楷体_GB2312" pitchFamily="49" charset="-122"/>
              </a:rPr>
              <a:t>其运算过程如下：</a:t>
            </a:r>
            <a:br>
              <a:rPr lang="zh-CN" altLang="en-US" sz="3600" b="1">
                <a:solidFill>
                  <a:schemeClr val="tx1"/>
                </a:solidFill>
                <a:ea typeface="楷体_GB2312" pitchFamily="49" charset="-122"/>
              </a:rPr>
            </a:br>
            <a:r>
              <a:rPr lang="zh-CN" altLang="en-US">
                <a:solidFill>
                  <a:schemeClr val="tx1"/>
                </a:solidFill>
                <a:ea typeface="楷体_GB2312" pitchFamily="49" charset="-122"/>
              </a:rPr>
              <a:t/>
            </a:r>
            <a:br>
              <a:rPr lang="zh-CN" altLang="en-US">
                <a:solidFill>
                  <a:schemeClr val="tx1"/>
                </a:solidFill>
                <a:ea typeface="楷体_GB2312" pitchFamily="49" charset="-122"/>
              </a:rPr>
            </a:br>
            <a:r>
              <a:rPr lang="zh-CN" altLang="en-US">
                <a:solidFill>
                  <a:schemeClr val="tx1"/>
                </a:solidFill>
                <a:ea typeface="楷体_GB2312" pitchFamily="49" charset="-122"/>
              </a:rPr>
              <a:t>         </a:t>
            </a:r>
            <a:r>
              <a:rPr lang="en-US" altLang="zh-CN" b="1">
                <a:solidFill>
                  <a:srgbClr val="996633"/>
                </a:solidFill>
                <a:ea typeface="楷体_GB2312" pitchFamily="49" charset="-122"/>
              </a:rPr>
              <a:t>N     N div 8    N mod 8</a:t>
            </a:r>
            <a:r>
              <a:rPr lang="en-US" altLang="zh-CN">
                <a:solidFill>
                  <a:srgbClr val="0000FF"/>
                </a:solidFill>
                <a:ea typeface="楷体_GB2312" pitchFamily="49" charset="-122"/>
              </a:rPr>
              <a:t/>
            </a:r>
            <a:br>
              <a:rPr lang="en-US" altLang="zh-CN">
                <a:solidFill>
                  <a:srgbClr val="0000FF"/>
                </a:solidFill>
                <a:ea typeface="楷体_GB2312" pitchFamily="49" charset="-122"/>
              </a:rPr>
            </a:br>
            <a:r>
              <a:rPr lang="en-US" altLang="zh-CN">
                <a:solidFill>
                  <a:srgbClr val="0000FF"/>
                </a:solidFill>
                <a:ea typeface="楷体_GB2312" pitchFamily="49" charset="-122"/>
              </a:rPr>
              <a:t>      </a:t>
            </a:r>
            <a:r>
              <a:rPr lang="en-US" altLang="zh-CN">
                <a:solidFill>
                  <a:schemeClr val="tx1"/>
                </a:solidFill>
                <a:ea typeface="楷体_GB2312" pitchFamily="49" charset="-122"/>
              </a:rPr>
              <a:t>1348      168           4</a:t>
            </a:r>
            <a:br>
              <a:rPr lang="en-US" altLang="zh-CN">
                <a:solidFill>
                  <a:schemeClr val="tx1"/>
                </a:solidFill>
                <a:ea typeface="楷体_GB2312" pitchFamily="49" charset="-122"/>
              </a:rPr>
            </a:br>
            <a:r>
              <a:rPr lang="en-US" altLang="zh-CN">
                <a:solidFill>
                  <a:schemeClr val="tx1"/>
                </a:solidFill>
                <a:ea typeface="楷体_GB2312" pitchFamily="49" charset="-122"/>
              </a:rPr>
              <a:t>        168        21           0</a:t>
            </a:r>
            <a:br>
              <a:rPr lang="en-US" altLang="zh-CN">
                <a:solidFill>
                  <a:schemeClr val="tx1"/>
                </a:solidFill>
                <a:ea typeface="楷体_GB2312" pitchFamily="49" charset="-122"/>
              </a:rPr>
            </a:br>
            <a:r>
              <a:rPr lang="en-US" altLang="zh-CN">
                <a:solidFill>
                  <a:schemeClr val="tx1"/>
                </a:solidFill>
                <a:ea typeface="楷体_GB2312" pitchFamily="49" charset="-122"/>
              </a:rPr>
              <a:t>          21          2           5</a:t>
            </a:r>
            <a:br>
              <a:rPr lang="en-US" altLang="zh-CN">
                <a:solidFill>
                  <a:schemeClr val="tx1"/>
                </a:solidFill>
                <a:ea typeface="楷体_GB2312" pitchFamily="49" charset="-122"/>
              </a:rPr>
            </a:br>
            <a:r>
              <a:rPr lang="en-US" altLang="zh-CN">
                <a:solidFill>
                  <a:schemeClr val="tx1"/>
                </a:solidFill>
                <a:ea typeface="楷体_GB2312" pitchFamily="49" charset="-122"/>
              </a:rPr>
              <a:t>            2          0           2</a:t>
            </a:r>
          </a:p>
        </p:txBody>
      </p:sp>
      <p:sp>
        <p:nvSpPr>
          <p:cNvPr id="483331" name="Line 3"/>
          <p:cNvSpPr>
            <a:spLocks noChangeShapeType="1"/>
          </p:cNvSpPr>
          <p:nvPr/>
        </p:nvSpPr>
        <p:spPr bwMode="auto">
          <a:xfrm>
            <a:off x="1447800" y="2895600"/>
            <a:ext cx="0" cy="2819400"/>
          </a:xfrm>
          <a:prstGeom prst="line">
            <a:avLst/>
          </a:prstGeom>
          <a:noFill/>
          <a:ln w="28575">
            <a:solidFill>
              <a:srgbClr val="A5002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3332" name="Line 4"/>
          <p:cNvSpPr>
            <a:spLocks noChangeShapeType="1"/>
          </p:cNvSpPr>
          <p:nvPr/>
        </p:nvSpPr>
        <p:spPr bwMode="auto">
          <a:xfrm flipV="1">
            <a:off x="7696200" y="2819400"/>
            <a:ext cx="0" cy="3124200"/>
          </a:xfrm>
          <a:prstGeom prst="line">
            <a:avLst/>
          </a:prstGeom>
          <a:noFill/>
          <a:ln w="28575">
            <a:solidFill>
              <a:srgbClr val="A5002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3333" name="Text Box 5"/>
          <p:cNvSpPr txBox="1">
            <a:spLocks noChangeArrowheads="1"/>
          </p:cNvSpPr>
          <p:nvPr/>
        </p:nvSpPr>
        <p:spPr bwMode="auto">
          <a:xfrm>
            <a:off x="654050" y="3209925"/>
            <a:ext cx="793750"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000" b="1">
                <a:solidFill>
                  <a:srgbClr val="FF0000"/>
                </a:solidFill>
                <a:ea typeface="楷体_GB2312" pitchFamily="49" charset="-122"/>
              </a:rPr>
              <a:t>计算顺序</a:t>
            </a:r>
            <a:endParaRPr lang="zh-CN" altLang="en-US" sz="2400" b="1">
              <a:solidFill>
                <a:srgbClr val="FF0000"/>
              </a:solidFill>
            </a:endParaRPr>
          </a:p>
        </p:txBody>
      </p:sp>
      <p:sp>
        <p:nvSpPr>
          <p:cNvPr id="483334" name="Text Box 6"/>
          <p:cNvSpPr txBox="1">
            <a:spLocks noChangeArrowheads="1"/>
          </p:cNvSpPr>
          <p:nvPr/>
        </p:nvSpPr>
        <p:spPr bwMode="auto">
          <a:xfrm>
            <a:off x="7747000" y="3230563"/>
            <a:ext cx="793750"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000" b="1">
                <a:solidFill>
                  <a:srgbClr val="FF0000"/>
                </a:solidFill>
                <a:ea typeface="楷体_GB2312" pitchFamily="49" charset="-122"/>
              </a:rPr>
              <a:t>输出顺序</a:t>
            </a:r>
            <a:endParaRPr lang="zh-CN" altLang="en-US" sz="4000" b="1">
              <a:solidFill>
                <a:srgbClr val="FF0000"/>
              </a:solidFill>
            </a:endParaRPr>
          </a:p>
        </p:txBody>
      </p:sp>
    </p:spTree>
    <p:extLst>
      <p:ext uri="{BB962C8B-B14F-4D97-AF65-F5344CB8AC3E}">
        <p14:creationId xmlns:p14="http://schemas.microsoft.com/office/powerpoint/2010/main" val="1482321554"/>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83331"/>
                                        </p:tgtEl>
                                        <p:attrNameLst>
                                          <p:attrName>style.visibility</p:attrName>
                                        </p:attrNameLst>
                                      </p:cBhvr>
                                      <p:to>
                                        <p:strVal val="visible"/>
                                      </p:to>
                                    </p:set>
                                    <p:animEffect transition="in" filter="slide(fromTop)">
                                      <p:cBhvr>
                                        <p:cTn id="7" dur="500"/>
                                        <p:tgtEl>
                                          <p:spTgt spid="483331"/>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4833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483332"/>
                                        </p:tgtEl>
                                        <p:attrNameLst>
                                          <p:attrName>style.visibility</p:attrName>
                                        </p:attrNameLst>
                                      </p:cBhvr>
                                      <p:to>
                                        <p:strVal val="visible"/>
                                      </p:to>
                                    </p:set>
                                    <p:animEffect transition="in" filter="slide(fromBottom)">
                                      <p:cBhvr>
                                        <p:cTn id="15" dur="500"/>
                                        <p:tgtEl>
                                          <p:spTgt spid="483332"/>
                                        </p:tgtEl>
                                      </p:cBhvr>
                                    </p:animEffec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4833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1" grpId="0" animBg="1"/>
      <p:bldP spid="483332" grpId="0" animBg="1"/>
      <p:bldP spid="483333" grpId="0" autoUpdateAnimBg="0"/>
      <p:bldP spid="483334"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4FB9F97E-576A-42C7-80E4-0A26453D56EA}" type="slidenum">
              <a:rPr lang="en-US" altLang="zh-CN" sz="1400"/>
              <a:pPr/>
              <a:t>41</a:t>
            </a:fld>
            <a:endParaRPr lang="en-US" altLang="zh-CN" sz="1400"/>
          </a:p>
        </p:txBody>
      </p:sp>
      <p:sp>
        <p:nvSpPr>
          <p:cNvPr id="40963" name="Text Box 2"/>
          <p:cNvSpPr txBox="1">
            <a:spLocks noChangeArrowheads="1"/>
          </p:cNvSpPr>
          <p:nvPr/>
        </p:nvSpPr>
        <p:spPr bwMode="auto">
          <a:xfrm>
            <a:off x="385763" y="323850"/>
            <a:ext cx="7315200" cy="6494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b="1" dirty="0">
                <a:ea typeface="楷体_GB2312" pitchFamily="49" charset="-122"/>
              </a:rPr>
              <a:t>void</a:t>
            </a:r>
            <a:r>
              <a:rPr lang="en-US" altLang="zh-CN" dirty="0">
                <a:ea typeface="楷体_GB2312" pitchFamily="49" charset="-122"/>
              </a:rPr>
              <a:t> </a:t>
            </a:r>
            <a:r>
              <a:rPr lang="en-US" altLang="zh-CN" dirty="0">
                <a:solidFill>
                  <a:srgbClr val="006600"/>
                </a:solidFill>
                <a:ea typeface="楷体_GB2312" pitchFamily="49" charset="-122"/>
              </a:rPr>
              <a:t>conversion</a:t>
            </a:r>
            <a:r>
              <a:rPr lang="en-US" altLang="zh-CN" dirty="0">
                <a:ea typeface="楷体_GB2312" pitchFamily="49" charset="-122"/>
              </a:rPr>
              <a:t>( )</a:t>
            </a:r>
          </a:p>
          <a:p>
            <a:r>
              <a:rPr lang="en-US" altLang="zh-CN" b="1" dirty="0">
                <a:ea typeface="楷体_GB2312" pitchFamily="49" charset="-122"/>
              </a:rPr>
              <a:t>{</a:t>
            </a: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endParaRPr lang="en-US" altLang="zh-CN" b="1" dirty="0">
              <a:ea typeface="楷体_GB2312" pitchFamily="49" charset="-122"/>
            </a:endParaRPr>
          </a:p>
          <a:p>
            <a:r>
              <a:rPr lang="en-US" altLang="zh-CN" b="1" dirty="0">
                <a:ea typeface="楷体_GB2312" pitchFamily="49" charset="-122"/>
              </a:rPr>
              <a:t>}</a:t>
            </a:r>
            <a:r>
              <a:rPr lang="en-US" altLang="zh-CN" dirty="0">
                <a:ea typeface="楷体_GB2312" pitchFamily="49" charset="-122"/>
              </a:rPr>
              <a:t> </a:t>
            </a:r>
            <a:r>
              <a:rPr lang="en-US" altLang="zh-CN" dirty="0">
                <a:solidFill>
                  <a:srgbClr val="006600"/>
                </a:solidFill>
                <a:ea typeface="楷体_GB2312" pitchFamily="49" charset="-122"/>
              </a:rPr>
              <a:t>// conversion</a:t>
            </a:r>
            <a:endParaRPr lang="en-US" altLang="zh-CN" sz="2000" i="1" dirty="0">
              <a:solidFill>
                <a:srgbClr val="006600"/>
              </a:solidFill>
              <a:ea typeface="楷体_GB2312" pitchFamily="49" charset="-122"/>
            </a:endParaRPr>
          </a:p>
        </p:txBody>
      </p:sp>
      <p:sp>
        <p:nvSpPr>
          <p:cNvPr id="484356" name="Text Box 4"/>
          <p:cNvSpPr txBox="1">
            <a:spLocks noChangeArrowheads="1"/>
          </p:cNvSpPr>
          <p:nvPr/>
        </p:nvSpPr>
        <p:spPr bwMode="auto">
          <a:xfrm>
            <a:off x="881063" y="998538"/>
            <a:ext cx="731520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dirty="0" err="1">
                <a:solidFill>
                  <a:srgbClr val="FF0000"/>
                </a:solidFill>
                <a:ea typeface="楷体_GB2312" pitchFamily="49" charset="-122"/>
              </a:rPr>
              <a:t>InitStack</a:t>
            </a:r>
            <a:r>
              <a:rPr lang="en-US" altLang="zh-CN" dirty="0">
                <a:solidFill>
                  <a:srgbClr val="FF0000"/>
                </a:solidFill>
                <a:ea typeface="楷体_GB2312" pitchFamily="49" charset="-122"/>
              </a:rPr>
              <a:t>(S);</a:t>
            </a:r>
            <a:r>
              <a:rPr lang="en-US" altLang="zh-CN" dirty="0">
                <a:ea typeface="楷体_GB2312" pitchFamily="49" charset="-122"/>
              </a:rPr>
              <a:t> </a:t>
            </a:r>
          </a:p>
          <a:p>
            <a:r>
              <a:rPr lang="en-US" altLang="zh-CN" b="1" dirty="0" err="1">
                <a:ea typeface="楷体_GB2312" pitchFamily="49" charset="-122"/>
              </a:rPr>
              <a:t>scanf</a:t>
            </a:r>
            <a:r>
              <a:rPr lang="en-US" altLang="zh-CN" dirty="0">
                <a:ea typeface="楷体_GB2312" pitchFamily="49" charset="-122"/>
              </a:rPr>
              <a:t> ("</a:t>
            </a:r>
            <a:r>
              <a:rPr lang="en-US" altLang="zh-CN" b="1" dirty="0">
                <a:ea typeface="楷体_GB2312" pitchFamily="49" charset="-122"/>
              </a:rPr>
              <a:t>%</a:t>
            </a:r>
            <a:r>
              <a:rPr lang="en-US" altLang="zh-CN" dirty="0" err="1">
                <a:ea typeface="楷体_GB2312" pitchFamily="49" charset="-122"/>
              </a:rPr>
              <a:t>d",N</a:t>
            </a:r>
            <a:r>
              <a:rPr lang="en-US" altLang="zh-CN" dirty="0">
                <a:ea typeface="楷体_GB2312" pitchFamily="49" charset="-122"/>
              </a:rPr>
              <a:t>);</a:t>
            </a:r>
          </a:p>
        </p:txBody>
      </p:sp>
      <p:sp>
        <p:nvSpPr>
          <p:cNvPr id="484357" name="Text Box 5"/>
          <p:cNvSpPr txBox="1">
            <a:spLocks noChangeArrowheads="1"/>
          </p:cNvSpPr>
          <p:nvPr/>
        </p:nvSpPr>
        <p:spPr bwMode="auto">
          <a:xfrm>
            <a:off x="836613" y="1943100"/>
            <a:ext cx="7315200" cy="2062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b="1" dirty="0">
                <a:ea typeface="楷体_GB2312" pitchFamily="49" charset="-122"/>
              </a:rPr>
              <a:t>while</a:t>
            </a:r>
            <a:r>
              <a:rPr lang="en-US" altLang="zh-CN" dirty="0">
                <a:ea typeface="楷体_GB2312" pitchFamily="49" charset="-122"/>
              </a:rPr>
              <a:t> (N) </a:t>
            </a:r>
            <a:r>
              <a:rPr lang="en-US" altLang="zh-CN" sz="2400" b="1" dirty="0">
                <a:solidFill>
                  <a:schemeClr val="folHlink"/>
                </a:solidFill>
                <a:ea typeface="楷体_GB2312" pitchFamily="49" charset="-122"/>
              </a:rPr>
              <a:t>//N</a:t>
            </a:r>
            <a:r>
              <a:rPr lang="zh-CN" altLang="en-US" sz="2400" b="1" dirty="0">
                <a:solidFill>
                  <a:schemeClr val="folHlink"/>
                </a:solidFill>
                <a:ea typeface="楷体_GB2312" pitchFamily="49" charset="-122"/>
              </a:rPr>
              <a:t>不等于</a:t>
            </a:r>
            <a:r>
              <a:rPr lang="en-US" altLang="zh-CN" sz="2400" b="1" dirty="0">
                <a:solidFill>
                  <a:schemeClr val="folHlink"/>
                </a:solidFill>
                <a:ea typeface="楷体_GB2312" pitchFamily="49" charset="-122"/>
              </a:rPr>
              <a:t>0</a:t>
            </a:r>
            <a:r>
              <a:rPr lang="zh-CN" altLang="en-US" sz="2400" b="1" dirty="0">
                <a:solidFill>
                  <a:schemeClr val="folHlink"/>
                </a:solidFill>
                <a:ea typeface="楷体_GB2312" pitchFamily="49" charset="-122"/>
              </a:rPr>
              <a:t>时循环</a:t>
            </a:r>
            <a:endParaRPr lang="zh-CN" altLang="en-US" sz="2400" dirty="0">
              <a:solidFill>
                <a:schemeClr val="folHlink"/>
              </a:solidFill>
              <a:ea typeface="楷体_GB2312" pitchFamily="49" charset="-122"/>
            </a:endParaRPr>
          </a:p>
          <a:p>
            <a:r>
              <a:rPr lang="zh-CN" altLang="en-US" dirty="0">
                <a:ea typeface="楷体_GB2312" pitchFamily="49" charset="-122"/>
              </a:rPr>
              <a:t>      </a:t>
            </a:r>
            <a:r>
              <a:rPr lang="en-US" altLang="zh-CN" b="1" dirty="0">
                <a:ea typeface="楷体_GB2312" pitchFamily="49" charset="-122"/>
              </a:rPr>
              <a:t>{</a:t>
            </a:r>
            <a:r>
              <a:rPr lang="zh-CN" altLang="en-US" dirty="0">
                <a:ea typeface="楷体_GB2312" pitchFamily="49" charset="-122"/>
              </a:rPr>
              <a:t>  </a:t>
            </a:r>
            <a:r>
              <a:rPr lang="en-US" altLang="zh-CN" dirty="0">
                <a:solidFill>
                  <a:srgbClr val="FF0000"/>
                </a:solidFill>
                <a:ea typeface="楷体_GB2312" pitchFamily="49" charset="-122"/>
              </a:rPr>
              <a:t>Push(S, N </a:t>
            </a:r>
            <a:r>
              <a:rPr lang="en-US" altLang="zh-CN" b="1" dirty="0">
                <a:solidFill>
                  <a:srgbClr val="FF0000"/>
                </a:solidFill>
                <a:ea typeface="楷体_GB2312" pitchFamily="49" charset="-122"/>
              </a:rPr>
              <a:t>%</a:t>
            </a:r>
            <a:r>
              <a:rPr lang="en-US" altLang="zh-CN" dirty="0">
                <a:solidFill>
                  <a:srgbClr val="FF0000"/>
                </a:solidFill>
                <a:ea typeface="楷体_GB2312" pitchFamily="49" charset="-122"/>
              </a:rPr>
              <a:t> 8);</a:t>
            </a:r>
          </a:p>
          <a:p>
            <a:r>
              <a:rPr lang="en-US" altLang="zh-CN" dirty="0">
                <a:ea typeface="楷体_GB2312" pitchFamily="49" charset="-122"/>
              </a:rPr>
              <a:t>          N = N/8;</a:t>
            </a:r>
          </a:p>
          <a:p>
            <a:r>
              <a:rPr lang="en-US" altLang="zh-CN" dirty="0">
                <a:ea typeface="楷体_GB2312" pitchFamily="49" charset="-122"/>
              </a:rPr>
              <a:t>        </a:t>
            </a:r>
            <a:r>
              <a:rPr lang="en-US" altLang="zh-CN" b="1" dirty="0">
                <a:ea typeface="楷体_GB2312" pitchFamily="49" charset="-122"/>
              </a:rPr>
              <a:t>}</a:t>
            </a:r>
            <a:endParaRPr lang="en-US" altLang="zh-CN" dirty="0">
              <a:ea typeface="楷体_GB2312" pitchFamily="49" charset="-122"/>
            </a:endParaRPr>
          </a:p>
        </p:txBody>
      </p:sp>
      <p:sp>
        <p:nvSpPr>
          <p:cNvPr id="484358" name="Text Box 6"/>
          <p:cNvSpPr txBox="1">
            <a:spLocks noChangeArrowheads="1"/>
          </p:cNvSpPr>
          <p:nvPr/>
        </p:nvSpPr>
        <p:spPr bwMode="auto">
          <a:xfrm>
            <a:off x="746125" y="4005203"/>
            <a:ext cx="7315200" cy="2062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b="1" dirty="0">
                <a:ea typeface="楷体_GB2312" pitchFamily="49" charset="-122"/>
              </a:rPr>
              <a:t>while</a:t>
            </a:r>
            <a:r>
              <a:rPr lang="en-US" altLang="zh-CN" dirty="0">
                <a:ea typeface="楷体_GB2312" pitchFamily="49" charset="-122"/>
              </a:rPr>
              <a:t> (</a:t>
            </a:r>
            <a:r>
              <a:rPr lang="en-US" altLang="zh-CN" b="1" dirty="0">
                <a:ea typeface="楷体_GB2312" pitchFamily="49" charset="-122"/>
              </a:rPr>
              <a:t>!</a:t>
            </a:r>
            <a:r>
              <a:rPr lang="en-US" altLang="zh-CN" dirty="0" err="1">
                <a:solidFill>
                  <a:srgbClr val="FF0000"/>
                </a:solidFill>
                <a:ea typeface="楷体_GB2312" pitchFamily="49" charset="-122"/>
              </a:rPr>
              <a:t>StackEmpty</a:t>
            </a:r>
            <a:r>
              <a:rPr lang="en-US" altLang="zh-CN" dirty="0">
                <a:solidFill>
                  <a:srgbClr val="FF0000"/>
                </a:solidFill>
                <a:ea typeface="楷体_GB2312" pitchFamily="49" charset="-122"/>
              </a:rPr>
              <a:t>(S)</a:t>
            </a:r>
            <a:r>
              <a:rPr lang="en-US" altLang="zh-CN" dirty="0">
                <a:ea typeface="楷体_GB2312" pitchFamily="49" charset="-122"/>
              </a:rPr>
              <a:t>)</a:t>
            </a:r>
          </a:p>
          <a:p>
            <a:r>
              <a:rPr lang="en-US" altLang="zh-CN" dirty="0">
                <a:ea typeface="楷体_GB2312" pitchFamily="49" charset="-122"/>
              </a:rPr>
              <a:t>       </a:t>
            </a:r>
            <a:r>
              <a:rPr lang="en-US" altLang="zh-CN" b="1" dirty="0">
                <a:ea typeface="楷体_GB2312" pitchFamily="49" charset="-122"/>
              </a:rPr>
              <a:t>{</a:t>
            </a:r>
            <a:r>
              <a:rPr lang="en-US" altLang="zh-CN" dirty="0">
                <a:ea typeface="楷体_GB2312" pitchFamily="49" charset="-122"/>
              </a:rPr>
              <a:t> </a:t>
            </a:r>
            <a:r>
              <a:rPr lang="en-US" altLang="zh-CN" dirty="0">
                <a:solidFill>
                  <a:srgbClr val="FF0000"/>
                </a:solidFill>
                <a:ea typeface="楷体_GB2312" pitchFamily="49" charset="-122"/>
              </a:rPr>
              <a:t>Pop(</a:t>
            </a:r>
            <a:r>
              <a:rPr lang="en-US" altLang="zh-CN" dirty="0" err="1">
                <a:solidFill>
                  <a:srgbClr val="FF0000"/>
                </a:solidFill>
                <a:ea typeface="楷体_GB2312" pitchFamily="49" charset="-122"/>
              </a:rPr>
              <a:t>S,e</a:t>
            </a:r>
            <a:r>
              <a:rPr lang="en-US" altLang="zh-CN" dirty="0">
                <a:solidFill>
                  <a:srgbClr val="FF0000"/>
                </a:solidFill>
                <a:ea typeface="楷体_GB2312" pitchFamily="49" charset="-122"/>
              </a:rPr>
              <a:t>);</a:t>
            </a:r>
          </a:p>
          <a:p>
            <a:r>
              <a:rPr lang="en-US" altLang="zh-CN"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dirty="0">
                <a:ea typeface="楷体_GB2312" pitchFamily="49" charset="-122"/>
              </a:rPr>
              <a:t>( "</a:t>
            </a:r>
            <a:r>
              <a:rPr lang="en-US" altLang="zh-CN" b="1" dirty="0">
                <a:ea typeface="楷体_GB2312" pitchFamily="49" charset="-122"/>
              </a:rPr>
              <a:t>%</a:t>
            </a:r>
            <a:r>
              <a:rPr lang="en-US" altLang="zh-CN" dirty="0">
                <a:ea typeface="楷体_GB2312" pitchFamily="49" charset="-122"/>
              </a:rPr>
              <a:t>d", e );</a:t>
            </a:r>
          </a:p>
          <a:p>
            <a:r>
              <a:rPr lang="en-US" altLang="zh-CN" dirty="0">
                <a:ea typeface="楷体_GB2312" pitchFamily="49" charset="-122"/>
              </a:rPr>
              <a:t>         </a:t>
            </a:r>
            <a:r>
              <a:rPr lang="en-US" altLang="zh-CN" b="1" dirty="0">
                <a:ea typeface="楷体_GB2312" pitchFamily="49" charset="-122"/>
              </a:rPr>
              <a:t>}</a:t>
            </a:r>
            <a:endParaRPr lang="en-US" altLang="zh-CN" dirty="0">
              <a:ea typeface="楷体_GB2312" pitchFamily="49" charset="-122"/>
            </a:endParaRPr>
          </a:p>
        </p:txBody>
      </p:sp>
    </p:spTree>
    <p:extLst>
      <p:ext uri="{BB962C8B-B14F-4D97-AF65-F5344CB8AC3E}">
        <p14:creationId xmlns:p14="http://schemas.microsoft.com/office/powerpoint/2010/main" val="10050869"/>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4356"/>
                                        </p:tgtEl>
                                        <p:attrNameLst>
                                          <p:attrName>style.visibility</p:attrName>
                                        </p:attrNameLst>
                                      </p:cBhvr>
                                      <p:to>
                                        <p:strVal val="visible"/>
                                      </p:to>
                                    </p:set>
                                    <p:animEffect transition="in" filter="slide(fromBottom)">
                                      <p:cBhvr>
                                        <p:cTn id="7" dur="500"/>
                                        <p:tgtEl>
                                          <p:spTgt spid="484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84357"/>
                                        </p:tgtEl>
                                        <p:attrNameLst>
                                          <p:attrName>style.visibility</p:attrName>
                                        </p:attrNameLst>
                                      </p:cBhvr>
                                      <p:to>
                                        <p:strVal val="visible"/>
                                      </p:to>
                                    </p:set>
                                    <p:animEffect transition="in" filter="slide(fromBottom)">
                                      <p:cBhvr>
                                        <p:cTn id="12" dur="500"/>
                                        <p:tgtEl>
                                          <p:spTgt spid="484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84358"/>
                                        </p:tgtEl>
                                        <p:attrNameLst>
                                          <p:attrName>style.visibility</p:attrName>
                                        </p:attrNameLst>
                                      </p:cBhvr>
                                      <p:to>
                                        <p:strVal val="visible"/>
                                      </p:to>
                                    </p:set>
                                    <p:animEffect transition="in" filter="slide(fromBottom)">
                                      <p:cBhvr>
                                        <p:cTn id="17" dur="500"/>
                                        <p:tgtEl>
                                          <p:spTgt spid="484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6" grpId="0"/>
      <p:bldP spid="484357" grpId="0"/>
      <p:bldP spid="484358"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F5FF0AF-6CD3-47A5-B99C-B7EC3E5F6EBF}" type="slidenum">
              <a:rPr lang="en-US" altLang="zh-CN" sz="1400"/>
              <a:pPr/>
              <a:t>42</a:t>
            </a:fld>
            <a:endParaRPr lang="en-US" altLang="zh-CN" sz="1400"/>
          </a:p>
        </p:txBody>
      </p:sp>
      <p:sp>
        <p:nvSpPr>
          <p:cNvPr id="41987" name="Text Box 2"/>
          <p:cNvSpPr txBox="1">
            <a:spLocks noChangeArrowheads="1"/>
          </p:cNvSpPr>
          <p:nvPr/>
        </p:nvSpPr>
        <p:spPr bwMode="auto">
          <a:xfrm>
            <a:off x="457200" y="1854200"/>
            <a:ext cx="73152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3600" b="1"/>
              <a:t>#define stacksize 100;</a:t>
            </a:r>
          </a:p>
          <a:p>
            <a:pPr>
              <a:spcBef>
                <a:spcPct val="50000"/>
              </a:spcBef>
            </a:pPr>
            <a:r>
              <a:rPr lang="en-US" altLang="zh-CN" sz="3600" b="1"/>
              <a:t>typedef struct</a:t>
            </a:r>
          </a:p>
          <a:p>
            <a:pPr>
              <a:spcBef>
                <a:spcPct val="50000"/>
              </a:spcBef>
            </a:pPr>
            <a:r>
              <a:rPr lang="en-US" altLang="zh-CN" sz="3600" b="1"/>
              <a:t>{   int data[stacksize];</a:t>
            </a:r>
          </a:p>
          <a:p>
            <a:pPr>
              <a:spcBef>
                <a:spcPct val="50000"/>
              </a:spcBef>
            </a:pPr>
            <a:r>
              <a:rPr lang="en-US" altLang="zh-CN" sz="3600" b="1"/>
              <a:t>     int top; </a:t>
            </a:r>
            <a:r>
              <a:rPr lang="en-US" altLang="zh-CN" sz="2400" b="1">
                <a:solidFill>
                  <a:schemeClr val="folHlink"/>
                </a:solidFill>
              </a:rPr>
              <a:t>//top</a:t>
            </a:r>
            <a:r>
              <a:rPr lang="zh-CN" altLang="en-US" sz="2400" b="1">
                <a:solidFill>
                  <a:schemeClr val="folHlink"/>
                </a:solidFill>
              </a:rPr>
              <a:t>指向栈顶元素的下一个位置</a:t>
            </a:r>
            <a:endParaRPr lang="zh-CN" altLang="en-US" sz="3600" b="1"/>
          </a:p>
          <a:p>
            <a:pPr>
              <a:spcBef>
                <a:spcPct val="50000"/>
              </a:spcBef>
            </a:pPr>
            <a:r>
              <a:rPr lang="en-US" altLang="zh-CN" sz="3600" b="1"/>
              <a:t>} stack;</a:t>
            </a:r>
          </a:p>
        </p:txBody>
      </p:sp>
      <p:sp>
        <p:nvSpPr>
          <p:cNvPr id="41988" name="Rectangle 3"/>
          <p:cNvSpPr>
            <a:spLocks noGrp="1" noChangeArrowheads="1"/>
          </p:cNvSpPr>
          <p:nvPr>
            <p:ph type="ctrTitle"/>
          </p:nvPr>
        </p:nvSpPr>
        <p:spPr>
          <a:xfrm>
            <a:off x="0" y="304800"/>
            <a:ext cx="8686800" cy="1143000"/>
          </a:xfrm>
        </p:spPr>
        <p:txBody>
          <a:bodyPr anchor="ctr"/>
          <a:lstStyle/>
          <a:p>
            <a:pPr eaLnBrk="1" hangingPunct="1"/>
            <a:r>
              <a:rPr lang="en-US" altLang="zh-CN" b="1">
                <a:solidFill>
                  <a:srgbClr val="FF5050"/>
                </a:solidFill>
                <a:ea typeface="楷体_GB2312" pitchFamily="49" charset="-122"/>
              </a:rPr>
              <a:t> </a:t>
            </a:r>
            <a:r>
              <a:rPr lang="zh-CN" altLang="en-US" b="1">
                <a:solidFill>
                  <a:srgbClr val="FF5050"/>
                </a:solidFill>
                <a:ea typeface="楷体_GB2312" pitchFamily="49" charset="-122"/>
              </a:rPr>
              <a:t>数制转换的完整程序</a:t>
            </a:r>
          </a:p>
        </p:txBody>
      </p:sp>
    </p:spTree>
    <p:extLst>
      <p:ext uri="{BB962C8B-B14F-4D97-AF65-F5344CB8AC3E}">
        <p14:creationId xmlns:p14="http://schemas.microsoft.com/office/powerpoint/2010/main" val="51226810"/>
      </p:ext>
    </p:extLst>
  </p:cSld>
  <p:clrMapOvr>
    <a:masterClrMapping/>
  </p:clrMapOvr>
  <p:transition>
    <p:pull dir="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146E884F-68A2-42B4-AF45-72F234F84999}" type="slidenum">
              <a:rPr lang="en-US" altLang="zh-CN" sz="1400"/>
              <a:pPr/>
              <a:t>43</a:t>
            </a:fld>
            <a:endParaRPr lang="en-US" altLang="zh-CN" sz="1400"/>
          </a:p>
        </p:txBody>
      </p:sp>
      <p:sp>
        <p:nvSpPr>
          <p:cNvPr id="43011" name="Text Box 2"/>
          <p:cNvSpPr txBox="1">
            <a:spLocks noChangeArrowheads="1"/>
          </p:cNvSpPr>
          <p:nvPr/>
        </p:nvSpPr>
        <p:spPr bwMode="auto">
          <a:xfrm>
            <a:off x="0" y="0"/>
            <a:ext cx="9144000" cy="680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3600" b="1" dirty="0" err="1"/>
              <a:t>int</a:t>
            </a:r>
            <a:r>
              <a:rPr lang="en-US" altLang="zh-CN" sz="3600" b="1" dirty="0"/>
              <a:t> push(stack *s,  </a:t>
            </a:r>
            <a:r>
              <a:rPr lang="en-US" altLang="zh-CN" sz="3600" b="1" dirty="0" err="1"/>
              <a:t>int</a:t>
            </a:r>
            <a:r>
              <a:rPr lang="en-US" altLang="zh-CN" sz="3600" b="1" dirty="0"/>
              <a:t> e)</a:t>
            </a:r>
          </a:p>
          <a:p>
            <a:pPr>
              <a:spcBef>
                <a:spcPct val="20000"/>
              </a:spcBef>
            </a:pPr>
            <a:r>
              <a:rPr lang="en-US" altLang="zh-CN" sz="3600" b="1" dirty="0"/>
              <a:t>{ </a:t>
            </a:r>
          </a:p>
          <a:p>
            <a:pPr>
              <a:spcBef>
                <a:spcPct val="20000"/>
              </a:spcBef>
            </a:pPr>
            <a:r>
              <a:rPr lang="en-US" altLang="zh-CN" sz="3600" b="1" dirty="0"/>
              <a:t>  </a:t>
            </a:r>
            <a:r>
              <a:rPr lang="en-US" altLang="zh-CN" b="1" dirty="0">
                <a:solidFill>
                  <a:srgbClr val="A50021"/>
                </a:solidFill>
              </a:rPr>
              <a:t>if (s-&gt;top&gt;=</a:t>
            </a:r>
            <a:r>
              <a:rPr lang="en-US" altLang="zh-CN" b="1" dirty="0" err="1">
                <a:solidFill>
                  <a:srgbClr val="A50021"/>
                </a:solidFill>
              </a:rPr>
              <a:t>stacksize</a:t>
            </a:r>
            <a:r>
              <a:rPr lang="en-US" altLang="zh-CN" b="1" dirty="0">
                <a:solidFill>
                  <a:srgbClr val="A50021"/>
                </a:solidFill>
              </a:rPr>
              <a:t>)  return 0;</a:t>
            </a:r>
          </a:p>
          <a:p>
            <a:pPr>
              <a:spcBef>
                <a:spcPct val="20000"/>
              </a:spcBef>
            </a:pPr>
            <a:r>
              <a:rPr lang="en-US" altLang="zh-CN" b="1" dirty="0">
                <a:solidFill>
                  <a:srgbClr val="A50021"/>
                </a:solidFill>
              </a:rPr>
              <a:t>  s-&gt;data[s-&gt;top]=e;    s-&gt;top++;   return 1;</a:t>
            </a:r>
          </a:p>
          <a:p>
            <a:pPr>
              <a:spcBef>
                <a:spcPct val="20000"/>
              </a:spcBef>
            </a:pPr>
            <a:r>
              <a:rPr lang="en-US" altLang="zh-CN" sz="3600" b="1" dirty="0"/>
              <a:t>}</a:t>
            </a:r>
          </a:p>
          <a:p>
            <a:pPr>
              <a:spcBef>
                <a:spcPct val="50000"/>
              </a:spcBef>
            </a:pPr>
            <a:r>
              <a:rPr lang="en-US" altLang="zh-CN" sz="3600" b="1" dirty="0" err="1"/>
              <a:t>int</a:t>
            </a:r>
            <a:r>
              <a:rPr lang="en-US" altLang="zh-CN" sz="3600" b="1" dirty="0"/>
              <a:t> pop(stack *s,  </a:t>
            </a:r>
            <a:r>
              <a:rPr lang="en-US" altLang="zh-CN" sz="3600" b="1" dirty="0" err="1"/>
              <a:t>int</a:t>
            </a:r>
            <a:r>
              <a:rPr lang="en-US" altLang="zh-CN" sz="3600" b="1" dirty="0"/>
              <a:t> *e)</a:t>
            </a:r>
          </a:p>
          <a:p>
            <a:pPr>
              <a:spcBef>
                <a:spcPct val="30000"/>
              </a:spcBef>
            </a:pPr>
            <a:r>
              <a:rPr lang="en-US" altLang="zh-CN" sz="3600" b="1" dirty="0"/>
              <a:t>{ </a:t>
            </a:r>
          </a:p>
          <a:p>
            <a:pPr>
              <a:spcBef>
                <a:spcPct val="30000"/>
              </a:spcBef>
            </a:pPr>
            <a:r>
              <a:rPr lang="en-US" altLang="zh-CN" sz="3600" b="1" dirty="0"/>
              <a:t>  </a:t>
            </a:r>
            <a:r>
              <a:rPr lang="en-US" altLang="zh-CN" b="1" dirty="0">
                <a:solidFill>
                  <a:srgbClr val="A50021"/>
                </a:solidFill>
              </a:rPr>
              <a:t>if(s-&gt;top==0)  return 0;</a:t>
            </a:r>
          </a:p>
          <a:p>
            <a:pPr>
              <a:spcBef>
                <a:spcPct val="30000"/>
              </a:spcBef>
            </a:pPr>
            <a:r>
              <a:rPr lang="en-US" altLang="zh-CN" b="1" dirty="0">
                <a:solidFill>
                  <a:srgbClr val="A50021"/>
                </a:solidFill>
              </a:rPr>
              <a:t>  *e=s-&gt;data[s-&gt;top];   s-&gt;top--</a:t>
            </a:r>
            <a:r>
              <a:rPr lang="zh-CN" altLang="en-US" b="1" dirty="0">
                <a:solidFill>
                  <a:srgbClr val="A50021"/>
                </a:solidFill>
              </a:rPr>
              <a:t>；</a:t>
            </a:r>
            <a:r>
              <a:rPr lang="en-US" altLang="zh-CN" b="1" dirty="0">
                <a:solidFill>
                  <a:srgbClr val="A50021"/>
                </a:solidFill>
              </a:rPr>
              <a:t> return 1;</a:t>
            </a:r>
          </a:p>
          <a:p>
            <a:pPr>
              <a:spcBef>
                <a:spcPct val="30000"/>
              </a:spcBef>
            </a:pPr>
            <a:r>
              <a:rPr lang="en-US" altLang="zh-CN" sz="3600" b="1" dirty="0"/>
              <a:t>}  </a:t>
            </a:r>
            <a:r>
              <a:rPr lang="en-US" altLang="zh-CN" sz="3600" b="1" dirty="0">
                <a:solidFill>
                  <a:schemeClr val="folHlink"/>
                </a:solidFill>
              </a:rPr>
              <a:t>//</a:t>
            </a:r>
            <a:r>
              <a:rPr lang="en-US" altLang="zh-CN" sz="2800" b="1" dirty="0">
                <a:solidFill>
                  <a:schemeClr val="folHlink"/>
                </a:solidFill>
              </a:rPr>
              <a:t>top</a:t>
            </a:r>
            <a:r>
              <a:rPr lang="zh-CN" altLang="en-US" sz="2800" b="1" dirty="0">
                <a:solidFill>
                  <a:schemeClr val="folHlink"/>
                </a:solidFill>
              </a:rPr>
              <a:t>指向栈顶元素的下一个位置</a:t>
            </a:r>
          </a:p>
        </p:txBody>
      </p:sp>
    </p:spTree>
    <p:extLst>
      <p:ext uri="{BB962C8B-B14F-4D97-AF65-F5344CB8AC3E}">
        <p14:creationId xmlns:p14="http://schemas.microsoft.com/office/powerpoint/2010/main" val="2329396910"/>
      </p:ext>
    </p:extLst>
  </p:cSld>
  <p:clrMapOvr>
    <a:masterClrMapping/>
  </p:clrMapOvr>
  <p:transition>
    <p:pull dir="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9B9FCE7-4F90-4DD0-ACFB-15B26C3DBD10}" type="slidenum">
              <a:rPr lang="en-US" altLang="zh-CN" sz="1400"/>
              <a:pPr/>
              <a:t>44</a:t>
            </a:fld>
            <a:endParaRPr lang="en-US" altLang="zh-CN" sz="1400"/>
          </a:p>
        </p:txBody>
      </p:sp>
      <p:sp>
        <p:nvSpPr>
          <p:cNvPr id="44035" name="Text Box 2"/>
          <p:cNvSpPr txBox="1">
            <a:spLocks noChangeArrowheads="1"/>
          </p:cNvSpPr>
          <p:nvPr/>
        </p:nvSpPr>
        <p:spPr bwMode="auto">
          <a:xfrm>
            <a:off x="0" y="76200"/>
            <a:ext cx="9144000" cy="646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3600" b="1" dirty="0"/>
              <a:t>main()</a:t>
            </a:r>
          </a:p>
          <a:p>
            <a:pPr>
              <a:spcBef>
                <a:spcPct val="50000"/>
              </a:spcBef>
            </a:pPr>
            <a:r>
              <a:rPr lang="en-US" altLang="zh-CN" sz="3600" b="1" dirty="0"/>
              <a:t>{</a:t>
            </a:r>
          </a:p>
          <a:p>
            <a:pPr>
              <a:spcBef>
                <a:spcPct val="30000"/>
              </a:spcBef>
            </a:pPr>
            <a:r>
              <a:rPr lang="en-US" altLang="zh-CN" sz="3600" b="1" dirty="0">
                <a:solidFill>
                  <a:srgbClr val="A50021"/>
                </a:solidFill>
              </a:rPr>
              <a:t>   stack s1;     int </a:t>
            </a:r>
            <a:r>
              <a:rPr lang="en-US" altLang="zh-CN" sz="3600" b="1" dirty="0" err="1">
                <a:solidFill>
                  <a:srgbClr val="A50021"/>
                </a:solidFill>
              </a:rPr>
              <a:t>m,e,n</a:t>
            </a:r>
            <a:r>
              <a:rPr lang="en-US" altLang="zh-CN" sz="3600" b="1" dirty="0">
                <a:solidFill>
                  <a:srgbClr val="A50021"/>
                </a:solidFill>
              </a:rPr>
              <a:t>;</a:t>
            </a:r>
          </a:p>
          <a:p>
            <a:pPr>
              <a:spcBef>
                <a:spcPct val="30000"/>
              </a:spcBef>
            </a:pPr>
            <a:r>
              <a:rPr lang="en-US" altLang="zh-CN" sz="3600" b="1" dirty="0">
                <a:solidFill>
                  <a:srgbClr val="A50021"/>
                </a:solidFill>
              </a:rPr>
              <a:t>   s1.top=0; m=1348; n=8;</a:t>
            </a:r>
          </a:p>
          <a:p>
            <a:pPr>
              <a:spcBef>
                <a:spcPct val="30000"/>
              </a:spcBef>
            </a:pPr>
            <a:r>
              <a:rPr lang="en-US" altLang="zh-CN" sz="3600" b="1" dirty="0">
                <a:solidFill>
                  <a:srgbClr val="A50021"/>
                </a:solidFill>
              </a:rPr>
              <a:t>   while(m != 0)</a:t>
            </a:r>
          </a:p>
          <a:p>
            <a:pPr>
              <a:spcBef>
                <a:spcPct val="30000"/>
              </a:spcBef>
            </a:pPr>
            <a:r>
              <a:rPr lang="en-US" altLang="zh-CN" sz="3600" b="1" dirty="0">
                <a:solidFill>
                  <a:srgbClr val="A50021"/>
                </a:solidFill>
              </a:rPr>
              <a:t>     {  push(&amp;s1, </a:t>
            </a:r>
            <a:r>
              <a:rPr lang="en-US" altLang="zh-CN" sz="3600" b="1" dirty="0" err="1">
                <a:solidFill>
                  <a:srgbClr val="A50021"/>
                </a:solidFill>
              </a:rPr>
              <a:t>m%n</a:t>
            </a:r>
            <a:r>
              <a:rPr lang="en-US" altLang="zh-CN" sz="3600" b="1" dirty="0">
                <a:solidFill>
                  <a:srgbClr val="A50021"/>
                </a:solidFill>
              </a:rPr>
              <a:t> ) ;     m=m/n;  }</a:t>
            </a:r>
          </a:p>
          <a:p>
            <a:pPr>
              <a:spcBef>
                <a:spcPct val="30000"/>
              </a:spcBef>
            </a:pPr>
            <a:r>
              <a:rPr lang="en-US" altLang="zh-CN" sz="3600" b="1" dirty="0">
                <a:solidFill>
                  <a:srgbClr val="A50021"/>
                </a:solidFill>
              </a:rPr>
              <a:t>   while(s1.top != 0)</a:t>
            </a:r>
          </a:p>
          <a:p>
            <a:pPr>
              <a:spcBef>
                <a:spcPct val="30000"/>
              </a:spcBef>
            </a:pPr>
            <a:r>
              <a:rPr lang="en-US" altLang="zh-CN" sz="3600" b="1" dirty="0">
                <a:solidFill>
                  <a:srgbClr val="A50021"/>
                </a:solidFill>
              </a:rPr>
              <a:t>     {  pop(&amp;s1,&amp;e);  </a:t>
            </a:r>
            <a:r>
              <a:rPr lang="en-US" altLang="zh-CN" sz="3600" b="1" dirty="0" err="1">
                <a:solidFill>
                  <a:srgbClr val="A50021"/>
                </a:solidFill>
              </a:rPr>
              <a:t>printf</a:t>
            </a:r>
            <a:r>
              <a:rPr lang="en-US" altLang="zh-CN" sz="3600" b="1" dirty="0">
                <a:solidFill>
                  <a:srgbClr val="A50021"/>
                </a:solidFill>
              </a:rPr>
              <a:t>("%</a:t>
            </a:r>
            <a:r>
              <a:rPr lang="en-US" altLang="zh-CN" sz="3600" b="1" dirty="0" err="1">
                <a:solidFill>
                  <a:srgbClr val="A50021"/>
                </a:solidFill>
              </a:rPr>
              <a:t>d",e</a:t>
            </a:r>
            <a:r>
              <a:rPr lang="en-US" altLang="zh-CN" sz="3600" b="1" dirty="0">
                <a:solidFill>
                  <a:srgbClr val="A50021"/>
                </a:solidFill>
              </a:rPr>
              <a:t>);}</a:t>
            </a:r>
          </a:p>
          <a:p>
            <a:pPr>
              <a:spcBef>
                <a:spcPct val="30000"/>
              </a:spcBef>
            </a:pPr>
            <a:r>
              <a:rPr lang="en-US" altLang="zh-CN" sz="3600" b="1" dirty="0"/>
              <a:t>}</a:t>
            </a:r>
          </a:p>
        </p:txBody>
      </p:sp>
    </p:spTree>
    <p:extLst>
      <p:ext uri="{BB962C8B-B14F-4D97-AF65-F5344CB8AC3E}">
        <p14:creationId xmlns:p14="http://schemas.microsoft.com/office/powerpoint/2010/main" val="2066990180"/>
      </p:ext>
    </p:extLst>
  </p:cSld>
  <p:clrMapOvr>
    <a:masterClrMapping/>
  </p:clrMapOvr>
  <p:transition>
    <p:pull dir="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AD5D195-D09D-4D2B-96C3-8A3C69CBA501}" type="slidenum">
              <a:rPr lang="en-US" altLang="zh-CN" sz="1400"/>
              <a:pPr/>
              <a:t>45</a:t>
            </a:fld>
            <a:endParaRPr lang="en-US" altLang="zh-CN" sz="1400"/>
          </a:p>
        </p:txBody>
      </p:sp>
      <p:sp>
        <p:nvSpPr>
          <p:cNvPr id="45059" name="Text Box 2"/>
          <p:cNvSpPr txBox="1">
            <a:spLocks noChangeArrowheads="1"/>
          </p:cNvSpPr>
          <p:nvPr/>
        </p:nvSpPr>
        <p:spPr bwMode="auto">
          <a:xfrm>
            <a:off x="400050" y="304800"/>
            <a:ext cx="8439150" cy="2760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80000"/>
              </a:lnSpc>
            </a:pPr>
            <a:r>
              <a:rPr lang="zh-CN" altLang="en-US" sz="4400" b="1">
                <a:solidFill>
                  <a:srgbClr val="FF5050"/>
                </a:solidFill>
                <a:ea typeface="楷体_GB2312" pitchFamily="49" charset="-122"/>
              </a:rPr>
              <a:t>例二、 括号匹配的检验</a:t>
            </a:r>
          </a:p>
          <a:p>
            <a:pPr>
              <a:lnSpc>
                <a:spcPct val="180000"/>
              </a:lnSpc>
            </a:pPr>
            <a:r>
              <a:rPr lang="zh-CN" altLang="en-US" b="1">
                <a:latin typeface="楷体_GB2312" pitchFamily="49" charset="-122"/>
                <a:ea typeface="楷体_GB2312" pitchFamily="49" charset="-122"/>
              </a:rPr>
              <a:t>  假设在表达式中</a:t>
            </a:r>
            <a:r>
              <a:rPr lang="en-US" altLang="zh-CN" b="1">
                <a:latin typeface="楷体_GB2312" pitchFamily="49" charset="-122"/>
                <a:ea typeface="楷体_GB2312" pitchFamily="49" charset="-122"/>
              </a:rPr>
              <a:t>,</a:t>
            </a:r>
          </a:p>
          <a:p>
            <a:pPr>
              <a:lnSpc>
                <a:spcPct val="120000"/>
              </a:lnSpc>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（［］（））或［（［ ］［ ］）］</a:t>
            </a:r>
            <a:endParaRPr lang="zh-CN" altLang="en-US" b="1">
              <a:solidFill>
                <a:srgbClr val="FF0000"/>
              </a:solidFill>
              <a:latin typeface="楷体_GB2312" pitchFamily="49" charset="-122"/>
              <a:ea typeface="楷体_GB2312" pitchFamily="49" charset="-122"/>
            </a:endParaRPr>
          </a:p>
        </p:txBody>
      </p:sp>
      <p:sp>
        <p:nvSpPr>
          <p:cNvPr id="488451" name="Text Box 3"/>
          <p:cNvSpPr txBox="1">
            <a:spLocks noChangeArrowheads="1"/>
          </p:cNvSpPr>
          <p:nvPr/>
        </p:nvSpPr>
        <p:spPr bwMode="auto">
          <a:xfrm>
            <a:off x="825500" y="4953000"/>
            <a:ext cx="7556500" cy="126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pPr>
            <a:r>
              <a:rPr lang="zh-CN" altLang="en-US" b="1">
                <a:ea typeface="楷体_GB2312" pitchFamily="49" charset="-122"/>
              </a:rPr>
              <a:t>则 </a:t>
            </a:r>
            <a:r>
              <a:rPr lang="zh-CN" altLang="en-US" b="1">
                <a:solidFill>
                  <a:srgbClr val="FF0000"/>
                </a:solidFill>
                <a:ea typeface="楷体_GB2312" pitchFamily="49" charset="-122"/>
              </a:rPr>
              <a:t>检验括号是否匹配</a:t>
            </a:r>
            <a:r>
              <a:rPr lang="zh-CN" altLang="en-US" b="1">
                <a:ea typeface="楷体_GB2312" pitchFamily="49" charset="-122"/>
              </a:rPr>
              <a:t>的方法可用</a:t>
            </a:r>
            <a:endParaRPr lang="zh-CN" altLang="en-US" b="1">
              <a:solidFill>
                <a:srgbClr val="FF0000"/>
              </a:solidFill>
              <a:ea typeface="楷体_GB2312" pitchFamily="49" charset="-122"/>
            </a:endParaRPr>
          </a:p>
          <a:p>
            <a:pPr>
              <a:lnSpc>
                <a:spcPct val="120000"/>
              </a:lnSpc>
            </a:pPr>
            <a:r>
              <a:rPr lang="zh-CN" altLang="en-US" b="1">
                <a:solidFill>
                  <a:srgbClr val="FF0000"/>
                </a:solidFill>
                <a:ea typeface="楷体_GB2312" pitchFamily="49" charset="-122"/>
              </a:rPr>
              <a:t>“期待的急迫程度”</a:t>
            </a:r>
            <a:r>
              <a:rPr lang="zh-CN" altLang="en-US" b="1">
                <a:ea typeface="楷体_GB2312" pitchFamily="49" charset="-122"/>
              </a:rPr>
              <a:t>这个概念来描述。</a:t>
            </a:r>
            <a:endParaRPr lang="zh-CN" altLang="en-US" b="1">
              <a:solidFill>
                <a:srgbClr val="FF0000"/>
              </a:solidFill>
              <a:ea typeface="楷体_GB2312" pitchFamily="49" charset="-122"/>
            </a:endParaRPr>
          </a:p>
        </p:txBody>
      </p:sp>
      <p:sp>
        <p:nvSpPr>
          <p:cNvPr id="488452" name="Text Box 4"/>
          <p:cNvSpPr txBox="1">
            <a:spLocks noChangeArrowheads="1"/>
          </p:cNvSpPr>
          <p:nvPr/>
        </p:nvSpPr>
        <p:spPr bwMode="auto">
          <a:xfrm>
            <a:off x="250825" y="2798763"/>
            <a:ext cx="8439150" cy="2138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80000"/>
              </a:lnSpc>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等为</a:t>
            </a:r>
            <a:r>
              <a:rPr lang="zh-CN" altLang="en-US" b="1">
                <a:solidFill>
                  <a:schemeClr val="folHlink"/>
                </a:solidFill>
                <a:latin typeface="楷体_GB2312" pitchFamily="49" charset="-122"/>
                <a:ea typeface="楷体_GB2312" pitchFamily="49" charset="-122"/>
              </a:rPr>
              <a:t>正确</a:t>
            </a:r>
            <a:r>
              <a:rPr lang="zh-CN" altLang="en-US" b="1">
                <a:latin typeface="楷体_GB2312" pitchFamily="49" charset="-122"/>
                <a:ea typeface="楷体_GB2312" pitchFamily="49" charset="-122"/>
              </a:rPr>
              <a:t>的格式，</a:t>
            </a:r>
          </a:p>
          <a:p>
            <a:pPr>
              <a:lnSpc>
                <a:spcPct val="120000"/>
              </a:lnSpc>
            </a:pPr>
            <a:r>
              <a:rPr lang="zh-CN" altLang="en-US" b="1">
                <a:latin typeface="楷体_GB2312" pitchFamily="49" charset="-122"/>
                <a:ea typeface="楷体_GB2312" pitchFamily="49" charset="-122"/>
              </a:rPr>
              <a:t>     ［（ ］）或（［（ ））或 （（）］</a:t>
            </a:r>
            <a:r>
              <a:rPr lang="en-US" altLang="zh-CN" b="1">
                <a:latin typeface="楷体_GB2312" pitchFamily="49" charset="-122"/>
                <a:ea typeface="楷体_GB2312" pitchFamily="49" charset="-122"/>
              </a:rPr>
              <a:t>)</a:t>
            </a:r>
          </a:p>
          <a:p>
            <a:pPr>
              <a:lnSpc>
                <a:spcPct val="120000"/>
              </a:lnSpc>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均为</a:t>
            </a:r>
            <a:r>
              <a:rPr lang="zh-CN" altLang="en-US" b="1">
                <a:solidFill>
                  <a:schemeClr val="folHlink"/>
                </a:solidFill>
                <a:latin typeface="楷体_GB2312" pitchFamily="49" charset="-122"/>
                <a:ea typeface="楷体_GB2312" pitchFamily="49" charset="-122"/>
              </a:rPr>
              <a:t>不正确</a:t>
            </a:r>
            <a:r>
              <a:rPr lang="zh-CN" altLang="en-US" b="1">
                <a:latin typeface="楷体_GB2312" pitchFamily="49" charset="-122"/>
                <a:ea typeface="楷体_GB2312" pitchFamily="49" charset="-122"/>
              </a:rPr>
              <a:t>的格式。</a:t>
            </a:r>
            <a:endParaRPr lang="zh-CN" altLang="en-US" b="1">
              <a:solidFill>
                <a:srgbClr val="FF0000"/>
              </a:solidFill>
              <a:latin typeface="楷体_GB2312" pitchFamily="49" charset="-122"/>
              <a:ea typeface="楷体_GB2312" pitchFamily="49" charset="-122"/>
            </a:endParaRPr>
          </a:p>
        </p:txBody>
      </p:sp>
    </p:spTree>
    <p:extLst>
      <p:ext uri="{BB962C8B-B14F-4D97-AF65-F5344CB8AC3E}">
        <p14:creationId xmlns:p14="http://schemas.microsoft.com/office/powerpoint/2010/main" val="937102790"/>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88452">
                                            <p:txEl>
                                              <p:pRg st="0" end="0"/>
                                            </p:txEl>
                                          </p:spTgt>
                                        </p:tgtEl>
                                        <p:attrNameLst>
                                          <p:attrName>style.visibility</p:attrName>
                                        </p:attrNameLst>
                                      </p:cBhvr>
                                      <p:to>
                                        <p:strVal val="visible"/>
                                      </p:to>
                                    </p:set>
                                    <p:anim calcmode="lin" valueType="num">
                                      <p:cBhvr>
                                        <p:cTn id="7" dur="500" fill="hold"/>
                                        <p:tgtEl>
                                          <p:spTgt spid="48845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8452">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88452">
                                            <p:txEl>
                                              <p:pRg st="1" end="1"/>
                                            </p:txEl>
                                          </p:spTgt>
                                        </p:tgtEl>
                                        <p:attrNameLst>
                                          <p:attrName>style.visibility</p:attrName>
                                        </p:attrNameLst>
                                      </p:cBhvr>
                                      <p:to>
                                        <p:strVal val="visible"/>
                                      </p:to>
                                    </p:set>
                                    <p:anim calcmode="lin" valueType="num">
                                      <p:cBhvr>
                                        <p:cTn id="13" dur="500" fill="hold"/>
                                        <p:tgtEl>
                                          <p:spTgt spid="488452">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488452">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488452">
                                            <p:txEl>
                                              <p:pRg st="2" end="2"/>
                                            </p:txEl>
                                          </p:spTgt>
                                        </p:tgtEl>
                                        <p:attrNameLst>
                                          <p:attrName>style.visibility</p:attrName>
                                        </p:attrNameLst>
                                      </p:cBhvr>
                                      <p:to>
                                        <p:strVal val="visible"/>
                                      </p:to>
                                    </p:set>
                                    <p:anim calcmode="lin" valueType="num">
                                      <p:cBhvr>
                                        <p:cTn id="19" dur="500" fill="hold"/>
                                        <p:tgtEl>
                                          <p:spTgt spid="488452">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488452">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88451">
                                            <p:txEl>
                                              <p:pRg st="0" end="0"/>
                                            </p:txEl>
                                          </p:spTgt>
                                        </p:tgtEl>
                                        <p:attrNameLst>
                                          <p:attrName>style.visibility</p:attrName>
                                        </p:attrNameLst>
                                      </p:cBhvr>
                                      <p:to>
                                        <p:strVal val="visible"/>
                                      </p:to>
                                    </p:set>
                                    <p:anim calcmode="lin" valueType="num">
                                      <p:cBhvr additive="base">
                                        <p:cTn id="25" dur="500" fill="hold"/>
                                        <p:tgtEl>
                                          <p:spTgt spid="488451">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88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88451">
                                            <p:txEl>
                                              <p:pRg st="1" end="1"/>
                                            </p:txEl>
                                          </p:spTgt>
                                        </p:tgtEl>
                                        <p:attrNameLst>
                                          <p:attrName>style.visibility</p:attrName>
                                        </p:attrNameLst>
                                      </p:cBhvr>
                                      <p:to>
                                        <p:strVal val="visible"/>
                                      </p:to>
                                    </p:set>
                                    <p:anim calcmode="lin" valueType="num">
                                      <p:cBhvr additive="base">
                                        <p:cTn id="31" dur="500" fill="hold"/>
                                        <p:tgtEl>
                                          <p:spTgt spid="488451">
                                            <p:txEl>
                                              <p:pRg st="1" end="1"/>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8845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autoUpdateAnimBg="0"/>
      <p:bldP spid="488452"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C22E01EC-2525-4C06-8470-CCD86DA1EB11}" type="slidenum">
              <a:rPr lang="en-US" altLang="zh-CN" sz="1400"/>
              <a:pPr/>
              <a:t>46</a:t>
            </a:fld>
            <a:endParaRPr lang="en-US" altLang="zh-CN" sz="1400"/>
          </a:p>
        </p:txBody>
      </p:sp>
      <p:sp>
        <p:nvSpPr>
          <p:cNvPr id="489474" name="Rectangle 2"/>
          <p:cNvSpPr>
            <a:spLocks noGrp="1" noChangeArrowheads="1"/>
          </p:cNvSpPr>
          <p:nvPr>
            <p:ph type="title" idx="4294967295"/>
          </p:nvPr>
        </p:nvSpPr>
        <p:spPr>
          <a:xfrm>
            <a:off x="533400" y="2438400"/>
            <a:ext cx="7772400" cy="1143000"/>
          </a:xfrm>
        </p:spPr>
        <p:txBody>
          <a:bodyPr/>
          <a:lstStyle/>
          <a:p>
            <a:pPr algn="l" eaLnBrk="1" hangingPunct="1"/>
            <a:r>
              <a:rPr lang="zh-CN" altLang="en-US" sz="3200" b="1">
                <a:solidFill>
                  <a:schemeClr val="tx1"/>
                </a:solidFill>
                <a:ea typeface="楷体_GB2312" pitchFamily="49" charset="-122"/>
              </a:rPr>
              <a:t>分析可能出现的</a:t>
            </a:r>
            <a:r>
              <a:rPr lang="zh-CN" altLang="en-US" sz="3200" b="1">
                <a:solidFill>
                  <a:srgbClr val="A50021"/>
                </a:solidFill>
              </a:rPr>
              <a:t>不匹配</a:t>
            </a:r>
            <a:r>
              <a:rPr lang="zh-CN" altLang="en-US" sz="3200" b="1">
                <a:solidFill>
                  <a:schemeClr val="tx1"/>
                </a:solidFill>
                <a:ea typeface="楷体_GB2312" pitchFamily="49" charset="-122"/>
              </a:rPr>
              <a:t>的情况</a:t>
            </a:r>
            <a:r>
              <a:rPr lang="en-US" altLang="zh-CN" sz="3200" b="1">
                <a:solidFill>
                  <a:schemeClr val="tx1"/>
                </a:solidFill>
                <a:ea typeface="楷体_GB2312" pitchFamily="49" charset="-122"/>
              </a:rPr>
              <a:t>:</a:t>
            </a:r>
          </a:p>
        </p:txBody>
      </p:sp>
      <p:sp>
        <p:nvSpPr>
          <p:cNvPr id="489475" name="Rectangle 3"/>
          <p:cNvSpPr>
            <a:spLocks noGrp="1" noChangeArrowheads="1"/>
          </p:cNvSpPr>
          <p:nvPr>
            <p:ph type="body" idx="4294967295"/>
          </p:nvPr>
        </p:nvSpPr>
        <p:spPr>
          <a:xfrm>
            <a:off x="762000" y="3581400"/>
            <a:ext cx="7772400" cy="609600"/>
          </a:xfrm>
        </p:spPr>
        <p:txBody>
          <a:bodyPr/>
          <a:lstStyle/>
          <a:p>
            <a:pPr eaLnBrk="1" hangingPunct="1"/>
            <a:r>
              <a:rPr lang="zh-CN" altLang="en-US" b="1">
                <a:ea typeface="楷体_GB2312" pitchFamily="49" charset="-122"/>
              </a:rPr>
              <a:t>到来的右括弧</a:t>
            </a:r>
            <a:r>
              <a:rPr lang="zh-CN" altLang="en-US" b="1">
                <a:solidFill>
                  <a:srgbClr val="FF0000"/>
                </a:solidFill>
                <a:ea typeface="楷体_GB2312" pitchFamily="49" charset="-122"/>
              </a:rPr>
              <a:t>并非是所“期待”</a:t>
            </a:r>
            <a:r>
              <a:rPr lang="zh-CN" altLang="en-US" b="1">
                <a:ea typeface="楷体_GB2312" pitchFamily="49" charset="-122"/>
              </a:rPr>
              <a:t>的；</a:t>
            </a:r>
          </a:p>
        </p:txBody>
      </p:sp>
      <p:sp>
        <p:nvSpPr>
          <p:cNvPr id="46085" name="Text Box 4"/>
          <p:cNvSpPr txBox="1">
            <a:spLocks noChangeArrowheads="1"/>
          </p:cNvSpPr>
          <p:nvPr/>
        </p:nvSpPr>
        <p:spPr bwMode="auto">
          <a:xfrm>
            <a:off x="558800" y="685800"/>
            <a:ext cx="5080000" cy="1554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zh-CN" altLang="en-US" b="1">
                <a:ea typeface="楷体_GB2312" pitchFamily="49" charset="-122"/>
              </a:rPr>
              <a:t>例如：考虑下列括号序列：</a:t>
            </a:r>
          </a:p>
          <a:p>
            <a:r>
              <a:rPr lang="zh-CN" altLang="en-US" b="1">
                <a:ea typeface="楷体_GB2312" pitchFamily="49" charset="-122"/>
              </a:rPr>
              <a:t>             </a:t>
            </a:r>
            <a:r>
              <a:rPr lang="en-US" altLang="zh-CN" b="1">
                <a:ea typeface="楷体_GB2312" pitchFamily="49" charset="-122"/>
              </a:rPr>
              <a:t>[  (   [   ]  [   ]   )  ]</a:t>
            </a:r>
          </a:p>
          <a:p>
            <a:r>
              <a:rPr lang="en-US" altLang="zh-CN" b="1">
                <a:ea typeface="楷体_GB2312" pitchFamily="49" charset="-122"/>
              </a:rPr>
              <a:t>             1  2  3 4  5  6  7  8</a:t>
            </a:r>
            <a:endParaRPr lang="en-US" altLang="zh-CN" b="1"/>
          </a:p>
        </p:txBody>
      </p:sp>
      <p:sp>
        <p:nvSpPr>
          <p:cNvPr id="489477" name="Rectangle 5"/>
          <p:cNvSpPr>
            <a:spLocks noChangeArrowheads="1"/>
          </p:cNvSpPr>
          <p:nvPr/>
        </p:nvSpPr>
        <p:spPr bwMode="auto">
          <a:xfrm>
            <a:off x="762000" y="4419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FontTx/>
              <a:buChar char="•"/>
            </a:pPr>
            <a:r>
              <a:rPr lang="zh-CN" altLang="en-US" sz="3200" b="1">
                <a:ea typeface="楷体_GB2312" pitchFamily="49" charset="-122"/>
              </a:rPr>
              <a:t>到来的是</a:t>
            </a:r>
            <a:r>
              <a:rPr lang="zh-CN" altLang="en-US" sz="3200" b="1">
                <a:solidFill>
                  <a:srgbClr val="FF0000"/>
                </a:solidFill>
                <a:ea typeface="楷体_GB2312" pitchFamily="49" charset="-122"/>
              </a:rPr>
              <a:t>“不速之客”</a:t>
            </a:r>
            <a:r>
              <a:rPr lang="zh-CN" altLang="en-US" sz="3200" b="1">
                <a:ea typeface="楷体_GB2312" pitchFamily="49" charset="-122"/>
              </a:rPr>
              <a:t>；</a:t>
            </a:r>
          </a:p>
        </p:txBody>
      </p:sp>
      <p:sp>
        <p:nvSpPr>
          <p:cNvPr id="489478" name="Rectangle 6"/>
          <p:cNvSpPr>
            <a:spLocks noChangeArrowheads="1"/>
          </p:cNvSpPr>
          <p:nvPr/>
        </p:nvSpPr>
        <p:spPr bwMode="auto">
          <a:xfrm>
            <a:off x="762000" y="5181600"/>
            <a:ext cx="81311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20000"/>
              </a:lnSpc>
              <a:spcBef>
                <a:spcPct val="20000"/>
              </a:spcBef>
              <a:buFontTx/>
              <a:buChar char="•"/>
            </a:pPr>
            <a:r>
              <a:rPr lang="zh-CN" altLang="en-US" sz="3200" b="1">
                <a:ea typeface="楷体_GB2312" pitchFamily="49" charset="-122"/>
              </a:rPr>
              <a:t>直到结束，也没有到来</a:t>
            </a:r>
            <a:r>
              <a:rPr lang="zh-CN" altLang="en-US" sz="3200" b="1">
                <a:solidFill>
                  <a:srgbClr val="FF0000"/>
                </a:solidFill>
                <a:ea typeface="楷体_GB2312" pitchFamily="49" charset="-122"/>
              </a:rPr>
              <a:t>所“期待”</a:t>
            </a:r>
            <a:r>
              <a:rPr lang="zh-CN" altLang="en-US" sz="3200" b="1">
                <a:ea typeface="楷体_GB2312" pitchFamily="49" charset="-122"/>
              </a:rPr>
              <a:t>的括弧。</a:t>
            </a:r>
          </a:p>
        </p:txBody>
      </p:sp>
    </p:spTree>
    <p:extLst>
      <p:ext uri="{BB962C8B-B14F-4D97-AF65-F5344CB8AC3E}">
        <p14:creationId xmlns:p14="http://schemas.microsoft.com/office/powerpoint/2010/main" val="659538273"/>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89474"/>
                                        </p:tgtEl>
                                        <p:attrNameLst>
                                          <p:attrName>style.visibility</p:attrName>
                                        </p:attrNameLst>
                                      </p:cBhvr>
                                      <p:to>
                                        <p:strVal val="visible"/>
                                      </p:to>
                                    </p:set>
                                    <p:animEffect transition="in" filter="blinds(vertical)">
                                      <p:cBhvr>
                                        <p:cTn id="7" dur="500"/>
                                        <p:tgtEl>
                                          <p:spTgt spid="4894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9475">
                                            <p:txEl>
                                              <p:pRg st="0" end="0"/>
                                            </p:txEl>
                                          </p:spTgt>
                                        </p:tgtEl>
                                        <p:attrNameLst>
                                          <p:attrName>style.visibility</p:attrName>
                                        </p:attrNameLst>
                                      </p:cBhvr>
                                      <p:to>
                                        <p:strVal val="visible"/>
                                      </p:to>
                                    </p:set>
                                    <p:animEffect transition="in" filter="wipe(left)">
                                      <p:cBhvr>
                                        <p:cTn id="12" dur="500"/>
                                        <p:tgtEl>
                                          <p:spTgt spid="4894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9477">
                                            <p:txEl>
                                              <p:pRg st="0" end="0"/>
                                            </p:txEl>
                                          </p:spTgt>
                                        </p:tgtEl>
                                        <p:attrNameLst>
                                          <p:attrName>style.visibility</p:attrName>
                                        </p:attrNameLst>
                                      </p:cBhvr>
                                      <p:to>
                                        <p:strVal val="visible"/>
                                      </p:to>
                                    </p:set>
                                    <p:animEffect transition="in" filter="wipe(left)">
                                      <p:cBhvr>
                                        <p:cTn id="17" dur="500"/>
                                        <p:tgtEl>
                                          <p:spTgt spid="48947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9478">
                                            <p:txEl>
                                              <p:pRg st="0" end="0"/>
                                            </p:txEl>
                                          </p:spTgt>
                                        </p:tgtEl>
                                        <p:attrNameLst>
                                          <p:attrName>style.visibility</p:attrName>
                                        </p:attrNameLst>
                                      </p:cBhvr>
                                      <p:to>
                                        <p:strVal val="visible"/>
                                      </p:to>
                                    </p:set>
                                    <p:animEffect transition="in" filter="wipe(left)">
                                      <p:cBhvr>
                                        <p:cTn id="22" dur="500"/>
                                        <p:tgtEl>
                                          <p:spTgt spid="4894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4" grpId="0" autoUpdateAnimBg="0"/>
      <p:bldP spid="489475" grpId="0" build="p" autoUpdateAnimBg="0"/>
      <p:bldP spid="489477" grpId="0" build="p" autoUpdateAnimBg="0"/>
      <p:bldP spid="489478"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283750D-ACAB-446A-932D-5103180299DF}" type="slidenum">
              <a:rPr lang="en-US" altLang="zh-CN" sz="1400"/>
              <a:pPr/>
              <a:t>47</a:t>
            </a:fld>
            <a:endParaRPr lang="en-US" altLang="zh-CN" sz="1400"/>
          </a:p>
        </p:txBody>
      </p:sp>
      <p:sp>
        <p:nvSpPr>
          <p:cNvPr id="47107" name="Text Box 2"/>
          <p:cNvSpPr txBox="1">
            <a:spLocks noChangeArrowheads="1"/>
          </p:cNvSpPr>
          <p:nvPr/>
        </p:nvSpPr>
        <p:spPr bwMode="auto">
          <a:xfrm>
            <a:off x="296863" y="188913"/>
            <a:ext cx="55626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zh-CN" sz="4000" b="1">
                <a:latin typeface="楷体_GB2312" pitchFamily="49" charset="-122"/>
                <a:ea typeface="楷体_GB2312" pitchFamily="49" charset="-122"/>
              </a:rPr>
              <a:t>算法的设计思想：</a:t>
            </a:r>
            <a:endParaRPr lang="zh-CN" altLang="en-US" sz="4000">
              <a:latin typeface="楷体_GB2312" pitchFamily="49" charset="-122"/>
              <a:ea typeface="楷体_GB2312" pitchFamily="49" charset="-122"/>
            </a:endParaRPr>
          </a:p>
        </p:txBody>
      </p:sp>
      <p:sp>
        <p:nvSpPr>
          <p:cNvPr id="490499" name="Text Box 3"/>
          <p:cNvSpPr txBox="1">
            <a:spLocks noChangeArrowheads="1"/>
          </p:cNvSpPr>
          <p:nvPr/>
        </p:nvSpPr>
        <p:spPr bwMode="auto">
          <a:xfrm>
            <a:off x="701570" y="998538"/>
            <a:ext cx="384810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zh-CN" b="1" dirty="0">
                <a:solidFill>
                  <a:srgbClr val="000000"/>
                </a:solidFill>
                <a:latin typeface="楷体_GB2312" pitchFamily="49" charset="-122"/>
                <a:ea typeface="楷体_GB2312" pitchFamily="49" charset="-122"/>
              </a:rPr>
              <a:t>1</a:t>
            </a:r>
            <a:r>
              <a:rPr lang="en-US" altLang="zh-CN" dirty="0">
                <a:solidFill>
                  <a:srgbClr val="000000"/>
                </a:solidFill>
                <a:latin typeface="楷体_GB2312" pitchFamily="49" charset="-122"/>
                <a:ea typeface="楷体_GB2312" pitchFamily="49" charset="-122"/>
              </a:rPr>
              <a:t>)</a:t>
            </a:r>
            <a:r>
              <a:rPr lang="zh-CN" altLang="zh-CN" dirty="0">
                <a:solidFill>
                  <a:srgbClr val="000000"/>
                </a:solidFill>
                <a:latin typeface="楷体_GB2312" pitchFamily="49" charset="-122"/>
                <a:ea typeface="楷体_GB2312" pitchFamily="49" charset="-122"/>
              </a:rPr>
              <a:t>凡出现</a:t>
            </a:r>
            <a:r>
              <a:rPr lang="zh-CN" altLang="zh-CN" b="1" dirty="0">
                <a:latin typeface="楷体_GB2312" pitchFamily="49" charset="-122"/>
                <a:ea typeface="楷体_GB2312" pitchFamily="49" charset="-122"/>
              </a:rPr>
              <a:t>左括弧</a:t>
            </a:r>
            <a:r>
              <a:rPr lang="zh-CN" altLang="zh-CN" dirty="0">
                <a:latin typeface="楷体_GB2312" pitchFamily="49" charset="-122"/>
                <a:ea typeface="楷体_GB2312" pitchFamily="49" charset="-122"/>
              </a:rPr>
              <a:t>，</a:t>
            </a:r>
            <a:r>
              <a:rPr lang="zh-CN" altLang="zh-CN" dirty="0">
                <a:solidFill>
                  <a:srgbClr val="000000"/>
                </a:solidFill>
                <a:latin typeface="楷体_GB2312" pitchFamily="49" charset="-122"/>
                <a:ea typeface="楷体_GB2312" pitchFamily="49" charset="-122"/>
              </a:rPr>
              <a:t>则</a:t>
            </a:r>
          </a:p>
        </p:txBody>
      </p:sp>
      <p:sp>
        <p:nvSpPr>
          <p:cNvPr id="490500" name="Text Box 4"/>
          <p:cNvSpPr txBox="1">
            <a:spLocks noChangeArrowheads="1"/>
          </p:cNvSpPr>
          <p:nvPr/>
        </p:nvSpPr>
        <p:spPr bwMode="auto">
          <a:xfrm>
            <a:off x="701570" y="1628775"/>
            <a:ext cx="344170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a:solidFill>
                  <a:srgbClr val="000000"/>
                </a:solidFill>
                <a:latin typeface="楷体_GB2312" pitchFamily="49" charset="-122"/>
                <a:ea typeface="楷体_GB2312" pitchFamily="49" charset="-122"/>
              </a:rPr>
              <a:t>2</a:t>
            </a:r>
            <a:r>
              <a:rPr lang="en-US" altLang="zh-CN">
                <a:solidFill>
                  <a:srgbClr val="000000"/>
                </a:solidFill>
                <a:latin typeface="楷体_GB2312" pitchFamily="49" charset="-122"/>
                <a:ea typeface="楷体_GB2312" pitchFamily="49" charset="-122"/>
              </a:rPr>
              <a:t>)</a:t>
            </a:r>
            <a:r>
              <a:rPr lang="zh-CN" altLang="zh-CN">
                <a:solidFill>
                  <a:srgbClr val="000000"/>
                </a:solidFill>
                <a:latin typeface="楷体_GB2312" pitchFamily="49" charset="-122"/>
                <a:ea typeface="楷体_GB2312" pitchFamily="49" charset="-122"/>
              </a:rPr>
              <a:t>凡出现</a:t>
            </a:r>
            <a:r>
              <a:rPr lang="zh-CN" altLang="zh-CN" b="1">
                <a:latin typeface="楷体_GB2312" pitchFamily="49" charset="-122"/>
                <a:ea typeface="楷体_GB2312" pitchFamily="49" charset="-122"/>
              </a:rPr>
              <a:t>右括弧</a:t>
            </a:r>
            <a:r>
              <a:rPr lang="zh-CN" altLang="zh-CN">
                <a:solidFill>
                  <a:srgbClr val="000000"/>
                </a:solidFill>
                <a:latin typeface="楷体_GB2312" pitchFamily="49" charset="-122"/>
                <a:ea typeface="楷体_GB2312" pitchFamily="49" charset="-122"/>
              </a:rPr>
              <a:t>，</a:t>
            </a:r>
          </a:p>
        </p:txBody>
      </p:sp>
      <p:sp>
        <p:nvSpPr>
          <p:cNvPr id="490501" name="Text Box 5"/>
          <p:cNvSpPr txBox="1">
            <a:spLocks noChangeArrowheads="1"/>
          </p:cNvSpPr>
          <p:nvPr/>
        </p:nvSpPr>
        <p:spPr bwMode="auto">
          <a:xfrm>
            <a:off x="792163" y="4824413"/>
            <a:ext cx="7092950" cy="170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a:solidFill>
                  <a:srgbClr val="000000"/>
                </a:solidFill>
                <a:latin typeface="楷体_GB2312" pitchFamily="49" charset="-122"/>
                <a:ea typeface="楷体_GB2312" pitchFamily="49" charset="-122"/>
              </a:rPr>
              <a:t>3</a:t>
            </a:r>
            <a:r>
              <a:rPr lang="en-US" altLang="zh-CN">
                <a:solidFill>
                  <a:srgbClr val="000000"/>
                </a:solidFill>
                <a:latin typeface="楷体_GB2312" pitchFamily="49" charset="-122"/>
                <a:ea typeface="楷体_GB2312" pitchFamily="49" charset="-122"/>
              </a:rPr>
              <a:t>)</a:t>
            </a:r>
            <a:r>
              <a:rPr lang="zh-CN" altLang="zh-CN">
                <a:solidFill>
                  <a:srgbClr val="000000"/>
                </a:solidFill>
                <a:latin typeface="楷体_GB2312" pitchFamily="49" charset="-122"/>
                <a:ea typeface="楷体_GB2312" pitchFamily="49" charset="-122"/>
              </a:rPr>
              <a:t>表达式检验</a:t>
            </a:r>
            <a:r>
              <a:rPr lang="zh-CN" altLang="zh-CN" b="1">
                <a:latin typeface="楷体_GB2312" pitchFamily="49" charset="-122"/>
                <a:ea typeface="楷体_GB2312" pitchFamily="49" charset="-122"/>
              </a:rPr>
              <a:t>结束</a:t>
            </a:r>
            <a:r>
              <a:rPr lang="zh-CN" altLang="zh-CN">
                <a:solidFill>
                  <a:srgbClr val="000000"/>
                </a:solidFill>
                <a:latin typeface="楷体_GB2312" pitchFamily="49" charset="-122"/>
                <a:ea typeface="楷体_GB2312" pitchFamily="49" charset="-122"/>
              </a:rPr>
              <a:t>时，</a:t>
            </a:r>
          </a:p>
          <a:p>
            <a:pPr eaLnBrk="1" hangingPunct="1">
              <a:lnSpc>
                <a:spcPct val="110000"/>
              </a:lnSpc>
            </a:pPr>
            <a:r>
              <a:rPr lang="zh-CN" altLang="zh-CN">
                <a:solidFill>
                  <a:srgbClr val="A50021"/>
                </a:solidFill>
                <a:latin typeface="楷体_GB2312" pitchFamily="49" charset="-122"/>
                <a:ea typeface="楷体_GB2312" pitchFamily="49" charset="-122"/>
              </a:rPr>
              <a:t>  </a:t>
            </a:r>
            <a:r>
              <a:rPr lang="zh-CN" altLang="zh-CN">
                <a:solidFill>
                  <a:srgbClr val="000000"/>
                </a:solidFill>
                <a:latin typeface="楷体_GB2312" pitchFamily="49" charset="-122"/>
                <a:ea typeface="楷体_GB2312" pitchFamily="49" charset="-122"/>
              </a:rPr>
              <a:t>若</a:t>
            </a:r>
            <a:r>
              <a:rPr lang="zh-CN" altLang="zh-CN" b="1">
                <a:latin typeface="楷体_GB2312" pitchFamily="49" charset="-122"/>
                <a:ea typeface="楷体_GB2312" pitchFamily="49" charset="-122"/>
              </a:rPr>
              <a:t>栈空</a:t>
            </a:r>
            <a:r>
              <a:rPr lang="zh-CN" altLang="zh-CN">
                <a:solidFill>
                  <a:srgbClr val="000000"/>
                </a:solidFill>
                <a:latin typeface="楷体_GB2312" pitchFamily="49" charset="-122"/>
                <a:ea typeface="楷体_GB2312" pitchFamily="49" charset="-122"/>
              </a:rPr>
              <a:t>，则表明表达式中</a:t>
            </a:r>
            <a:r>
              <a:rPr lang="zh-CN" altLang="zh-CN" b="1">
                <a:solidFill>
                  <a:schemeClr val="hlink"/>
                </a:solidFill>
                <a:latin typeface="楷体_GB2312" pitchFamily="49" charset="-122"/>
                <a:ea typeface="楷体_GB2312" pitchFamily="49" charset="-122"/>
              </a:rPr>
              <a:t>匹配正确</a:t>
            </a:r>
            <a:r>
              <a:rPr lang="zh-CN" altLang="zh-CN">
                <a:latin typeface="楷体_GB2312" pitchFamily="49" charset="-122"/>
                <a:ea typeface="楷体_GB2312" pitchFamily="49" charset="-122"/>
              </a:rPr>
              <a:t>，</a:t>
            </a:r>
          </a:p>
          <a:p>
            <a:pPr eaLnBrk="1" hangingPunct="1">
              <a:lnSpc>
                <a:spcPct val="110000"/>
              </a:lnSpc>
            </a:pPr>
            <a:r>
              <a:rPr lang="zh-CN" altLang="zh-CN">
                <a:latin typeface="楷体_GB2312" pitchFamily="49" charset="-122"/>
                <a:ea typeface="楷体_GB2312" pitchFamily="49" charset="-122"/>
              </a:rPr>
              <a:t>  </a:t>
            </a:r>
            <a:r>
              <a:rPr lang="zh-CN" altLang="zh-CN">
                <a:solidFill>
                  <a:srgbClr val="000000"/>
                </a:solidFill>
                <a:latin typeface="楷体_GB2312" pitchFamily="49" charset="-122"/>
                <a:ea typeface="楷体_GB2312" pitchFamily="49" charset="-122"/>
              </a:rPr>
              <a:t>否则表明</a:t>
            </a:r>
            <a:r>
              <a:rPr lang="zh-CN" altLang="zh-CN" b="1">
                <a:solidFill>
                  <a:srgbClr val="A50021"/>
                </a:solidFill>
                <a:ea typeface="楷体_GB2312" pitchFamily="49" charset="-122"/>
              </a:rPr>
              <a:t>“</a:t>
            </a:r>
            <a:r>
              <a:rPr lang="zh-CN" altLang="zh-CN" b="1">
                <a:solidFill>
                  <a:srgbClr val="A50021"/>
                </a:solidFill>
                <a:latin typeface="楷体_GB2312" pitchFamily="49" charset="-122"/>
                <a:ea typeface="楷体_GB2312" pitchFamily="49" charset="-122"/>
              </a:rPr>
              <a:t>左括弧</a:t>
            </a:r>
            <a:r>
              <a:rPr lang="zh-CN" altLang="zh-CN" b="1">
                <a:solidFill>
                  <a:srgbClr val="A50021"/>
                </a:solidFill>
                <a:ea typeface="楷体_GB2312" pitchFamily="49" charset="-122"/>
              </a:rPr>
              <a:t>”</a:t>
            </a:r>
            <a:r>
              <a:rPr lang="zh-CN" altLang="zh-CN" b="1">
                <a:solidFill>
                  <a:srgbClr val="A50021"/>
                </a:solidFill>
                <a:latin typeface="楷体_GB2312" pitchFamily="49" charset="-122"/>
                <a:ea typeface="楷体_GB2312" pitchFamily="49" charset="-122"/>
              </a:rPr>
              <a:t>有余</a:t>
            </a:r>
            <a:r>
              <a:rPr lang="zh-CN" altLang="zh-CN">
                <a:solidFill>
                  <a:srgbClr val="A50021"/>
                </a:solidFill>
                <a:latin typeface="楷体_GB2312" pitchFamily="49" charset="-122"/>
                <a:ea typeface="楷体_GB2312" pitchFamily="49" charset="-122"/>
              </a:rPr>
              <a:t>。</a:t>
            </a:r>
            <a:endParaRPr lang="zh-CN" altLang="en-US">
              <a:solidFill>
                <a:srgbClr val="A50021"/>
              </a:solidFill>
              <a:latin typeface="楷体_GB2312" pitchFamily="49" charset="-122"/>
              <a:ea typeface="楷体_GB2312" pitchFamily="49" charset="-122"/>
            </a:endParaRPr>
          </a:p>
        </p:txBody>
      </p:sp>
      <p:sp>
        <p:nvSpPr>
          <p:cNvPr id="490502" name="Text Box 6"/>
          <p:cNvSpPr txBox="1">
            <a:spLocks noChangeArrowheads="1"/>
          </p:cNvSpPr>
          <p:nvPr/>
        </p:nvSpPr>
        <p:spPr bwMode="auto">
          <a:xfrm>
            <a:off x="4616450" y="998538"/>
            <a:ext cx="140652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zh-CN" b="1" dirty="0">
                <a:solidFill>
                  <a:schemeClr val="hlink"/>
                </a:solidFill>
                <a:latin typeface="楷体_GB2312" pitchFamily="49" charset="-122"/>
                <a:ea typeface="楷体_GB2312" pitchFamily="49" charset="-122"/>
              </a:rPr>
              <a:t>进栈</a:t>
            </a:r>
            <a:r>
              <a:rPr lang="zh-CN" altLang="zh-CN" dirty="0">
                <a:solidFill>
                  <a:srgbClr val="A50021"/>
                </a:solidFill>
                <a:latin typeface="楷体_GB2312" pitchFamily="49" charset="-122"/>
                <a:ea typeface="楷体_GB2312" pitchFamily="49" charset="-122"/>
              </a:rPr>
              <a:t>；</a:t>
            </a:r>
            <a:endParaRPr lang="zh-CN" altLang="zh-CN" sz="3600" dirty="0">
              <a:solidFill>
                <a:srgbClr val="A50021"/>
              </a:solidFill>
              <a:latin typeface="楷体_GB2312" pitchFamily="49" charset="-122"/>
              <a:ea typeface="楷体_GB2312" pitchFamily="49" charset="-122"/>
            </a:endParaRPr>
          </a:p>
        </p:txBody>
      </p:sp>
      <p:sp>
        <p:nvSpPr>
          <p:cNvPr id="490503" name="Text Box 7"/>
          <p:cNvSpPr txBox="1">
            <a:spLocks noChangeArrowheads="1"/>
          </p:cNvSpPr>
          <p:nvPr/>
        </p:nvSpPr>
        <p:spPr bwMode="auto">
          <a:xfrm>
            <a:off x="5246688" y="2393950"/>
            <a:ext cx="302895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b="1">
                <a:solidFill>
                  <a:srgbClr val="A50021"/>
                </a:solidFill>
                <a:ea typeface="楷体_GB2312" pitchFamily="49" charset="-122"/>
              </a:rPr>
              <a:t>“</a:t>
            </a:r>
            <a:r>
              <a:rPr lang="zh-CN" altLang="zh-CN" b="1">
                <a:solidFill>
                  <a:srgbClr val="A50021"/>
                </a:solidFill>
                <a:latin typeface="楷体_GB2312" pitchFamily="49" charset="-122"/>
                <a:ea typeface="楷体_GB2312" pitchFamily="49" charset="-122"/>
              </a:rPr>
              <a:t>右括弧</a:t>
            </a:r>
            <a:r>
              <a:rPr lang="zh-CN" altLang="zh-CN" b="1">
                <a:solidFill>
                  <a:srgbClr val="A50021"/>
                </a:solidFill>
                <a:ea typeface="楷体_GB2312" pitchFamily="49" charset="-122"/>
              </a:rPr>
              <a:t>”</a:t>
            </a:r>
            <a:r>
              <a:rPr lang="zh-CN" altLang="zh-CN" b="1">
                <a:solidFill>
                  <a:srgbClr val="A50021"/>
                </a:solidFill>
                <a:latin typeface="楷体_GB2312" pitchFamily="49" charset="-122"/>
                <a:ea typeface="楷体_GB2312" pitchFamily="49" charset="-122"/>
              </a:rPr>
              <a:t>多余</a:t>
            </a:r>
            <a:r>
              <a:rPr lang="zh-CN" altLang="zh-CN">
                <a:solidFill>
                  <a:srgbClr val="A50021"/>
                </a:solidFill>
                <a:latin typeface="楷体_GB2312" pitchFamily="49" charset="-122"/>
                <a:ea typeface="楷体_GB2312" pitchFamily="49" charset="-122"/>
              </a:rPr>
              <a:t>，</a:t>
            </a:r>
          </a:p>
        </p:txBody>
      </p:sp>
      <p:sp>
        <p:nvSpPr>
          <p:cNvPr id="490504" name="Text Box 8"/>
          <p:cNvSpPr txBox="1">
            <a:spLocks noChangeArrowheads="1"/>
          </p:cNvSpPr>
          <p:nvPr/>
        </p:nvSpPr>
        <p:spPr bwMode="auto">
          <a:xfrm>
            <a:off x="3941930" y="1673225"/>
            <a:ext cx="343535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dirty="0">
                <a:solidFill>
                  <a:srgbClr val="000000"/>
                </a:solidFill>
                <a:latin typeface="楷体_GB2312" pitchFamily="49" charset="-122"/>
                <a:ea typeface="楷体_GB2312" pitchFamily="49" charset="-122"/>
              </a:rPr>
              <a:t>首先检查栈是否空</a:t>
            </a:r>
          </a:p>
        </p:txBody>
      </p:sp>
      <p:sp>
        <p:nvSpPr>
          <p:cNvPr id="490505" name="Text Box 9"/>
          <p:cNvSpPr txBox="1">
            <a:spLocks noChangeArrowheads="1"/>
          </p:cNvSpPr>
          <p:nvPr/>
        </p:nvSpPr>
        <p:spPr bwMode="auto">
          <a:xfrm>
            <a:off x="1601788" y="2349500"/>
            <a:ext cx="3438525"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a:solidFill>
                  <a:srgbClr val="000000"/>
                </a:solidFill>
                <a:latin typeface="楷体_GB2312" pitchFamily="49" charset="-122"/>
                <a:ea typeface="楷体_GB2312" pitchFamily="49" charset="-122"/>
              </a:rPr>
              <a:t>若</a:t>
            </a:r>
            <a:r>
              <a:rPr lang="zh-CN" altLang="zh-CN" b="1">
                <a:latin typeface="楷体_GB2312" pitchFamily="49" charset="-122"/>
                <a:ea typeface="楷体_GB2312" pitchFamily="49" charset="-122"/>
              </a:rPr>
              <a:t>栈空</a:t>
            </a:r>
            <a:r>
              <a:rPr lang="zh-CN" altLang="zh-CN">
                <a:solidFill>
                  <a:srgbClr val="000000"/>
                </a:solidFill>
                <a:latin typeface="楷体_GB2312" pitchFamily="49" charset="-122"/>
                <a:ea typeface="楷体_GB2312" pitchFamily="49" charset="-122"/>
              </a:rPr>
              <a:t>，则表明该</a:t>
            </a:r>
          </a:p>
        </p:txBody>
      </p:sp>
      <p:sp>
        <p:nvSpPr>
          <p:cNvPr id="490506" name="Text Box 10"/>
          <p:cNvSpPr txBox="1">
            <a:spLocks noChangeArrowheads="1"/>
          </p:cNvSpPr>
          <p:nvPr/>
        </p:nvSpPr>
        <p:spPr bwMode="auto">
          <a:xfrm>
            <a:off x="1150938" y="3114675"/>
            <a:ext cx="7382149" cy="16512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zh-CN" altLang="zh-CN" dirty="0">
                <a:solidFill>
                  <a:srgbClr val="A50021"/>
                </a:solidFill>
                <a:latin typeface="楷体_GB2312" pitchFamily="49" charset="-122"/>
                <a:ea typeface="楷体_GB2312" pitchFamily="49" charset="-122"/>
              </a:rPr>
              <a:t>  </a:t>
            </a:r>
            <a:r>
              <a:rPr lang="zh-CN" altLang="zh-CN" dirty="0">
                <a:solidFill>
                  <a:srgbClr val="000000"/>
                </a:solidFill>
                <a:latin typeface="楷体_GB2312" pitchFamily="49" charset="-122"/>
                <a:ea typeface="楷体_GB2312" pitchFamily="49" charset="-122"/>
              </a:rPr>
              <a:t>否则和栈顶元素比较，</a:t>
            </a:r>
          </a:p>
          <a:p>
            <a:pPr eaLnBrk="1" hangingPunct="1">
              <a:lnSpc>
                <a:spcPct val="110000"/>
              </a:lnSpc>
            </a:pPr>
            <a:r>
              <a:rPr lang="zh-CN" altLang="zh-CN" dirty="0">
                <a:solidFill>
                  <a:srgbClr val="A50021"/>
                </a:solidFill>
                <a:latin typeface="楷体_GB2312" pitchFamily="49" charset="-122"/>
                <a:ea typeface="楷体_GB2312" pitchFamily="49" charset="-122"/>
              </a:rPr>
              <a:t>       </a:t>
            </a:r>
            <a:r>
              <a:rPr lang="zh-CN" altLang="zh-CN" dirty="0">
                <a:solidFill>
                  <a:srgbClr val="000000"/>
                </a:solidFill>
                <a:latin typeface="楷体_GB2312" pitchFamily="49" charset="-122"/>
                <a:ea typeface="楷体_GB2312" pitchFamily="49" charset="-122"/>
              </a:rPr>
              <a:t>若</a:t>
            </a:r>
            <a:r>
              <a:rPr lang="zh-CN" altLang="zh-CN" b="1" dirty="0">
                <a:latin typeface="楷体_GB2312" pitchFamily="49" charset="-122"/>
                <a:ea typeface="楷体_GB2312" pitchFamily="49" charset="-122"/>
              </a:rPr>
              <a:t>相匹配</a:t>
            </a:r>
            <a:r>
              <a:rPr lang="zh-CN" altLang="zh-CN" dirty="0">
                <a:solidFill>
                  <a:srgbClr val="000000"/>
                </a:solidFill>
                <a:latin typeface="楷体_GB2312" pitchFamily="49" charset="-122"/>
                <a:ea typeface="楷体_GB2312" pitchFamily="49" charset="-122"/>
              </a:rPr>
              <a:t>，则</a:t>
            </a:r>
            <a:r>
              <a:rPr lang="zh-CN" altLang="zh-CN" b="1" dirty="0">
                <a:solidFill>
                  <a:schemeClr val="hlink"/>
                </a:solidFill>
                <a:ea typeface="楷体_GB2312" pitchFamily="49" charset="-122"/>
              </a:rPr>
              <a:t>“</a:t>
            </a:r>
            <a:r>
              <a:rPr lang="zh-CN" altLang="zh-CN" b="1" dirty="0">
                <a:solidFill>
                  <a:schemeClr val="hlink"/>
                </a:solidFill>
                <a:latin typeface="楷体_GB2312" pitchFamily="49" charset="-122"/>
                <a:ea typeface="楷体_GB2312" pitchFamily="49" charset="-122"/>
              </a:rPr>
              <a:t>左括弧出栈</a:t>
            </a:r>
            <a:r>
              <a:rPr lang="zh-CN" altLang="zh-CN" b="1" dirty="0">
                <a:solidFill>
                  <a:schemeClr val="hlink"/>
                </a:solidFill>
                <a:ea typeface="楷体_GB2312" pitchFamily="49" charset="-122"/>
              </a:rPr>
              <a:t>”</a:t>
            </a:r>
            <a:r>
              <a:rPr lang="zh-CN" altLang="zh-CN" dirty="0">
                <a:solidFill>
                  <a:srgbClr val="A50021"/>
                </a:solidFill>
                <a:latin typeface="楷体_GB2312" pitchFamily="49" charset="-122"/>
                <a:ea typeface="楷体_GB2312" pitchFamily="49" charset="-122"/>
              </a:rPr>
              <a:t>，</a:t>
            </a:r>
          </a:p>
          <a:p>
            <a:pPr eaLnBrk="1" hangingPunct="1">
              <a:lnSpc>
                <a:spcPct val="110000"/>
              </a:lnSpc>
            </a:pPr>
            <a:r>
              <a:rPr lang="zh-CN" altLang="zh-CN" dirty="0">
                <a:solidFill>
                  <a:srgbClr val="A50021"/>
                </a:solidFill>
                <a:latin typeface="楷体_GB2312" pitchFamily="49" charset="-122"/>
                <a:ea typeface="楷体_GB2312" pitchFamily="49" charset="-122"/>
              </a:rPr>
              <a:t>       </a:t>
            </a:r>
            <a:r>
              <a:rPr lang="zh-CN" altLang="en-US" dirty="0">
                <a:solidFill>
                  <a:srgbClr val="A50021"/>
                </a:solidFill>
                <a:latin typeface="楷体_GB2312" pitchFamily="49" charset="-122"/>
                <a:ea typeface="楷体_GB2312" pitchFamily="49" charset="-122"/>
              </a:rPr>
              <a:t>          </a:t>
            </a:r>
            <a:r>
              <a:rPr lang="zh-CN" altLang="zh-CN" dirty="0">
                <a:solidFill>
                  <a:srgbClr val="000000"/>
                </a:solidFill>
                <a:latin typeface="楷体_GB2312" pitchFamily="49" charset="-122"/>
                <a:ea typeface="楷体_GB2312" pitchFamily="49" charset="-122"/>
              </a:rPr>
              <a:t>否则表明</a:t>
            </a:r>
            <a:r>
              <a:rPr lang="zh-CN" altLang="zh-CN" b="1" dirty="0">
                <a:solidFill>
                  <a:srgbClr val="A50021"/>
                </a:solidFill>
                <a:latin typeface="楷体_GB2312" pitchFamily="49" charset="-122"/>
                <a:ea typeface="楷体_GB2312" pitchFamily="49" charset="-122"/>
              </a:rPr>
              <a:t>不匹配</a:t>
            </a:r>
            <a:r>
              <a:rPr lang="zh-CN" altLang="zh-CN" dirty="0">
                <a:solidFill>
                  <a:srgbClr val="A50021"/>
                </a:solidFill>
                <a:latin typeface="楷体_GB2312" pitchFamily="49" charset="-122"/>
                <a:ea typeface="楷体_GB2312" pitchFamily="49" charset="-122"/>
              </a:rPr>
              <a:t>。</a:t>
            </a:r>
          </a:p>
        </p:txBody>
      </p:sp>
    </p:spTree>
    <p:extLst>
      <p:ext uri="{BB962C8B-B14F-4D97-AF65-F5344CB8AC3E}">
        <p14:creationId xmlns:p14="http://schemas.microsoft.com/office/powerpoint/2010/main" val="3001666899"/>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0499"/>
                                        </p:tgtEl>
                                        <p:attrNameLst>
                                          <p:attrName>style.visibility</p:attrName>
                                        </p:attrNameLst>
                                      </p:cBhvr>
                                      <p:to>
                                        <p:strVal val="visible"/>
                                      </p:to>
                                    </p:set>
                                    <p:animEffect transition="in" filter="wipe(left)">
                                      <p:cBhvr>
                                        <p:cTn id="7" dur="500"/>
                                        <p:tgtEl>
                                          <p:spTgt spid="490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0502"/>
                                        </p:tgtEl>
                                        <p:attrNameLst>
                                          <p:attrName>style.visibility</p:attrName>
                                        </p:attrNameLst>
                                      </p:cBhvr>
                                      <p:to>
                                        <p:strVal val="visible"/>
                                      </p:to>
                                    </p:set>
                                    <p:animEffect transition="in" filter="wipe(left)">
                                      <p:cBhvr>
                                        <p:cTn id="12" dur="500"/>
                                        <p:tgtEl>
                                          <p:spTgt spid="4905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0500"/>
                                        </p:tgtEl>
                                        <p:attrNameLst>
                                          <p:attrName>style.visibility</p:attrName>
                                        </p:attrNameLst>
                                      </p:cBhvr>
                                      <p:to>
                                        <p:strVal val="visible"/>
                                      </p:to>
                                    </p:set>
                                    <p:animEffect transition="in" filter="wipe(left)">
                                      <p:cBhvr>
                                        <p:cTn id="17" dur="500"/>
                                        <p:tgtEl>
                                          <p:spTgt spid="4905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0504"/>
                                        </p:tgtEl>
                                        <p:attrNameLst>
                                          <p:attrName>style.visibility</p:attrName>
                                        </p:attrNameLst>
                                      </p:cBhvr>
                                      <p:to>
                                        <p:strVal val="visible"/>
                                      </p:to>
                                    </p:set>
                                    <p:animEffect transition="in" filter="wipe(left)">
                                      <p:cBhvr>
                                        <p:cTn id="22" dur="500"/>
                                        <p:tgtEl>
                                          <p:spTgt spid="4905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0505"/>
                                        </p:tgtEl>
                                        <p:attrNameLst>
                                          <p:attrName>style.visibility</p:attrName>
                                        </p:attrNameLst>
                                      </p:cBhvr>
                                      <p:to>
                                        <p:strVal val="visible"/>
                                      </p:to>
                                    </p:set>
                                    <p:animEffect transition="in" filter="wipe(left)">
                                      <p:cBhvr>
                                        <p:cTn id="27" dur="500"/>
                                        <p:tgtEl>
                                          <p:spTgt spid="4905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0503"/>
                                        </p:tgtEl>
                                        <p:attrNameLst>
                                          <p:attrName>style.visibility</p:attrName>
                                        </p:attrNameLst>
                                      </p:cBhvr>
                                      <p:to>
                                        <p:strVal val="visible"/>
                                      </p:to>
                                    </p:set>
                                    <p:animEffect transition="in" filter="wipe(left)">
                                      <p:cBhvr>
                                        <p:cTn id="32" dur="500"/>
                                        <p:tgtEl>
                                          <p:spTgt spid="4905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0506">
                                            <p:txEl>
                                              <p:pRg st="0" end="0"/>
                                            </p:txEl>
                                          </p:spTgt>
                                        </p:tgtEl>
                                        <p:attrNameLst>
                                          <p:attrName>style.visibility</p:attrName>
                                        </p:attrNameLst>
                                      </p:cBhvr>
                                      <p:to>
                                        <p:strVal val="visible"/>
                                      </p:to>
                                    </p:set>
                                    <p:animEffect transition="in" filter="wipe(left)">
                                      <p:cBhvr>
                                        <p:cTn id="37" dur="500"/>
                                        <p:tgtEl>
                                          <p:spTgt spid="490506">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90506">
                                            <p:txEl>
                                              <p:pRg st="1" end="1"/>
                                            </p:txEl>
                                          </p:spTgt>
                                        </p:tgtEl>
                                        <p:attrNameLst>
                                          <p:attrName>style.visibility</p:attrName>
                                        </p:attrNameLst>
                                      </p:cBhvr>
                                      <p:to>
                                        <p:strVal val="visible"/>
                                      </p:to>
                                    </p:set>
                                    <p:animEffect transition="in" filter="wipe(left)">
                                      <p:cBhvr>
                                        <p:cTn id="42" dur="500"/>
                                        <p:tgtEl>
                                          <p:spTgt spid="490506">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90506">
                                            <p:txEl>
                                              <p:pRg st="2" end="2"/>
                                            </p:txEl>
                                          </p:spTgt>
                                        </p:tgtEl>
                                        <p:attrNameLst>
                                          <p:attrName>style.visibility</p:attrName>
                                        </p:attrNameLst>
                                      </p:cBhvr>
                                      <p:to>
                                        <p:strVal val="visible"/>
                                      </p:to>
                                    </p:set>
                                    <p:animEffect transition="in" filter="wipe(left)">
                                      <p:cBhvr>
                                        <p:cTn id="47" dur="500"/>
                                        <p:tgtEl>
                                          <p:spTgt spid="490506">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90501">
                                            <p:txEl>
                                              <p:pRg st="0" end="0"/>
                                            </p:txEl>
                                          </p:spTgt>
                                        </p:tgtEl>
                                        <p:attrNameLst>
                                          <p:attrName>style.visibility</p:attrName>
                                        </p:attrNameLst>
                                      </p:cBhvr>
                                      <p:to>
                                        <p:strVal val="visible"/>
                                      </p:to>
                                    </p:set>
                                    <p:animEffect transition="in" filter="wipe(left)">
                                      <p:cBhvr>
                                        <p:cTn id="52" dur="500"/>
                                        <p:tgtEl>
                                          <p:spTgt spid="490501">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90501">
                                            <p:txEl>
                                              <p:pRg st="1" end="1"/>
                                            </p:txEl>
                                          </p:spTgt>
                                        </p:tgtEl>
                                        <p:attrNameLst>
                                          <p:attrName>style.visibility</p:attrName>
                                        </p:attrNameLst>
                                      </p:cBhvr>
                                      <p:to>
                                        <p:strVal val="visible"/>
                                      </p:to>
                                    </p:set>
                                    <p:animEffect transition="in" filter="wipe(left)">
                                      <p:cBhvr>
                                        <p:cTn id="57" dur="500"/>
                                        <p:tgtEl>
                                          <p:spTgt spid="490501">
                                            <p:txEl>
                                              <p:pRg st="1" end="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90501">
                                            <p:txEl>
                                              <p:pRg st="2" end="2"/>
                                            </p:txEl>
                                          </p:spTgt>
                                        </p:tgtEl>
                                        <p:attrNameLst>
                                          <p:attrName>style.visibility</p:attrName>
                                        </p:attrNameLst>
                                      </p:cBhvr>
                                      <p:to>
                                        <p:strVal val="visible"/>
                                      </p:to>
                                    </p:set>
                                    <p:animEffect transition="in" filter="wipe(left)">
                                      <p:cBhvr>
                                        <p:cTn id="62" dur="500"/>
                                        <p:tgtEl>
                                          <p:spTgt spid="4905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9" grpId="0"/>
      <p:bldP spid="490500" grpId="0"/>
      <p:bldP spid="490501" grpId="0" build="p"/>
      <p:bldP spid="490502" grpId="0"/>
      <p:bldP spid="490503" grpId="0"/>
      <p:bldP spid="490504" grpId="0"/>
      <p:bldP spid="490505" grpId="0"/>
      <p:bldP spid="490506"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A81EF999-ECC4-44BB-8D84-39CF968E1B3A}" type="slidenum">
              <a:rPr lang="en-US" altLang="zh-CN" sz="1400"/>
              <a:pPr/>
              <a:t>48</a:t>
            </a:fld>
            <a:endParaRPr lang="en-US" altLang="zh-CN" sz="1400"/>
          </a:p>
        </p:txBody>
      </p:sp>
      <p:sp>
        <p:nvSpPr>
          <p:cNvPr id="48131" name="Text Box 2"/>
          <p:cNvSpPr txBox="1">
            <a:spLocks noChangeArrowheads="1"/>
          </p:cNvSpPr>
          <p:nvPr/>
        </p:nvSpPr>
        <p:spPr bwMode="auto">
          <a:xfrm>
            <a:off x="0" y="0"/>
            <a:ext cx="7902575" cy="6732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en-US" altLang="zh-CN" sz="2800" b="1" dirty="0"/>
              <a:t>Status</a:t>
            </a:r>
            <a:r>
              <a:rPr lang="en-US" altLang="zh-CN" sz="2800" dirty="0"/>
              <a:t> matching(string </a:t>
            </a:r>
            <a:r>
              <a:rPr lang="en-US" altLang="zh-CN" sz="2800" b="1" dirty="0"/>
              <a:t>&amp;</a:t>
            </a:r>
            <a:r>
              <a:rPr lang="en-US" altLang="zh-CN" sz="2800" dirty="0" err="1"/>
              <a:t>exp</a:t>
            </a:r>
            <a:r>
              <a:rPr lang="en-US" altLang="zh-CN" sz="2800" dirty="0"/>
              <a:t>) </a:t>
            </a:r>
            <a:r>
              <a:rPr lang="en-US" altLang="zh-CN" sz="2000" dirty="0">
                <a:solidFill>
                  <a:schemeClr val="folHlink"/>
                </a:solidFill>
              </a:rPr>
              <a:t>//</a:t>
            </a:r>
            <a:r>
              <a:rPr lang="zh-CN" altLang="en-US" sz="2000" dirty="0">
                <a:solidFill>
                  <a:schemeClr val="folHlink"/>
                </a:solidFill>
              </a:rPr>
              <a:t>只有圆括号，调用基本操作</a:t>
            </a:r>
          </a:p>
          <a:p>
            <a:pPr eaLnBrk="1" hangingPunct="1">
              <a:lnSpc>
                <a:spcPct val="110000"/>
              </a:lnSpc>
            </a:pPr>
            <a:endParaRPr lang="zh-CN" altLang="en-US" sz="2000" dirty="0">
              <a:solidFill>
                <a:schemeClr val="folHlink"/>
              </a:solidFill>
            </a:endParaRPr>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endParaRPr lang="zh-CN" altLang="en-US" dirty="0"/>
          </a:p>
          <a:p>
            <a:pPr eaLnBrk="1" hangingPunct="1">
              <a:lnSpc>
                <a:spcPct val="110000"/>
              </a:lnSpc>
            </a:pPr>
            <a:r>
              <a:rPr lang="en-US" altLang="zh-CN" sz="2800" dirty="0"/>
              <a:t>}//matching</a:t>
            </a:r>
          </a:p>
        </p:txBody>
      </p:sp>
      <p:sp>
        <p:nvSpPr>
          <p:cNvPr id="491524" name="Text Box 4"/>
          <p:cNvSpPr txBox="1">
            <a:spLocks noChangeArrowheads="1"/>
          </p:cNvSpPr>
          <p:nvPr/>
        </p:nvSpPr>
        <p:spPr bwMode="auto">
          <a:xfrm>
            <a:off x="116505" y="503238"/>
            <a:ext cx="9027495" cy="599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pPr>
            <a:r>
              <a:rPr lang="en-US" altLang="zh-CN" dirty="0"/>
              <a:t>{</a:t>
            </a:r>
            <a:r>
              <a:rPr lang="en-US" altLang="zh-CN" b="1" dirty="0"/>
              <a:t>  int</a:t>
            </a:r>
            <a:r>
              <a:rPr lang="en-US" altLang="zh-CN" dirty="0"/>
              <a:t> state = 1;  </a:t>
            </a:r>
            <a:r>
              <a:rPr lang="en-US" altLang="zh-CN" dirty="0" err="1"/>
              <a:t>i</a:t>
            </a:r>
            <a:r>
              <a:rPr lang="en-US" altLang="zh-CN" dirty="0"/>
              <a:t> = 1;</a:t>
            </a:r>
          </a:p>
          <a:p>
            <a:pPr eaLnBrk="1" hangingPunct="1">
              <a:lnSpc>
                <a:spcPct val="110000"/>
              </a:lnSpc>
            </a:pPr>
            <a:r>
              <a:rPr lang="en-US" altLang="zh-CN" dirty="0"/>
              <a:t>    </a:t>
            </a:r>
            <a:r>
              <a:rPr lang="en-US" altLang="zh-CN" b="1" dirty="0"/>
              <a:t>while</a:t>
            </a:r>
            <a:r>
              <a:rPr lang="en-US" altLang="zh-CN" dirty="0"/>
              <a:t> (</a:t>
            </a:r>
            <a:r>
              <a:rPr lang="en-US" altLang="zh-CN" dirty="0" err="1"/>
              <a:t>i</a:t>
            </a:r>
            <a:r>
              <a:rPr lang="en-US" altLang="zh-CN" dirty="0"/>
              <a:t>&lt;=Length(</a:t>
            </a:r>
            <a:r>
              <a:rPr lang="en-US" altLang="zh-CN" dirty="0" err="1"/>
              <a:t>exp</a:t>
            </a:r>
            <a:r>
              <a:rPr lang="en-US" altLang="zh-CN" dirty="0"/>
              <a:t>) </a:t>
            </a:r>
            <a:r>
              <a:rPr lang="en-US" altLang="zh-CN" b="1" dirty="0"/>
              <a:t>&amp;&amp;</a:t>
            </a:r>
            <a:r>
              <a:rPr lang="en-US" altLang="zh-CN" dirty="0"/>
              <a:t> state) </a:t>
            </a:r>
          </a:p>
          <a:p>
            <a:pPr eaLnBrk="1" hangingPunct="1">
              <a:lnSpc>
                <a:spcPct val="110000"/>
              </a:lnSpc>
            </a:pPr>
            <a:r>
              <a:rPr lang="en-US" altLang="zh-CN" dirty="0"/>
              <a:t>   {   </a:t>
            </a:r>
            <a:r>
              <a:rPr lang="en-US" altLang="zh-CN" b="1" dirty="0"/>
              <a:t>switch (</a:t>
            </a:r>
            <a:r>
              <a:rPr lang="en-US" altLang="zh-CN" dirty="0" err="1"/>
              <a:t>exp</a:t>
            </a:r>
            <a:r>
              <a:rPr lang="en-US" altLang="zh-CN" dirty="0"/>
              <a:t>[</a:t>
            </a:r>
            <a:r>
              <a:rPr lang="en-US" altLang="zh-CN" dirty="0" err="1"/>
              <a:t>i</a:t>
            </a:r>
            <a:r>
              <a:rPr lang="en-US" altLang="zh-CN" dirty="0"/>
              <a:t>]</a:t>
            </a:r>
            <a:r>
              <a:rPr lang="en-US" altLang="zh-CN" b="1" dirty="0">
                <a:ea typeface="楷体_GB2312" pitchFamily="49" charset="-122"/>
              </a:rPr>
              <a:t>)</a:t>
            </a:r>
            <a:endParaRPr lang="en-US" altLang="zh-CN" dirty="0">
              <a:solidFill>
                <a:srgbClr val="A50021"/>
              </a:solidFill>
            </a:endParaRPr>
          </a:p>
          <a:p>
            <a:pPr eaLnBrk="1" hangingPunct="1">
              <a:lnSpc>
                <a:spcPct val="110000"/>
              </a:lnSpc>
            </a:pPr>
            <a:r>
              <a:rPr lang="en-US" altLang="zh-CN" dirty="0"/>
              <a:t>       </a:t>
            </a:r>
            <a:r>
              <a:rPr lang="en-US" altLang="zh-CN" dirty="0">
                <a:solidFill>
                  <a:srgbClr val="A50021"/>
                </a:solidFill>
              </a:rPr>
              <a:t>{</a:t>
            </a:r>
            <a:r>
              <a:rPr lang="en-US" altLang="zh-CN" dirty="0"/>
              <a:t> </a:t>
            </a:r>
            <a:r>
              <a:rPr lang="en-US" altLang="zh-CN" b="1" dirty="0"/>
              <a:t>case</a:t>
            </a:r>
            <a:r>
              <a:rPr lang="en-US" altLang="zh-CN" dirty="0"/>
              <a:t> </a:t>
            </a:r>
            <a:r>
              <a:rPr lang="en-US" altLang="zh-CN" sz="2800" b="1" dirty="0">
                <a:ea typeface="楷体_GB2312" pitchFamily="49" charset="-122"/>
              </a:rPr>
              <a:t>“</a:t>
            </a:r>
            <a:r>
              <a:rPr lang="en-US" altLang="zh-CN" sz="2800" b="1" dirty="0">
                <a:solidFill>
                  <a:schemeClr val="hlink"/>
                </a:solidFill>
                <a:latin typeface="楷体_GB2312" pitchFamily="49" charset="-122"/>
                <a:ea typeface="楷体_GB2312" pitchFamily="49" charset="-122"/>
              </a:rPr>
              <a:t>(</a:t>
            </a:r>
            <a:r>
              <a:rPr lang="en-US" altLang="zh-CN" sz="2800" b="1" dirty="0">
                <a:ea typeface="楷体_GB2312" pitchFamily="49" charset="-122"/>
              </a:rPr>
              <a:t>”</a:t>
            </a:r>
            <a:r>
              <a:rPr lang="en-US" altLang="zh-CN" b="1" dirty="0">
                <a:latin typeface="楷体_GB2312" pitchFamily="49" charset="-122"/>
                <a:ea typeface="楷体_GB2312" pitchFamily="49" charset="-122"/>
              </a:rPr>
              <a:t>:</a:t>
            </a:r>
            <a:r>
              <a:rPr lang="en-US" altLang="zh-CN" dirty="0"/>
              <a:t>{Push(</a:t>
            </a:r>
            <a:r>
              <a:rPr lang="en-US" altLang="zh-CN" dirty="0" err="1"/>
              <a:t>S,exp</a:t>
            </a:r>
            <a:r>
              <a:rPr lang="en-US" altLang="zh-CN" dirty="0"/>
              <a:t>[</a:t>
            </a:r>
            <a:r>
              <a:rPr lang="en-US" altLang="zh-CN" dirty="0" err="1"/>
              <a:t>i</a:t>
            </a:r>
            <a:r>
              <a:rPr lang="en-US" altLang="zh-CN" dirty="0"/>
              <a:t>]); </a:t>
            </a:r>
            <a:r>
              <a:rPr lang="en-US" altLang="zh-CN" dirty="0" err="1"/>
              <a:t>i</a:t>
            </a:r>
            <a:r>
              <a:rPr lang="en-US" altLang="zh-CN" dirty="0"/>
              <a:t>++; </a:t>
            </a:r>
            <a:r>
              <a:rPr lang="en-US" altLang="zh-CN" b="1" dirty="0"/>
              <a:t>break</a:t>
            </a:r>
            <a:r>
              <a:rPr lang="en-US" altLang="zh-CN" dirty="0"/>
              <a:t>;}</a:t>
            </a:r>
          </a:p>
          <a:p>
            <a:pPr eaLnBrk="1" hangingPunct="1">
              <a:lnSpc>
                <a:spcPct val="110000"/>
              </a:lnSpc>
            </a:pPr>
            <a:r>
              <a:rPr lang="en-US" altLang="zh-CN" dirty="0"/>
              <a:t>         </a:t>
            </a:r>
            <a:r>
              <a:rPr lang="en-US" altLang="zh-CN" b="1" dirty="0"/>
              <a:t>case</a:t>
            </a:r>
            <a:r>
              <a:rPr lang="en-US" altLang="zh-CN" b="1" dirty="0">
                <a:ea typeface="楷体_GB2312" pitchFamily="49" charset="-122"/>
              </a:rPr>
              <a:t>”</a:t>
            </a:r>
            <a:r>
              <a:rPr lang="en-US" altLang="zh-CN" b="1" dirty="0">
                <a:solidFill>
                  <a:schemeClr val="hlink"/>
                </a:solidFill>
                <a:latin typeface="楷体_GB2312" pitchFamily="49" charset="-122"/>
                <a:ea typeface="楷体_GB2312" pitchFamily="49" charset="-122"/>
              </a:rPr>
              <a:t>)</a:t>
            </a:r>
            <a:r>
              <a:rPr lang="en-US" altLang="zh-CN" b="1" dirty="0">
                <a:ea typeface="楷体_GB2312" pitchFamily="49" charset="-122"/>
              </a:rPr>
              <a:t>”</a:t>
            </a:r>
            <a:r>
              <a:rPr lang="en-US" altLang="zh-CN" b="1" dirty="0">
                <a:latin typeface="楷体_GB2312" pitchFamily="49" charset="-122"/>
                <a:ea typeface="楷体_GB2312" pitchFamily="49" charset="-122"/>
              </a:rPr>
              <a:t>:</a:t>
            </a:r>
            <a:r>
              <a:rPr lang="en-US" altLang="zh-CN" dirty="0"/>
              <a:t> </a:t>
            </a:r>
          </a:p>
          <a:p>
            <a:pPr lvl="1" eaLnBrk="1" hangingPunct="1">
              <a:lnSpc>
                <a:spcPct val="110000"/>
              </a:lnSpc>
            </a:pPr>
            <a:r>
              <a:rPr lang="en-US" altLang="zh-CN" sz="3200" dirty="0"/>
              <a:t>   {   </a:t>
            </a:r>
            <a:r>
              <a:rPr lang="en-US" altLang="zh-CN" sz="3200" b="1" dirty="0"/>
              <a:t>if</a:t>
            </a:r>
            <a:r>
              <a:rPr lang="en-US" altLang="zh-CN" sz="3200" dirty="0"/>
              <a:t>(</a:t>
            </a:r>
            <a:r>
              <a:rPr lang="en-US" altLang="zh-CN" sz="3200" b="1" dirty="0"/>
              <a:t>NOT</a:t>
            </a:r>
            <a:r>
              <a:rPr lang="en-US" altLang="zh-CN" sz="3200" dirty="0"/>
              <a:t> </a:t>
            </a:r>
            <a:r>
              <a:rPr lang="en-US" altLang="zh-CN" sz="3200" dirty="0" err="1"/>
              <a:t>stackEmpty</a:t>
            </a:r>
            <a:r>
              <a:rPr lang="en-US" altLang="zh-CN" sz="3200" dirty="0"/>
              <a:t>(S)</a:t>
            </a:r>
            <a:r>
              <a:rPr lang="en-US" altLang="zh-CN" sz="3200" b="1" dirty="0"/>
              <a:t>&amp;&amp;</a:t>
            </a:r>
            <a:r>
              <a:rPr lang="en-US" altLang="zh-CN" sz="3200" dirty="0" err="1"/>
              <a:t>GetTop</a:t>
            </a:r>
            <a:r>
              <a:rPr lang="en-US" altLang="zh-CN" sz="3200" dirty="0"/>
              <a:t>(S)=</a:t>
            </a:r>
            <a:r>
              <a:rPr lang="en-US" altLang="zh-CN" sz="3200" b="1" dirty="0">
                <a:ea typeface="楷体_GB2312" pitchFamily="49" charset="-122"/>
              </a:rPr>
              <a:t>“</a:t>
            </a:r>
            <a:r>
              <a:rPr lang="en-US" altLang="zh-CN" sz="3200" b="1" dirty="0">
                <a:solidFill>
                  <a:schemeClr val="hlink"/>
                </a:solidFill>
                <a:latin typeface="楷体_GB2312" pitchFamily="49" charset="-122"/>
                <a:ea typeface="楷体_GB2312" pitchFamily="49" charset="-122"/>
              </a:rPr>
              <a:t>(</a:t>
            </a:r>
            <a:r>
              <a:rPr lang="en-US" altLang="zh-CN" sz="3200" b="1" dirty="0">
                <a:ea typeface="楷体_GB2312" pitchFamily="49" charset="-122"/>
              </a:rPr>
              <a:t>“</a:t>
            </a:r>
            <a:r>
              <a:rPr lang="en-US" altLang="zh-CN" sz="3200" b="1" dirty="0">
                <a:latin typeface="楷体_GB2312" pitchFamily="49" charset="-122"/>
                <a:ea typeface="楷体_GB2312" pitchFamily="49" charset="-122"/>
              </a:rPr>
              <a:t> )</a:t>
            </a:r>
          </a:p>
          <a:p>
            <a:pPr lvl="1" eaLnBrk="1" hangingPunct="1">
              <a:lnSpc>
                <a:spcPct val="110000"/>
              </a:lnSpc>
            </a:pPr>
            <a:r>
              <a:rPr lang="en-US" altLang="zh-CN" sz="3200" dirty="0"/>
              <a:t>               {Pop(</a:t>
            </a:r>
            <a:r>
              <a:rPr lang="en-US" altLang="zh-CN" sz="3200" dirty="0" err="1"/>
              <a:t>S,e</a:t>
            </a:r>
            <a:r>
              <a:rPr lang="en-US" altLang="zh-CN" sz="3200" dirty="0"/>
              <a:t>); </a:t>
            </a:r>
            <a:r>
              <a:rPr lang="en-US" altLang="zh-CN" sz="3200" dirty="0" err="1"/>
              <a:t>i</a:t>
            </a:r>
            <a:r>
              <a:rPr lang="en-US" altLang="zh-CN" sz="3200" dirty="0"/>
              <a:t>++;}</a:t>
            </a:r>
          </a:p>
          <a:p>
            <a:pPr lvl="1" eaLnBrk="1" hangingPunct="1">
              <a:lnSpc>
                <a:spcPct val="110000"/>
              </a:lnSpc>
            </a:pPr>
            <a:r>
              <a:rPr lang="en-US" altLang="zh-CN" sz="3200" dirty="0"/>
              <a:t>        </a:t>
            </a:r>
            <a:r>
              <a:rPr lang="en-US" altLang="zh-CN" sz="3200" b="1" dirty="0"/>
              <a:t>else</a:t>
            </a:r>
            <a:r>
              <a:rPr lang="en-US" altLang="zh-CN" sz="3200" dirty="0"/>
              <a:t> state = 0; </a:t>
            </a:r>
            <a:r>
              <a:rPr lang="en-US" altLang="zh-CN" sz="3200" b="1" dirty="0"/>
              <a:t>break</a:t>
            </a:r>
            <a:r>
              <a:rPr lang="en-US" altLang="zh-CN" sz="3200" dirty="0"/>
              <a:t>;} </a:t>
            </a:r>
            <a:r>
              <a:rPr lang="en-US" altLang="zh-CN" sz="2000" b="1" dirty="0">
                <a:solidFill>
                  <a:srgbClr val="006600"/>
                </a:solidFill>
              </a:rPr>
              <a:t>//</a:t>
            </a:r>
            <a:r>
              <a:rPr lang="zh-CN" altLang="en-US" sz="2000" b="1" dirty="0">
                <a:solidFill>
                  <a:srgbClr val="006600"/>
                </a:solidFill>
              </a:rPr>
              <a:t>表示不匹配</a:t>
            </a:r>
          </a:p>
          <a:p>
            <a:pPr eaLnBrk="1" hangingPunct="1">
              <a:lnSpc>
                <a:spcPct val="110000"/>
              </a:lnSpc>
            </a:pPr>
            <a:r>
              <a:rPr lang="zh-CN" altLang="en-US" dirty="0"/>
              <a:t>         </a:t>
            </a:r>
            <a:r>
              <a:rPr lang="en-US" altLang="zh-CN" b="1" dirty="0"/>
              <a:t>default</a:t>
            </a:r>
            <a:r>
              <a:rPr lang="zh-CN" altLang="en-US" b="1" dirty="0"/>
              <a:t>：</a:t>
            </a:r>
            <a:r>
              <a:rPr lang="en-US" altLang="zh-CN" b="1" dirty="0"/>
              <a:t>{</a:t>
            </a:r>
            <a:r>
              <a:rPr lang="en-US" altLang="zh-CN" sz="2400" dirty="0"/>
              <a:t> </a:t>
            </a:r>
            <a:r>
              <a:rPr lang="en-US" altLang="zh-CN" dirty="0"/>
              <a:t>state = 0; </a:t>
            </a:r>
            <a:r>
              <a:rPr lang="en-US" altLang="zh-CN" b="1" dirty="0"/>
              <a:t>break</a:t>
            </a:r>
            <a:r>
              <a:rPr lang="en-US" altLang="zh-CN" dirty="0"/>
              <a:t>; } </a:t>
            </a:r>
            <a:r>
              <a:rPr lang="en-US" altLang="zh-CN" dirty="0">
                <a:solidFill>
                  <a:srgbClr val="A50021"/>
                </a:solidFill>
              </a:rPr>
              <a:t>}</a:t>
            </a:r>
            <a:endParaRPr lang="en-US" altLang="zh-CN" dirty="0"/>
          </a:p>
          <a:p>
            <a:pPr eaLnBrk="1" hangingPunct="1">
              <a:lnSpc>
                <a:spcPct val="110000"/>
              </a:lnSpc>
            </a:pPr>
            <a:r>
              <a:rPr lang="en-US" altLang="zh-CN" b="1" dirty="0"/>
              <a:t>  if</a:t>
            </a:r>
            <a:r>
              <a:rPr lang="en-US" altLang="zh-CN" dirty="0"/>
              <a:t> (</a:t>
            </a:r>
            <a:r>
              <a:rPr lang="en-US" altLang="zh-CN" dirty="0" err="1"/>
              <a:t>StackEmpty</a:t>
            </a:r>
            <a:r>
              <a:rPr lang="en-US" altLang="zh-CN" dirty="0"/>
              <a:t>(S)</a:t>
            </a:r>
            <a:r>
              <a:rPr lang="en-US" altLang="zh-CN" b="1" dirty="0"/>
              <a:t>&amp;&amp;</a:t>
            </a:r>
            <a:r>
              <a:rPr lang="en-US" altLang="zh-CN" dirty="0"/>
              <a:t>state) </a:t>
            </a:r>
            <a:r>
              <a:rPr lang="en-US" altLang="zh-CN" b="1" dirty="0"/>
              <a:t>return</a:t>
            </a:r>
            <a:r>
              <a:rPr lang="en-US" altLang="zh-CN" dirty="0"/>
              <a:t> </a:t>
            </a:r>
            <a:r>
              <a:rPr lang="en-US" altLang="zh-CN" dirty="0">
                <a:solidFill>
                  <a:schemeClr val="hlink"/>
                </a:solidFill>
              </a:rPr>
              <a:t>OK</a:t>
            </a:r>
            <a:r>
              <a:rPr lang="en-US" altLang="zh-CN" dirty="0"/>
              <a:t>;</a:t>
            </a:r>
          </a:p>
          <a:p>
            <a:pPr lvl="1" eaLnBrk="1" hangingPunct="1">
              <a:lnSpc>
                <a:spcPct val="110000"/>
              </a:lnSpc>
            </a:pPr>
            <a:r>
              <a:rPr lang="en-US" altLang="zh-CN" sz="3200" dirty="0"/>
              <a:t>    </a:t>
            </a:r>
            <a:r>
              <a:rPr lang="en-US" altLang="zh-CN" sz="3200" b="1" dirty="0"/>
              <a:t>else</a:t>
            </a:r>
            <a:r>
              <a:rPr lang="en-US" altLang="zh-CN" sz="3200" dirty="0"/>
              <a:t> </a:t>
            </a:r>
            <a:r>
              <a:rPr lang="en-US" altLang="zh-CN" sz="3200" b="1" dirty="0"/>
              <a:t>return</a:t>
            </a:r>
            <a:r>
              <a:rPr lang="en-US" altLang="zh-CN" sz="3200" dirty="0"/>
              <a:t> ERROR </a:t>
            </a:r>
          </a:p>
        </p:txBody>
      </p:sp>
    </p:spTree>
    <p:extLst>
      <p:ext uri="{BB962C8B-B14F-4D97-AF65-F5344CB8AC3E}">
        <p14:creationId xmlns:p14="http://schemas.microsoft.com/office/powerpoint/2010/main" val="1536255644"/>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24">
                                            <p:txEl>
                                              <p:pRg st="0" end="0"/>
                                            </p:txEl>
                                          </p:spTgt>
                                        </p:tgtEl>
                                        <p:attrNameLst>
                                          <p:attrName>style.visibility</p:attrName>
                                        </p:attrNameLst>
                                      </p:cBhvr>
                                      <p:to>
                                        <p:strVal val="visible"/>
                                      </p:to>
                                    </p:set>
                                    <p:animEffect transition="in" filter="dissolve">
                                      <p:cBhvr>
                                        <p:cTn id="7" dur="500"/>
                                        <p:tgtEl>
                                          <p:spTgt spid="491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1524">
                                            <p:txEl>
                                              <p:pRg st="1" end="1"/>
                                            </p:txEl>
                                          </p:spTgt>
                                        </p:tgtEl>
                                        <p:attrNameLst>
                                          <p:attrName>style.visibility</p:attrName>
                                        </p:attrNameLst>
                                      </p:cBhvr>
                                      <p:to>
                                        <p:strVal val="visible"/>
                                      </p:to>
                                    </p:set>
                                    <p:animEffect transition="in" filter="dissolve">
                                      <p:cBhvr>
                                        <p:cTn id="12" dur="500"/>
                                        <p:tgtEl>
                                          <p:spTgt spid="49152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1524">
                                            <p:txEl>
                                              <p:pRg st="2" end="2"/>
                                            </p:txEl>
                                          </p:spTgt>
                                        </p:tgtEl>
                                        <p:attrNameLst>
                                          <p:attrName>style.visibility</p:attrName>
                                        </p:attrNameLst>
                                      </p:cBhvr>
                                      <p:to>
                                        <p:strVal val="visible"/>
                                      </p:to>
                                    </p:set>
                                    <p:animEffect transition="in" filter="dissolve">
                                      <p:cBhvr>
                                        <p:cTn id="17" dur="500"/>
                                        <p:tgtEl>
                                          <p:spTgt spid="49152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1524">
                                            <p:txEl>
                                              <p:pRg st="3" end="3"/>
                                            </p:txEl>
                                          </p:spTgt>
                                        </p:tgtEl>
                                        <p:attrNameLst>
                                          <p:attrName>style.visibility</p:attrName>
                                        </p:attrNameLst>
                                      </p:cBhvr>
                                      <p:to>
                                        <p:strVal val="visible"/>
                                      </p:to>
                                    </p:set>
                                    <p:animEffect transition="in" filter="dissolve">
                                      <p:cBhvr>
                                        <p:cTn id="22" dur="500"/>
                                        <p:tgtEl>
                                          <p:spTgt spid="49152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1524">
                                            <p:txEl>
                                              <p:pRg st="4" end="4"/>
                                            </p:txEl>
                                          </p:spTgt>
                                        </p:tgtEl>
                                        <p:attrNameLst>
                                          <p:attrName>style.visibility</p:attrName>
                                        </p:attrNameLst>
                                      </p:cBhvr>
                                      <p:to>
                                        <p:strVal val="visible"/>
                                      </p:to>
                                    </p:set>
                                    <p:animEffect transition="in" filter="dissolve">
                                      <p:cBhvr>
                                        <p:cTn id="27" dur="500"/>
                                        <p:tgtEl>
                                          <p:spTgt spid="491524">
                                            <p:txEl>
                                              <p:pRg st="4" end="4"/>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491524">
                                            <p:txEl>
                                              <p:pRg st="5" end="5"/>
                                            </p:txEl>
                                          </p:spTgt>
                                        </p:tgtEl>
                                        <p:attrNameLst>
                                          <p:attrName>style.visibility</p:attrName>
                                        </p:attrNameLst>
                                      </p:cBhvr>
                                      <p:to>
                                        <p:strVal val="visible"/>
                                      </p:to>
                                    </p:set>
                                    <p:animEffect transition="in" filter="dissolve">
                                      <p:cBhvr>
                                        <p:cTn id="30" dur="500"/>
                                        <p:tgtEl>
                                          <p:spTgt spid="491524">
                                            <p:txEl>
                                              <p:pRg st="5" end="5"/>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491524">
                                            <p:txEl>
                                              <p:pRg st="6" end="6"/>
                                            </p:txEl>
                                          </p:spTgt>
                                        </p:tgtEl>
                                        <p:attrNameLst>
                                          <p:attrName>style.visibility</p:attrName>
                                        </p:attrNameLst>
                                      </p:cBhvr>
                                      <p:to>
                                        <p:strVal val="visible"/>
                                      </p:to>
                                    </p:set>
                                    <p:animEffect transition="in" filter="dissolve">
                                      <p:cBhvr>
                                        <p:cTn id="33" dur="500"/>
                                        <p:tgtEl>
                                          <p:spTgt spid="491524">
                                            <p:txEl>
                                              <p:pRg st="6" end="6"/>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491524">
                                            <p:txEl>
                                              <p:pRg st="7" end="7"/>
                                            </p:txEl>
                                          </p:spTgt>
                                        </p:tgtEl>
                                        <p:attrNameLst>
                                          <p:attrName>style.visibility</p:attrName>
                                        </p:attrNameLst>
                                      </p:cBhvr>
                                      <p:to>
                                        <p:strVal val="visible"/>
                                      </p:to>
                                    </p:set>
                                    <p:animEffect transition="in" filter="dissolve">
                                      <p:cBhvr>
                                        <p:cTn id="36" dur="500"/>
                                        <p:tgtEl>
                                          <p:spTgt spid="491524">
                                            <p:txEl>
                                              <p:pRg st="7" end="7"/>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91524">
                                            <p:txEl>
                                              <p:pRg st="8" end="8"/>
                                            </p:txEl>
                                          </p:spTgt>
                                        </p:tgtEl>
                                        <p:attrNameLst>
                                          <p:attrName>style.visibility</p:attrName>
                                        </p:attrNameLst>
                                      </p:cBhvr>
                                      <p:to>
                                        <p:strVal val="visible"/>
                                      </p:to>
                                    </p:set>
                                    <p:animEffect transition="in" filter="dissolve">
                                      <p:cBhvr>
                                        <p:cTn id="41" dur="500"/>
                                        <p:tgtEl>
                                          <p:spTgt spid="491524">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491524">
                                            <p:txEl>
                                              <p:pRg st="9" end="9"/>
                                            </p:txEl>
                                          </p:spTgt>
                                        </p:tgtEl>
                                        <p:attrNameLst>
                                          <p:attrName>style.visibility</p:attrName>
                                        </p:attrNameLst>
                                      </p:cBhvr>
                                      <p:to>
                                        <p:strVal val="visible"/>
                                      </p:to>
                                    </p:set>
                                    <p:animEffect transition="in" filter="dissolve">
                                      <p:cBhvr>
                                        <p:cTn id="46" dur="500"/>
                                        <p:tgtEl>
                                          <p:spTgt spid="491524">
                                            <p:txEl>
                                              <p:pRg st="9" end="9"/>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91524">
                                            <p:txEl>
                                              <p:pRg st="10" end="10"/>
                                            </p:txEl>
                                          </p:spTgt>
                                        </p:tgtEl>
                                        <p:attrNameLst>
                                          <p:attrName>style.visibility</p:attrName>
                                        </p:attrNameLst>
                                      </p:cBhvr>
                                      <p:to>
                                        <p:strVal val="visible"/>
                                      </p:to>
                                    </p:set>
                                    <p:animEffect transition="in" filter="dissolve">
                                      <p:cBhvr>
                                        <p:cTn id="49" dur="500"/>
                                        <p:tgtEl>
                                          <p:spTgt spid="49152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4"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C660029-16EB-46C6-AD4E-57382B191138}" type="slidenum">
              <a:rPr lang="en-US" altLang="zh-CN" sz="1400"/>
              <a:pPr/>
              <a:t>49</a:t>
            </a:fld>
            <a:endParaRPr lang="en-US" altLang="zh-CN" sz="1400"/>
          </a:p>
        </p:txBody>
      </p:sp>
      <p:sp>
        <p:nvSpPr>
          <p:cNvPr id="50179" name="Text Box 2"/>
          <p:cNvSpPr txBox="1">
            <a:spLocks noChangeArrowheads="1"/>
          </p:cNvSpPr>
          <p:nvPr/>
        </p:nvSpPr>
        <p:spPr bwMode="auto">
          <a:xfrm>
            <a:off x="657225" y="0"/>
            <a:ext cx="704215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5400" b="1">
                <a:solidFill>
                  <a:srgbClr val="FF5050"/>
                </a:solidFill>
                <a:ea typeface="楷体_GB2312" pitchFamily="49" charset="-122"/>
              </a:rPr>
              <a:t>例三、行编辑程序问题</a:t>
            </a:r>
            <a:endParaRPr lang="zh-CN" altLang="en-US" sz="5400" b="1">
              <a:ea typeface="楷体_GB2312" pitchFamily="49" charset="-122"/>
            </a:endParaRPr>
          </a:p>
        </p:txBody>
      </p:sp>
      <p:sp>
        <p:nvSpPr>
          <p:cNvPr id="493571" name="Rectangle 3"/>
          <p:cNvSpPr>
            <a:spLocks noChangeArrowheads="1"/>
          </p:cNvSpPr>
          <p:nvPr/>
        </p:nvSpPr>
        <p:spPr bwMode="auto">
          <a:xfrm>
            <a:off x="522288" y="1268413"/>
            <a:ext cx="82296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50000"/>
              </a:spcBef>
            </a:pPr>
            <a:r>
              <a:rPr lang="en-US" altLang="zh-CN" sz="2800" b="1">
                <a:ea typeface="楷体_GB2312" pitchFamily="49" charset="-122"/>
              </a:rPr>
              <a:t>        </a:t>
            </a:r>
            <a:r>
              <a:rPr lang="zh-CN" altLang="en-US" sz="2800" b="1">
                <a:ea typeface="楷体_GB2312" pitchFamily="49" charset="-122"/>
              </a:rPr>
              <a:t>一个简单的行编辑程序的功能是：接收用户从终端输入的程序或数据，并存入用户的数据区。</a:t>
            </a:r>
          </a:p>
        </p:txBody>
      </p:sp>
      <p:sp>
        <p:nvSpPr>
          <p:cNvPr id="493572" name="Text Box 4"/>
          <p:cNvSpPr txBox="1">
            <a:spLocks noChangeArrowheads="1"/>
          </p:cNvSpPr>
          <p:nvPr/>
        </p:nvSpPr>
        <p:spPr bwMode="auto">
          <a:xfrm>
            <a:off x="296863" y="2619375"/>
            <a:ext cx="297815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400" b="1">
                <a:solidFill>
                  <a:srgbClr val="660033"/>
                </a:solidFill>
                <a:ea typeface="楷体_GB2312" pitchFamily="49" charset="-122"/>
              </a:rPr>
              <a:t>如何实现？</a:t>
            </a:r>
            <a:endParaRPr lang="zh-CN" altLang="en-US" sz="4400" b="1">
              <a:ea typeface="楷体_GB2312" pitchFamily="49" charset="-122"/>
            </a:endParaRPr>
          </a:p>
        </p:txBody>
      </p:sp>
      <p:sp>
        <p:nvSpPr>
          <p:cNvPr id="493573" name="Text Box 5"/>
          <p:cNvSpPr txBox="1">
            <a:spLocks noChangeArrowheads="1"/>
          </p:cNvSpPr>
          <p:nvPr/>
        </p:nvSpPr>
        <p:spPr bwMode="auto">
          <a:xfrm>
            <a:off x="701675" y="3384550"/>
            <a:ext cx="8159606" cy="707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b="1" dirty="0">
                <a:ea typeface="楷体_GB2312" pitchFamily="49" charset="-122"/>
              </a:rPr>
              <a:t>“</a:t>
            </a:r>
            <a:r>
              <a:rPr lang="zh-CN" altLang="en-US" sz="4000" b="1" dirty="0">
                <a:ea typeface="楷体_GB2312" pitchFamily="49" charset="-122"/>
              </a:rPr>
              <a:t>每接受一个字符即存入存储器”？</a:t>
            </a:r>
            <a:endParaRPr lang="en-US" altLang="zh-CN" sz="4000" dirty="0">
              <a:ea typeface="楷体_GB2312" pitchFamily="49" charset="-122"/>
            </a:endParaRPr>
          </a:p>
        </p:txBody>
      </p:sp>
      <p:sp>
        <p:nvSpPr>
          <p:cNvPr id="493574" name="Rectangle 6"/>
          <p:cNvSpPr>
            <a:spLocks noChangeArrowheads="1"/>
          </p:cNvSpPr>
          <p:nvPr/>
        </p:nvSpPr>
        <p:spPr bwMode="auto">
          <a:xfrm>
            <a:off x="551161" y="4329100"/>
            <a:ext cx="822960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50000"/>
              </a:spcBef>
            </a:pPr>
            <a:r>
              <a:rPr lang="zh-CN" altLang="en-US" sz="2800" b="1" dirty="0">
                <a:ea typeface="楷体_GB2312" pitchFamily="49" charset="-122"/>
              </a:rPr>
              <a:t>由于用户在终端上进行输入时，不能保证不出差错，因此，若在编辑程序中，“每接收一个字符即存入用户数据区”的做法显然不是最恰当的。</a:t>
            </a:r>
          </a:p>
        </p:txBody>
      </p:sp>
    </p:spTree>
    <p:extLst>
      <p:ext uri="{BB962C8B-B14F-4D97-AF65-F5344CB8AC3E}">
        <p14:creationId xmlns:p14="http://schemas.microsoft.com/office/powerpoint/2010/main" val="966257046"/>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3571">
                                            <p:txEl>
                                              <p:pRg st="0" end="0"/>
                                            </p:txEl>
                                          </p:spTgt>
                                        </p:tgtEl>
                                        <p:attrNameLst>
                                          <p:attrName>style.visibility</p:attrName>
                                        </p:attrNameLst>
                                      </p:cBhvr>
                                      <p:to>
                                        <p:strVal val="visible"/>
                                      </p:to>
                                    </p:set>
                                    <p:anim calcmode="lin" valueType="num">
                                      <p:cBhvr additive="base">
                                        <p:cTn id="7" dur="500" fill="hold"/>
                                        <p:tgtEl>
                                          <p:spTgt spid="4935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35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93572"/>
                                        </p:tgtEl>
                                        <p:attrNameLst>
                                          <p:attrName>style.visibility</p:attrName>
                                        </p:attrNameLst>
                                      </p:cBhvr>
                                      <p:to>
                                        <p:strVal val="visible"/>
                                      </p:to>
                                    </p:set>
                                    <p:animEffect transition="in" filter="wipe(left)">
                                      <p:cBhvr>
                                        <p:cTn id="13" dur="500"/>
                                        <p:tgtEl>
                                          <p:spTgt spid="4935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93573"/>
                                        </p:tgtEl>
                                        <p:attrNameLst>
                                          <p:attrName>style.visibility</p:attrName>
                                        </p:attrNameLst>
                                      </p:cBhvr>
                                      <p:to>
                                        <p:strVal val="visible"/>
                                      </p:to>
                                    </p:set>
                                    <p:animEffect transition="in" filter="wipe(left)">
                                      <p:cBhvr>
                                        <p:cTn id="18" dur="500"/>
                                        <p:tgtEl>
                                          <p:spTgt spid="4935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93574">
                                            <p:txEl>
                                              <p:pRg st="0" end="0"/>
                                            </p:txEl>
                                          </p:spTgt>
                                        </p:tgtEl>
                                        <p:attrNameLst>
                                          <p:attrName>style.visibility</p:attrName>
                                        </p:attrNameLst>
                                      </p:cBhvr>
                                      <p:to>
                                        <p:strVal val="visible"/>
                                      </p:to>
                                    </p:set>
                                    <p:anim calcmode="lin" valueType="num">
                                      <p:cBhvr additive="base">
                                        <p:cTn id="23" dur="500" fill="hold"/>
                                        <p:tgtEl>
                                          <p:spTgt spid="493574">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9357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1" grpId="0" build="p"/>
      <p:bldP spid="493572" grpId="0" autoUpdateAnimBg="0"/>
      <p:bldP spid="493573" grpId="0" autoUpdateAnimBg="0"/>
      <p:bldP spid="493574"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546A2B1-9902-4FCE-9D31-D21963E83B79}" type="slidenum">
              <a:rPr lang="en-US" altLang="zh-CN" sz="1400"/>
              <a:pPr/>
              <a:t>50</a:t>
            </a:fld>
            <a:endParaRPr lang="en-US" altLang="zh-CN" sz="1400"/>
          </a:p>
        </p:txBody>
      </p:sp>
      <p:sp>
        <p:nvSpPr>
          <p:cNvPr id="494594" name="Text Box 2"/>
          <p:cNvSpPr txBox="1">
            <a:spLocks noChangeArrowheads="1"/>
          </p:cNvSpPr>
          <p:nvPr/>
        </p:nvSpPr>
        <p:spPr bwMode="auto">
          <a:xfrm>
            <a:off x="250825" y="3563938"/>
            <a:ext cx="8364538"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pPr>
            <a:r>
              <a:rPr lang="en-US" altLang="zh-CN" b="1">
                <a:solidFill>
                  <a:srgbClr val="660033"/>
                </a:solidFill>
                <a:ea typeface="楷体_GB2312" pitchFamily="49" charset="-122"/>
              </a:rPr>
              <a:t>        </a:t>
            </a:r>
            <a:r>
              <a:rPr lang="zh-CN" altLang="en-US" b="1">
                <a:solidFill>
                  <a:srgbClr val="660033"/>
                </a:solidFill>
                <a:ea typeface="楷体_GB2312" pitchFamily="49" charset="-122"/>
              </a:rPr>
              <a:t>实现：设立一个输入缓冲区，用以接受用户输入的一行字符，然后</a:t>
            </a:r>
            <a:r>
              <a:rPr lang="zh-CN" altLang="en-US" b="1">
                <a:ea typeface="楷体_GB2312" pitchFamily="49" charset="-122"/>
              </a:rPr>
              <a:t>逐行存入</a:t>
            </a:r>
            <a:r>
              <a:rPr lang="zh-CN" altLang="en-US" b="1">
                <a:solidFill>
                  <a:srgbClr val="660033"/>
                </a:solidFill>
                <a:ea typeface="楷体_GB2312" pitchFamily="49" charset="-122"/>
              </a:rPr>
              <a:t>用户数据区，并假设“</a:t>
            </a:r>
            <a:r>
              <a:rPr lang="en-US" altLang="zh-CN" b="1">
                <a:solidFill>
                  <a:srgbClr val="660033"/>
                </a:solidFill>
                <a:ea typeface="楷体_GB2312" pitchFamily="49" charset="-122"/>
              </a:rPr>
              <a:t>#”</a:t>
            </a:r>
            <a:r>
              <a:rPr lang="zh-CN" altLang="en-US" b="1">
                <a:solidFill>
                  <a:srgbClr val="660033"/>
                </a:solidFill>
                <a:ea typeface="楷体_GB2312" pitchFamily="49" charset="-122"/>
              </a:rPr>
              <a:t>为</a:t>
            </a:r>
            <a:r>
              <a:rPr lang="zh-CN" altLang="en-US" b="1">
                <a:solidFill>
                  <a:schemeClr val="hlink"/>
                </a:solidFill>
                <a:ea typeface="楷体_GB2312" pitchFamily="49" charset="-122"/>
              </a:rPr>
              <a:t>退格符</a:t>
            </a:r>
            <a:r>
              <a:rPr lang="zh-CN" altLang="en-US" b="1">
                <a:solidFill>
                  <a:srgbClr val="660033"/>
                </a:solidFill>
                <a:ea typeface="楷体_GB2312" pitchFamily="49" charset="-122"/>
              </a:rPr>
              <a:t>（</a:t>
            </a:r>
            <a:r>
              <a:rPr lang="zh-CN" altLang="en-US" sz="2800" b="1">
                <a:solidFill>
                  <a:srgbClr val="660033"/>
                </a:solidFill>
                <a:ea typeface="楷体_GB2312" pitchFamily="49" charset="-122"/>
              </a:rPr>
              <a:t>前一个字符无效</a:t>
            </a:r>
            <a:r>
              <a:rPr lang="zh-CN" altLang="en-US" b="1">
                <a:solidFill>
                  <a:srgbClr val="660033"/>
                </a:solidFill>
                <a:ea typeface="楷体_GB2312" pitchFamily="49" charset="-122"/>
              </a:rPr>
              <a:t>），“</a:t>
            </a:r>
            <a:r>
              <a:rPr lang="en-US" altLang="zh-CN" b="1">
                <a:solidFill>
                  <a:srgbClr val="660033"/>
                </a:solidFill>
                <a:ea typeface="楷体_GB2312" pitchFamily="49" charset="-122"/>
              </a:rPr>
              <a:t>@”</a:t>
            </a:r>
            <a:r>
              <a:rPr lang="zh-CN" altLang="en-US" b="1">
                <a:solidFill>
                  <a:srgbClr val="660033"/>
                </a:solidFill>
                <a:ea typeface="楷体_GB2312" pitchFamily="49" charset="-122"/>
              </a:rPr>
              <a:t>为</a:t>
            </a:r>
            <a:r>
              <a:rPr lang="zh-CN" altLang="en-US" b="1">
                <a:solidFill>
                  <a:schemeClr val="hlink"/>
                </a:solidFill>
                <a:ea typeface="楷体_GB2312" pitchFamily="49" charset="-122"/>
              </a:rPr>
              <a:t>退行符</a:t>
            </a:r>
            <a:r>
              <a:rPr lang="zh-CN" altLang="en-US" b="1">
                <a:solidFill>
                  <a:srgbClr val="660033"/>
                </a:solidFill>
                <a:ea typeface="楷体_GB2312" pitchFamily="49" charset="-122"/>
              </a:rPr>
              <a:t>。</a:t>
            </a:r>
            <a:endParaRPr lang="zh-CN" altLang="en-US" sz="1800" b="1">
              <a:ea typeface="楷体_GB2312" pitchFamily="49" charset="-122"/>
            </a:endParaRPr>
          </a:p>
        </p:txBody>
      </p:sp>
      <p:sp>
        <p:nvSpPr>
          <p:cNvPr id="51204" name="Text Box 3"/>
          <p:cNvSpPr txBox="1">
            <a:spLocks noChangeArrowheads="1"/>
          </p:cNvSpPr>
          <p:nvPr/>
        </p:nvSpPr>
        <p:spPr bwMode="auto">
          <a:xfrm>
            <a:off x="296863" y="323850"/>
            <a:ext cx="3049587"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b="1">
                <a:solidFill>
                  <a:srgbClr val="FF0000"/>
                </a:solidFill>
                <a:ea typeface="楷体_GB2312" pitchFamily="49" charset="-122"/>
              </a:rPr>
              <a:t>合理的作法是：</a:t>
            </a:r>
            <a:endParaRPr lang="zh-CN" altLang="en-US" b="1">
              <a:ea typeface="楷体_GB2312" pitchFamily="49" charset="-122"/>
            </a:endParaRPr>
          </a:p>
        </p:txBody>
      </p:sp>
      <p:sp>
        <p:nvSpPr>
          <p:cNvPr id="51205" name="Text Box 4"/>
          <p:cNvSpPr txBox="1">
            <a:spLocks noChangeArrowheads="1"/>
          </p:cNvSpPr>
          <p:nvPr/>
        </p:nvSpPr>
        <p:spPr bwMode="auto">
          <a:xfrm>
            <a:off x="566738" y="954088"/>
            <a:ext cx="8058150" cy="2287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pPr>
            <a:r>
              <a:rPr lang="en-US" altLang="zh-CN" sz="4000" b="1">
                <a:ea typeface="楷体_GB2312" pitchFamily="49" charset="-122"/>
              </a:rPr>
              <a:t>      </a:t>
            </a:r>
            <a:r>
              <a:rPr lang="zh-CN" altLang="en-US" sz="4000" b="1">
                <a:ea typeface="楷体_GB2312" pitchFamily="49" charset="-122"/>
              </a:rPr>
              <a:t>在用户输入一行的过程中，允许</a:t>
            </a:r>
          </a:p>
          <a:p>
            <a:pPr>
              <a:lnSpc>
                <a:spcPct val="120000"/>
              </a:lnSpc>
            </a:pPr>
            <a:r>
              <a:rPr lang="zh-CN" altLang="en-US" sz="4000" b="1">
                <a:ea typeface="楷体_GB2312" pitchFamily="49" charset="-122"/>
              </a:rPr>
              <a:t>  用户输入出差错，并在发现有误时</a:t>
            </a:r>
          </a:p>
          <a:p>
            <a:pPr>
              <a:lnSpc>
                <a:spcPct val="120000"/>
              </a:lnSpc>
            </a:pPr>
            <a:r>
              <a:rPr lang="zh-CN" altLang="en-US" sz="4000" b="1">
                <a:ea typeface="楷体_GB2312" pitchFamily="49" charset="-122"/>
              </a:rPr>
              <a:t>  可以及时更正。</a:t>
            </a:r>
            <a:endParaRPr lang="zh-CN" altLang="en-US" sz="2400" b="1">
              <a:ea typeface="楷体_GB2312" pitchFamily="49" charset="-122"/>
            </a:endParaRPr>
          </a:p>
        </p:txBody>
      </p:sp>
    </p:spTree>
    <p:extLst>
      <p:ext uri="{BB962C8B-B14F-4D97-AF65-F5344CB8AC3E}">
        <p14:creationId xmlns:p14="http://schemas.microsoft.com/office/powerpoint/2010/main" val="754994133"/>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94594"/>
                                        </p:tgtEl>
                                        <p:attrNameLst>
                                          <p:attrName>style.visibility</p:attrName>
                                        </p:attrNameLst>
                                      </p:cBhvr>
                                      <p:to>
                                        <p:strVal val="visible"/>
                                      </p:to>
                                    </p:set>
                                    <p:anim calcmode="discrete" valueType="clr">
                                      <p:cBhvr override="childStyle">
                                        <p:cTn id="7" dur="80"/>
                                        <p:tgtEl>
                                          <p:spTgt spid="49459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94594"/>
                                        </p:tgtEl>
                                        <p:attrNameLst>
                                          <p:attrName>fillcolor</p:attrName>
                                        </p:attrNameLst>
                                      </p:cBhvr>
                                      <p:tavLst>
                                        <p:tav tm="0">
                                          <p:val>
                                            <p:clrVal>
                                              <a:schemeClr val="accent2"/>
                                            </p:clrVal>
                                          </p:val>
                                        </p:tav>
                                        <p:tav tm="50000">
                                          <p:val>
                                            <p:clrVal>
                                              <a:schemeClr val="hlink"/>
                                            </p:clrVal>
                                          </p:val>
                                        </p:tav>
                                      </p:tavLst>
                                    </p:anim>
                                    <p:set>
                                      <p:cBhvr>
                                        <p:cTn id="9" dur="80"/>
                                        <p:tgtEl>
                                          <p:spTgt spid="49459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4"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E140F00A-1B00-47F2-9D87-A175A797AD27}" type="slidenum">
              <a:rPr lang="en-US" altLang="zh-CN" sz="1400"/>
              <a:pPr/>
              <a:t>51</a:t>
            </a:fld>
            <a:endParaRPr lang="en-US" altLang="zh-CN" sz="1400"/>
          </a:p>
        </p:txBody>
      </p:sp>
      <p:sp>
        <p:nvSpPr>
          <p:cNvPr id="52227" name="Text Box 2"/>
          <p:cNvSpPr txBox="1">
            <a:spLocks noChangeArrowheads="1"/>
          </p:cNvSpPr>
          <p:nvPr/>
        </p:nvSpPr>
        <p:spPr bwMode="auto">
          <a:xfrm>
            <a:off x="838200" y="558800"/>
            <a:ext cx="6589713"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5000"/>
              </a:lnSpc>
            </a:pPr>
            <a:r>
              <a:rPr lang="zh-CN" altLang="en-US" b="1">
                <a:ea typeface="楷体_GB2312" pitchFamily="49" charset="-122"/>
              </a:rPr>
              <a:t>假设从终端接受了这样两行字符：</a:t>
            </a:r>
          </a:p>
          <a:p>
            <a:pPr>
              <a:lnSpc>
                <a:spcPct val="125000"/>
              </a:lnSpc>
            </a:pPr>
            <a:r>
              <a:rPr lang="zh-CN" altLang="en-US" sz="3600">
                <a:ea typeface="楷体_GB2312" pitchFamily="49" charset="-122"/>
              </a:rPr>
              <a:t> </a:t>
            </a:r>
            <a:r>
              <a:rPr lang="zh-CN" altLang="en-US" sz="3600">
                <a:solidFill>
                  <a:srgbClr val="0000FF"/>
                </a:solidFill>
                <a:ea typeface="楷体_GB2312" pitchFamily="49" charset="-122"/>
              </a:rPr>
              <a:t>       </a:t>
            </a:r>
            <a:r>
              <a:rPr lang="en-US" altLang="zh-CN" sz="3600" b="1">
                <a:ea typeface="楷体_GB2312" pitchFamily="49" charset="-122"/>
              </a:rPr>
              <a:t>wh</a:t>
            </a:r>
            <a:r>
              <a:rPr lang="en-US" altLang="zh-CN" sz="3600">
                <a:solidFill>
                  <a:srgbClr val="A50021"/>
                </a:solidFill>
                <a:ea typeface="楷体_GB2312" pitchFamily="49" charset="-122"/>
              </a:rPr>
              <a:t>li##</a:t>
            </a:r>
            <a:r>
              <a:rPr lang="en-US" altLang="zh-CN" sz="3600" b="1">
                <a:ea typeface="楷体_GB2312" pitchFamily="49" charset="-122"/>
              </a:rPr>
              <a:t>il</a:t>
            </a:r>
            <a:r>
              <a:rPr lang="en-US" altLang="zh-CN" sz="3600">
                <a:solidFill>
                  <a:srgbClr val="A50021"/>
                </a:solidFill>
                <a:ea typeface="楷体_GB2312" pitchFamily="49" charset="-122"/>
              </a:rPr>
              <a:t>r#</a:t>
            </a:r>
            <a:r>
              <a:rPr lang="en-US" altLang="zh-CN" sz="3600" b="1">
                <a:ea typeface="楷体_GB2312" pitchFamily="49" charset="-122"/>
              </a:rPr>
              <a:t>e</a:t>
            </a:r>
            <a:r>
              <a:rPr lang="zh-CN" altLang="en-US" sz="3600">
                <a:ea typeface="楷体_GB2312" pitchFamily="49" charset="-122"/>
              </a:rPr>
              <a:t>（</a:t>
            </a:r>
            <a:r>
              <a:rPr lang="en-US" altLang="zh-CN" sz="3600">
                <a:solidFill>
                  <a:srgbClr val="A50021"/>
                </a:solidFill>
                <a:ea typeface="楷体_GB2312" pitchFamily="49" charset="-122"/>
              </a:rPr>
              <a:t>s#</a:t>
            </a:r>
            <a:r>
              <a:rPr lang="en-US" altLang="zh-CN" sz="3600" b="1">
                <a:ea typeface="楷体_GB2312" pitchFamily="49" charset="-122"/>
              </a:rPr>
              <a:t>*</a:t>
            </a:r>
            <a:r>
              <a:rPr lang="en-US" altLang="zh-CN" sz="3600">
                <a:ea typeface="楷体_GB2312" pitchFamily="49" charset="-122"/>
              </a:rPr>
              <a:t>s)</a:t>
            </a:r>
          </a:p>
          <a:p>
            <a:pPr>
              <a:lnSpc>
                <a:spcPct val="125000"/>
              </a:lnSpc>
            </a:pPr>
            <a:r>
              <a:rPr lang="en-US" altLang="zh-CN" sz="3600">
                <a:ea typeface="楷体_GB2312" pitchFamily="49" charset="-122"/>
              </a:rPr>
              <a:t>            </a:t>
            </a:r>
            <a:r>
              <a:rPr lang="en-US" altLang="zh-CN" sz="3600">
                <a:solidFill>
                  <a:srgbClr val="A50021"/>
                </a:solidFill>
                <a:ea typeface="楷体_GB2312" pitchFamily="49" charset="-122"/>
              </a:rPr>
              <a:t>outcha@</a:t>
            </a:r>
            <a:r>
              <a:rPr lang="en-US" altLang="zh-CN" sz="3600" b="1">
                <a:ea typeface="楷体_GB2312" pitchFamily="49" charset="-122"/>
              </a:rPr>
              <a:t>putchar</a:t>
            </a:r>
            <a:r>
              <a:rPr lang="en-US" altLang="zh-CN" sz="3600">
                <a:ea typeface="楷体_GB2312" pitchFamily="49" charset="-122"/>
              </a:rPr>
              <a:t>(</a:t>
            </a:r>
            <a:r>
              <a:rPr lang="en-US" altLang="zh-CN" sz="3600" b="1">
                <a:ea typeface="楷体_GB2312" pitchFamily="49" charset="-122"/>
              </a:rPr>
              <a:t>*</a:t>
            </a:r>
            <a:r>
              <a:rPr lang="en-US" altLang="zh-CN" sz="3600">
                <a:ea typeface="楷体_GB2312" pitchFamily="49" charset="-122"/>
              </a:rPr>
              <a:t>s</a:t>
            </a:r>
            <a:r>
              <a:rPr lang="en-US" altLang="zh-CN" sz="3600">
                <a:solidFill>
                  <a:srgbClr val="A50021"/>
                </a:solidFill>
                <a:ea typeface="楷体_GB2312" pitchFamily="49" charset="-122"/>
              </a:rPr>
              <a:t>=#</a:t>
            </a:r>
            <a:r>
              <a:rPr lang="en-US" altLang="zh-CN" sz="3600" b="1">
                <a:ea typeface="楷体_GB2312" pitchFamily="49" charset="-122"/>
              </a:rPr>
              <a:t>++</a:t>
            </a:r>
            <a:r>
              <a:rPr lang="en-US" altLang="zh-CN" sz="3600">
                <a:ea typeface="楷体_GB2312" pitchFamily="49" charset="-122"/>
              </a:rPr>
              <a:t>);</a:t>
            </a:r>
          </a:p>
        </p:txBody>
      </p:sp>
      <p:sp>
        <p:nvSpPr>
          <p:cNvPr id="495619" name="Text Box 3"/>
          <p:cNvSpPr txBox="1">
            <a:spLocks noChangeArrowheads="1"/>
          </p:cNvSpPr>
          <p:nvPr/>
        </p:nvSpPr>
        <p:spPr bwMode="auto">
          <a:xfrm>
            <a:off x="838200" y="3324225"/>
            <a:ext cx="5080000"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5000"/>
              </a:lnSpc>
            </a:pPr>
            <a:r>
              <a:rPr lang="zh-CN" altLang="en-US" b="1">
                <a:solidFill>
                  <a:srgbClr val="660033"/>
                </a:solidFill>
                <a:ea typeface="楷体_GB2312" pitchFamily="49" charset="-122"/>
              </a:rPr>
              <a:t>则实际有效的是下列两行：</a:t>
            </a:r>
            <a:endParaRPr lang="zh-CN" altLang="en-US" b="1">
              <a:ea typeface="楷体_GB2312" pitchFamily="49" charset="-122"/>
            </a:endParaRPr>
          </a:p>
          <a:p>
            <a:pPr>
              <a:lnSpc>
                <a:spcPct val="125000"/>
              </a:lnSpc>
            </a:pPr>
            <a:r>
              <a:rPr lang="zh-CN" altLang="en-US" sz="3600">
                <a:ea typeface="楷体_GB2312" pitchFamily="49" charset="-122"/>
              </a:rPr>
              <a:t> </a:t>
            </a:r>
            <a:r>
              <a:rPr lang="zh-CN" altLang="en-US" sz="3600">
                <a:solidFill>
                  <a:srgbClr val="0000FF"/>
                </a:solidFill>
                <a:ea typeface="楷体_GB2312" pitchFamily="49" charset="-122"/>
              </a:rPr>
              <a:t>       </a:t>
            </a:r>
            <a:r>
              <a:rPr lang="en-US" altLang="zh-CN" sz="3600" b="1">
                <a:ea typeface="楷体_GB2312" pitchFamily="49" charset="-122"/>
              </a:rPr>
              <a:t>while</a:t>
            </a:r>
            <a:r>
              <a:rPr lang="en-US" altLang="zh-CN" sz="3600">
                <a:ea typeface="楷体_GB2312" pitchFamily="49" charset="-122"/>
              </a:rPr>
              <a:t> (</a:t>
            </a:r>
            <a:r>
              <a:rPr lang="en-US" altLang="zh-CN" sz="3600" b="1">
                <a:ea typeface="楷体_GB2312" pitchFamily="49" charset="-122"/>
              </a:rPr>
              <a:t>*</a:t>
            </a:r>
            <a:r>
              <a:rPr lang="en-US" altLang="zh-CN" sz="3600">
                <a:ea typeface="楷体_GB2312" pitchFamily="49" charset="-122"/>
              </a:rPr>
              <a:t>s)</a:t>
            </a:r>
          </a:p>
          <a:p>
            <a:pPr>
              <a:lnSpc>
                <a:spcPct val="125000"/>
              </a:lnSpc>
            </a:pPr>
            <a:r>
              <a:rPr lang="en-US" altLang="zh-CN" sz="3600">
                <a:ea typeface="楷体_GB2312" pitchFamily="49" charset="-122"/>
              </a:rPr>
              <a:t>            </a:t>
            </a:r>
            <a:r>
              <a:rPr lang="en-US" altLang="zh-CN" sz="3600" b="1">
                <a:ea typeface="楷体_GB2312" pitchFamily="49" charset="-122"/>
              </a:rPr>
              <a:t>putchar</a:t>
            </a:r>
            <a:r>
              <a:rPr lang="en-US" altLang="zh-CN" sz="3600">
                <a:ea typeface="楷体_GB2312" pitchFamily="49" charset="-122"/>
              </a:rPr>
              <a:t>(</a:t>
            </a:r>
            <a:r>
              <a:rPr lang="en-US" altLang="zh-CN" sz="3600" b="1">
                <a:ea typeface="楷体_GB2312" pitchFamily="49" charset="-122"/>
              </a:rPr>
              <a:t>*</a:t>
            </a:r>
            <a:r>
              <a:rPr lang="en-US" altLang="zh-CN" sz="3600">
                <a:ea typeface="楷体_GB2312" pitchFamily="49" charset="-122"/>
              </a:rPr>
              <a:t>s</a:t>
            </a:r>
            <a:r>
              <a:rPr lang="en-US" altLang="zh-CN" sz="3600" b="1">
                <a:ea typeface="楷体_GB2312" pitchFamily="49" charset="-122"/>
              </a:rPr>
              <a:t>++</a:t>
            </a:r>
            <a:r>
              <a:rPr lang="en-US" altLang="zh-CN" sz="3600">
                <a:ea typeface="楷体_GB2312" pitchFamily="49" charset="-122"/>
              </a:rPr>
              <a:t>);</a:t>
            </a:r>
            <a:endParaRPr lang="en-US" altLang="zh-CN" sz="3600"/>
          </a:p>
        </p:txBody>
      </p:sp>
    </p:spTree>
    <p:extLst>
      <p:ext uri="{BB962C8B-B14F-4D97-AF65-F5344CB8AC3E}">
        <p14:creationId xmlns:p14="http://schemas.microsoft.com/office/powerpoint/2010/main" val="194878775"/>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95619">
                                            <p:txEl>
                                              <p:pRg st="0" end="0"/>
                                            </p:txEl>
                                          </p:spTgt>
                                        </p:tgtEl>
                                        <p:attrNameLst>
                                          <p:attrName>style.visibility</p:attrName>
                                        </p:attrNameLst>
                                      </p:cBhvr>
                                      <p:to>
                                        <p:strVal val="visible"/>
                                      </p:to>
                                    </p:set>
                                    <p:animEffect transition="in" filter="barn(outVertical)">
                                      <p:cBhvr>
                                        <p:cTn id="7" dur="500"/>
                                        <p:tgtEl>
                                          <p:spTgt spid="495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495619">
                                            <p:txEl>
                                              <p:pRg st="1" end="1"/>
                                            </p:txEl>
                                          </p:spTgt>
                                        </p:tgtEl>
                                        <p:attrNameLst>
                                          <p:attrName>style.visibility</p:attrName>
                                        </p:attrNameLst>
                                      </p:cBhvr>
                                      <p:to>
                                        <p:strVal val="visible"/>
                                      </p:to>
                                    </p:set>
                                    <p:animEffect transition="in" filter="barn(outVertical)">
                                      <p:cBhvr>
                                        <p:cTn id="12" dur="500"/>
                                        <p:tgtEl>
                                          <p:spTgt spid="4956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495619">
                                            <p:txEl>
                                              <p:pRg st="2" end="2"/>
                                            </p:txEl>
                                          </p:spTgt>
                                        </p:tgtEl>
                                        <p:attrNameLst>
                                          <p:attrName>style.visibility</p:attrName>
                                        </p:attrNameLst>
                                      </p:cBhvr>
                                      <p:to>
                                        <p:strVal val="visible"/>
                                      </p:to>
                                    </p:set>
                                    <p:animEffect transition="in" filter="barn(outVertical)">
                                      <p:cBhvr>
                                        <p:cTn id="17" dur="500"/>
                                        <p:tgtEl>
                                          <p:spTgt spid="4956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9" grpId="0" build="allAtOnce"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B07A704E-6A87-4EDD-92E6-FC17C5E90106}" type="slidenum">
              <a:rPr lang="en-US" altLang="zh-CN" sz="1400"/>
              <a:pPr/>
              <a:t>52</a:t>
            </a:fld>
            <a:endParaRPr lang="en-US" altLang="zh-CN" sz="1400"/>
          </a:p>
        </p:txBody>
      </p:sp>
      <p:sp>
        <p:nvSpPr>
          <p:cNvPr id="496642" name="Rectangle 2"/>
          <p:cNvSpPr>
            <a:spLocks noChangeArrowheads="1"/>
          </p:cNvSpPr>
          <p:nvPr/>
        </p:nvSpPr>
        <p:spPr bwMode="auto">
          <a:xfrm>
            <a:off x="67090" y="549275"/>
            <a:ext cx="8735380" cy="5853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30000"/>
              </a:lnSpc>
            </a:pPr>
            <a:r>
              <a:rPr lang="en-US" altLang="zh-CN" sz="28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为此，可设这个</a:t>
            </a:r>
            <a:r>
              <a:rPr lang="zh-CN" altLang="en-US" sz="3200" b="1" dirty="0">
                <a:solidFill>
                  <a:srgbClr val="A50021"/>
                </a:solidFill>
                <a:latin typeface="楷体_GB2312" pitchFamily="49" charset="-122"/>
                <a:ea typeface="楷体_GB2312" pitchFamily="49" charset="-122"/>
              </a:rPr>
              <a:t>输入缓冲区</a:t>
            </a:r>
            <a:r>
              <a:rPr lang="zh-CN" altLang="en-US" sz="3200" b="1" dirty="0">
                <a:latin typeface="楷体_GB2312" pitchFamily="49" charset="-122"/>
                <a:ea typeface="楷体_GB2312" pitchFamily="49" charset="-122"/>
              </a:rPr>
              <a:t>为一个</a:t>
            </a:r>
            <a:r>
              <a:rPr lang="zh-CN" altLang="en-US" sz="3200" b="1" dirty="0">
                <a:solidFill>
                  <a:schemeClr val="hlink"/>
                </a:solidFill>
                <a:latin typeface="楷体_GB2312" pitchFamily="49" charset="-122"/>
                <a:ea typeface="楷体_GB2312" pitchFamily="49" charset="-122"/>
              </a:rPr>
              <a:t>栈结构</a:t>
            </a:r>
            <a:r>
              <a:rPr lang="zh-CN" altLang="en-US" sz="3200" b="1" dirty="0">
                <a:latin typeface="楷体_GB2312" pitchFamily="49" charset="-122"/>
                <a:ea typeface="楷体_GB2312" pitchFamily="49" charset="-122"/>
              </a:rPr>
              <a:t>，每当从终端接收了一个字符之后先作如下判别：</a:t>
            </a:r>
          </a:p>
          <a:p>
            <a:pPr lvl="1" eaLnBrk="1" hangingPunct="1">
              <a:lnSpc>
                <a:spcPct val="130000"/>
              </a:lnSpc>
              <a:buFont typeface="Wingdings" pitchFamily="2" charset="2"/>
              <a:buChar char="§"/>
            </a:pPr>
            <a:r>
              <a:rPr lang="zh-CN" altLang="en-US" sz="3200" b="1" dirty="0"/>
              <a:t> </a:t>
            </a:r>
            <a:r>
              <a:rPr lang="zh-CN" altLang="en-US" sz="2800" b="1" dirty="0">
                <a:latin typeface="楷体_GB2312" pitchFamily="49" charset="-122"/>
                <a:ea typeface="楷体_GB2312" pitchFamily="49" charset="-122"/>
              </a:rPr>
              <a:t>如果它</a:t>
            </a:r>
            <a:r>
              <a:rPr lang="zh-CN" altLang="en-US" sz="2800" b="1" dirty="0">
                <a:solidFill>
                  <a:srgbClr val="A50021"/>
                </a:solidFill>
                <a:latin typeface="楷体_GB2312" pitchFamily="49" charset="-122"/>
                <a:ea typeface="楷体_GB2312" pitchFamily="49" charset="-122"/>
              </a:rPr>
              <a:t>既不是退格符也不是退行符</a:t>
            </a:r>
            <a:r>
              <a:rPr lang="zh-CN" altLang="en-US" sz="2800" b="1" dirty="0">
                <a:latin typeface="楷体_GB2312" pitchFamily="49" charset="-122"/>
                <a:ea typeface="楷体_GB2312" pitchFamily="49" charset="-122"/>
              </a:rPr>
              <a:t>，则将该字符</a:t>
            </a:r>
          </a:p>
          <a:p>
            <a:pPr lvl="1" eaLnBrk="1" hangingPunct="1">
              <a:lnSpc>
                <a:spcPct val="130000"/>
              </a:lnSpc>
              <a:buFont typeface="Wingdings" pitchFamily="2" charset="2"/>
              <a:buNone/>
            </a:pPr>
            <a:r>
              <a:rPr lang="zh-CN" altLang="en-US" sz="3200" b="1" dirty="0">
                <a:solidFill>
                  <a:schemeClr val="hlink"/>
                </a:solidFill>
                <a:latin typeface="楷体_GB2312" pitchFamily="49" charset="-122"/>
                <a:ea typeface="楷体_GB2312" pitchFamily="49" charset="-122"/>
              </a:rPr>
              <a:t>     压入栈顶</a:t>
            </a:r>
            <a:r>
              <a:rPr lang="zh-CN" altLang="en-US" sz="3200" b="1" dirty="0">
                <a:latin typeface="楷体_GB2312" pitchFamily="49" charset="-122"/>
                <a:ea typeface="楷体_GB2312" pitchFamily="49" charset="-122"/>
              </a:rPr>
              <a:t>；</a:t>
            </a:r>
          </a:p>
          <a:p>
            <a:pPr lvl="1" eaLnBrk="1" hangingPunct="1">
              <a:lnSpc>
                <a:spcPct val="130000"/>
              </a:lnSpc>
              <a:buFont typeface="Wingdings" pitchFamily="2" charset="2"/>
              <a:buChar char="§"/>
            </a:pPr>
            <a:r>
              <a:rPr lang="zh-CN" altLang="en-US" sz="3200" b="1" dirty="0">
                <a:latin typeface="楷体_GB2312" pitchFamily="49" charset="-122"/>
                <a:ea typeface="楷体_GB2312" pitchFamily="49" charset="-122"/>
              </a:rPr>
              <a:t> 如果是一个</a:t>
            </a:r>
            <a:r>
              <a:rPr lang="zh-CN" altLang="en-US" sz="3200" b="1" dirty="0">
                <a:solidFill>
                  <a:srgbClr val="A50021"/>
                </a:solidFill>
                <a:latin typeface="楷体_GB2312" pitchFamily="49" charset="-122"/>
                <a:ea typeface="楷体_GB2312" pitchFamily="49" charset="-122"/>
              </a:rPr>
              <a:t>退格符</a:t>
            </a:r>
            <a:r>
              <a:rPr lang="zh-CN" altLang="en-US" sz="3200" b="1" dirty="0">
                <a:latin typeface="楷体_GB2312" pitchFamily="49" charset="-122"/>
                <a:ea typeface="楷体_GB2312" pitchFamily="49" charset="-122"/>
              </a:rPr>
              <a:t>，则从</a:t>
            </a:r>
          </a:p>
          <a:p>
            <a:pPr lvl="1" eaLnBrk="1" hangingPunct="1">
              <a:lnSpc>
                <a:spcPct val="130000"/>
              </a:lnSpc>
              <a:buFont typeface="Wingdings" pitchFamily="2" charset="2"/>
              <a:buNone/>
            </a:pPr>
            <a:r>
              <a:rPr lang="zh-CN" altLang="en-US" sz="3200" b="1" dirty="0">
                <a:solidFill>
                  <a:schemeClr val="hlink"/>
                </a:solidFill>
                <a:latin typeface="楷体_GB2312" pitchFamily="49" charset="-122"/>
                <a:ea typeface="楷体_GB2312" pitchFamily="49" charset="-122"/>
              </a:rPr>
              <a:t>     栈顶删去一个字符</a:t>
            </a:r>
            <a:r>
              <a:rPr lang="zh-CN" altLang="en-US" sz="3200" b="1" dirty="0">
                <a:latin typeface="楷体_GB2312" pitchFamily="49" charset="-122"/>
                <a:ea typeface="楷体_GB2312" pitchFamily="49" charset="-122"/>
              </a:rPr>
              <a:t>；</a:t>
            </a:r>
          </a:p>
          <a:p>
            <a:pPr lvl="1" eaLnBrk="1" hangingPunct="1">
              <a:lnSpc>
                <a:spcPct val="130000"/>
              </a:lnSpc>
              <a:buFont typeface="Wingdings" pitchFamily="2" charset="2"/>
              <a:buChar char="§"/>
            </a:pPr>
            <a:r>
              <a:rPr lang="zh-CN" altLang="en-US" sz="3200" b="1" dirty="0">
                <a:latin typeface="楷体_GB2312" pitchFamily="49" charset="-122"/>
                <a:ea typeface="楷体_GB2312" pitchFamily="49" charset="-122"/>
              </a:rPr>
              <a:t> 如果是一个</a:t>
            </a:r>
            <a:r>
              <a:rPr lang="zh-CN" altLang="en-US" sz="3200" b="1" dirty="0">
                <a:solidFill>
                  <a:srgbClr val="A50021"/>
                </a:solidFill>
                <a:latin typeface="楷体_GB2312" pitchFamily="49" charset="-122"/>
                <a:ea typeface="楷体_GB2312" pitchFamily="49" charset="-122"/>
              </a:rPr>
              <a:t>退行符</a:t>
            </a:r>
            <a:r>
              <a:rPr lang="zh-CN" altLang="en-US" sz="3200" b="1" dirty="0">
                <a:latin typeface="楷体_GB2312" pitchFamily="49" charset="-122"/>
                <a:ea typeface="楷体_GB2312" pitchFamily="49" charset="-122"/>
              </a:rPr>
              <a:t>，则将</a:t>
            </a:r>
          </a:p>
          <a:p>
            <a:pPr lvl="1" eaLnBrk="1" hangingPunct="1">
              <a:lnSpc>
                <a:spcPct val="130000"/>
              </a:lnSpc>
              <a:buFont typeface="Wingdings" pitchFamily="2" charset="2"/>
              <a:buNone/>
            </a:pPr>
            <a:r>
              <a:rPr lang="zh-CN" altLang="en-US" sz="3200" b="1" dirty="0">
                <a:latin typeface="楷体_GB2312" pitchFamily="49" charset="-122"/>
                <a:ea typeface="楷体_GB2312" pitchFamily="49" charset="-122"/>
              </a:rPr>
              <a:t>    字符</a:t>
            </a:r>
            <a:r>
              <a:rPr lang="zh-CN" altLang="en-US" sz="3200" b="1" dirty="0">
                <a:solidFill>
                  <a:schemeClr val="hlink"/>
                </a:solidFill>
                <a:latin typeface="楷体_GB2312" pitchFamily="49" charset="-122"/>
                <a:ea typeface="楷体_GB2312" pitchFamily="49" charset="-122"/>
              </a:rPr>
              <a:t>栈清为空栈</a:t>
            </a:r>
            <a:r>
              <a:rPr lang="zh-CN" altLang="en-US" sz="3200" b="1" dirty="0">
                <a:latin typeface="楷体_GB2312" pitchFamily="49" charset="-122"/>
                <a:ea typeface="楷体_GB2312" pitchFamily="49" charset="-122"/>
              </a:rPr>
              <a:t>。</a:t>
            </a:r>
          </a:p>
          <a:p>
            <a:pPr lvl="1" eaLnBrk="1" hangingPunct="1">
              <a:lnSpc>
                <a:spcPct val="130000"/>
              </a:lnSpc>
              <a:buFont typeface="Wingdings" pitchFamily="2" charset="2"/>
              <a:buNone/>
            </a:pPr>
            <a:r>
              <a:rPr lang="zh-CN" altLang="en-US" sz="3200" b="1" dirty="0">
                <a:latin typeface="楷体_GB2312" pitchFamily="49" charset="-122"/>
                <a:ea typeface="楷体_GB2312" pitchFamily="49" charset="-122"/>
              </a:rPr>
              <a:t>可用下述算法来描述：</a:t>
            </a:r>
          </a:p>
        </p:txBody>
      </p:sp>
    </p:spTree>
    <p:extLst>
      <p:ext uri="{BB962C8B-B14F-4D97-AF65-F5344CB8AC3E}">
        <p14:creationId xmlns:p14="http://schemas.microsoft.com/office/powerpoint/2010/main" val="3745586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96642">
                                            <p:txEl>
                                              <p:pRg st="0" end="0"/>
                                            </p:txEl>
                                          </p:spTgt>
                                        </p:tgtEl>
                                        <p:attrNameLst>
                                          <p:attrName>style.visibility</p:attrName>
                                        </p:attrNameLst>
                                      </p:cBhvr>
                                      <p:to>
                                        <p:strVal val="visible"/>
                                      </p:to>
                                    </p:set>
                                    <p:anim calcmode="discrete" valueType="clr">
                                      <p:cBhvr override="childStyle">
                                        <p:cTn id="7" dur="80"/>
                                        <p:tgtEl>
                                          <p:spTgt spid="49664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9664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49664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496642">
                                            <p:txEl>
                                              <p:pRg st="1" end="1"/>
                                            </p:txEl>
                                          </p:spTgt>
                                        </p:tgtEl>
                                        <p:attrNameLst>
                                          <p:attrName>style.visibility</p:attrName>
                                        </p:attrNameLst>
                                      </p:cBhvr>
                                      <p:to>
                                        <p:strVal val="visible"/>
                                      </p:to>
                                    </p:set>
                                    <p:anim calcmode="discrete" valueType="clr">
                                      <p:cBhvr override="childStyle">
                                        <p:cTn id="14" dur="80"/>
                                        <p:tgtEl>
                                          <p:spTgt spid="49664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9664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49664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496642">
                                            <p:txEl>
                                              <p:pRg st="2" end="2"/>
                                            </p:txEl>
                                          </p:spTgt>
                                        </p:tgtEl>
                                        <p:attrNameLst>
                                          <p:attrName>style.visibility</p:attrName>
                                        </p:attrNameLst>
                                      </p:cBhvr>
                                      <p:to>
                                        <p:strVal val="visible"/>
                                      </p:to>
                                    </p:set>
                                    <p:anim calcmode="discrete" valueType="clr">
                                      <p:cBhvr override="childStyle">
                                        <p:cTn id="21" dur="80"/>
                                        <p:tgtEl>
                                          <p:spTgt spid="49664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9664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49664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496642">
                                            <p:txEl>
                                              <p:pRg st="3" end="3"/>
                                            </p:txEl>
                                          </p:spTgt>
                                        </p:tgtEl>
                                        <p:attrNameLst>
                                          <p:attrName>style.visibility</p:attrName>
                                        </p:attrNameLst>
                                      </p:cBhvr>
                                      <p:to>
                                        <p:strVal val="visible"/>
                                      </p:to>
                                    </p:set>
                                    <p:anim calcmode="discrete" valueType="clr">
                                      <p:cBhvr override="childStyle">
                                        <p:cTn id="28" dur="80"/>
                                        <p:tgtEl>
                                          <p:spTgt spid="49664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49664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496642">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496642">
                                            <p:txEl>
                                              <p:pRg st="4" end="4"/>
                                            </p:txEl>
                                          </p:spTgt>
                                        </p:tgtEl>
                                        <p:attrNameLst>
                                          <p:attrName>style.visibility</p:attrName>
                                        </p:attrNameLst>
                                      </p:cBhvr>
                                      <p:to>
                                        <p:strVal val="visible"/>
                                      </p:to>
                                    </p:set>
                                    <p:anim calcmode="discrete" valueType="clr">
                                      <p:cBhvr override="childStyle">
                                        <p:cTn id="35" dur="80"/>
                                        <p:tgtEl>
                                          <p:spTgt spid="49664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496642">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496642">
                                            <p:txEl>
                                              <p:pRg st="4" end="4"/>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496642">
                                            <p:txEl>
                                              <p:pRg st="5" end="5"/>
                                            </p:txEl>
                                          </p:spTgt>
                                        </p:tgtEl>
                                        <p:attrNameLst>
                                          <p:attrName>style.visibility</p:attrName>
                                        </p:attrNameLst>
                                      </p:cBhvr>
                                      <p:to>
                                        <p:strVal val="visible"/>
                                      </p:to>
                                    </p:set>
                                    <p:anim calcmode="discrete" valueType="clr">
                                      <p:cBhvr override="childStyle">
                                        <p:cTn id="42" dur="80"/>
                                        <p:tgtEl>
                                          <p:spTgt spid="49664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496642">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496642">
                                            <p:txEl>
                                              <p:pRg st="5" end="5"/>
                                            </p:txEl>
                                          </p:spTgt>
                                        </p:tgtEl>
                                        <p:attrNameLst>
                                          <p:attrName>fill.type</p:attrName>
                                        </p:attrNameLst>
                                      </p:cBhvr>
                                      <p:to>
                                        <p:strVal val="solid"/>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496642">
                                            <p:txEl>
                                              <p:pRg st="6" end="6"/>
                                            </p:txEl>
                                          </p:spTgt>
                                        </p:tgtEl>
                                        <p:attrNameLst>
                                          <p:attrName>style.visibility</p:attrName>
                                        </p:attrNameLst>
                                      </p:cBhvr>
                                      <p:to>
                                        <p:strVal val="visible"/>
                                      </p:to>
                                    </p:set>
                                    <p:anim calcmode="discrete" valueType="clr">
                                      <p:cBhvr override="childStyle">
                                        <p:cTn id="49" dur="80"/>
                                        <p:tgtEl>
                                          <p:spTgt spid="49664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496642">
                                            <p:txEl>
                                              <p:pRg st="6" end="6"/>
                                            </p:txEl>
                                          </p:spTgt>
                                        </p:tgtEl>
                                        <p:attrNameLst>
                                          <p:attrName>fillcolor</p:attrName>
                                        </p:attrNameLst>
                                      </p:cBhvr>
                                      <p:tavLst>
                                        <p:tav tm="0">
                                          <p:val>
                                            <p:clrVal>
                                              <a:schemeClr val="accent2"/>
                                            </p:clrVal>
                                          </p:val>
                                        </p:tav>
                                        <p:tav tm="50000">
                                          <p:val>
                                            <p:clrVal>
                                              <a:schemeClr val="hlink"/>
                                            </p:clrVal>
                                          </p:val>
                                        </p:tav>
                                      </p:tavLst>
                                    </p:anim>
                                    <p:set>
                                      <p:cBhvr>
                                        <p:cTn id="51" dur="80"/>
                                        <p:tgtEl>
                                          <p:spTgt spid="496642">
                                            <p:txEl>
                                              <p:pRg st="6" end="6"/>
                                            </p:txEl>
                                          </p:spTgt>
                                        </p:tgtEl>
                                        <p:attrNameLst>
                                          <p:attrName>fill.type</p:attrName>
                                        </p:attrNameLst>
                                      </p:cBhvr>
                                      <p:to>
                                        <p:strVal val="solid"/>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7" presetClass="entr" presetSubtype="0" fill="hold" grpId="0" nodeType="clickEffect">
                                  <p:stCondLst>
                                    <p:cond delay="0"/>
                                  </p:stCondLst>
                                  <p:iterate type="lt">
                                    <p:tmPct val="50000"/>
                                  </p:iterate>
                                  <p:childTnLst>
                                    <p:set>
                                      <p:cBhvr>
                                        <p:cTn id="55" dur="1" fill="hold">
                                          <p:stCondLst>
                                            <p:cond delay="0"/>
                                          </p:stCondLst>
                                        </p:cTn>
                                        <p:tgtEl>
                                          <p:spTgt spid="496642">
                                            <p:txEl>
                                              <p:pRg st="7" end="7"/>
                                            </p:txEl>
                                          </p:spTgt>
                                        </p:tgtEl>
                                        <p:attrNameLst>
                                          <p:attrName>style.visibility</p:attrName>
                                        </p:attrNameLst>
                                      </p:cBhvr>
                                      <p:to>
                                        <p:strVal val="visible"/>
                                      </p:to>
                                    </p:set>
                                    <p:anim calcmode="discrete" valueType="clr">
                                      <p:cBhvr override="childStyle">
                                        <p:cTn id="56" dur="80"/>
                                        <p:tgtEl>
                                          <p:spTgt spid="496642">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496642">
                                            <p:txEl>
                                              <p:pRg st="7" end="7"/>
                                            </p:txEl>
                                          </p:spTgt>
                                        </p:tgtEl>
                                        <p:attrNameLst>
                                          <p:attrName>fillcolor</p:attrName>
                                        </p:attrNameLst>
                                      </p:cBhvr>
                                      <p:tavLst>
                                        <p:tav tm="0">
                                          <p:val>
                                            <p:clrVal>
                                              <a:schemeClr val="accent2"/>
                                            </p:clrVal>
                                          </p:val>
                                        </p:tav>
                                        <p:tav tm="50000">
                                          <p:val>
                                            <p:clrVal>
                                              <a:schemeClr val="hlink"/>
                                            </p:clrVal>
                                          </p:val>
                                        </p:tav>
                                      </p:tavLst>
                                    </p:anim>
                                    <p:set>
                                      <p:cBhvr>
                                        <p:cTn id="58" dur="80"/>
                                        <p:tgtEl>
                                          <p:spTgt spid="496642">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build="p" bldLvl="2"/>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F800374-653C-4199-919F-FBA621A7DB92}" type="slidenum">
              <a:rPr lang="en-US" altLang="zh-CN" sz="1400"/>
              <a:pPr/>
              <a:t>53</a:t>
            </a:fld>
            <a:endParaRPr lang="en-US" altLang="zh-CN" sz="1400"/>
          </a:p>
        </p:txBody>
      </p:sp>
      <p:sp>
        <p:nvSpPr>
          <p:cNvPr id="54275" name="Text Box 2"/>
          <p:cNvSpPr txBox="1">
            <a:spLocks noChangeArrowheads="1"/>
          </p:cNvSpPr>
          <p:nvPr/>
        </p:nvSpPr>
        <p:spPr bwMode="auto">
          <a:xfrm>
            <a:off x="381000" y="69850"/>
            <a:ext cx="845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endParaRPr lang="zh-CN" altLang="zh-CN" sz="2800" b="1"/>
          </a:p>
        </p:txBody>
      </p:sp>
      <p:sp>
        <p:nvSpPr>
          <p:cNvPr id="54276" name="Text Box 3"/>
          <p:cNvSpPr txBox="1">
            <a:spLocks noChangeArrowheads="1"/>
          </p:cNvSpPr>
          <p:nvPr/>
        </p:nvSpPr>
        <p:spPr bwMode="auto">
          <a:xfrm>
            <a:off x="0" y="0"/>
            <a:ext cx="9144000" cy="66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85000"/>
              </a:lnSpc>
            </a:pPr>
            <a:r>
              <a:rPr lang="en-US" altLang="zh-CN" sz="2800" b="1"/>
              <a:t>void  </a:t>
            </a:r>
            <a:r>
              <a:rPr lang="en-US" altLang="zh-CN" sz="2800" b="1">
                <a:solidFill>
                  <a:srgbClr val="006600"/>
                </a:solidFill>
              </a:rPr>
              <a:t>LineEdit</a:t>
            </a:r>
            <a:r>
              <a:rPr lang="en-US" altLang="zh-CN" sz="2800" b="1"/>
              <a:t>( )</a:t>
            </a:r>
          </a:p>
          <a:p>
            <a:pPr eaLnBrk="1" hangingPunct="1">
              <a:lnSpc>
                <a:spcPct val="85000"/>
              </a:lnSpc>
            </a:pPr>
            <a:r>
              <a:rPr lang="en-US" altLang="zh-CN" sz="2800" b="1"/>
              <a:t> {    InitStack(S);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构造空栈</a:t>
            </a:r>
            <a:r>
              <a:rPr lang="zh-CN" altLang="en-US" sz="2800" b="1"/>
              <a:t>   </a:t>
            </a:r>
          </a:p>
          <a:p>
            <a:pPr eaLnBrk="1" hangingPunct="1">
              <a:lnSpc>
                <a:spcPct val="85000"/>
              </a:lnSpc>
            </a:pPr>
            <a:r>
              <a:rPr lang="zh-CN" altLang="en-US" sz="2800" b="1"/>
              <a:t>       </a:t>
            </a:r>
            <a:r>
              <a:rPr lang="en-US" altLang="zh-CN" sz="2800" b="1"/>
              <a:t>ch=getchar( );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从终端接收第一个字符</a:t>
            </a:r>
            <a:endParaRPr lang="zh-CN" altLang="en-US" sz="2800" b="1"/>
          </a:p>
          <a:p>
            <a:pPr eaLnBrk="1" hangingPunct="1">
              <a:lnSpc>
                <a:spcPct val="85000"/>
              </a:lnSpc>
            </a:pPr>
            <a:r>
              <a:rPr lang="zh-CN" altLang="en-US" sz="2800" b="1"/>
              <a:t>       </a:t>
            </a:r>
            <a:r>
              <a:rPr lang="en-US" altLang="zh-CN" sz="2800" b="1"/>
              <a:t>while (ch!=EOF)                 </a:t>
            </a:r>
            <a:r>
              <a:rPr lang="en-US" altLang="zh-CN" sz="2400" b="1">
                <a:solidFill>
                  <a:schemeClr val="folHlink"/>
                </a:solidFill>
              </a:rPr>
              <a:t>//</a:t>
            </a:r>
            <a:r>
              <a:rPr lang="en-US" altLang="zh-CN" sz="2400" b="1">
                <a:solidFill>
                  <a:schemeClr val="folHlink"/>
                </a:solidFill>
                <a:latin typeface="楷体_GB2312" pitchFamily="49" charset="-122"/>
                <a:ea typeface="楷体_GB2312" pitchFamily="49" charset="-122"/>
              </a:rPr>
              <a:t>EOF</a:t>
            </a:r>
            <a:r>
              <a:rPr lang="zh-CN" altLang="en-US" sz="2400" b="1">
                <a:solidFill>
                  <a:schemeClr val="folHlink"/>
                </a:solidFill>
                <a:latin typeface="楷体_GB2312" pitchFamily="49" charset="-122"/>
                <a:ea typeface="楷体_GB2312" pitchFamily="49" charset="-122"/>
              </a:rPr>
              <a:t>是全文结束符</a:t>
            </a:r>
            <a:endParaRPr lang="zh-CN" altLang="en-US" sz="2800" b="1">
              <a:latin typeface="楷体_GB2312" pitchFamily="49" charset="-122"/>
              <a:ea typeface="楷体_GB2312" pitchFamily="49" charset="-122"/>
            </a:endParaRPr>
          </a:p>
          <a:p>
            <a:pPr eaLnBrk="1" hangingPunct="1">
              <a:lnSpc>
                <a:spcPct val="85000"/>
              </a:lnSpc>
            </a:pPr>
            <a:r>
              <a:rPr lang="zh-CN" altLang="en-US" sz="2800" b="1"/>
              <a:t>       </a:t>
            </a:r>
            <a:r>
              <a:rPr lang="en-US" altLang="zh-CN" sz="2800" b="1"/>
              <a:t>{    while (ch!=EOF &amp;&amp; ch!=‘\n’)</a:t>
            </a:r>
          </a:p>
          <a:p>
            <a:pPr eaLnBrk="1" hangingPunct="1">
              <a:lnSpc>
                <a:spcPct val="85000"/>
              </a:lnSpc>
            </a:pPr>
            <a:r>
              <a:rPr lang="en-US" altLang="zh-CN" sz="2800" b="1"/>
              <a:t>             {    </a:t>
            </a:r>
            <a:r>
              <a:rPr lang="en-US" altLang="zh-CN" sz="2800" b="1">
                <a:solidFill>
                  <a:srgbClr val="A50021"/>
                </a:solidFill>
              </a:rPr>
              <a:t>switch (ch)</a:t>
            </a:r>
          </a:p>
          <a:p>
            <a:pPr eaLnBrk="1" hangingPunct="1">
              <a:lnSpc>
                <a:spcPct val="85000"/>
              </a:lnSpc>
            </a:pPr>
            <a:r>
              <a:rPr lang="en-US" altLang="zh-CN" sz="2800" b="1">
                <a:solidFill>
                  <a:srgbClr val="A50021"/>
                </a:solidFill>
              </a:rPr>
              <a:t>                   {  case ‘#’: Pop(S,ch);       break;</a:t>
            </a:r>
          </a:p>
          <a:p>
            <a:pPr eaLnBrk="1" hangingPunct="1">
              <a:lnSpc>
                <a:spcPct val="85000"/>
              </a:lnSpc>
            </a:pPr>
            <a:r>
              <a:rPr lang="en-US" altLang="zh-CN" sz="2800" b="1">
                <a:solidFill>
                  <a:srgbClr val="A50021"/>
                </a:solidFill>
              </a:rPr>
              <a:t>                       case ‘@’:ClearStack(S);break;</a:t>
            </a:r>
            <a:r>
              <a:rPr lang="en-US" altLang="zh-CN" sz="2800" b="1"/>
              <a:t>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重置</a:t>
            </a:r>
            <a:r>
              <a:rPr lang="en-US" altLang="zh-CN" sz="2400" b="1">
                <a:solidFill>
                  <a:schemeClr val="folHlink"/>
                </a:solidFill>
                <a:latin typeface="楷体_GB2312" pitchFamily="49" charset="-122"/>
                <a:ea typeface="楷体_GB2312" pitchFamily="49" charset="-122"/>
              </a:rPr>
              <a:t>S</a:t>
            </a:r>
            <a:r>
              <a:rPr lang="zh-CN" altLang="en-US" sz="2400" b="1">
                <a:solidFill>
                  <a:schemeClr val="folHlink"/>
                </a:solidFill>
                <a:latin typeface="楷体_GB2312" pitchFamily="49" charset="-122"/>
                <a:ea typeface="楷体_GB2312" pitchFamily="49" charset="-122"/>
              </a:rPr>
              <a:t>为空栈</a:t>
            </a:r>
          </a:p>
          <a:p>
            <a:pPr eaLnBrk="1" hangingPunct="1">
              <a:lnSpc>
                <a:spcPct val="85000"/>
              </a:lnSpc>
            </a:pPr>
            <a:r>
              <a:rPr lang="zh-CN" altLang="en-US" sz="2800" b="1"/>
              <a:t>                       </a:t>
            </a:r>
            <a:r>
              <a:rPr lang="en-US" altLang="zh-CN" sz="2800" b="1">
                <a:solidFill>
                  <a:srgbClr val="A50021"/>
                </a:solidFill>
              </a:rPr>
              <a:t>default:  Push(S,ch); break;</a:t>
            </a:r>
          </a:p>
          <a:p>
            <a:pPr eaLnBrk="1" hangingPunct="1">
              <a:lnSpc>
                <a:spcPct val="85000"/>
              </a:lnSpc>
            </a:pPr>
            <a:r>
              <a:rPr lang="en-US" altLang="zh-CN" sz="2800" b="1">
                <a:solidFill>
                  <a:srgbClr val="A50021"/>
                </a:solidFill>
              </a:rPr>
              <a:t>                    }</a:t>
            </a:r>
          </a:p>
          <a:p>
            <a:pPr eaLnBrk="1" hangingPunct="1">
              <a:lnSpc>
                <a:spcPct val="85000"/>
              </a:lnSpc>
            </a:pPr>
            <a:r>
              <a:rPr lang="en-US" altLang="zh-CN" sz="2800" b="1">
                <a:solidFill>
                  <a:srgbClr val="A50021"/>
                </a:solidFill>
              </a:rPr>
              <a:t>                    ch=getchar( );</a:t>
            </a:r>
            <a:r>
              <a:rPr lang="en-US" altLang="zh-CN" sz="2800" b="1"/>
              <a:t>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从终端接收下一个字符</a:t>
            </a:r>
            <a:endParaRPr lang="zh-CN" altLang="en-US" sz="2800" b="1"/>
          </a:p>
          <a:p>
            <a:pPr eaLnBrk="1" hangingPunct="1">
              <a:lnSpc>
                <a:spcPct val="85000"/>
              </a:lnSpc>
            </a:pPr>
            <a:r>
              <a:rPr lang="zh-CN" altLang="en-US" sz="2800" b="1"/>
              <a:t>             </a:t>
            </a:r>
            <a:r>
              <a:rPr lang="en-US" altLang="zh-CN" sz="2800" b="1"/>
              <a:t>}</a:t>
            </a:r>
          </a:p>
          <a:p>
            <a:pPr eaLnBrk="1" hangingPunct="1">
              <a:lnSpc>
                <a:spcPct val="85000"/>
              </a:lnSpc>
            </a:pPr>
            <a:r>
              <a:rPr lang="en-US" altLang="zh-CN" sz="2800" b="1"/>
              <a:t>             </a:t>
            </a:r>
            <a:r>
              <a:rPr lang="zh-CN" altLang="en-US" sz="2400" b="1">
                <a:ea typeface="楷体_GB2312" pitchFamily="49" charset="-122"/>
              </a:rPr>
              <a:t>将从栈底至栈顶的栈内字符传送至调用过程的数据区；</a:t>
            </a:r>
          </a:p>
          <a:p>
            <a:pPr eaLnBrk="1" hangingPunct="1">
              <a:lnSpc>
                <a:spcPct val="85000"/>
              </a:lnSpc>
            </a:pPr>
            <a:r>
              <a:rPr lang="zh-CN" altLang="en-US" sz="2800" b="1"/>
              <a:t>             </a:t>
            </a:r>
            <a:r>
              <a:rPr lang="en-US" altLang="zh-CN" sz="2800" b="1"/>
              <a:t>ClearStack (S);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重置</a:t>
            </a:r>
            <a:r>
              <a:rPr lang="en-US" altLang="zh-CN" sz="2400" b="1">
                <a:solidFill>
                  <a:schemeClr val="folHlink"/>
                </a:solidFill>
                <a:latin typeface="楷体_GB2312" pitchFamily="49" charset="-122"/>
                <a:ea typeface="楷体_GB2312" pitchFamily="49" charset="-122"/>
              </a:rPr>
              <a:t>S</a:t>
            </a:r>
            <a:r>
              <a:rPr lang="zh-CN" altLang="en-US" sz="2400" b="1">
                <a:solidFill>
                  <a:schemeClr val="folHlink"/>
                </a:solidFill>
                <a:latin typeface="楷体_GB2312" pitchFamily="49" charset="-122"/>
                <a:ea typeface="楷体_GB2312" pitchFamily="49" charset="-122"/>
              </a:rPr>
              <a:t>为空栈</a:t>
            </a:r>
            <a:r>
              <a:rPr lang="zh-CN" altLang="en-US" sz="2800" b="1"/>
              <a:t> </a:t>
            </a:r>
          </a:p>
          <a:p>
            <a:pPr eaLnBrk="1" hangingPunct="1">
              <a:lnSpc>
                <a:spcPct val="85000"/>
              </a:lnSpc>
            </a:pPr>
            <a:r>
              <a:rPr lang="zh-CN" altLang="en-US" sz="2800" b="1"/>
              <a:t>             </a:t>
            </a:r>
            <a:r>
              <a:rPr lang="en-US" altLang="zh-CN" sz="2800" b="1"/>
              <a:t>if  (ch!=EOF)  ch=getchar( );</a:t>
            </a:r>
          </a:p>
          <a:p>
            <a:pPr eaLnBrk="1" hangingPunct="1">
              <a:lnSpc>
                <a:spcPct val="85000"/>
              </a:lnSpc>
            </a:pPr>
            <a:r>
              <a:rPr lang="en-US" altLang="zh-CN" sz="2800" b="1"/>
              <a:t>       }  </a:t>
            </a:r>
          </a:p>
          <a:p>
            <a:pPr eaLnBrk="1" hangingPunct="1">
              <a:lnSpc>
                <a:spcPct val="85000"/>
              </a:lnSpc>
            </a:pPr>
            <a:r>
              <a:rPr lang="en-US" altLang="zh-CN" sz="2800" b="1"/>
              <a:t>       DestroyStack(S);               </a:t>
            </a:r>
            <a:r>
              <a:rPr lang="en-US" altLang="zh-CN" sz="2400" b="1">
                <a:solidFill>
                  <a:schemeClr val="folHlink"/>
                </a:solidFill>
              </a:rPr>
              <a:t>//</a:t>
            </a:r>
            <a:r>
              <a:rPr lang="zh-CN" altLang="en-US" sz="2400" b="1">
                <a:solidFill>
                  <a:schemeClr val="folHlink"/>
                </a:solidFill>
                <a:latin typeface="楷体_GB2312" pitchFamily="49" charset="-122"/>
                <a:ea typeface="楷体_GB2312" pitchFamily="49" charset="-122"/>
              </a:rPr>
              <a:t>栈</a:t>
            </a:r>
            <a:r>
              <a:rPr lang="en-US" altLang="zh-CN" sz="2400" b="1">
                <a:solidFill>
                  <a:schemeClr val="folHlink"/>
                </a:solidFill>
                <a:latin typeface="楷体_GB2312" pitchFamily="49" charset="-122"/>
                <a:ea typeface="楷体_GB2312" pitchFamily="49" charset="-122"/>
              </a:rPr>
              <a:t>S</a:t>
            </a:r>
            <a:r>
              <a:rPr lang="zh-CN" altLang="en-US" sz="2400" b="1">
                <a:solidFill>
                  <a:schemeClr val="folHlink"/>
                </a:solidFill>
                <a:latin typeface="楷体_GB2312" pitchFamily="49" charset="-122"/>
                <a:ea typeface="楷体_GB2312" pitchFamily="49" charset="-122"/>
              </a:rPr>
              <a:t>被销毁</a:t>
            </a:r>
            <a:r>
              <a:rPr lang="zh-CN" altLang="en-US" sz="2800" b="1"/>
              <a:t> </a:t>
            </a:r>
          </a:p>
          <a:p>
            <a:pPr eaLnBrk="1" hangingPunct="1">
              <a:lnSpc>
                <a:spcPct val="85000"/>
              </a:lnSpc>
            </a:pPr>
            <a:r>
              <a:rPr lang="en-US" altLang="zh-CN" sz="2800" b="1"/>
              <a:t>}</a:t>
            </a:r>
            <a:r>
              <a:rPr lang="en-US" altLang="zh-CN" sz="2800" b="1">
                <a:solidFill>
                  <a:srgbClr val="006600"/>
                </a:solidFill>
              </a:rPr>
              <a:t>//LineEdit</a:t>
            </a:r>
          </a:p>
        </p:txBody>
      </p:sp>
    </p:spTree>
    <p:extLst>
      <p:ext uri="{BB962C8B-B14F-4D97-AF65-F5344CB8AC3E}">
        <p14:creationId xmlns:p14="http://schemas.microsoft.com/office/powerpoint/2010/main" val="14189733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8EBB1B20-013C-4485-9F49-F4B4466E481F}" type="slidenum">
              <a:rPr lang="en-US" altLang="zh-CN" sz="1400"/>
              <a:pPr/>
              <a:t>54</a:t>
            </a:fld>
            <a:endParaRPr lang="en-US" altLang="zh-CN" sz="1400"/>
          </a:p>
        </p:txBody>
      </p:sp>
      <p:sp>
        <p:nvSpPr>
          <p:cNvPr id="655362" name="Text Box 2"/>
          <p:cNvSpPr txBox="1">
            <a:spLocks noChangeArrowheads="1"/>
          </p:cNvSpPr>
          <p:nvPr/>
        </p:nvSpPr>
        <p:spPr bwMode="auto">
          <a:xfrm>
            <a:off x="762000" y="914400"/>
            <a:ext cx="61404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3600">
                <a:ea typeface="楷体_GB2312" pitchFamily="49" charset="-122"/>
              </a:rPr>
              <a:t>通常用的是</a:t>
            </a:r>
            <a:r>
              <a:rPr lang="zh-CN" altLang="en-US" sz="3600" b="1">
                <a:ea typeface="楷体_GB2312" pitchFamily="49" charset="-122"/>
              </a:rPr>
              <a:t>“穷举求解”</a:t>
            </a:r>
            <a:r>
              <a:rPr lang="zh-CN" altLang="en-US" sz="3600">
                <a:ea typeface="楷体_GB2312" pitchFamily="49" charset="-122"/>
              </a:rPr>
              <a:t>的方法</a:t>
            </a:r>
            <a:endParaRPr lang="zh-CN" altLang="en-US" sz="2400">
              <a:ea typeface="楷体_GB2312" pitchFamily="49" charset="-122"/>
            </a:endParaRPr>
          </a:p>
        </p:txBody>
      </p:sp>
      <p:grpSp>
        <p:nvGrpSpPr>
          <p:cNvPr id="55300" name="Group 3"/>
          <p:cNvGrpSpPr>
            <a:grpSpLocks/>
          </p:cNvGrpSpPr>
          <p:nvPr/>
        </p:nvGrpSpPr>
        <p:grpSpPr bwMode="auto">
          <a:xfrm>
            <a:off x="1582738" y="1676400"/>
            <a:ext cx="6172200" cy="1671638"/>
            <a:chOff x="997" y="1056"/>
            <a:chExt cx="3888" cy="1053"/>
          </a:xfrm>
        </p:grpSpPr>
        <p:sp>
          <p:nvSpPr>
            <p:cNvPr id="56101" name="Rectangle 4"/>
            <p:cNvSpPr>
              <a:spLocks noChangeArrowheads="1"/>
            </p:cNvSpPr>
            <p:nvPr/>
          </p:nvSpPr>
          <p:spPr bwMode="auto">
            <a:xfrm>
              <a:off x="1124"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02" name="Rectangle 5"/>
            <p:cNvSpPr>
              <a:spLocks noChangeArrowheads="1"/>
            </p:cNvSpPr>
            <p:nvPr/>
          </p:nvSpPr>
          <p:spPr bwMode="auto">
            <a:xfrm>
              <a:off x="1124"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00000"/>
                  </a:solidFill>
                </a:rPr>
                <a:t>#</a:t>
              </a:r>
              <a:endParaRPr lang="en-US" altLang="zh-CN" sz="4800" b="1"/>
            </a:p>
          </p:txBody>
        </p:sp>
        <p:sp>
          <p:nvSpPr>
            <p:cNvPr id="56103" name="Rectangle 6"/>
            <p:cNvSpPr>
              <a:spLocks noChangeArrowheads="1"/>
            </p:cNvSpPr>
            <p:nvPr/>
          </p:nvSpPr>
          <p:spPr bwMode="auto">
            <a:xfrm>
              <a:off x="1505" y="1056"/>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04" name="Rectangle 7"/>
            <p:cNvSpPr>
              <a:spLocks noChangeArrowheads="1"/>
            </p:cNvSpPr>
            <p:nvPr/>
          </p:nvSpPr>
          <p:spPr bwMode="auto">
            <a:xfrm>
              <a:off x="1505"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05" name="Rectangle 8"/>
            <p:cNvSpPr>
              <a:spLocks noChangeArrowheads="1"/>
            </p:cNvSpPr>
            <p:nvPr/>
          </p:nvSpPr>
          <p:spPr bwMode="auto">
            <a:xfrm>
              <a:off x="1893"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06" name="Rectangle 9"/>
            <p:cNvSpPr>
              <a:spLocks noChangeArrowheads="1"/>
            </p:cNvSpPr>
            <p:nvPr/>
          </p:nvSpPr>
          <p:spPr bwMode="auto">
            <a:xfrm>
              <a:off x="1893"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07" name="Rectangle 10"/>
            <p:cNvSpPr>
              <a:spLocks noChangeArrowheads="1"/>
            </p:cNvSpPr>
            <p:nvPr/>
          </p:nvSpPr>
          <p:spPr bwMode="auto">
            <a:xfrm>
              <a:off x="2282"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08" name="Rectangle 11"/>
            <p:cNvSpPr>
              <a:spLocks noChangeArrowheads="1"/>
            </p:cNvSpPr>
            <p:nvPr/>
          </p:nvSpPr>
          <p:spPr bwMode="auto">
            <a:xfrm>
              <a:off x="2282"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09" name="Rectangle 12"/>
            <p:cNvSpPr>
              <a:spLocks noChangeArrowheads="1"/>
            </p:cNvSpPr>
            <p:nvPr/>
          </p:nvSpPr>
          <p:spPr bwMode="auto">
            <a:xfrm>
              <a:off x="2671"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10" name="Rectangle 13"/>
            <p:cNvSpPr>
              <a:spLocks noChangeArrowheads="1"/>
            </p:cNvSpPr>
            <p:nvPr/>
          </p:nvSpPr>
          <p:spPr bwMode="auto">
            <a:xfrm>
              <a:off x="2671"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11" name="Rectangle 14"/>
            <p:cNvSpPr>
              <a:spLocks noChangeArrowheads="1"/>
            </p:cNvSpPr>
            <p:nvPr/>
          </p:nvSpPr>
          <p:spPr bwMode="auto">
            <a:xfrm>
              <a:off x="3060"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12" name="Rectangle 15"/>
            <p:cNvSpPr>
              <a:spLocks noChangeArrowheads="1"/>
            </p:cNvSpPr>
            <p:nvPr/>
          </p:nvSpPr>
          <p:spPr bwMode="auto">
            <a:xfrm>
              <a:off x="3060"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13" name="Rectangle 16"/>
            <p:cNvSpPr>
              <a:spLocks noChangeArrowheads="1"/>
            </p:cNvSpPr>
            <p:nvPr/>
          </p:nvSpPr>
          <p:spPr bwMode="auto">
            <a:xfrm>
              <a:off x="3449" y="1056"/>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14" name="Rectangle 17"/>
            <p:cNvSpPr>
              <a:spLocks noChangeArrowheads="1"/>
            </p:cNvSpPr>
            <p:nvPr/>
          </p:nvSpPr>
          <p:spPr bwMode="auto">
            <a:xfrm>
              <a:off x="3449"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15" name="Rectangle 18"/>
            <p:cNvSpPr>
              <a:spLocks noChangeArrowheads="1"/>
            </p:cNvSpPr>
            <p:nvPr/>
          </p:nvSpPr>
          <p:spPr bwMode="auto">
            <a:xfrm>
              <a:off x="3837"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16" name="Rectangle 19"/>
            <p:cNvSpPr>
              <a:spLocks noChangeArrowheads="1"/>
            </p:cNvSpPr>
            <p:nvPr/>
          </p:nvSpPr>
          <p:spPr bwMode="auto">
            <a:xfrm>
              <a:off x="3837"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17" name="Rectangle 20"/>
            <p:cNvSpPr>
              <a:spLocks noChangeArrowheads="1"/>
            </p:cNvSpPr>
            <p:nvPr/>
          </p:nvSpPr>
          <p:spPr bwMode="auto">
            <a:xfrm>
              <a:off x="4226"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18" name="Rectangle 21"/>
            <p:cNvSpPr>
              <a:spLocks noChangeArrowheads="1"/>
            </p:cNvSpPr>
            <p:nvPr/>
          </p:nvSpPr>
          <p:spPr bwMode="auto">
            <a:xfrm>
              <a:off x="4226"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19" name="Rectangle 22"/>
            <p:cNvSpPr>
              <a:spLocks noChangeArrowheads="1"/>
            </p:cNvSpPr>
            <p:nvPr/>
          </p:nvSpPr>
          <p:spPr bwMode="auto">
            <a:xfrm>
              <a:off x="4615" y="1056"/>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20" name="Rectangle 23"/>
            <p:cNvSpPr>
              <a:spLocks noChangeArrowheads="1"/>
            </p:cNvSpPr>
            <p:nvPr/>
          </p:nvSpPr>
          <p:spPr bwMode="auto">
            <a:xfrm>
              <a:off x="4615" y="1056"/>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121" name="Rectangle 24"/>
            <p:cNvSpPr>
              <a:spLocks noChangeArrowheads="1"/>
            </p:cNvSpPr>
            <p:nvPr/>
          </p:nvSpPr>
          <p:spPr bwMode="auto">
            <a:xfrm>
              <a:off x="997"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22" name="Line 25"/>
            <p:cNvSpPr>
              <a:spLocks noChangeShapeType="1"/>
            </p:cNvSpPr>
            <p:nvPr/>
          </p:nvSpPr>
          <p:spPr bwMode="auto">
            <a:xfrm>
              <a:off x="997"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23" name="Line 26"/>
            <p:cNvSpPr>
              <a:spLocks noChangeShapeType="1"/>
            </p:cNvSpPr>
            <p:nvPr/>
          </p:nvSpPr>
          <p:spPr bwMode="auto">
            <a:xfrm>
              <a:off x="997"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24" name="Rectangle 27"/>
            <p:cNvSpPr>
              <a:spLocks noChangeArrowheads="1"/>
            </p:cNvSpPr>
            <p:nvPr/>
          </p:nvSpPr>
          <p:spPr bwMode="auto">
            <a:xfrm>
              <a:off x="997"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25" name="Line 28"/>
            <p:cNvSpPr>
              <a:spLocks noChangeShapeType="1"/>
            </p:cNvSpPr>
            <p:nvPr/>
          </p:nvSpPr>
          <p:spPr bwMode="auto">
            <a:xfrm>
              <a:off x="997"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26" name="Line 29"/>
            <p:cNvSpPr>
              <a:spLocks noChangeShapeType="1"/>
            </p:cNvSpPr>
            <p:nvPr/>
          </p:nvSpPr>
          <p:spPr bwMode="auto">
            <a:xfrm>
              <a:off x="997"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27" name="Rectangle 30"/>
            <p:cNvSpPr>
              <a:spLocks noChangeArrowheads="1"/>
            </p:cNvSpPr>
            <p:nvPr/>
          </p:nvSpPr>
          <p:spPr bwMode="auto">
            <a:xfrm>
              <a:off x="1006"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28" name="Line 31"/>
            <p:cNvSpPr>
              <a:spLocks noChangeShapeType="1"/>
            </p:cNvSpPr>
            <p:nvPr/>
          </p:nvSpPr>
          <p:spPr bwMode="auto">
            <a:xfrm>
              <a:off x="1006"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29" name="Rectangle 32"/>
            <p:cNvSpPr>
              <a:spLocks noChangeArrowheads="1"/>
            </p:cNvSpPr>
            <p:nvPr/>
          </p:nvSpPr>
          <p:spPr bwMode="auto">
            <a:xfrm>
              <a:off x="1386"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30" name="Line 33"/>
            <p:cNvSpPr>
              <a:spLocks noChangeShapeType="1"/>
            </p:cNvSpPr>
            <p:nvPr/>
          </p:nvSpPr>
          <p:spPr bwMode="auto">
            <a:xfrm>
              <a:off x="1386"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1" name="Line 34"/>
            <p:cNvSpPr>
              <a:spLocks noChangeShapeType="1"/>
            </p:cNvSpPr>
            <p:nvPr/>
          </p:nvSpPr>
          <p:spPr bwMode="auto">
            <a:xfrm>
              <a:off x="1386"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2" name="Rectangle 35"/>
            <p:cNvSpPr>
              <a:spLocks noChangeArrowheads="1"/>
            </p:cNvSpPr>
            <p:nvPr/>
          </p:nvSpPr>
          <p:spPr bwMode="auto">
            <a:xfrm>
              <a:off x="1395"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33" name="Line 36"/>
            <p:cNvSpPr>
              <a:spLocks noChangeShapeType="1"/>
            </p:cNvSpPr>
            <p:nvPr/>
          </p:nvSpPr>
          <p:spPr bwMode="auto">
            <a:xfrm>
              <a:off x="1395"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4" name="Rectangle 37"/>
            <p:cNvSpPr>
              <a:spLocks noChangeArrowheads="1"/>
            </p:cNvSpPr>
            <p:nvPr/>
          </p:nvSpPr>
          <p:spPr bwMode="auto">
            <a:xfrm>
              <a:off x="1775"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35" name="Line 38"/>
            <p:cNvSpPr>
              <a:spLocks noChangeShapeType="1"/>
            </p:cNvSpPr>
            <p:nvPr/>
          </p:nvSpPr>
          <p:spPr bwMode="auto">
            <a:xfrm>
              <a:off x="1775"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6" name="Line 39"/>
            <p:cNvSpPr>
              <a:spLocks noChangeShapeType="1"/>
            </p:cNvSpPr>
            <p:nvPr/>
          </p:nvSpPr>
          <p:spPr bwMode="auto">
            <a:xfrm>
              <a:off x="1775"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7" name="Rectangle 40"/>
            <p:cNvSpPr>
              <a:spLocks noChangeArrowheads="1"/>
            </p:cNvSpPr>
            <p:nvPr/>
          </p:nvSpPr>
          <p:spPr bwMode="auto">
            <a:xfrm>
              <a:off x="1783" y="1056"/>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38" name="Line 41"/>
            <p:cNvSpPr>
              <a:spLocks noChangeShapeType="1"/>
            </p:cNvSpPr>
            <p:nvPr/>
          </p:nvSpPr>
          <p:spPr bwMode="auto">
            <a:xfrm>
              <a:off x="1783" y="1056"/>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39" name="Rectangle 42"/>
            <p:cNvSpPr>
              <a:spLocks noChangeArrowheads="1"/>
            </p:cNvSpPr>
            <p:nvPr/>
          </p:nvSpPr>
          <p:spPr bwMode="auto">
            <a:xfrm>
              <a:off x="2164"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40" name="Line 43"/>
            <p:cNvSpPr>
              <a:spLocks noChangeShapeType="1"/>
            </p:cNvSpPr>
            <p:nvPr/>
          </p:nvSpPr>
          <p:spPr bwMode="auto">
            <a:xfrm>
              <a:off x="2164"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1" name="Line 44"/>
            <p:cNvSpPr>
              <a:spLocks noChangeShapeType="1"/>
            </p:cNvSpPr>
            <p:nvPr/>
          </p:nvSpPr>
          <p:spPr bwMode="auto">
            <a:xfrm>
              <a:off x="2164"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2" name="Rectangle 45"/>
            <p:cNvSpPr>
              <a:spLocks noChangeArrowheads="1"/>
            </p:cNvSpPr>
            <p:nvPr/>
          </p:nvSpPr>
          <p:spPr bwMode="auto">
            <a:xfrm>
              <a:off x="2172" y="1056"/>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43" name="Line 46"/>
            <p:cNvSpPr>
              <a:spLocks noChangeShapeType="1"/>
            </p:cNvSpPr>
            <p:nvPr/>
          </p:nvSpPr>
          <p:spPr bwMode="auto">
            <a:xfrm>
              <a:off x="2172" y="1056"/>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4" name="Rectangle 47"/>
            <p:cNvSpPr>
              <a:spLocks noChangeArrowheads="1"/>
            </p:cNvSpPr>
            <p:nvPr/>
          </p:nvSpPr>
          <p:spPr bwMode="auto">
            <a:xfrm>
              <a:off x="2553"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45" name="Line 48"/>
            <p:cNvSpPr>
              <a:spLocks noChangeShapeType="1"/>
            </p:cNvSpPr>
            <p:nvPr/>
          </p:nvSpPr>
          <p:spPr bwMode="auto">
            <a:xfrm>
              <a:off x="2553"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6" name="Line 49"/>
            <p:cNvSpPr>
              <a:spLocks noChangeShapeType="1"/>
            </p:cNvSpPr>
            <p:nvPr/>
          </p:nvSpPr>
          <p:spPr bwMode="auto">
            <a:xfrm>
              <a:off x="2553"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7" name="Rectangle 50"/>
            <p:cNvSpPr>
              <a:spLocks noChangeArrowheads="1"/>
            </p:cNvSpPr>
            <p:nvPr/>
          </p:nvSpPr>
          <p:spPr bwMode="auto">
            <a:xfrm>
              <a:off x="2561"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48" name="Line 51"/>
            <p:cNvSpPr>
              <a:spLocks noChangeShapeType="1"/>
            </p:cNvSpPr>
            <p:nvPr/>
          </p:nvSpPr>
          <p:spPr bwMode="auto">
            <a:xfrm>
              <a:off x="2561"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49" name="Rectangle 52"/>
            <p:cNvSpPr>
              <a:spLocks noChangeArrowheads="1"/>
            </p:cNvSpPr>
            <p:nvPr/>
          </p:nvSpPr>
          <p:spPr bwMode="auto">
            <a:xfrm>
              <a:off x="2941"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50" name="Line 53"/>
            <p:cNvSpPr>
              <a:spLocks noChangeShapeType="1"/>
            </p:cNvSpPr>
            <p:nvPr/>
          </p:nvSpPr>
          <p:spPr bwMode="auto">
            <a:xfrm>
              <a:off x="2941"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1" name="Line 54"/>
            <p:cNvSpPr>
              <a:spLocks noChangeShapeType="1"/>
            </p:cNvSpPr>
            <p:nvPr/>
          </p:nvSpPr>
          <p:spPr bwMode="auto">
            <a:xfrm>
              <a:off x="2941"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2" name="Rectangle 55"/>
            <p:cNvSpPr>
              <a:spLocks noChangeArrowheads="1"/>
            </p:cNvSpPr>
            <p:nvPr/>
          </p:nvSpPr>
          <p:spPr bwMode="auto">
            <a:xfrm>
              <a:off x="2950"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53" name="Line 56"/>
            <p:cNvSpPr>
              <a:spLocks noChangeShapeType="1"/>
            </p:cNvSpPr>
            <p:nvPr/>
          </p:nvSpPr>
          <p:spPr bwMode="auto">
            <a:xfrm>
              <a:off x="2950"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4" name="Rectangle 57"/>
            <p:cNvSpPr>
              <a:spLocks noChangeArrowheads="1"/>
            </p:cNvSpPr>
            <p:nvPr/>
          </p:nvSpPr>
          <p:spPr bwMode="auto">
            <a:xfrm>
              <a:off x="3330"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55" name="Line 58"/>
            <p:cNvSpPr>
              <a:spLocks noChangeShapeType="1"/>
            </p:cNvSpPr>
            <p:nvPr/>
          </p:nvSpPr>
          <p:spPr bwMode="auto">
            <a:xfrm>
              <a:off x="3330"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6" name="Line 59"/>
            <p:cNvSpPr>
              <a:spLocks noChangeShapeType="1"/>
            </p:cNvSpPr>
            <p:nvPr/>
          </p:nvSpPr>
          <p:spPr bwMode="auto">
            <a:xfrm>
              <a:off x="3330"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7" name="Rectangle 60"/>
            <p:cNvSpPr>
              <a:spLocks noChangeArrowheads="1"/>
            </p:cNvSpPr>
            <p:nvPr/>
          </p:nvSpPr>
          <p:spPr bwMode="auto">
            <a:xfrm>
              <a:off x="3339"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58" name="Line 61"/>
            <p:cNvSpPr>
              <a:spLocks noChangeShapeType="1"/>
            </p:cNvSpPr>
            <p:nvPr/>
          </p:nvSpPr>
          <p:spPr bwMode="auto">
            <a:xfrm>
              <a:off x="3339"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59" name="Rectangle 62"/>
            <p:cNvSpPr>
              <a:spLocks noChangeArrowheads="1"/>
            </p:cNvSpPr>
            <p:nvPr/>
          </p:nvSpPr>
          <p:spPr bwMode="auto">
            <a:xfrm>
              <a:off x="3719"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60" name="Line 63"/>
            <p:cNvSpPr>
              <a:spLocks noChangeShapeType="1"/>
            </p:cNvSpPr>
            <p:nvPr/>
          </p:nvSpPr>
          <p:spPr bwMode="auto">
            <a:xfrm>
              <a:off x="3719"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1" name="Line 64"/>
            <p:cNvSpPr>
              <a:spLocks noChangeShapeType="1"/>
            </p:cNvSpPr>
            <p:nvPr/>
          </p:nvSpPr>
          <p:spPr bwMode="auto">
            <a:xfrm>
              <a:off x="3719"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2" name="Rectangle 65"/>
            <p:cNvSpPr>
              <a:spLocks noChangeArrowheads="1"/>
            </p:cNvSpPr>
            <p:nvPr/>
          </p:nvSpPr>
          <p:spPr bwMode="auto">
            <a:xfrm>
              <a:off x="3727" y="1056"/>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63" name="Line 66"/>
            <p:cNvSpPr>
              <a:spLocks noChangeShapeType="1"/>
            </p:cNvSpPr>
            <p:nvPr/>
          </p:nvSpPr>
          <p:spPr bwMode="auto">
            <a:xfrm>
              <a:off x="3727" y="1056"/>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4" name="Rectangle 67"/>
            <p:cNvSpPr>
              <a:spLocks noChangeArrowheads="1"/>
            </p:cNvSpPr>
            <p:nvPr/>
          </p:nvSpPr>
          <p:spPr bwMode="auto">
            <a:xfrm>
              <a:off x="4108"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65" name="Line 68"/>
            <p:cNvSpPr>
              <a:spLocks noChangeShapeType="1"/>
            </p:cNvSpPr>
            <p:nvPr/>
          </p:nvSpPr>
          <p:spPr bwMode="auto">
            <a:xfrm>
              <a:off x="4108"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6" name="Line 69"/>
            <p:cNvSpPr>
              <a:spLocks noChangeShapeType="1"/>
            </p:cNvSpPr>
            <p:nvPr/>
          </p:nvSpPr>
          <p:spPr bwMode="auto">
            <a:xfrm>
              <a:off x="4108"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7" name="Rectangle 70"/>
            <p:cNvSpPr>
              <a:spLocks noChangeArrowheads="1"/>
            </p:cNvSpPr>
            <p:nvPr/>
          </p:nvSpPr>
          <p:spPr bwMode="auto">
            <a:xfrm>
              <a:off x="4116" y="1056"/>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68" name="Line 71"/>
            <p:cNvSpPr>
              <a:spLocks noChangeShapeType="1"/>
            </p:cNvSpPr>
            <p:nvPr/>
          </p:nvSpPr>
          <p:spPr bwMode="auto">
            <a:xfrm>
              <a:off x="4116" y="1056"/>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69" name="Rectangle 72"/>
            <p:cNvSpPr>
              <a:spLocks noChangeArrowheads="1"/>
            </p:cNvSpPr>
            <p:nvPr/>
          </p:nvSpPr>
          <p:spPr bwMode="auto">
            <a:xfrm>
              <a:off x="4488" y="105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70" name="Line 73"/>
            <p:cNvSpPr>
              <a:spLocks noChangeShapeType="1"/>
            </p:cNvSpPr>
            <p:nvPr/>
          </p:nvSpPr>
          <p:spPr bwMode="auto">
            <a:xfrm>
              <a:off x="4488" y="1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1" name="Line 74"/>
            <p:cNvSpPr>
              <a:spLocks noChangeShapeType="1"/>
            </p:cNvSpPr>
            <p:nvPr/>
          </p:nvSpPr>
          <p:spPr bwMode="auto">
            <a:xfrm>
              <a:off x="4488"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2" name="Rectangle 75"/>
            <p:cNvSpPr>
              <a:spLocks noChangeArrowheads="1"/>
            </p:cNvSpPr>
            <p:nvPr/>
          </p:nvSpPr>
          <p:spPr bwMode="auto">
            <a:xfrm>
              <a:off x="4497" y="1056"/>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73" name="Line 76"/>
            <p:cNvSpPr>
              <a:spLocks noChangeShapeType="1"/>
            </p:cNvSpPr>
            <p:nvPr/>
          </p:nvSpPr>
          <p:spPr bwMode="auto">
            <a:xfrm>
              <a:off x="4497" y="1056"/>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4" name="Rectangle 77"/>
            <p:cNvSpPr>
              <a:spLocks noChangeArrowheads="1"/>
            </p:cNvSpPr>
            <p:nvPr/>
          </p:nvSpPr>
          <p:spPr bwMode="auto">
            <a:xfrm>
              <a:off x="4877"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75" name="Line 78"/>
            <p:cNvSpPr>
              <a:spLocks noChangeShapeType="1"/>
            </p:cNvSpPr>
            <p:nvPr/>
          </p:nvSpPr>
          <p:spPr bwMode="auto">
            <a:xfrm>
              <a:off x="4877"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6" name="Line 79"/>
            <p:cNvSpPr>
              <a:spLocks noChangeShapeType="1"/>
            </p:cNvSpPr>
            <p:nvPr/>
          </p:nvSpPr>
          <p:spPr bwMode="auto">
            <a:xfrm>
              <a:off x="4877"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7" name="Rectangle 80"/>
            <p:cNvSpPr>
              <a:spLocks noChangeArrowheads="1"/>
            </p:cNvSpPr>
            <p:nvPr/>
          </p:nvSpPr>
          <p:spPr bwMode="auto">
            <a:xfrm>
              <a:off x="4877" y="1056"/>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78" name="Line 81"/>
            <p:cNvSpPr>
              <a:spLocks noChangeShapeType="1"/>
            </p:cNvSpPr>
            <p:nvPr/>
          </p:nvSpPr>
          <p:spPr bwMode="auto">
            <a:xfrm>
              <a:off x="4877" y="1056"/>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79" name="Line 82"/>
            <p:cNvSpPr>
              <a:spLocks noChangeShapeType="1"/>
            </p:cNvSpPr>
            <p:nvPr/>
          </p:nvSpPr>
          <p:spPr bwMode="auto">
            <a:xfrm>
              <a:off x="4877" y="105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80" name="Rectangle 83"/>
            <p:cNvSpPr>
              <a:spLocks noChangeArrowheads="1"/>
            </p:cNvSpPr>
            <p:nvPr/>
          </p:nvSpPr>
          <p:spPr bwMode="auto">
            <a:xfrm>
              <a:off x="997" y="1064"/>
              <a:ext cx="9"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81" name="Line 84"/>
            <p:cNvSpPr>
              <a:spLocks noChangeShapeType="1"/>
            </p:cNvSpPr>
            <p:nvPr/>
          </p:nvSpPr>
          <p:spPr bwMode="auto">
            <a:xfrm>
              <a:off x="997"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82" name="Rectangle 85"/>
            <p:cNvSpPr>
              <a:spLocks noChangeArrowheads="1"/>
            </p:cNvSpPr>
            <p:nvPr/>
          </p:nvSpPr>
          <p:spPr bwMode="auto">
            <a:xfrm>
              <a:off x="1386" y="1064"/>
              <a:ext cx="9"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83" name="Line 86"/>
            <p:cNvSpPr>
              <a:spLocks noChangeShapeType="1"/>
            </p:cNvSpPr>
            <p:nvPr/>
          </p:nvSpPr>
          <p:spPr bwMode="auto">
            <a:xfrm>
              <a:off x="1386"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84" name="Rectangle 87"/>
            <p:cNvSpPr>
              <a:spLocks noChangeArrowheads="1"/>
            </p:cNvSpPr>
            <p:nvPr/>
          </p:nvSpPr>
          <p:spPr bwMode="auto">
            <a:xfrm>
              <a:off x="1775"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85" name="Line 88"/>
            <p:cNvSpPr>
              <a:spLocks noChangeShapeType="1"/>
            </p:cNvSpPr>
            <p:nvPr/>
          </p:nvSpPr>
          <p:spPr bwMode="auto">
            <a:xfrm>
              <a:off x="1775"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86" name="Rectangle 89"/>
            <p:cNvSpPr>
              <a:spLocks noChangeArrowheads="1"/>
            </p:cNvSpPr>
            <p:nvPr/>
          </p:nvSpPr>
          <p:spPr bwMode="auto">
            <a:xfrm>
              <a:off x="2164"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87" name="Line 90"/>
            <p:cNvSpPr>
              <a:spLocks noChangeShapeType="1"/>
            </p:cNvSpPr>
            <p:nvPr/>
          </p:nvSpPr>
          <p:spPr bwMode="auto">
            <a:xfrm>
              <a:off x="2164"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88" name="Rectangle 91"/>
            <p:cNvSpPr>
              <a:spLocks noChangeArrowheads="1"/>
            </p:cNvSpPr>
            <p:nvPr/>
          </p:nvSpPr>
          <p:spPr bwMode="auto">
            <a:xfrm>
              <a:off x="2553"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89" name="Line 92"/>
            <p:cNvSpPr>
              <a:spLocks noChangeShapeType="1"/>
            </p:cNvSpPr>
            <p:nvPr/>
          </p:nvSpPr>
          <p:spPr bwMode="auto">
            <a:xfrm>
              <a:off x="2553"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90" name="Rectangle 93"/>
            <p:cNvSpPr>
              <a:spLocks noChangeArrowheads="1"/>
            </p:cNvSpPr>
            <p:nvPr/>
          </p:nvSpPr>
          <p:spPr bwMode="auto">
            <a:xfrm>
              <a:off x="2941" y="1064"/>
              <a:ext cx="9"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91" name="Line 94"/>
            <p:cNvSpPr>
              <a:spLocks noChangeShapeType="1"/>
            </p:cNvSpPr>
            <p:nvPr/>
          </p:nvSpPr>
          <p:spPr bwMode="auto">
            <a:xfrm>
              <a:off x="2941"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92" name="Rectangle 95"/>
            <p:cNvSpPr>
              <a:spLocks noChangeArrowheads="1"/>
            </p:cNvSpPr>
            <p:nvPr/>
          </p:nvSpPr>
          <p:spPr bwMode="auto">
            <a:xfrm>
              <a:off x="3330" y="1064"/>
              <a:ext cx="9"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93" name="Line 96"/>
            <p:cNvSpPr>
              <a:spLocks noChangeShapeType="1"/>
            </p:cNvSpPr>
            <p:nvPr/>
          </p:nvSpPr>
          <p:spPr bwMode="auto">
            <a:xfrm>
              <a:off x="3330"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94" name="Rectangle 97"/>
            <p:cNvSpPr>
              <a:spLocks noChangeArrowheads="1"/>
            </p:cNvSpPr>
            <p:nvPr/>
          </p:nvSpPr>
          <p:spPr bwMode="auto">
            <a:xfrm>
              <a:off x="3719"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95" name="Line 98"/>
            <p:cNvSpPr>
              <a:spLocks noChangeShapeType="1"/>
            </p:cNvSpPr>
            <p:nvPr/>
          </p:nvSpPr>
          <p:spPr bwMode="auto">
            <a:xfrm>
              <a:off x="3719"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96" name="Rectangle 99"/>
            <p:cNvSpPr>
              <a:spLocks noChangeArrowheads="1"/>
            </p:cNvSpPr>
            <p:nvPr/>
          </p:nvSpPr>
          <p:spPr bwMode="auto">
            <a:xfrm>
              <a:off x="4108"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97" name="Line 100"/>
            <p:cNvSpPr>
              <a:spLocks noChangeShapeType="1"/>
            </p:cNvSpPr>
            <p:nvPr/>
          </p:nvSpPr>
          <p:spPr bwMode="auto">
            <a:xfrm>
              <a:off x="4108"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98" name="Rectangle 101"/>
            <p:cNvSpPr>
              <a:spLocks noChangeArrowheads="1"/>
            </p:cNvSpPr>
            <p:nvPr/>
          </p:nvSpPr>
          <p:spPr bwMode="auto">
            <a:xfrm>
              <a:off x="4488" y="1064"/>
              <a:ext cx="9"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199" name="Line 102"/>
            <p:cNvSpPr>
              <a:spLocks noChangeShapeType="1"/>
            </p:cNvSpPr>
            <p:nvPr/>
          </p:nvSpPr>
          <p:spPr bwMode="auto">
            <a:xfrm>
              <a:off x="4488"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00" name="Rectangle 103"/>
            <p:cNvSpPr>
              <a:spLocks noChangeArrowheads="1"/>
            </p:cNvSpPr>
            <p:nvPr/>
          </p:nvSpPr>
          <p:spPr bwMode="auto">
            <a:xfrm>
              <a:off x="4877" y="1064"/>
              <a:ext cx="8" cy="28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01" name="Line 104"/>
            <p:cNvSpPr>
              <a:spLocks noChangeShapeType="1"/>
            </p:cNvSpPr>
            <p:nvPr/>
          </p:nvSpPr>
          <p:spPr bwMode="auto">
            <a:xfrm>
              <a:off x="4877" y="1064"/>
              <a:ext cx="1" cy="2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02" name="Rectangle 105"/>
            <p:cNvSpPr>
              <a:spLocks noChangeArrowheads="1"/>
            </p:cNvSpPr>
            <p:nvPr/>
          </p:nvSpPr>
          <p:spPr bwMode="auto">
            <a:xfrm>
              <a:off x="1124"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03" name="Rectangle 106"/>
            <p:cNvSpPr>
              <a:spLocks noChangeArrowheads="1"/>
            </p:cNvSpPr>
            <p:nvPr/>
          </p:nvSpPr>
          <p:spPr bwMode="auto">
            <a:xfrm>
              <a:off x="1124" y="1344"/>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04" name="Rectangle 107"/>
            <p:cNvSpPr>
              <a:spLocks noChangeArrowheads="1"/>
            </p:cNvSpPr>
            <p:nvPr/>
          </p:nvSpPr>
          <p:spPr bwMode="auto">
            <a:xfrm>
              <a:off x="1505" y="1344"/>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05" name="Rectangle 108"/>
            <p:cNvSpPr>
              <a:spLocks noChangeArrowheads="1"/>
            </p:cNvSpPr>
            <p:nvPr/>
          </p:nvSpPr>
          <p:spPr bwMode="auto">
            <a:xfrm>
              <a:off x="1893" y="1344"/>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06" name="Rectangle 109"/>
            <p:cNvSpPr>
              <a:spLocks noChangeArrowheads="1"/>
            </p:cNvSpPr>
            <p:nvPr/>
          </p:nvSpPr>
          <p:spPr bwMode="auto">
            <a:xfrm>
              <a:off x="2282"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07" name="Rectangle 110"/>
            <p:cNvSpPr>
              <a:spLocks noChangeArrowheads="1"/>
            </p:cNvSpPr>
            <p:nvPr/>
          </p:nvSpPr>
          <p:spPr bwMode="auto">
            <a:xfrm>
              <a:off x="2282" y="1344"/>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08" name="Rectangle 111"/>
            <p:cNvSpPr>
              <a:spLocks noChangeArrowheads="1"/>
            </p:cNvSpPr>
            <p:nvPr/>
          </p:nvSpPr>
          <p:spPr bwMode="auto">
            <a:xfrm>
              <a:off x="2671"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09" name="Rectangle 112"/>
            <p:cNvSpPr>
              <a:spLocks noChangeArrowheads="1"/>
            </p:cNvSpPr>
            <p:nvPr/>
          </p:nvSpPr>
          <p:spPr bwMode="auto">
            <a:xfrm>
              <a:off x="2671" y="1344"/>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10" name="Rectangle 113"/>
            <p:cNvSpPr>
              <a:spLocks noChangeArrowheads="1"/>
            </p:cNvSpPr>
            <p:nvPr/>
          </p:nvSpPr>
          <p:spPr bwMode="auto">
            <a:xfrm>
              <a:off x="3060"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11" name="Rectangle 114"/>
            <p:cNvSpPr>
              <a:spLocks noChangeArrowheads="1"/>
            </p:cNvSpPr>
            <p:nvPr/>
          </p:nvSpPr>
          <p:spPr bwMode="auto">
            <a:xfrm>
              <a:off x="3060" y="1344"/>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12" name="Rectangle 115"/>
            <p:cNvSpPr>
              <a:spLocks noChangeArrowheads="1"/>
            </p:cNvSpPr>
            <p:nvPr/>
          </p:nvSpPr>
          <p:spPr bwMode="auto">
            <a:xfrm>
              <a:off x="3449" y="1344"/>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13" name="Rectangle 116"/>
            <p:cNvSpPr>
              <a:spLocks noChangeArrowheads="1"/>
            </p:cNvSpPr>
            <p:nvPr/>
          </p:nvSpPr>
          <p:spPr bwMode="auto">
            <a:xfrm>
              <a:off x="3449" y="1344"/>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14" name="Rectangle 117"/>
            <p:cNvSpPr>
              <a:spLocks noChangeArrowheads="1"/>
            </p:cNvSpPr>
            <p:nvPr/>
          </p:nvSpPr>
          <p:spPr bwMode="auto">
            <a:xfrm>
              <a:off x="3837"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15" name="Rectangle 118"/>
            <p:cNvSpPr>
              <a:spLocks noChangeArrowheads="1"/>
            </p:cNvSpPr>
            <p:nvPr/>
          </p:nvSpPr>
          <p:spPr bwMode="auto">
            <a:xfrm>
              <a:off x="3837" y="1344"/>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16" name="Rectangle 119"/>
            <p:cNvSpPr>
              <a:spLocks noChangeArrowheads="1"/>
            </p:cNvSpPr>
            <p:nvPr/>
          </p:nvSpPr>
          <p:spPr bwMode="auto">
            <a:xfrm>
              <a:off x="4615" y="1344"/>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17" name="Rectangle 120"/>
            <p:cNvSpPr>
              <a:spLocks noChangeArrowheads="1"/>
            </p:cNvSpPr>
            <p:nvPr/>
          </p:nvSpPr>
          <p:spPr bwMode="auto">
            <a:xfrm>
              <a:off x="4615" y="1344"/>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18" name="Rectangle 121"/>
            <p:cNvSpPr>
              <a:spLocks noChangeArrowheads="1"/>
            </p:cNvSpPr>
            <p:nvPr/>
          </p:nvSpPr>
          <p:spPr bwMode="auto">
            <a:xfrm>
              <a:off x="997" y="1344"/>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19" name="Line 122"/>
            <p:cNvSpPr>
              <a:spLocks noChangeShapeType="1"/>
            </p:cNvSpPr>
            <p:nvPr/>
          </p:nvSpPr>
          <p:spPr bwMode="auto">
            <a:xfrm>
              <a:off x="997" y="134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0" name="Line 123"/>
            <p:cNvSpPr>
              <a:spLocks noChangeShapeType="1"/>
            </p:cNvSpPr>
            <p:nvPr/>
          </p:nvSpPr>
          <p:spPr bwMode="auto">
            <a:xfrm>
              <a:off x="997"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1" name="Rectangle 124"/>
            <p:cNvSpPr>
              <a:spLocks noChangeArrowheads="1"/>
            </p:cNvSpPr>
            <p:nvPr/>
          </p:nvSpPr>
          <p:spPr bwMode="auto">
            <a:xfrm>
              <a:off x="1006"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22" name="Line 125"/>
            <p:cNvSpPr>
              <a:spLocks noChangeShapeType="1"/>
            </p:cNvSpPr>
            <p:nvPr/>
          </p:nvSpPr>
          <p:spPr bwMode="auto">
            <a:xfrm>
              <a:off x="1006"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3" name="Rectangle 126"/>
            <p:cNvSpPr>
              <a:spLocks noChangeArrowheads="1"/>
            </p:cNvSpPr>
            <p:nvPr/>
          </p:nvSpPr>
          <p:spPr bwMode="auto">
            <a:xfrm>
              <a:off x="1386" y="1344"/>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24" name="Line 127"/>
            <p:cNvSpPr>
              <a:spLocks noChangeShapeType="1"/>
            </p:cNvSpPr>
            <p:nvPr/>
          </p:nvSpPr>
          <p:spPr bwMode="auto">
            <a:xfrm>
              <a:off x="1386" y="134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5" name="Line 128"/>
            <p:cNvSpPr>
              <a:spLocks noChangeShapeType="1"/>
            </p:cNvSpPr>
            <p:nvPr/>
          </p:nvSpPr>
          <p:spPr bwMode="auto">
            <a:xfrm>
              <a:off x="1386"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6" name="Rectangle 129"/>
            <p:cNvSpPr>
              <a:spLocks noChangeArrowheads="1"/>
            </p:cNvSpPr>
            <p:nvPr/>
          </p:nvSpPr>
          <p:spPr bwMode="auto">
            <a:xfrm>
              <a:off x="1395"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27" name="Line 130"/>
            <p:cNvSpPr>
              <a:spLocks noChangeShapeType="1"/>
            </p:cNvSpPr>
            <p:nvPr/>
          </p:nvSpPr>
          <p:spPr bwMode="auto">
            <a:xfrm>
              <a:off x="1395"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28" name="Rectangle 131"/>
            <p:cNvSpPr>
              <a:spLocks noChangeArrowheads="1"/>
            </p:cNvSpPr>
            <p:nvPr/>
          </p:nvSpPr>
          <p:spPr bwMode="auto">
            <a:xfrm>
              <a:off x="1775"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29" name="Line 132"/>
            <p:cNvSpPr>
              <a:spLocks noChangeShapeType="1"/>
            </p:cNvSpPr>
            <p:nvPr/>
          </p:nvSpPr>
          <p:spPr bwMode="auto">
            <a:xfrm>
              <a:off x="1775"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0" name="Line 133"/>
            <p:cNvSpPr>
              <a:spLocks noChangeShapeType="1"/>
            </p:cNvSpPr>
            <p:nvPr/>
          </p:nvSpPr>
          <p:spPr bwMode="auto">
            <a:xfrm>
              <a:off x="1775"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1" name="Rectangle 134"/>
            <p:cNvSpPr>
              <a:spLocks noChangeArrowheads="1"/>
            </p:cNvSpPr>
            <p:nvPr/>
          </p:nvSpPr>
          <p:spPr bwMode="auto">
            <a:xfrm>
              <a:off x="1783" y="1344"/>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32" name="Line 135"/>
            <p:cNvSpPr>
              <a:spLocks noChangeShapeType="1"/>
            </p:cNvSpPr>
            <p:nvPr/>
          </p:nvSpPr>
          <p:spPr bwMode="auto">
            <a:xfrm>
              <a:off x="1783" y="1344"/>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3" name="Rectangle 136"/>
            <p:cNvSpPr>
              <a:spLocks noChangeArrowheads="1"/>
            </p:cNvSpPr>
            <p:nvPr/>
          </p:nvSpPr>
          <p:spPr bwMode="auto">
            <a:xfrm>
              <a:off x="2164"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34" name="Line 137"/>
            <p:cNvSpPr>
              <a:spLocks noChangeShapeType="1"/>
            </p:cNvSpPr>
            <p:nvPr/>
          </p:nvSpPr>
          <p:spPr bwMode="auto">
            <a:xfrm>
              <a:off x="2164"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5" name="Line 138"/>
            <p:cNvSpPr>
              <a:spLocks noChangeShapeType="1"/>
            </p:cNvSpPr>
            <p:nvPr/>
          </p:nvSpPr>
          <p:spPr bwMode="auto">
            <a:xfrm>
              <a:off x="2164"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6" name="Rectangle 139"/>
            <p:cNvSpPr>
              <a:spLocks noChangeArrowheads="1"/>
            </p:cNvSpPr>
            <p:nvPr/>
          </p:nvSpPr>
          <p:spPr bwMode="auto">
            <a:xfrm>
              <a:off x="2172" y="1344"/>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37" name="Line 140"/>
            <p:cNvSpPr>
              <a:spLocks noChangeShapeType="1"/>
            </p:cNvSpPr>
            <p:nvPr/>
          </p:nvSpPr>
          <p:spPr bwMode="auto">
            <a:xfrm>
              <a:off x="2172" y="1344"/>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38" name="Rectangle 141"/>
            <p:cNvSpPr>
              <a:spLocks noChangeArrowheads="1"/>
            </p:cNvSpPr>
            <p:nvPr/>
          </p:nvSpPr>
          <p:spPr bwMode="auto">
            <a:xfrm>
              <a:off x="2553"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39" name="Line 142"/>
            <p:cNvSpPr>
              <a:spLocks noChangeShapeType="1"/>
            </p:cNvSpPr>
            <p:nvPr/>
          </p:nvSpPr>
          <p:spPr bwMode="auto">
            <a:xfrm>
              <a:off x="2553"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0" name="Line 143"/>
            <p:cNvSpPr>
              <a:spLocks noChangeShapeType="1"/>
            </p:cNvSpPr>
            <p:nvPr/>
          </p:nvSpPr>
          <p:spPr bwMode="auto">
            <a:xfrm>
              <a:off x="2553"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1" name="Rectangle 144"/>
            <p:cNvSpPr>
              <a:spLocks noChangeArrowheads="1"/>
            </p:cNvSpPr>
            <p:nvPr/>
          </p:nvSpPr>
          <p:spPr bwMode="auto">
            <a:xfrm>
              <a:off x="2561"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42" name="Line 145"/>
            <p:cNvSpPr>
              <a:spLocks noChangeShapeType="1"/>
            </p:cNvSpPr>
            <p:nvPr/>
          </p:nvSpPr>
          <p:spPr bwMode="auto">
            <a:xfrm>
              <a:off x="2561"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3" name="Rectangle 146"/>
            <p:cNvSpPr>
              <a:spLocks noChangeArrowheads="1"/>
            </p:cNvSpPr>
            <p:nvPr/>
          </p:nvSpPr>
          <p:spPr bwMode="auto">
            <a:xfrm>
              <a:off x="2941" y="1344"/>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44" name="Line 147"/>
            <p:cNvSpPr>
              <a:spLocks noChangeShapeType="1"/>
            </p:cNvSpPr>
            <p:nvPr/>
          </p:nvSpPr>
          <p:spPr bwMode="auto">
            <a:xfrm>
              <a:off x="2941" y="134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5" name="Line 148"/>
            <p:cNvSpPr>
              <a:spLocks noChangeShapeType="1"/>
            </p:cNvSpPr>
            <p:nvPr/>
          </p:nvSpPr>
          <p:spPr bwMode="auto">
            <a:xfrm>
              <a:off x="2941"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6" name="Rectangle 149"/>
            <p:cNvSpPr>
              <a:spLocks noChangeArrowheads="1"/>
            </p:cNvSpPr>
            <p:nvPr/>
          </p:nvSpPr>
          <p:spPr bwMode="auto">
            <a:xfrm>
              <a:off x="2950"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47" name="Line 150"/>
            <p:cNvSpPr>
              <a:spLocks noChangeShapeType="1"/>
            </p:cNvSpPr>
            <p:nvPr/>
          </p:nvSpPr>
          <p:spPr bwMode="auto">
            <a:xfrm>
              <a:off x="2950"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48" name="Rectangle 151"/>
            <p:cNvSpPr>
              <a:spLocks noChangeArrowheads="1"/>
            </p:cNvSpPr>
            <p:nvPr/>
          </p:nvSpPr>
          <p:spPr bwMode="auto">
            <a:xfrm>
              <a:off x="3330" y="1344"/>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49" name="Line 152"/>
            <p:cNvSpPr>
              <a:spLocks noChangeShapeType="1"/>
            </p:cNvSpPr>
            <p:nvPr/>
          </p:nvSpPr>
          <p:spPr bwMode="auto">
            <a:xfrm>
              <a:off x="3330" y="134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0" name="Line 153"/>
            <p:cNvSpPr>
              <a:spLocks noChangeShapeType="1"/>
            </p:cNvSpPr>
            <p:nvPr/>
          </p:nvSpPr>
          <p:spPr bwMode="auto">
            <a:xfrm>
              <a:off x="3330"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1" name="Rectangle 154"/>
            <p:cNvSpPr>
              <a:spLocks noChangeArrowheads="1"/>
            </p:cNvSpPr>
            <p:nvPr/>
          </p:nvSpPr>
          <p:spPr bwMode="auto">
            <a:xfrm>
              <a:off x="3339"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52" name="Line 155"/>
            <p:cNvSpPr>
              <a:spLocks noChangeShapeType="1"/>
            </p:cNvSpPr>
            <p:nvPr/>
          </p:nvSpPr>
          <p:spPr bwMode="auto">
            <a:xfrm>
              <a:off x="3339"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3" name="Rectangle 156"/>
            <p:cNvSpPr>
              <a:spLocks noChangeArrowheads="1"/>
            </p:cNvSpPr>
            <p:nvPr/>
          </p:nvSpPr>
          <p:spPr bwMode="auto">
            <a:xfrm>
              <a:off x="3719"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54" name="Line 157"/>
            <p:cNvSpPr>
              <a:spLocks noChangeShapeType="1"/>
            </p:cNvSpPr>
            <p:nvPr/>
          </p:nvSpPr>
          <p:spPr bwMode="auto">
            <a:xfrm>
              <a:off x="3719"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5" name="Line 158"/>
            <p:cNvSpPr>
              <a:spLocks noChangeShapeType="1"/>
            </p:cNvSpPr>
            <p:nvPr/>
          </p:nvSpPr>
          <p:spPr bwMode="auto">
            <a:xfrm>
              <a:off x="3719"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6" name="Rectangle 159"/>
            <p:cNvSpPr>
              <a:spLocks noChangeArrowheads="1"/>
            </p:cNvSpPr>
            <p:nvPr/>
          </p:nvSpPr>
          <p:spPr bwMode="auto">
            <a:xfrm>
              <a:off x="3727" y="1344"/>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57" name="Line 160"/>
            <p:cNvSpPr>
              <a:spLocks noChangeShapeType="1"/>
            </p:cNvSpPr>
            <p:nvPr/>
          </p:nvSpPr>
          <p:spPr bwMode="auto">
            <a:xfrm>
              <a:off x="3727" y="1344"/>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8" name="Rectangle 161"/>
            <p:cNvSpPr>
              <a:spLocks noChangeArrowheads="1"/>
            </p:cNvSpPr>
            <p:nvPr/>
          </p:nvSpPr>
          <p:spPr bwMode="auto">
            <a:xfrm>
              <a:off x="4108"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59" name="Line 162"/>
            <p:cNvSpPr>
              <a:spLocks noChangeShapeType="1"/>
            </p:cNvSpPr>
            <p:nvPr/>
          </p:nvSpPr>
          <p:spPr bwMode="auto">
            <a:xfrm>
              <a:off x="4108"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0" name="Line 163"/>
            <p:cNvSpPr>
              <a:spLocks noChangeShapeType="1"/>
            </p:cNvSpPr>
            <p:nvPr/>
          </p:nvSpPr>
          <p:spPr bwMode="auto">
            <a:xfrm>
              <a:off x="4108"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1" name="Rectangle 164"/>
            <p:cNvSpPr>
              <a:spLocks noChangeArrowheads="1"/>
            </p:cNvSpPr>
            <p:nvPr/>
          </p:nvSpPr>
          <p:spPr bwMode="auto">
            <a:xfrm>
              <a:off x="4116" y="1344"/>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62" name="Line 165"/>
            <p:cNvSpPr>
              <a:spLocks noChangeShapeType="1"/>
            </p:cNvSpPr>
            <p:nvPr/>
          </p:nvSpPr>
          <p:spPr bwMode="auto">
            <a:xfrm>
              <a:off x="4116" y="134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3" name="Rectangle 166"/>
            <p:cNvSpPr>
              <a:spLocks noChangeArrowheads="1"/>
            </p:cNvSpPr>
            <p:nvPr/>
          </p:nvSpPr>
          <p:spPr bwMode="auto">
            <a:xfrm>
              <a:off x="4488" y="1344"/>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64" name="Line 167"/>
            <p:cNvSpPr>
              <a:spLocks noChangeShapeType="1"/>
            </p:cNvSpPr>
            <p:nvPr/>
          </p:nvSpPr>
          <p:spPr bwMode="auto">
            <a:xfrm>
              <a:off x="4488" y="134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5" name="Line 168"/>
            <p:cNvSpPr>
              <a:spLocks noChangeShapeType="1"/>
            </p:cNvSpPr>
            <p:nvPr/>
          </p:nvSpPr>
          <p:spPr bwMode="auto">
            <a:xfrm>
              <a:off x="4488"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6" name="Rectangle 169"/>
            <p:cNvSpPr>
              <a:spLocks noChangeArrowheads="1"/>
            </p:cNvSpPr>
            <p:nvPr/>
          </p:nvSpPr>
          <p:spPr bwMode="auto">
            <a:xfrm>
              <a:off x="4497" y="1344"/>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67" name="Line 170"/>
            <p:cNvSpPr>
              <a:spLocks noChangeShapeType="1"/>
            </p:cNvSpPr>
            <p:nvPr/>
          </p:nvSpPr>
          <p:spPr bwMode="auto">
            <a:xfrm>
              <a:off x="4497" y="1344"/>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68" name="Rectangle 171"/>
            <p:cNvSpPr>
              <a:spLocks noChangeArrowheads="1"/>
            </p:cNvSpPr>
            <p:nvPr/>
          </p:nvSpPr>
          <p:spPr bwMode="auto">
            <a:xfrm>
              <a:off x="4877" y="1344"/>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69" name="Line 172"/>
            <p:cNvSpPr>
              <a:spLocks noChangeShapeType="1"/>
            </p:cNvSpPr>
            <p:nvPr/>
          </p:nvSpPr>
          <p:spPr bwMode="auto">
            <a:xfrm>
              <a:off x="4877" y="1344"/>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0" name="Line 173"/>
            <p:cNvSpPr>
              <a:spLocks noChangeShapeType="1"/>
            </p:cNvSpPr>
            <p:nvPr/>
          </p:nvSpPr>
          <p:spPr bwMode="auto">
            <a:xfrm>
              <a:off x="4877" y="1344"/>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1" name="Rectangle 174"/>
            <p:cNvSpPr>
              <a:spLocks noChangeArrowheads="1"/>
            </p:cNvSpPr>
            <p:nvPr/>
          </p:nvSpPr>
          <p:spPr bwMode="auto">
            <a:xfrm>
              <a:off x="997" y="1352"/>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72" name="Line 175"/>
            <p:cNvSpPr>
              <a:spLocks noChangeShapeType="1"/>
            </p:cNvSpPr>
            <p:nvPr/>
          </p:nvSpPr>
          <p:spPr bwMode="auto">
            <a:xfrm>
              <a:off x="997"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3" name="Rectangle 176"/>
            <p:cNvSpPr>
              <a:spLocks noChangeArrowheads="1"/>
            </p:cNvSpPr>
            <p:nvPr/>
          </p:nvSpPr>
          <p:spPr bwMode="auto">
            <a:xfrm>
              <a:off x="1386" y="1352"/>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74" name="Line 177"/>
            <p:cNvSpPr>
              <a:spLocks noChangeShapeType="1"/>
            </p:cNvSpPr>
            <p:nvPr/>
          </p:nvSpPr>
          <p:spPr bwMode="auto">
            <a:xfrm>
              <a:off x="1386"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5" name="Rectangle 178"/>
            <p:cNvSpPr>
              <a:spLocks noChangeArrowheads="1"/>
            </p:cNvSpPr>
            <p:nvPr/>
          </p:nvSpPr>
          <p:spPr bwMode="auto">
            <a:xfrm>
              <a:off x="1775"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76" name="Line 179"/>
            <p:cNvSpPr>
              <a:spLocks noChangeShapeType="1"/>
            </p:cNvSpPr>
            <p:nvPr/>
          </p:nvSpPr>
          <p:spPr bwMode="auto">
            <a:xfrm>
              <a:off x="1775"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7" name="Rectangle 180"/>
            <p:cNvSpPr>
              <a:spLocks noChangeArrowheads="1"/>
            </p:cNvSpPr>
            <p:nvPr/>
          </p:nvSpPr>
          <p:spPr bwMode="auto">
            <a:xfrm>
              <a:off x="2164"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78" name="Line 181"/>
            <p:cNvSpPr>
              <a:spLocks noChangeShapeType="1"/>
            </p:cNvSpPr>
            <p:nvPr/>
          </p:nvSpPr>
          <p:spPr bwMode="auto">
            <a:xfrm>
              <a:off x="2164"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79" name="Rectangle 182"/>
            <p:cNvSpPr>
              <a:spLocks noChangeArrowheads="1"/>
            </p:cNvSpPr>
            <p:nvPr/>
          </p:nvSpPr>
          <p:spPr bwMode="auto">
            <a:xfrm>
              <a:off x="2553"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80" name="Line 183"/>
            <p:cNvSpPr>
              <a:spLocks noChangeShapeType="1"/>
            </p:cNvSpPr>
            <p:nvPr/>
          </p:nvSpPr>
          <p:spPr bwMode="auto">
            <a:xfrm>
              <a:off x="2553"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81" name="Rectangle 184"/>
            <p:cNvSpPr>
              <a:spLocks noChangeArrowheads="1"/>
            </p:cNvSpPr>
            <p:nvPr/>
          </p:nvSpPr>
          <p:spPr bwMode="auto">
            <a:xfrm>
              <a:off x="2941" y="1352"/>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82" name="Line 185"/>
            <p:cNvSpPr>
              <a:spLocks noChangeShapeType="1"/>
            </p:cNvSpPr>
            <p:nvPr/>
          </p:nvSpPr>
          <p:spPr bwMode="auto">
            <a:xfrm>
              <a:off x="2941"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83" name="Rectangle 186"/>
            <p:cNvSpPr>
              <a:spLocks noChangeArrowheads="1"/>
            </p:cNvSpPr>
            <p:nvPr/>
          </p:nvSpPr>
          <p:spPr bwMode="auto">
            <a:xfrm>
              <a:off x="3330" y="1352"/>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84" name="Line 187"/>
            <p:cNvSpPr>
              <a:spLocks noChangeShapeType="1"/>
            </p:cNvSpPr>
            <p:nvPr/>
          </p:nvSpPr>
          <p:spPr bwMode="auto">
            <a:xfrm>
              <a:off x="3330"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85" name="Rectangle 188"/>
            <p:cNvSpPr>
              <a:spLocks noChangeArrowheads="1"/>
            </p:cNvSpPr>
            <p:nvPr/>
          </p:nvSpPr>
          <p:spPr bwMode="auto">
            <a:xfrm>
              <a:off x="3719"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86" name="Line 189"/>
            <p:cNvSpPr>
              <a:spLocks noChangeShapeType="1"/>
            </p:cNvSpPr>
            <p:nvPr/>
          </p:nvSpPr>
          <p:spPr bwMode="auto">
            <a:xfrm>
              <a:off x="3719"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87" name="Rectangle 190"/>
            <p:cNvSpPr>
              <a:spLocks noChangeArrowheads="1"/>
            </p:cNvSpPr>
            <p:nvPr/>
          </p:nvSpPr>
          <p:spPr bwMode="auto">
            <a:xfrm>
              <a:off x="4108"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88" name="Line 191"/>
            <p:cNvSpPr>
              <a:spLocks noChangeShapeType="1"/>
            </p:cNvSpPr>
            <p:nvPr/>
          </p:nvSpPr>
          <p:spPr bwMode="auto">
            <a:xfrm>
              <a:off x="4108"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89" name="Rectangle 192"/>
            <p:cNvSpPr>
              <a:spLocks noChangeArrowheads="1"/>
            </p:cNvSpPr>
            <p:nvPr/>
          </p:nvSpPr>
          <p:spPr bwMode="auto">
            <a:xfrm>
              <a:off x="4488" y="1352"/>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90" name="Line 193"/>
            <p:cNvSpPr>
              <a:spLocks noChangeShapeType="1"/>
            </p:cNvSpPr>
            <p:nvPr/>
          </p:nvSpPr>
          <p:spPr bwMode="auto">
            <a:xfrm>
              <a:off x="4488"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91" name="Rectangle 194"/>
            <p:cNvSpPr>
              <a:spLocks noChangeArrowheads="1"/>
            </p:cNvSpPr>
            <p:nvPr/>
          </p:nvSpPr>
          <p:spPr bwMode="auto">
            <a:xfrm>
              <a:off x="4877" y="1352"/>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92" name="Line 195"/>
            <p:cNvSpPr>
              <a:spLocks noChangeShapeType="1"/>
            </p:cNvSpPr>
            <p:nvPr/>
          </p:nvSpPr>
          <p:spPr bwMode="auto">
            <a:xfrm>
              <a:off x="4877" y="1352"/>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93" name="Rectangle 196"/>
            <p:cNvSpPr>
              <a:spLocks noChangeArrowheads="1"/>
            </p:cNvSpPr>
            <p:nvPr/>
          </p:nvSpPr>
          <p:spPr bwMode="auto">
            <a:xfrm>
              <a:off x="1124"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94" name="Rectangle 197"/>
            <p:cNvSpPr>
              <a:spLocks noChangeArrowheads="1"/>
            </p:cNvSpPr>
            <p:nvPr/>
          </p:nvSpPr>
          <p:spPr bwMode="auto">
            <a:xfrm>
              <a:off x="1124" y="1648"/>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95" name="Rectangle 198"/>
            <p:cNvSpPr>
              <a:spLocks noChangeArrowheads="1"/>
            </p:cNvSpPr>
            <p:nvPr/>
          </p:nvSpPr>
          <p:spPr bwMode="auto">
            <a:xfrm>
              <a:off x="1893" y="1648"/>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296" name="Rectangle 199"/>
            <p:cNvSpPr>
              <a:spLocks noChangeArrowheads="1"/>
            </p:cNvSpPr>
            <p:nvPr/>
          </p:nvSpPr>
          <p:spPr bwMode="auto">
            <a:xfrm>
              <a:off x="2282"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97" name="Rectangle 200"/>
            <p:cNvSpPr>
              <a:spLocks noChangeArrowheads="1"/>
            </p:cNvSpPr>
            <p:nvPr/>
          </p:nvSpPr>
          <p:spPr bwMode="auto">
            <a:xfrm>
              <a:off x="2282" y="1648"/>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298" name="Rectangle 201"/>
            <p:cNvSpPr>
              <a:spLocks noChangeArrowheads="1"/>
            </p:cNvSpPr>
            <p:nvPr/>
          </p:nvSpPr>
          <p:spPr bwMode="auto">
            <a:xfrm>
              <a:off x="2671"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299" name="Rectangle 202"/>
            <p:cNvSpPr>
              <a:spLocks noChangeArrowheads="1"/>
            </p:cNvSpPr>
            <p:nvPr/>
          </p:nvSpPr>
          <p:spPr bwMode="auto">
            <a:xfrm>
              <a:off x="2671" y="1648"/>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300" name="Rectangle 203"/>
            <p:cNvSpPr>
              <a:spLocks noChangeArrowheads="1"/>
            </p:cNvSpPr>
            <p:nvPr/>
          </p:nvSpPr>
          <p:spPr bwMode="auto">
            <a:xfrm>
              <a:off x="3060"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grpSp>
      <p:grpSp>
        <p:nvGrpSpPr>
          <p:cNvPr id="55301" name="Group 204"/>
          <p:cNvGrpSpPr>
            <a:grpSpLocks/>
          </p:cNvGrpSpPr>
          <p:nvPr/>
        </p:nvGrpSpPr>
        <p:grpSpPr bwMode="auto">
          <a:xfrm>
            <a:off x="1582738" y="2616200"/>
            <a:ext cx="6172200" cy="1698625"/>
            <a:chOff x="997" y="1648"/>
            <a:chExt cx="3888" cy="1070"/>
          </a:xfrm>
        </p:grpSpPr>
        <p:sp>
          <p:nvSpPr>
            <p:cNvPr id="55901" name="Rectangle 205"/>
            <p:cNvSpPr>
              <a:spLocks noChangeArrowheads="1"/>
            </p:cNvSpPr>
            <p:nvPr/>
          </p:nvSpPr>
          <p:spPr bwMode="auto">
            <a:xfrm>
              <a:off x="3060" y="1648"/>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02" name="Rectangle 206"/>
            <p:cNvSpPr>
              <a:spLocks noChangeArrowheads="1"/>
            </p:cNvSpPr>
            <p:nvPr/>
          </p:nvSpPr>
          <p:spPr bwMode="auto">
            <a:xfrm>
              <a:off x="3449" y="1648"/>
              <a:ext cx="126"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03" name="Rectangle 207"/>
            <p:cNvSpPr>
              <a:spLocks noChangeArrowheads="1"/>
            </p:cNvSpPr>
            <p:nvPr/>
          </p:nvSpPr>
          <p:spPr bwMode="auto">
            <a:xfrm>
              <a:off x="3449" y="1648"/>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04" name="Rectangle 208"/>
            <p:cNvSpPr>
              <a:spLocks noChangeArrowheads="1"/>
            </p:cNvSpPr>
            <p:nvPr/>
          </p:nvSpPr>
          <p:spPr bwMode="auto">
            <a:xfrm>
              <a:off x="3837"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05" name="Rectangle 209"/>
            <p:cNvSpPr>
              <a:spLocks noChangeArrowheads="1"/>
            </p:cNvSpPr>
            <p:nvPr/>
          </p:nvSpPr>
          <p:spPr bwMode="auto">
            <a:xfrm>
              <a:off x="3837" y="1648"/>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06" name="Rectangle 210"/>
            <p:cNvSpPr>
              <a:spLocks noChangeArrowheads="1"/>
            </p:cNvSpPr>
            <p:nvPr/>
          </p:nvSpPr>
          <p:spPr bwMode="auto">
            <a:xfrm>
              <a:off x="4615" y="1648"/>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07" name="Rectangle 211"/>
            <p:cNvSpPr>
              <a:spLocks noChangeArrowheads="1"/>
            </p:cNvSpPr>
            <p:nvPr/>
          </p:nvSpPr>
          <p:spPr bwMode="auto">
            <a:xfrm>
              <a:off x="4615" y="1648"/>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08" name="Rectangle 212"/>
            <p:cNvSpPr>
              <a:spLocks noChangeArrowheads="1"/>
            </p:cNvSpPr>
            <p:nvPr/>
          </p:nvSpPr>
          <p:spPr bwMode="auto">
            <a:xfrm>
              <a:off x="997" y="1648"/>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09" name="Line 213"/>
            <p:cNvSpPr>
              <a:spLocks noChangeShapeType="1"/>
            </p:cNvSpPr>
            <p:nvPr/>
          </p:nvSpPr>
          <p:spPr bwMode="auto">
            <a:xfrm>
              <a:off x="997" y="164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0" name="Line 214"/>
            <p:cNvSpPr>
              <a:spLocks noChangeShapeType="1"/>
            </p:cNvSpPr>
            <p:nvPr/>
          </p:nvSpPr>
          <p:spPr bwMode="auto">
            <a:xfrm>
              <a:off x="997"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1" name="Rectangle 215"/>
            <p:cNvSpPr>
              <a:spLocks noChangeArrowheads="1"/>
            </p:cNvSpPr>
            <p:nvPr/>
          </p:nvSpPr>
          <p:spPr bwMode="auto">
            <a:xfrm>
              <a:off x="1006"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12" name="Line 216"/>
            <p:cNvSpPr>
              <a:spLocks noChangeShapeType="1"/>
            </p:cNvSpPr>
            <p:nvPr/>
          </p:nvSpPr>
          <p:spPr bwMode="auto">
            <a:xfrm>
              <a:off x="1006"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3" name="Rectangle 217"/>
            <p:cNvSpPr>
              <a:spLocks noChangeArrowheads="1"/>
            </p:cNvSpPr>
            <p:nvPr/>
          </p:nvSpPr>
          <p:spPr bwMode="auto">
            <a:xfrm>
              <a:off x="1386" y="1648"/>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14" name="Line 218"/>
            <p:cNvSpPr>
              <a:spLocks noChangeShapeType="1"/>
            </p:cNvSpPr>
            <p:nvPr/>
          </p:nvSpPr>
          <p:spPr bwMode="auto">
            <a:xfrm>
              <a:off x="1386" y="164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5" name="Line 219"/>
            <p:cNvSpPr>
              <a:spLocks noChangeShapeType="1"/>
            </p:cNvSpPr>
            <p:nvPr/>
          </p:nvSpPr>
          <p:spPr bwMode="auto">
            <a:xfrm>
              <a:off x="1386"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6" name="Rectangle 220"/>
            <p:cNvSpPr>
              <a:spLocks noChangeArrowheads="1"/>
            </p:cNvSpPr>
            <p:nvPr/>
          </p:nvSpPr>
          <p:spPr bwMode="auto">
            <a:xfrm>
              <a:off x="1395"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17" name="Line 221"/>
            <p:cNvSpPr>
              <a:spLocks noChangeShapeType="1"/>
            </p:cNvSpPr>
            <p:nvPr/>
          </p:nvSpPr>
          <p:spPr bwMode="auto">
            <a:xfrm>
              <a:off x="1395"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18" name="Rectangle 222"/>
            <p:cNvSpPr>
              <a:spLocks noChangeArrowheads="1"/>
            </p:cNvSpPr>
            <p:nvPr/>
          </p:nvSpPr>
          <p:spPr bwMode="auto">
            <a:xfrm>
              <a:off x="1775"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19" name="Line 223"/>
            <p:cNvSpPr>
              <a:spLocks noChangeShapeType="1"/>
            </p:cNvSpPr>
            <p:nvPr/>
          </p:nvSpPr>
          <p:spPr bwMode="auto">
            <a:xfrm>
              <a:off x="1775"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0" name="Line 224"/>
            <p:cNvSpPr>
              <a:spLocks noChangeShapeType="1"/>
            </p:cNvSpPr>
            <p:nvPr/>
          </p:nvSpPr>
          <p:spPr bwMode="auto">
            <a:xfrm>
              <a:off x="1775"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1" name="Rectangle 225"/>
            <p:cNvSpPr>
              <a:spLocks noChangeArrowheads="1"/>
            </p:cNvSpPr>
            <p:nvPr/>
          </p:nvSpPr>
          <p:spPr bwMode="auto">
            <a:xfrm>
              <a:off x="1783" y="1648"/>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22" name="Line 226"/>
            <p:cNvSpPr>
              <a:spLocks noChangeShapeType="1"/>
            </p:cNvSpPr>
            <p:nvPr/>
          </p:nvSpPr>
          <p:spPr bwMode="auto">
            <a:xfrm>
              <a:off x="1783" y="1648"/>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3" name="Rectangle 227"/>
            <p:cNvSpPr>
              <a:spLocks noChangeArrowheads="1"/>
            </p:cNvSpPr>
            <p:nvPr/>
          </p:nvSpPr>
          <p:spPr bwMode="auto">
            <a:xfrm>
              <a:off x="2164"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24" name="Line 228"/>
            <p:cNvSpPr>
              <a:spLocks noChangeShapeType="1"/>
            </p:cNvSpPr>
            <p:nvPr/>
          </p:nvSpPr>
          <p:spPr bwMode="auto">
            <a:xfrm>
              <a:off x="2164"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5" name="Line 229"/>
            <p:cNvSpPr>
              <a:spLocks noChangeShapeType="1"/>
            </p:cNvSpPr>
            <p:nvPr/>
          </p:nvSpPr>
          <p:spPr bwMode="auto">
            <a:xfrm>
              <a:off x="2164"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6" name="Rectangle 230"/>
            <p:cNvSpPr>
              <a:spLocks noChangeArrowheads="1"/>
            </p:cNvSpPr>
            <p:nvPr/>
          </p:nvSpPr>
          <p:spPr bwMode="auto">
            <a:xfrm>
              <a:off x="2172" y="1648"/>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27" name="Line 231"/>
            <p:cNvSpPr>
              <a:spLocks noChangeShapeType="1"/>
            </p:cNvSpPr>
            <p:nvPr/>
          </p:nvSpPr>
          <p:spPr bwMode="auto">
            <a:xfrm>
              <a:off x="2172" y="1648"/>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28" name="Rectangle 232"/>
            <p:cNvSpPr>
              <a:spLocks noChangeArrowheads="1"/>
            </p:cNvSpPr>
            <p:nvPr/>
          </p:nvSpPr>
          <p:spPr bwMode="auto">
            <a:xfrm>
              <a:off x="2553"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29" name="Line 233"/>
            <p:cNvSpPr>
              <a:spLocks noChangeShapeType="1"/>
            </p:cNvSpPr>
            <p:nvPr/>
          </p:nvSpPr>
          <p:spPr bwMode="auto">
            <a:xfrm>
              <a:off x="2553"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0" name="Line 234"/>
            <p:cNvSpPr>
              <a:spLocks noChangeShapeType="1"/>
            </p:cNvSpPr>
            <p:nvPr/>
          </p:nvSpPr>
          <p:spPr bwMode="auto">
            <a:xfrm>
              <a:off x="2553"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1" name="Rectangle 235"/>
            <p:cNvSpPr>
              <a:spLocks noChangeArrowheads="1"/>
            </p:cNvSpPr>
            <p:nvPr/>
          </p:nvSpPr>
          <p:spPr bwMode="auto">
            <a:xfrm>
              <a:off x="2561"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32" name="Line 236"/>
            <p:cNvSpPr>
              <a:spLocks noChangeShapeType="1"/>
            </p:cNvSpPr>
            <p:nvPr/>
          </p:nvSpPr>
          <p:spPr bwMode="auto">
            <a:xfrm>
              <a:off x="2561"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3" name="Rectangle 237"/>
            <p:cNvSpPr>
              <a:spLocks noChangeArrowheads="1"/>
            </p:cNvSpPr>
            <p:nvPr/>
          </p:nvSpPr>
          <p:spPr bwMode="auto">
            <a:xfrm>
              <a:off x="2941" y="1648"/>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34" name="Line 238"/>
            <p:cNvSpPr>
              <a:spLocks noChangeShapeType="1"/>
            </p:cNvSpPr>
            <p:nvPr/>
          </p:nvSpPr>
          <p:spPr bwMode="auto">
            <a:xfrm>
              <a:off x="2941" y="164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5" name="Line 239"/>
            <p:cNvSpPr>
              <a:spLocks noChangeShapeType="1"/>
            </p:cNvSpPr>
            <p:nvPr/>
          </p:nvSpPr>
          <p:spPr bwMode="auto">
            <a:xfrm>
              <a:off x="2941"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6" name="Rectangle 240"/>
            <p:cNvSpPr>
              <a:spLocks noChangeArrowheads="1"/>
            </p:cNvSpPr>
            <p:nvPr/>
          </p:nvSpPr>
          <p:spPr bwMode="auto">
            <a:xfrm>
              <a:off x="2950"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37" name="Line 241"/>
            <p:cNvSpPr>
              <a:spLocks noChangeShapeType="1"/>
            </p:cNvSpPr>
            <p:nvPr/>
          </p:nvSpPr>
          <p:spPr bwMode="auto">
            <a:xfrm>
              <a:off x="2950"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38" name="Rectangle 242"/>
            <p:cNvSpPr>
              <a:spLocks noChangeArrowheads="1"/>
            </p:cNvSpPr>
            <p:nvPr/>
          </p:nvSpPr>
          <p:spPr bwMode="auto">
            <a:xfrm>
              <a:off x="3330" y="1648"/>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39" name="Line 243"/>
            <p:cNvSpPr>
              <a:spLocks noChangeShapeType="1"/>
            </p:cNvSpPr>
            <p:nvPr/>
          </p:nvSpPr>
          <p:spPr bwMode="auto">
            <a:xfrm>
              <a:off x="3330" y="164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0" name="Line 244"/>
            <p:cNvSpPr>
              <a:spLocks noChangeShapeType="1"/>
            </p:cNvSpPr>
            <p:nvPr/>
          </p:nvSpPr>
          <p:spPr bwMode="auto">
            <a:xfrm>
              <a:off x="3330"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1" name="Rectangle 245"/>
            <p:cNvSpPr>
              <a:spLocks noChangeArrowheads="1"/>
            </p:cNvSpPr>
            <p:nvPr/>
          </p:nvSpPr>
          <p:spPr bwMode="auto">
            <a:xfrm>
              <a:off x="3339"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42" name="Line 246"/>
            <p:cNvSpPr>
              <a:spLocks noChangeShapeType="1"/>
            </p:cNvSpPr>
            <p:nvPr/>
          </p:nvSpPr>
          <p:spPr bwMode="auto">
            <a:xfrm>
              <a:off x="3339"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3" name="Rectangle 247"/>
            <p:cNvSpPr>
              <a:spLocks noChangeArrowheads="1"/>
            </p:cNvSpPr>
            <p:nvPr/>
          </p:nvSpPr>
          <p:spPr bwMode="auto">
            <a:xfrm>
              <a:off x="3719"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44" name="Line 248"/>
            <p:cNvSpPr>
              <a:spLocks noChangeShapeType="1"/>
            </p:cNvSpPr>
            <p:nvPr/>
          </p:nvSpPr>
          <p:spPr bwMode="auto">
            <a:xfrm>
              <a:off x="3719"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5" name="Line 249"/>
            <p:cNvSpPr>
              <a:spLocks noChangeShapeType="1"/>
            </p:cNvSpPr>
            <p:nvPr/>
          </p:nvSpPr>
          <p:spPr bwMode="auto">
            <a:xfrm>
              <a:off x="3719"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6" name="Rectangle 250"/>
            <p:cNvSpPr>
              <a:spLocks noChangeArrowheads="1"/>
            </p:cNvSpPr>
            <p:nvPr/>
          </p:nvSpPr>
          <p:spPr bwMode="auto">
            <a:xfrm>
              <a:off x="3727" y="1648"/>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47" name="Line 251"/>
            <p:cNvSpPr>
              <a:spLocks noChangeShapeType="1"/>
            </p:cNvSpPr>
            <p:nvPr/>
          </p:nvSpPr>
          <p:spPr bwMode="auto">
            <a:xfrm>
              <a:off x="3727" y="1648"/>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48" name="Rectangle 252"/>
            <p:cNvSpPr>
              <a:spLocks noChangeArrowheads="1"/>
            </p:cNvSpPr>
            <p:nvPr/>
          </p:nvSpPr>
          <p:spPr bwMode="auto">
            <a:xfrm>
              <a:off x="4108"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49" name="Line 253"/>
            <p:cNvSpPr>
              <a:spLocks noChangeShapeType="1"/>
            </p:cNvSpPr>
            <p:nvPr/>
          </p:nvSpPr>
          <p:spPr bwMode="auto">
            <a:xfrm>
              <a:off x="4108"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0" name="Line 254"/>
            <p:cNvSpPr>
              <a:spLocks noChangeShapeType="1"/>
            </p:cNvSpPr>
            <p:nvPr/>
          </p:nvSpPr>
          <p:spPr bwMode="auto">
            <a:xfrm>
              <a:off x="4108"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1" name="Rectangle 255"/>
            <p:cNvSpPr>
              <a:spLocks noChangeArrowheads="1"/>
            </p:cNvSpPr>
            <p:nvPr/>
          </p:nvSpPr>
          <p:spPr bwMode="auto">
            <a:xfrm>
              <a:off x="4116" y="1648"/>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52" name="Line 256"/>
            <p:cNvSpPr>
              <a:spLocks noChangeShapeType="1"/>
            </p:cNvSpPr>
            <p:nvPr/>
          </p:nvSpPr>
          <p:spPr bwMode="auto">
            <a:xfrm>
              <a:off x="4116" y="1648"/>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3" name="Rectangle 257"/>
            <p:cNvSpPr>
              <a:spLocks noChangeArrowheads="1"/>
            </p:cNvSpPr>
            <p:nvPr/>
          </p:nvSpPr>
          <p:spPr bwMode="auto">
            <a:xfrm>
              <a:off x="4488" y="1648"/>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54" name="Line 258"/>
            <p:cNvSpPr>
              <a:spLocks noChangeShapeType="1"/>
            </p:cNvSpPr>
            <p:nvPr/>
          </p:nvSpPr>
          <p:spPr bwMode="auto">
            <a:xfrm>
              <a:off x="4488" y="164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5" name="Line 259"/>
            <p:cNvSpPr>
              <a:spLocks noChangeShapeType="1"/>
            </p:cNvSpPr>
            <p:nvPr/>
          </p:nvSpPr>
          <p:spPr bwMode="auto">
            <a:xfrm>
              <a:off x="4488"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6" name="Rectangle 260"/>
            <p:cNvSpPr>
              <a:spLocks noChangeArrowheads="1"/>
            </p:cNvSpPr>
            <p:nvPr/>
          </p:nvSpPr>
          <p:spPr bwMode="auto">
            <a:xfrm>
              <a:off x="4497" y="1648"/>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57" name="Line 261"/>
            <p:cNvSpPr>
              <a:spLocks noChangeShapeType="1"/>
            </p:cNvSpPr>
            <p:nvPr/>
          </p:nvSpPr>
          <p:spPr bwMode="auto">
            <a:xfrm>
              <a:off x="4497" y="1648"/>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58" name="Rectangle 262"/>
            <p:cNvSpPr>
              <a:spLocks noChangeArrowheads="1"/>
            </p:cNvSpPr>
            <p:nvPr/>
          </p:nvSpPr>
          <p:spPr bwMode="auto">
            <a:xfrm>
              <a:off x="4877" y="1648"/>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59" name="Line 263"/>
            <p:cNvSpPr>
              <a:spLocks noChangeShapeType="1"/>
            </p:cNvSpPr>
            <p:nvPr/>
          </p:nvSpPr>
          <p:spPr bwMode="auto">
            <a:xfrm>
              <a:off x="4877" y="1648"/>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0" name="Line 264"/>
            <p:cNvSpPr>
              <a:spLocks noChangeShapeType="1"/>
            </p:cNvSpPr>
            <p:nvPr/>
          </p:nvSpPr>
          <p:spPr bwMode="auto">
            <a:xfrm>
              <a:off x="4877" y="1648"/>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1" name="Rectangle 265"/>
            <p:cNvSpPr>
              <a:spLocks noChangeArrowheads="1"/>
            </p:cNvSpPr>
            <p:nvPr/>
          </p:nvSpPr>
          <p:spPr bwMode="auto">
            <a:xfrm>
              <a:off x="997" y="1656"/>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62" name="Line 266"/>
            <p:cNvSpPr>
              <a:spLocks noChangeShapeType="1"/>
            </p:cNvSpPr>
            <p:nvPr/>
          </p:nvSpPr>
          <p:spPr bwMode="auto">
            <a:xfrm>
              <a:off x="997"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3" name="Rectangle 267"/>
            <p:cNvSpPr>
              <a:spLocks noChangeArrowheads="1"/>
            </p:cNvSpPr>
            <p:nvPr/>
          </p:nvSpPr>
          <p:spPr bwMode="auto">
            <a:xfrm>
              <a:off x="1386" y="1656"/>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64" name="Line 268"/>
            <p:cNvSpPr>
              <a:spLocks noChangeShapeType="1"/>
            </p:cNvSpPr>
            <p:nvPr/>
          </p:nvSpPr>
          <p:spPr bwMode="auto">
            <a:xfrm>
              <a:off x="1386"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5" name="Rectangle 269"/>
            <p:cNvSpPr>
              <a:spLocks noChangeArrowheads="1"/>
            </p:cNvSpPr>
            <p:nvPr/>
          </p:nvSpPr>
          <p:spPr bwMode="auto">
            <a:xfrm>
              <a:off x="1775"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66" name="Line 270"/>
            <p:cNvSpPr>
              <a:spLocks noChangeShapeType="1"/>
            </p:cNvSpPr>
            <p:nvPr/>
          </p:nvSpPr>
          <p:spPr bwMode="auto">
            <a:xfrm>
              <a:off x="1775"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7" name="Rectangle 271"/>
            <p:cNvSpPr>
              <a:spLocks noChangeArrowheads="1"/>
            </p:cNvSpPr>
            <p:nvPr/>
          </p:nvSpPr>
          <p:spPr bwMode="auto">
            <a:xfrm>
              <a:off x="2164"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68" name="Line 272"/>
            <p:cNvSpPr>
              <a:spLocks noChangeShapeType="1"/>
            </p:cNvSpPr>
            <p:nvPr/>
          </p:nvSpPr>
          <p:spPr bwMode="auto">
            <a:xfrm>
              <a:off x="2164"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69" name="Rectangle 273"/>
            <p:cNvSpPr>
              <a:spLocks noChangeArrowheads="1"/>
            </p:cNvSpPr>
            <p:nvPr/>
          </p:nvSpPr>
          <p:spPr bwMode="auto">
            <a:xfrm>
              <a:off x="2553"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70" name="Line 274"/>
            <p:cNvSpPr>
              <a:spLocks noChangeShapeType="1"/>
            </p:cNvSpPr>
            <p:nvPr/>
          </p:nvSpPr>
          <p:spPr bwMode="auto">
            <a:xfrm>
              <a:off x="2553"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71" name="Rectangle 275"/>
            <p:cNvSpPr>
              <a:spLocks noChangeArrowheads="1"/>
            </p:cNvSpPr>
            <p:nvPr/>
          </p:nvSpPr>
          <p:spPr bwMode="auto">
            <a:xfrm>
              <a:off x="2941" y="1656"/>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72" name="Line 276"/>
            <p:cNvSpPr>
              <a:spLocks noChangeShapeType="1"/>
            </p:cNvSpPr>
            <p:nvPr/>
          </p:nvSpPr>
          <p:spPr bwMode="auto">
            <a:xfrm>
              <a:off x="2941"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73" name="Rectangle 277"/>
            <p:cNvSpPr>
              <a:spLocks noChangeArrowheads="1"/>
            </p:cNvSpPr>
            <p:nvPr/>
          </p:nvSpPr>
          <p:spPr bwMode="auto">
            <a:xfrm>
              <a:off x="3330" y="1656"/>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74" name="Line 278"/>
            <p:cNvSpPr>
              <a:spLocks noChangeShapeType="1"/>
            </p:cNvSpPr>
            <p:nvPr/>
          </p:nvSpPr>
          <p:spPr bwMode="auto">
            <a:xfrm>
              <a:off x="3330"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75" name="Rectangle 279"/>
            <p:cNvSpPr>
              <a:spLocks noChangeArrowheads="1"/>
            </p:cNvSpPr>
            <p:nvPr/>
          </p:nvSpPr>
          <p:spPr bwMode="auto">
            <a:xfrm>
              <a:off x="3719"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76" name="Line 280"/>
            <p:cNvSpPr>
              <a:spLocks noChangeShapeType="1"/>
            </p:cNvSpPr>
            <p:nvPr/>
          </p:nvSpPr>
          <p:spPr bwMode="auto">
            <a:xfrm>
              <a:off x="3719"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77" name="Rectangle 281"/>
            <p:cNvSpPr>
              <a:spLocks noChangeArrowheads="1"/>
            </p:cNvSpPr>
            <p:nvPr/>
          </p:nvSpPr>
          <p:spPr bwMode="auto">
            <a:xfrm>
              <a:off x="4108"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78" name="Line 282"/>
            <p:cNvSpPr>
              <a:spLocks noChangeShapeType="1"/>
            </p:cNvSpPr>
            <p:nvPr/>
          </p:nvSpPr>
          <p:spPr bwMode="auto">
            <a:xfrm>
              <a:off x="4108"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79" name="Rectangle 283"/>
            <p:cNvSpPr>
              <a:spLocks noChangeArrowheads="1"/>
            </p:cNvSpPr>
            <p:nvPr/>
          </p:nvSpPr>
          <p:spPr bwMode="auto">
            <a:xfrm>
              <a:off x="4488" y="1656"/>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80" name="Line 284"/>
            <p:cNvSpPr>
              <a:spLocks noChangeShapeType="1"/>
            </p:cNvSpPr>
            <p:nvPr/>
          </p:nvSpPr>
          <p:spPr bwMode="auto">
            <a:xfrm>
              <a:off x="4488"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81" name="Rectangle 285"/>
            <p:cNvSpPr>
              <a:spLocks noChangeArrowheads="1"/>
            </p:cNvSpPr>
            <p:nvPr/>
          </p:nvSpPr>
          <p:spPr bwMode="auto">
            <a:xfrm>
              <a:off x="4877" y="1656"/>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82" name="Line 286"/>
            <p:cNvSpPr>
              <a:spLocks noChangeShapeType="1"/>
            </p:cNvSpPr>
            <p:nvPr/>
          </p:nvSpPr>
          <p:spPr bwMode="auto">
            <a:xfrm>
              <a:off x="4877" y="1656"/>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83" name="Rectangle 287"/>
            <p:cNvSpPr>
              <a:spLocks noChangeArrowheads="1"/>
            </p:cNvSpPr>
            <p:nvPr/>
          </p:nvSpPr>
          <p:spPr bwMode="auto">
            <a:xfrm>
              <a:off x="1124" y="1953"/>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84" name="Rectangle 288"/>
            <p:cNvSpPr>
              <a:spLocks noChangeArrowheads="1"/>
            </p:cNvSpPr>
            <p:nvPr/>
          </p:nvSpPr>
          <p:spPr bwMode="auto">
            <a:xfrm>
              <a:off x="1124" y="1953"/>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85" name="Rectangle 289"/>
            <p:cNvSpPr>
              <a:spLocks noChangeArrowheads="1"/>
            </p:cNvSpPr>
            <p:nvPr/>
          </p:nvSpPr>
          <p:spPr bwMode="auto">
            <a:xfrm>
              <a:off x="1505" y="195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86" name="Rectangle 290"/>
            <p:cNvSpPr>
              <a:spLocks noChangeArrowheads="1"/>
            </p:cNvSpPr>
            <p:nvPr/>
          </p:nvSpPr>
          <p:spPr bwMode="auto">
            <a:xfrm>
              <a:off x="1893" y="195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87" name="Rectangle 291"/>
            <p:cNvSpPr>
              <a:spLocks noChangeArrowheads="1"/>
            </p:cNvSpPr>
            <p:nvPr/>
          </p:nvSpPr>
          <p:spPr bwMode="auto">
            <a:xfrm>
              <a:off x="2282" y="1953"/>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88" name="Rectangle 292"/>
            <p:cNvSpPr>
              <a:spLocks noChangeArrowheads="1"/>
            </p:cNvSpPr>
            <p:nvPr/>
          </p:nvSpPr>
          <p:spPr bwMode="auto">
            <a:xfrm>
              <a:off x="2282" y="195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89" name="Rectangle 293"/>
            <p:cNvSpPr>
              <a:spLocks noChangeArrowheads="1"/>
            </p:cNvSpPr>
            <p:nvPr/>
          </p:nvSpPr>
          <p:spPr bwMode="auto">
            <a:xfrm>
              <a:off x="2671" y="1953"/>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90" name="Rectangle 294"/>
            <p:cNvSpPr>
              <a:spLocks noChangeArrowheads="1"/>
            </p:cNvSpPr>
            <p:nvPr/>
          </p:nvSpPr>
          <p:spPr bwMode="auto">
            <a:xfrm>
              <a:off x="2671" y="195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991" name="Rectangle 295"/>
            <p:cNvSpPr>
              <a:spLocks noChangeArrowheads="1"/>
            </p:cNvSpPr>
            <p:nvPr/>
          </p:nvSpPr>
          <p:spPr bwMode="auto">
            <a:xfrm>
              <a:off x="3060" y="1953"/>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92" name="Rectangle 296"/>
            <p:cNvSpPr>
              <a:spLocks noChangeArrowheads="1"/>
            </p:cNvSpPr>
            <p:nvPr/>
          </p:nvSpPr>
          <p:spPr bwMode="auto">
            <a:xfrm>
              <a:off x="3060" y="1953"/>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93" name="Rectangle 297"/>
            <p:cNvSpPr>
              <a:spLocks noChangeArrowheads="1"/>
            </p:cNvSpPr>
            <p:nvPr/>
          </p:nvSpPr>
          <p:spPr bwMode="auto">
            <a:xfrm>
              <a:off x="3449" y="1953"/>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94" name="Rectangle 298"/>
            <p:cNvSpPr>
              <a:spLocks noChangeArrowheads="1"/>
            </p:cNvSpPr>
            <p:nvPr/>
          </p:nvSpPr>
          <p:spPr bwMode="auto">
            <a:xfrm>
              <a:off x="3449" y="1953"/>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95" name="Rectangle 299"/>
            <p:cNvSpPr>
              <a:spLocks noChangeArrowheads="1"/>
            </p:cNvSpPr>
            <p:nvPr/>
          </p:nvSpPr>
          <p:spPr bwMode="auto">
            <a:xfrm>
              <a:off x="4615" y="1953"/>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96" name="Rectangle 300"/>
            <p:cNvSpPr>
              <a:spLocks noChangeArrowheads="1"/>
            </p:cNvSpPr>
            <p:nvPr/>
          </p:nvSpPr>
          <p:spPr bwMode="auto">
            <a:xfrm>
              <a:off x="4615" y="1953"/>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997" name="Rectangle 301"/>
            <p:cNvSpPr>
              <a:spLocks noChangeArrowheads="1"/>
            </p:cNvSpPr>
            <p:nvPr/>
          </p:nvSpPr>
          <p:spPr bwMode="auto">
            <a:xfrm>
              <a:off x="997" y="195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998" name="Line 302"/>
            <p:cNvSpPr>
              <a:spLocks noChangeShapeType="1"/>
            </p:cNvSpPr>
            <p:nvPr/>
          </p:nvSpPr>
          <p:spPr bwMode="auto">
            <a:xfrm>
              <a:off x="997" y="195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99" name="Line 303"/>
            <p:cNvSpPr>
              <a:spLocks noChangeShapeType="1"/>
            </p:cNvSpPr>
            <p:nvPr/>
          </p:nvSpPr>
          <p:spPr bwMode="auto">
            <a:xfrm>
              <a:off x="997"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0" name="Rectangle 304"/>
            <p:cNvSpPr>
              <a:spLocks noChangeArrowheads="1"/>
            </p:cNvSpPr>
            <p:nvPr/>
          </p:nvSpPr>
          <p:spPr bwMode="auto">
            <a:xfrm>
              <a:off x="1006"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01" name="Line 305"/>
            <p:cNvSpPr>
              <a:spLocks noChangeShapeType="1"/>
            </p:cNvSpPr>
            <p:nvPr/>
          </p:nvSpPr>
          <p:spPr bwMode="auto">
            <a:xfrm>
              <a:off x="1006"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2" name="Rectangle 306"/>
            <p:cNvSpPr>
              <a:spLocks noChangeArrowheads="1"/>
            </p:cNvSpPr>
            <p:nvPr/>
          </p:nvSpPr>
          <p:spPr bwMode="auto">
            <a:xfrm>
              <a:off x="1386" y="195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03" name="Line 307"/>
            <p:cNvSpPr>
              <a:spLocks noChangeShapeType="1"/>
            </p:cNvSpPr>
            <p:nvPr/>
          </p:nvSpPr>
          <p:spPr bwMode="auto">
            <a:xfrm>
              <a:off x="1386" y="195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4" name="Line 308"/>
            <p:cNvSpPr>
              <a:spLocks noChangeShapeType="1"/>
            </p:cNvSpPr>
            <p:nvPr/>
          </p:nvSpPr>
          <p:spPr bwMode="auto">
            <a:xfrm>
              <a:off x="1386"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5" name="Rectangle 309"/>
            <p:cNvSpPr>
              <a:spLocks noChangeArrowheads="1"/>
            </p:cNvSpPr>
            <p:nvPr/>
          </p:nvSpPr>
          <p:spPr bwMode="auto">
            <a:xfrm>
              <a:off x="1395"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06" name="Line 310"/>
            <p:cNvSpPr>
              <a:spLocks noChangeShapeType="1"/>
            </p:cNvSpPr>
            <p:nvPr/>
          </p:nvSpPr>
          <p:spPr bwMode="auto">
            <a:xfrm>
              <a:off x="1395"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7" name="Rectangle 311"/>
            <p:cNvSpPr>
              <a:spLocks noChangeArrowheads="1"/>
            </p:cNvSpPr>
            <p:nvPr/>
          </p:nvSpPr>
          <p:spPr bwMode="auto">
            <a:xfrm>
              <a:off x="1775"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08" name="Line 312"/>
            <p:cNvSpPr>
              <a:spLocks noChangeShapeType="1"/>
            </p:cNvSpPr>
            <p:nvPr/>
          </p:nvSpPr>
          <p:spPr bwMode="auto">
            <a:xfrm>
              <a:off x="1775"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09" name="Line 313"/>
            <p:cNvSpPr>
              <a:spLocks noChangeShapeType="1"/>
            </p:cNvSpPr>
            <p:nvPr/>
          </p:nvSpPr>
          <p:spPr bwMode="auto">
            <a:xfrm>
              <a:off x="1775"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0" name="Rectangle 314"/>
            <p:cNvSpPr>
              <a:spLocks noChangeArrowheads="1"/>
            </p:cNvSpPr>
            <p:nvPr/>
          </p:nvSpPr>
          <p:spPr bwMode="auto">
            <a:xfrm>
              <a:off x="1783" y="195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11" name="Line 315"/>
            <p:cNvSpPr>
              <a:spLocks noChangeShapeType="1"/>
            </p:cNvSpPr>
            <p:nvPr/>
          </p:nvSpPr>
          <p:spPr bwMode="auto">
            <a:xfrm>
              <a:off x="1783" y="195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2" name="Rectangle 316"/>
            <p:cNvSpPr>
              <a:spLocks noChangeArrowheads="1"/>
            </p:cNvSpPr>
            <p:nvPr/>
          </p:nvSpPr>
          <p:spPr bwMode="auto">
            <a:xfrm>
              <a:off x="2164"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13" name="Line 317"/>
            <p:cNvSpPr>
              <a:spLocks noChangeShapeType="1"/>
            </p:cNvSpPr>
            <p:nvPr/>
          </p:nvSpPr>
          <p:spPr bwMode="auto">
            <a:xfrm>
              <a:off x="2164"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4" name="Line 318"/>
            <p:cNvSpPr>
              <a:spLocks noChangeShapeType="1"/>
            </p:cNvSpPr>
            <p:nvPr/>
          </p:nvSpPr>
          <p:spPr bwMode="auto">
            <a:xfrm>
              <a:off x="2164"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5" name="Rectangle 319"/>
            <p:cNvSpPr>
              <a:spLocks noChangeArrowheads="1"/>
            </p:cNvSpPr>
            <p:nvPr/>
          </p:nvSpPr>
          <p:spPr bwMode="auto">
            <a:xfrm>
              <a:off x="2172" y="195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16" name="Line 320"/>
            <p:cNvSpPr>
              <a:spLocks noChangeShapeType="1"/>
            </p:cNvSpPr>
            <p:nvPr/>
          </p:nvSpPr>
          <p:spPr bwMode="auto">
            <a:xfrm>
              <a:off x="2172" y="195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7" name="Rectangle 321"/>
            <p:cNvSpPr>
              <a:spLocks noChangeArrowheads="1"/>
            </p:cNvSpPr>
            <p:nvPr/>
          </p:nvSpPr>
          <p:spPr bwMode="auto">
            <a:xfrm>
              <a:off x="2553"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18" name="Line 322"/>
            <p:cNvSpPr>
              <a:spLocks noChangeShapeType="1"/>
            </p:cNvSpPr>
            <p:nvPr/>
          </p:nvSpPr>
          <p:spPr bwMode="auto">
            <a:xfrm>
              <a:off x="2553"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19" name="Line 323"/>
            <p:cNvSpPr>
              <a:spLocks noChangeShapeType="1"/>
            </p:cNvSpPr>
            <p:nvPr/>
          </p:nvSpPr>
          <p:spPr bwMode="auto">
            <a:xfrm>
              <a:off x="2553"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0" name="Rectangle 324"/>
            <p:cNvSpPr>
              <a:spLocks noChangeArrowheads="1"/>
            </p:cNvSpPr>
            <p:nvPr/>
          </p:nvSpPr>
          <p:spPr bwMode="auto">
            <a:xfrm>
              <a:off x="2561"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21" name="Line 325"/>
            <p:cNvSpPr>
              <a:spLocks noChangeShapeType="1"/>
            </p:cNvSpPr>
            <p:nvPr/>
          </p:nvSpPr>
          <p:spPr bwMode="auto">
            <a:xfrm>
              <a:off x="2561"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2" name="Rectangle 326"/>
            <p:cNvSpPr>
              <a:spLocks noChangeArrowheads="1"/>
            </p:cNvSpPr>
            <p:nvPr/>
          </p:nvSpPr>
          <p:spPr bwMode="auto">
            <a:xfrm>
              <a:off x="2941" y="195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23" name="Line 327"/>
            <p:cNvSpPr>
              <a:spLocks noChangeShapeType="1"/>
            </p:cNvSpPr>
            <p:nvPr/>
          </p:nvSpPr>
          <p:spPr bwMode="auto">
            <a:xfrm>
              <a:off x="2941" y="195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4" name="Line 328"/>
            <p:cNvSpPr>
              <a:spLocks noChangeShapeType="1"/>
            </p:cNvSpPr>
            <p:nvPr/>
          </p:nvSpPr>
          <p:spPr bwMode="auto">
            <a:xfrm>
              <a:off x="2941"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5" name="Rectangle 329"/>
            <p:cNvSpPr>
              <a:spLocks noChangeArrowheads="1"/>
            </p:cNvSpPr>
            <p:nvPr/>
          </p:nvSpPr>
          <p:spPr bwMode="auto">
            <a:xfrm>
              <a:off x="2950"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26" name="Line 330"/>
            <p:cNvSpPr>
              <a:spLocks noChangeShapeType="1"/>
            </p:cNvSpPr>
            <p:nvPr/>
          </p:nvSpPr>
          <p:spPr bwMode="auto">
            <a:xfrm>
              <a:off x="2950"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7" name="Rectangle 331"/>
            <p:cNvSpPr>
              <a:spLocks noChangeArrowheads="1"/>
            </p:cNvSpPr>
            <p:nvPr/>
          </p:nvSpPr>
          <p:spPr bwMode="auto">
            <a:xfrm>
              <a:off x="3330" y="195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28" name="Line 332"/>
            <p:cNvSpPr>
              <a:spLocks noChangeShapeType="1"/>
            </p:cNvSpPr>
            <p:nvPr/>
          </p:nvSpPr>
          <p:spPr bwMode="auto">
            <a:xfrm>
              <a:off x="3330" y="195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29" name="Line 333"/>
            <p:cNvSpPr>
              <a:spLocks noChangeShapeType="1"/>
            </p:cNvSpPr>
            <p:nvPr/>
          </p:nvSpPr>
          <p:spPr bwMode="auto">
            <a:xfrm>
              <a:off x="3330"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0" name="Rectangle 334"/>
            <p:cNvSpPr>
              <a:spLocks noChangeArrowheads="1"/>
            </p:cNvSpPr>
            <p:nvPr/>
          </p:nvSpPr>
          <p:spPr bwMode="auto">
            <a:xfrm>
              <a:off x="3339"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31" name="Line 335"/>
            <p:cNvSpPr>
              <a:spLocks noChangeShapeType="1"/>
            </p:cNvSpPr>
            <p:nvPr/>
          </p:nvSpPr>
          <p:spPr bwMode="auto">
            <a:xfrm>
              <a:off x="3339"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2" name="Rectangle 336"/>
            <p:cNvSpPr>
              <a:spLocks noChangeArrowheads="1"/>
            </p:cNvSpPr>
            <p:nvPr/>
          </p:nvSpPr>
          <p:spPr bwMode="auto">
            <a:xfrm>
              <a:off x="3719"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33" name="Line 337"/>
            <p:cNvSpPr>
              <a:spLocks noChangeShapeType="1"/>
            </p:cNvSpPr>
            <p:nvPr/>
          </p:nvSpPr>
          <p:spPr bwMode="auto">
            <a:xfrm>
              <a:off x="3719"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4" name="Line 338"/>
            <p:cNvSpPr>
              <a:spLocks noChangeShapeType="1"/>
            </p:cNvSpPr>
            <p:nvPr/>
          </p:nvSpPr>
          <p:spPr bwMode="auto">
            <a:xfrm>
              <a:off x="3719"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5" name="Rectangle 339"/>
            <p:cNvSpPr>
              <a:spLocks noChangeArrowheads="1"/>
            </p:cNvSpPr>
            <p:nvPr/>
          </p:nvSpPr>
          <p:spPr bwMode="auto">
            <a:xfrm>
              <a:off x="3727" y="195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36" name="Line 340"/>
            <p:cNvSpPr>
              <a:spLocks noChangeShapeType="1"/>
            </p:cNvSpPr>
            <p:nvPr/>
          </p:nvSpPr>
          <p:spPr bwMode="auto">
            <a:xfrm>
              <a:off x="3727" y="195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7" name="Rectangle 341"/>
            <p:cNvSpPr>
              <a:spLocks noChangeArrowheads="1"/>
            </p:cNvSpPr>
            <p:nvPr/>
          </p:nvSpPr>
          <p:spPr bwMode="auto">
            <a:xfrm>
              <a:off x="4108"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38" name="Line 342"/>
            <p:cNvSpPr>
              <a:spLocks noChangeShapeType="1"/>
            </p:cNvSpPr>
            <p:nvPr/>
          </p:nvSpPr>
          <p:spPr bwMode="auto">
            <a:xfrm>
              <a:off x="4108"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39" name="Line 343"/>
            <p:cNvSpPr>
              <a:spLocks noChangeShapeType="1"/>
            </p:cNvSpPr>
            <p:nvPr/>
          </p:nvSpPr>
          <p:spPr bwMode="auto">
            <a:xfrm>
              <a:off x="4108"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0" name="Rectangle 344"/>
            <p:cNvSpPr>
              <a:spLocks noChangeArrowheads="1"/>
            </p:cNvSpPr>
            <p:nvPr/>
          </p:nvSpPr>
          <p:spPr bwMode="auto">
            <a:xfrm>
              <a:off x="4116" y="1953"/>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41" name="Line 345"/>
            <p:cNvSpPr>
              <a:spLocks noChangeShapeType="1"/>
            </p:cNvSpPr>
            <p:nvPr/>
          </p:nvSpPr>
          <p:spPr bwMode="auto">
            <a:xfrm>
              <a:off x="4116" y="1953"/>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2" name="Rectangle 346"/>
            <p:cNvSpPr>
              <a:spLocks noChangeArrowheads="1"/>
            </p:cNvSpPr>
            <p:nvPr/>
          </p:nvSpPr>
          <p:spPr bwMode="auto">
            <a:xfrm>
              <a:off x="4488" y="195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43" name="Line 347"/>
            <p:cNvSpPr>
              <a:spLocks noChangeShapeType="1"/>
            </p:cNvSpPr>
            <p:nvPr/>
          </p:nvSpPr>
          <p:spPr bwMode="auto">
            <a:xfrm>
              <a:off x="4488" y="195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4" name="Line 348"/>
            <p:cNvSpPr>
              <a:spLocks noChangeShapeType="1"/>
            </p:cNvSpPr>
            <p:nvPr/>
          </p:nvSpPr>
          <p:spPr bwMode="auto">
            <a:xfrm>
              <a:off x="4488"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5" name="Rectangle 349"/>
            <p:cNvSpPr>
              <a:spLocks noChangeArrowheads="1"/>
            </p:cNvSpPr>
            <p:nvPr/>
          </p:nvSpPr>
          <p:spPr bwMode="auto">
            <a:xfrm>
              <a:off x="4497" y="195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46" name="Line 350"/>
            <p:cNvSpPr>
              <a:spLocks noChangeShapeType="1"/>
            </p:cNvSpPr>
            <p:nvPr/>
          </p:nvSpPr>
          <p:spPr bwMode="auto">
            <a:xfrm>
              <a:off x="4497" y="195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7" name="Rectangle 351"/>
            <p:cNvSpPr>
              <a:spLocks noChangeArrowheads="1"/>
            </p:cNvSpPr>
            <p:nvPr/>
          </p:nvSpPr>
          <p:spPr bwMode="auto">
            <a:xfrm>
              <a:off x="4877" y="195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48" name="Line 352"/>
            <p:cNvSpPr>
              <a:spLocks noChangeShapeType="1"/>
            </p:cNvSpPr>
            <p:nvPr/>
          </p:nvSpPr>
          <p:spPr bwMode="auto">
            <a:xfrm>
              <a:off x="4877" y="195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49" name="Line 353"/>
            <p:cNvSpPr>
              <a:spLocks noChangeShapeType="1"/>
            </p:cNvSpPr>
            <p:nvPr/>
          </p:nvSpPr>
          <p:spPr bwMode="auto">
            <a:xfrm>
              <a:off x="4877" y="195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50" name="Rectangle 354"/>
            <p:cNvSpPr>
              <a:spLocks noChangeArrowheads="1"/>
            </p:cNvSpPr>
            <p:nvPr/>
          </p:nvSpPr>
          <p:spPr bwMode="auto">
            <a:xfrm>
              <a:off x="997" y="1961"/>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51" name="Line 355"/>
            <p:cNvSpPr>
              <a:spLocks noChangeShapeType="1"/>
            </p:cNvSpPr>
            <p:nvPr/>
          </p:nvSpPr>
          <p:spPr bwMode="auto">
            <a:xfrm>
              <a:off x="997"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52" name="Rectangle 356"/>
            <p:cNvSpPr>
              <a:spLocks noChangeArrowheads="1"/>
            </p:cNvSpPr>
            <p:nvPr/>
          </p:nvSpPr>
          <p:spPr bwMode="auto">
            <a:xfrm>
              <a:off x="1386" y="1961"/>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53" name="Line 357"/>
            <p:cNvSpPr>
              <a:spLocks noChangeShapeType="1"/>
            </p:cNvSpPr>
            <p:nvPr/>
          </p:nvSpPr>
          <p:spPr bwMode="auto">
            <a:xfrm>
              <a:off x="1386"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54" name="Rectangle 358"/>
            <p:cNvSpPr>
              <a:spLocks noChangeArrowheads="1"/>
            </p:cNvSpPr>
            <p:nvPr/>
          </p:nvSpPr>
          <p:spPr bwMode="auto">
            <a:xfrm>
              <a:off x="1775"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55" name="Line 359"/>
            <p:cNvSpPr>
              <a:spLocks noChangeShapeType="1"/>
            </p:cNvSpPr>
            <p:nvPr/>
          </p:nvSpPr>
          <p:spPr bwMode="auto">
            <a:xfrm>
              <a:off x="1775"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56" name="Rectangle 360"/>
            <p:cNvSpPr>
              <a:spLocks noChangeArrowheads="1"/>
            </p:cNvSpPr>
            <p:nvPr/>
          </p:nvSpPr>
          <p:spPr bwMode="auto">
            <a:xfrm>
              <a:off x="2164"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57" name="Line 361"/>
            <p:cNvSpPr>
              <a:spLocks noChangeShapeType="1"/>
            </p:cNvSpPr>
            <p:nvPr/>
          </p:nvSpPr>
          <p:spPr bwMode="auto">
            <a:xfrm>
              <a:off x="2164"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58" name="Rectangle 362"/>
            <p:cNvSpPr>
              <a:spLocks noChangeArrowheads="1"/>
            </p:cNvSpPr>
            <p:nvPr/>
          </p:nvSpPr>
          <p:spPr bwMode="auto">
            <a:xfrm>
              <a:off x="2553"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59" name="Line 363"/>
            <p:cNvSpPr>
              <a:spLocks noChangeShapeType="1"/>
            </p:cNvSpPr>
            <p:nvPr/>
          </p:nvSpPr>
          <p:spPr bwMode="auto">
            <a:xfrm>
              <a:off x="2553"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60" name="Rectangle 364"/>
            <p:cNvSpPr>
              <a:spLocks noChangeArrowheads="1"/>
            </p:cNvSpPr>
            <p:nvPr/>
          </p:nvSpPr>
          <p:spPr bwMode="auto">
            <a:xfrm>
              <a:off x="2941" y="1961"/>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61" name="Line 365"/>
            <p:cNvSpPr>
              <a:spLocks noChangeShapeType="1"/>
            </p:cNvSpPr>
            <p:nvPr/>
          </p:nvSpPr>
          <p:spPr bwMode="auto">
            <a:xfrm>
              <a:off x="2941"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62" name="Rectangle 366"/>
            <p:cNvSpPr>
              <a:spLocks noChangeArrowheads="1"/>
            </p:cNvSpPr>
            <p:nvPr/>
          </p:nvSpPr>
          <p:spPr bwMode="auto">
            <a:xfrm>
              <a:off x="3330" y="1961"/>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63" name="Line 367"/>
            <p:cNvSpPr>
              <a:spLocks noChangeShapeType="1"/>
            </p:cNvSpPr>
            <p:nvPr/>
          </p:nvSpPr>
          <p:spPr bwMode="auto">
            <a:xfrm>
              <a:off x="3330"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64" name="Rectangle 368"/>
            <p:cNvSpPr>
              <a:spLocks noChangeArrowheads="1"/>
            </p:cNvSpPr>
            <p:nvPr/>
          </p:nvSpPr>
          <p:spPr bwMode="auto">
            <a:xfrm>
              <a:off x="3719"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65" name="Line 369"/>
            <p:cNvSpPr>
              <a:spLocks noChangeShapeType="1"/>
            </p:cNvSpPr>
            <p:nvPr/>
          </p:nvSpPr>
          <p:spPr bwMode="auto">
            <a:xfrm>
              <a:off x="3719"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66" name="Rectangle 370"/>
            <p:cNvSpPr>
              <a:spLocks noChangeArrowheads="1"/>
            </p:cNvSpPr>
            <p:nvPr/>
          </p:nvSpPr>
          <p:spPr bwMode="auto">
            <a:xfrm>
              <a:off x="4108"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67" name="Line 371"/>
            <p:cNvSpPr>
              <a:spLocks noChangeShapeType="1"/>
            </p:cNvSpPr>
            <p:nvPr/>
          </p:nvSpPr>
          <p:spPr bwMode="auto">
            <a:xfrm>
              <a:off x="4108"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68" name="Rectangle 372"/>
            <p:cNvSpPr>
              <a:spLocks noChangeArrowheads="1"/>
            </p:cNvSpPr>
            <p:nvPr/>
          </p:nvSpPr>
          <p:spPr bwMode="auto">
            <a:xfrm>
              <a:off x="4488" y="1961"/>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69" name="Line 373"/>
            <p:cNvSpPr>
              <a:spLocks noChangeShapeType="1"/>
            </p:cNvSpPr>
            <p:nvPr/>
          </p:nvSpPr>
          <p:spPr bwMode="auto">
            <a:xfrm>
              <a:off x="4488"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70" name="Rectangle 374"/>
            <p:cNvSpPr>
              <a:spLocks noChangeArrowheads="1"/>
            </p:cNvSpPr>
            <p:nvPr/>
          </p:nvSpPr>
          <p:spPr bwMode="auto">
            <a:xfrm>
              <a:off x="4877" y="1961"/>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71" name="Line 375"/>
            <p:cNvSpPr>
              <a:spLocks noChangeShapeType="1"/>
            </p:cNvSpPr>
            <p:nvPr/>
          </p:nvSpPr>
          <p:spPr bwMode="auto">
            <a:xfrm>
              <a:off x="4877" y="1961"/>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72" name="Rectangle 376"/>
            <p:cNvSpPr>
              <a:spLocks noChangeArrowheads="1"/>
            </p:cNvSpPr>
            <p:nvPr/>
          </p:nvSpPr>
          <p:spPr bwMode="auto">
            <a:xfrm>
              <a:off x="1124"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73" name="Rectangle 377"/>
            <p:cNvSpPr>
              <a:spLocks noChangeArrowheads="1"/>
            </p:cNvSpPr>
            <p:nvPr/>
          </p:nvSpPr>
          <p:spPr bwMode="auto">
            <a:xfrm>
              <a:off x="1124"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74" name="Rectangle 378"/>
            <p:cNvSpPr>
              <a:spLocks noChangeArrowheads="1"/>
            </p:cNvSpPr>
            <p:nvPr/>
          </p:nvSpPr>
          <p:spPr bwMode="auto">
            <a:xfrm>
              <a:off x="1505" y="2257"/>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6075" name="Rectangle 379"/>
            <p:cNvSpPr>
              <a:spLocks noChangeArrowheads="1"/>
            </p:cNvSpPr>
            <p:nvPr/>
          </p:nvSpPr>
          <p:spPr bwMode="auto">
            <a:xfrm>
              <a:off x="1893"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76" name="Rectangle 380"/>
            <p:cNvSpPr>
              <a:spLocks noChangeArrowheads="1"/>
            </p:cNvSpPr>
            <p:nvPr/>
          </p:nvSpPr>
          <p:spPr bwMode="auto">
            <a:xfrm>
              <a:off x="1893"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77" name="Rectangle 381"/>
            <p:cNvSpPr>
              <a:spLocks noChangeArrowheads="1"/>
            </p:cNvSpPr>
            <p:nvPr/>
          </p:nvSpPr>
          <p:spPr bwMode="auto">
            <a:xfrm>
              <a:off x="2282"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78" name="Rectangle 382"/>
            <p:cNvSpPr>
              <a:spLocks noChangeArrowheads="1"/>
            </p:cNvSpPr>
            <p:nvPr/>
          </p:nvSpPr>
          <p:spPr bwMode="auto">
            <a:xfrm>
              <a:off x="2282"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79" name="Rectangle 383"/>
            <p:cNvSpPr>
              <a:spLocks noChangeArrowheads="1"/>
            </p:cNvSpPr>
            <p:nvPr/>
          </p:nvSpPr>
          <p:spPr bwMode="auto">
            <a:xfrm>
              <a:off x="2671"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80" name="Rectangle 384"/>
            <p:cNvSpPr>
              <a:spLocks noChangeArrowheads="1"/>
            </p:cNvSpPr>
            <p:nvPr/>
          </p:nvSpPr>
          <p:spPr bwMode="auto">
            <a:xfrm>
              <a:off x="2671"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81" name="Rectangle 385"/>
            <p:cNvSpPr>
              <a:spLocks noChangeArrowheads="1"/>
            </p:cNvSpPr>
            <p:nvPr/>
          </p:nvSpPr>
          <p:spPr bwMode="auto">
            <a:xfrm>
              <a:off x="4226"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82" name="Rectangle 386"/>
            <p:cNvSpPr>
              <a:spLocks noChangeArrowheads="1"/>
            </p:cNvSpPr>
            <p:nvPr/>
          </p:nvSpPr>
          <p:spPr bwMode="auto">
            <a:xfrm>
              <a:off x="4226"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83" name="Rectangle 387"/>
            <p:cNvSpPr>
              <a:spLocks noChangeArrowheads="1"/>
            </p:cNvSpPr>
            <p:nvPr/>
          </p:nvSpPr>
          <p:spPr bwMode="auto">
            <a:xfrm>
              <a:off x="4615" y="2257"/>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84" name="Rectangle 388"/>
            <p:cNvSpPr>
              <a:spLocks noChangeArrowheads="1"/>
            </p:cNvSpPr>
            <p:nvPr/>
          </p:nvSpPr>
          <p:spPr bwMode="auto">
            <a:xfrm>
              <a:off x="4615" y="2257"/>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6085" name="Rectangle 389"/>
            <p:cNvSpPr>
              <a:spLocks noChangeArrowheads="1"/>
            </p:cNvSpPr>
            <p:nvPr/>
          </p:nvSpPr>
          <p:spPr bwMode="auto">
            <a:xfrm>
              <a:off x="997" y="2257"/>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86" name="Line 390"/>
            <p:cNvSpPr>
              <a:spLocks noChangeShapeType="1"/>
            </p:cNvSpPr>
            <p:nvPr/>
          </p:nvSpPr>
          <p:spPr bwMode="auto">
            <a:xfrm>
              <a:off x="997" y="225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87" name="Line 391"/>
            <p:cNvSpPr>
              <a:spLocks noChangeShapeType="1"/>
            </p:cNvSpPr>
            <p:nvPr/>
          </p:nvSpPr>
          <p:spPr bwMode="auto">
            <a:xfrm>
              <a:off x="997"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88" name="Rectangle 392"/>
            <p:cNvSpPr>
              <a:spLocks noChangeArrowheads="1"/>
            </p:cNvSpPr>
            <p:nvPr/>
          </p:nvSpPr>
          <p:spPr bwMode="auto">
            <a:xfrm>
              <a:off x="1006"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89" name="Line 393"/>
            <p:cNvSpPr>
              <a:spLocks noChangeShapeType="1"/>
            </p:cNvSpPr>
            <p:nvPr/>
          </p:nvSpPr>
          <p:spPr bwMode="auto">
            <a:xfrm>
              <a:off x="1006"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0" name="Rectangle 394"/>
            <p:cNvSpPr>
              <a:spLocks noChangeArrowheads="1"/>
            </p:cNvSpPr>
            <p:nvPr/>
          </p:nvSpPr>
          <p:spPr bwMode="auto">
            <a:xfrm>
              <a:off x="1386" y="2257"/>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91" name="Line 395"/>
            <p:cNvSpPr>
              <a:spLocks noChangeShapeType="1"/>
            </p:cNvSpPr>
            <p:nvPr/>
          </p:nvSpPr>
          <p:spPr bwMode="auto">
            <a:xfrm>
              <a:off x="1386" y="225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2" name="Line 396"/>
            <p:cNvSpPr>
              <a:spLocks noChangeShapeType="1"/>
            </p:cNvSpPr>
            <p:nvPr/>
          </p:nvSpPr>
          <p:spPr bwMode="auto">
            <a:xfrm>
              <a:off x="1386"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3" name="Rectangle 397"/>
            <p:cNvSpPr>
              <a:spLocks noChangeArrowheads="1"/>
            </p:cNvSpPr>
            <p:nvPr/>
          </p:nvSpPr>
          <p:spPr bwMode="auto">
            <a:xfrm>
              <a:off x="1395"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94" name="Line 398"/>
            <p:cNvSpPr>
              <a:spLocks noChangeShapeType="1"/>
            </p:cNvSpPr>
            <p:nvPr/>
          </p:nvSpPr>
          <p:spPr bwMode="auto">
            <a:xfrm>
              <a:off x="1395"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5" name="Rectangle 399"/>
            <p:cNvSpPr>
              <a:spLocks noChangeArrowheads="1"/>
            </p:cNvSpPr>
            <p:nvPr/>
          </p:nvSpPr>
          <p:spPr bwMode="auto">
            <a:xfrm>
              <a:off x="1775"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96" name="Line 400"/>
            <p:cNvSpPr>
              <a:spLocks noChangeShapeType="1"/>
            </p:cNvSpPr>
            <p:nvPr/>
          </p:nvSpPr>
          <p:spPr bwMode="auto">
            <a:xfrm>
              <a:off x="1775"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7" name="Line 401"/>
            <p:cNvSpPr>
              <a:spLocks noChangeShapeType="1"/>
            </p:cNvSpPr>
            <p:nvPr/>
          </p:nvSpPr>
          <p:spPr bwMode="auto">
            <a:xfrm>
              <a:off x="1775"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098" name="Rectangle 402"/>
            <p:cNvSpPr>
              <a:spLocks noChangeArrowheads="1"/>
            </p:cNvSpPr>
            <p:nvPr/>
          </p:nvSpPr>
          <p:spPr bwMode="auto">
            <a:xfrm>
              <a:off x="1783" y="2257"/>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6099" name="Line 403"/>
            <p:cNvSpPr>
              <a:spLocks noChangeShapeType="1"/>
            </p:cNvSpPr>
            <p:nvPr/>
          </p:nvSpPr>
          <p:spPr bwMode="auto">
            <a:xfrm>
              <a:off x="1783" y="2257"/>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100" name="Rectangle 404"/>
            <p:cNvSpPr>
              <a:spLocks noChangeArrowheads="1"/>
            </p:cNvSpPr>
            <p:nvPr/>
          </p:nvSpPr>
          <p:spPr bwMode="auto">
            <a:xfrm>
              <a:off x="2164"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grpSp>
      <p:grpSp>
        <p:nvGrpSpPr>
          <p:cNvPr id="55302" name="Group 405"/>
          <p:cNvGrpSpPr>
            <a:grpSpLocks/>
          </p:cNvGrpSpPr>
          <p:nvPr/>
        </p:nvGrpSpPr>
        <p:grpSpPr bwMode="auto">
          <a:xfrm>
            <a:off x="1582738" y="3582988"/>
            <a:ext cx="6172200" cy="1697037"/>
            <a:chOff x="997" y="2257"/>
            <a:chExt cx="3888" cy="1069"/>
          </a:xfrm>
        </p:grpSpPr>
        <p:sp>
          <p:nvSpPr>
            <p:cNvPr id="55701" name="Line 406"/>
            <p:cNvSpPr>
              <a:spLocks noChangeShapeType="1"/>
            </p:cNvSpPr>
            <p:nvPr/>
          </p:nvSpPr>
          <p:spPr bwMode="auto">
            <a:xfrm>
              <a:off x="2164"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02" name="Line 407"/>
            <p:cNvSpPr>
              <a:spLocks noChangeShapeType="1"/>
            </p:cNvSpPr>
            <p:nvPr/>
          </p:nvSpPr>
          <p:spPr bwMode="auto">
            <a:xfrm>
              <a:off x="2164"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03" name="Rectangle 408"/>
            <p:cNvSpPr>
              <a:spLocks noChangeArrowheads="1"/>
            </p:cNvSpPr>
            <p:nvPr/>
          </p:nvSpPr>
          <p:spPr bwMode="auto">
            <a:xfrm>
              <a:off x="2172" y="2257"/>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04" name="Line 409"/>
            <p:cNvSpPr>
              <a:spLocks noChangeShapeType="1"/>
            </p:cNvSpPr>
            <p:nvPr/>
          </p:nvSpPr>
          <p:spPr bwMode="auto">
            <a:xfrm>
              <a:off x="2172" y="2257"/>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05" name="Rectangle 410"/>
            <p:cNvSpPr>
              <a:spLocks noChangeArrowheads="1"/>
            </p:cNvSpPr>
            <p:nvPr/>
          </p:nvSpPr>
          <p:spPr bwMode="auto">
            <a:xfrm>
              <a:off x="2553"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06" name="Line 411"/>
            <p:cNvSpPr>
              <a:spLocks noChangeShapeType="1"/>
            </p:cNvSpPr>
            <p:nvPr/>
          </p:nvSpPr>
          <p:spPr bwMode="auto">
            <a:xfrm>
              <a:off x="2553"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07" name="Line 412"/>
            <p:cNvSpPr>
              <a:spLocks noChangeShapeType="1"/>
            </p:cNvSpPr>
            <p:nvPr/>
          </p:nvSpPr>
          <p:spPr bwMode="auto">
            <a:xfrm>
              <a:off x="2553"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08" name="Rectangle 413"/>
            <p:cNvSpPr>
              <a:spLocks noChangeArrowheads="1"/>
            </p:cNvSpPr>
            <p:nvPr/>
          </p:nvSpPr>
          <p:spPr bwMode="auto">
            <a:xfrm>
              <a:off x="2561"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09" name="Line 414"/>
            <p:cNvSpPr>
              <a:spLocks noChangeShapeType="1"/>
            </p:cNvSpPr>
            <p:nvPr/>
          </p:nvSpPr>
          <p:spPr bwMode="auto">
            <a:xfrm>
              <a:off x="2561"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0" name="Rectangle 415"/>
            <p:cNvSpPr>
              <a:spLocks noChangeArrowheads="1"/>
            </p:cNvSpPr>
            <p:nvPr/>
          </p:nvSpPr>
          <p:spPr bwMode="auto">
            <a:xfrm>
              <a:off x="2941" y="2257"/>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11" name="Line 416"/>
            <p:cNvSpPr>
              <a:spLocks noChangeShapeType="1"/>
            </p:cNvSpPr>
            <p:nvPr/>
          </p:nvSpPr>
          <p:spPr bwMode="auto">
            <a:xfrm>
              <a:off x="2941" y="225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2" name="Line 417"/>
            <p:cNvSpPr>
              <a:spLocks noChangeShapeType="1"/>
            </p:cNvSpPr>
            <p:nvPr/>
          </p:nvSpPr>
          <p:spPr bwMode="auto">
            <a:xfrm>
              <a:off x="2941"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3" name="Rectangle 418"/>
            <p:cNvSpPr>
              <a:spLocks noChangeArrowheads="1"/>
            </p:cNvSpPr>
            <p:nvPr/>
          </p:nvSpPr>
          <p:spPr bwMode="auto">
            <a:xfrm>
              <a:off x="2950"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14" name="Line 419"/>
            <p:cNvSpPr>
              <a:spLocks noChangeShapeType="1"/>
            </p:cNvSpPr>
            <p:nvPr/>
          </p:nvSpPr>
          <p:spPr bwMode="auto">
            <a:xfrm>
              <a:off x="2950"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5" name="Rectangle 420"/>
            <p:cNvSpPr>
              <a:spLocks noChangeArrowheads="1"/>
            </p:cNvSpPr>
            <p:nvPr/>
          </p:nvSpPr>
          <p:spPr bwMode="auto">
            <a:xfrm>
              <a:off x="3330" y="2257"/>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16" name="Line 421"/>
            <p:cNvSpPr>
              <a:spLocks noChangeShapeType="1"/>
            </p:cNvSpPr>
            <p:nvPr/>
          </p:nvSpPr>
          <p:spPr bwMode="auto">
            <a:xfrm>
              <a:off x="3330" y="225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7" name="Line 422"/>
            <p:cNvSpPr>
              <a:spLocks noChangeShapeType="1"/>
            </p:cNvSpPr>
            <p:nvPr/>
          </p:nvSpPr>
          <p:spPr bwMode="auto">
            <a:xfrm>
              <a:off x="3330"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18" name="Rectangle 423"/>
            <p:cNvSpPr>
              <a:spLocks noChangeArrowheads="1"/>
            </p:cNvSpPr>
            <p:nvPr/>
          </p:nvSpPr>
          <p:spPr bwMode="auto">
            <a:xfrm>
              <a:off x="3339"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19" name="Line 424"/>
            <p:cNvSpPr>
              <a:spLocks noChangeShapeType="1"/>
            </p:cNvSpPr>
            <p:nvPr/>
          </p:nvSpPr>
          <p:spPr bwMode="auto">
            <a:xfrm>
              <a:off x="3339"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0" name="Rectangle 425"/>
            <p:cNvSpPr>
              <a:spLocks noChangeArrowheads="1"/>
            </p:cNvSpPr>
            <p:nvPr/>
          </p:nvSpPr>
          <p:spPr bwMode="auto">
            <a:xfrm>
              <a:off x="3719"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21" name="Line 426"/>
            <p:cNvSpPr>
              <a:spLocks noChangeShapeType="1"/>
            </p:cNvSpPr>
            <p:nvPr/>
          </p:nvSpPr>
          <p:spPr bwMode="auto">
            <a:xfrm>
              <a:off x="3719"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2" name="Line 427"/>
            <p:cNvSpPr>
              <a:spLocks noChangeShapeType="1"/>
            </p:cNvSpPr>
            <p:nvPr/>
          </p:nvSpPr>
          <p:spPr bwMode="auto">
            <a:xfrm>
              <a:off x="3719"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3" name="Rectangle 428"/>
            <p:cNvSpPr>
              <a:spLocks noChangeArrowheads="1"/>
            </p:cNvSpPr>
            <p:nvPr/>
          </p:nvSpPr>
          <p:spPr bwMode="auto">
            <a:xfrm>
              <a:off x="3727" y="2257"/>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24" name="Line 429"/>
            <p:cNvSpPr>
              <a:spLocks noChangeShapeType="1"/>
            </p:cNvSpPr>
            <p:nvPr/>
          </p:nvSpPr>
          <p:spPr bwMode="auto">
            <a:xfrm>
              <a:off x="3727" y="2257"/>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5" name="Rectangle 430"/>
            <p:cNvSpPr>
              <a:spLocks noChangeArrowheads="1"/>
            </p:cNvSpPr>
            <p:nvPr/>
          </p:nvSpPr>
          <p:spPr bwMode="auto">
            <a:xfrm>
              <a:off x="4108"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26" name="Line 431"/>
            <p:cNvSpPr>
              <a:spLocks noChangeShapeType="1"/>
            </p:cNvSpPr>
            <p:nvPr/>
          </p:nvSpPr>
          <p:spPr bwMode="auto">
            <a:xfrm>
              <a:off x="4108"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7" name="Line 432"/>
            <p:cNvSpPr>
              <a:spLocks noChangeShapeType="1"/>
            </p:cNvSpPr>
            <p:nvPr/>
          </p:nvSpPr>
          <p:spPr bwMode="auto">
            <a:xfrm>
              <a:off x="4108"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28" name="Rectangle 433"/>
            <p:cNvSpPr>
              <a:spLocks noChangeArrowheads="1"/>
            </p:cNvSpPr>
            <p:nvPr/>
          </p:nvSpPr>
          <p:spPr bwMode="auto">
            <a:xfrm>
              <a:off x="4116" y="2257"/>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29" name="Line 434"/>
            <p:cNvSpPr>
              <a:spLocks noChangeShapeType="1"/>
            </p:cNvSpPr>
            <p:nvPr/>
          </p:nvSpPr>
          <p:spPr bwMode="auto">
            <a:xfrm>
              <a:off x="4116" y="225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0" name="Rectangle 435"/>
            <p:cNvSpPr>
              <a:spLocks noChangeArrowheads="1"/>
            </p:cNvSpPr>
            <p:nvPr/>
          </p:nvSpPr>
          <p:spPr bwMode="auto">
            <a:xfrm>
              <a:off x="4488" y="2257"/>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31" name="Line 436"/>
            <p:cNvSpPr>
              <a:spLocks noChangeShapeType="1"/>
            </p:cNvSpPr>
            <p:nvPr/>
          </p:nvSpPr>
          <p:spPr bwMode="auto">
            <a:xfrm>
              <a:off x="4488" y="225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2" name="Line 437"/>
            <p:cNvSpPr>
              <a:spLocks noChangeShapeType="1"/>
            </p:cNvSpPr>
            <p:nvPr/>
          </p:nvSpPr>
          <p:spPr bwMode="auto">
            <a:xfrm>
              <a:off x="4488"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3" name="Rectangle 438"/>
            <p:cNvSpPr>
              <a:spLocks noChangeArrowheads="1"/>
            </p:cNvSpPr>
            <p:nvPr/>
          </p:nvSpPr>
          <p:spPr bwMode="auto">
            <a:xfrm>
              <a:off x="4497" y="2257"/>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34" name="Line 439"/>
            <p:cNvSpPr>
              <a:spLocks noChangeShapeType="1"/>
            </p:cNvSpPr>
            <p:nvPr/>
          </p:nvSpPr>
          <p:spPr bwMode="auto">
            <a:xfrm>
              <a:off x="4497" y="2257"/>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5" name="Rectangle 440"/>
            <p:cNvSpPr>
              <a:spLocks noChangeArrowheads="1"/>
            </p:cNvSpPr>
            <p:nvPr/>
          </p:nvSpPr>
          <p:spPr bwMode="auto">
            <a:xfrm>
              <a:off x="4877" y="2257"/>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36" name="Line 441"/>
            <p:cNvSpPr>
              <a:spLocks noChangeShapeType="1"/>
            </p:cNvSpPr>
            <p:nvPr/>
          </p:nvSpPr>
          <p:spPr bwMode="auto">
            <a:xfrm>
              <a:off x="4877" y="2257"/>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7" name="Line 442"/>
            <p:cNvSpPr>
              <a:spLocks noChangeShapeType="1"/>
            </p:cNvSpPr>
            <p:nvPr/>
          </p:nvSpPr>
          <p:spPr bwMode="auto">
            <a:xfrm>
              <a:off x="4877" y="2257"/>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38" name="Rectangle 443"/>
            <p:cNvSpPr>
              <a:spLocks noChangeArrowheads="1"/>
            </p:cNvSpPr>
            <p:nvPr/>
          </p:nvSpPr>
          <p:spPr bwMode="auto">
            <a:xfrm>
              <a:off x="997" y="2265"/>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39" name="Line 444"/>
            <p:cNvSpPr>
              <a:spLocks noChangeShapeType="1"/>
            </p:cNvSpPr>
            <p:nvPr/>
          </p:nvSpPr>
          <p:spPr bwMode="auto">
            <a:xfrm>
              <a:off x="997"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40" name="Rectangle 445"/>
            <p:cNvSpPr>
              <a:spLocks noChangeArrowheads="1"/>
            </p:cNvSpPr>
            <p:nvPr/>
          </p:nvSpPr>
          <p:spPr bwMode="auto">
            <a:xfrm>
              <a:off x="1386" y="2265"/>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41" name="Line 446"/>
            <p:cNvSpPr>
              <a:spLocks noChangeShapeType="1"/>
            </p:cNvSpPr>
            <p:nvPr/>
          </p:nvSpPr>
          <p:spPr bwMode="auto">
            <a:xfrm>
              <a:off x="1386"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42" name="Rectangle 447"/>
            <p:cNvSpPr>
              <a:spLocks noChangeArrowheads="1"/>
            </p:cNvSpPr>
            <p:nvPr/>
          </p:nvSpPr>
          <p:spPr bwMode="auto">
            <a:xfrm>
              <a:off x="1775"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43" name="Line 448"/>
            <p:cNvSpPr>
              <a:spLocks noChangeShapeType="1"/>
            </p:cNvSpPr>
            <p:nvPr/>
          </p:nvSpPr>
          <p:spPr bwMode="auto">
            <a:xfrm>
              <a:off x="1775"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44" name="Rectangle 449"/>
            <p:cNvSpPr>
              <a:spLocks noChangeArrowheads="1"/>
            </p:cNvSpPr>
            <p:nvPr/>
          </p:nvSpPr>
          <p:spPr bwMode="auto">
            <a:xfrm>
              <a:off x="2164"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45" name="Line 450"/>
            <p:cNvSpPr>
              <a:spLocks noChangeShapeType="1"/>
            </p:cNvSpPr>
            <p:nvPr/>
          </p:nvSpPr>
          <p:spPr bwMode="auto">
            <a:xfrm>
              <a:off x="2164"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46" name="Rectangle 451"/>
            <p:cNvSpPr>
              <a:spLocks noChangeArrowheads="1"/>
            </p:cNvSpPr>
            <p:nvPr/>
          </p:nvSpPr>
          <p:spPr bwMode="auto">
            <a:xfrm>
              <a:off x="2553"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47" name="Line 452"/>
            <p:cNvSpPr>
              <a:spLocks noChangeShapeType="1"/>
            </p:cNvSpPr>
            <p:nvPr/>
          </p:nvSpPr>
          <p:spPr bwMode="auto">
            <a:xfrm>
              <a:off x="2553"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48" name="Rectangle 453"/>
            <p:cNvSpPr>
              <a:spLocks noChangeArrowheads="1"/>
            </p:cNvSpPr>
            <p:nvPr/>
          </p:nvSpPr>
          <p:spPr bwMode="auto">
            <a:xfrm>
              <a:off x="2941" y="2265"/>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49" name="Line 454"/>
            <p:cNvSpPr>
              <a:spLocks noChangeShapeType="1"/>
            </p:cNvSpPr>
            <p:nvPr/>
          </p:nvSpPr>
          <p:spPr bwMode="auto">
            <a:xfrm>
              <a:off x="2941"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50" name="Rectangle 455"/>
            <p:cNvSpPr>
              <a:spLocks noChangeArrowheads="1"/>
            </p:cNvSpPr>
            <p:nvPr/>
          </p:nvSpPr>
          <p:spPr bwMode="auto">
            <a:xfrm>
              <a:off x="3330" y="2265"/>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51" name="Line 456"/>
            <p:cNvSpPr>
              <a:spLocks noChangeShapeType="1"/>
            </p:cNvSpPr>
            <p:nvPr/>
          </p:nvSpPr>
          <p:spPr bwMode="auto">
            <a:xfrm>
              <a:off x="3330"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52" name="Rectangle 457"/>
            <p:cNvSpPr>
              <a:spLocks noChangeArrowheads="1"/>
            </p:cNvSpPr>
            <p:nvPr/>
          </p:nvSpPr>
          <p:spPr bwMode="auto">
            <a:xfrm>
              <a:off x="3719"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53" name="Line 458"/>
            <p:cNvSpPr>
              <a:spLocks noChangeShapeType="1"/>
            </p:cNvSpPr>
            <p:nvPr/>
          </p:nvSpPr>
          <p:spPr bwMode="auto">
            <a:xfrm>
              <a:off x="3719"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54" name="Rectangle 459"/>
            <p:cNvSpPr>
              <a:spLocks noChangeArrowheads="1"/>
            </p:cNvSpPr>
            <p:nvPr/>
          </p:nvSpPr>
          <p:spPr bwMode="auto">
            <a:xfrm>
              <a:off x="4108"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55" name="Line 460"/>
            <p:cNvSpPr>
              <a:spLocks noChangeShapeType="1"/>
            </p:cNvSpPr>
            <p:nvPr/>
          </p:nvSpPr>
          <p:spPr bwMode="auto">
            <a:xfrm>
              <a:off x="4108"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56" name="Rectangle 461"/>
            <p:cNvSpPr>
              <a:spLocks noChangeArrowheads="1"/>
            </p:cNvSpPr>
            <p:nvPr/>
          </p:nvSpPr>
          <p:spPr bwMode="auto">
            <a:xfrm>
              <a:off x="4488" y="2265"/>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57" name="Line 462"/>
            <p:cNvSpPr>
              <a:spLocks noChangeShapeType="1"/>
            </p:cNvSpPr>
            <p:nvPr/>
          </p:nvSpPr>
          <p:spPr bwMode="auto">
            <a:xfrm>
              <a:off x="4488"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58" name="Rectangle 463"/>
            <p:cNvSpPr>
              <a:spLocks noChangeArrowheads="1"/>
            </p:cNvSpPr>
            <p:nvPr/>
          </p:nvSpPr>
          <p:spPr bwMode="auto">
            <a:xfrm>
              <a:off x="4877" y="2265"/>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59" name="Line 464"/>
            <p:cNvSpPr>
              <a:spLocks noChangeShapeType="1"/>
            </p:cNvSpPr>
            <p:nvPr/>
          </p:nvSpPr>
          <p:spPr bwMode="auto">
            <a:xfrm>
              <a:off x="4877" y="2265"/>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60" name="Rectangle 465"/>
            <p:cNvSpPr>
              <a:spLocks noChangeArrowheads="1"/>
            </p:cNvSpPr>
            <p:nvPr/>
          </p:nvSpPr>
          <p:spPr bwMode="auto">
            <a:xfrm>
              <a:off x="1124" y="2561"/>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61" name="Rectangle 466"/>
            <p:cNvSpPr>
              <a:spLocks noChangeArrowheads="1"/>
            </p:cNvSpPr>
            <p:nvPr/>
          </p:nvSpPr>
          <p:spPr bwMode="auto">
            <a:xfrm>
              <a:off x="1124" y="2561"/>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762" name="Rectangle 467"/>
            <p:cNvSpPr>
              <a:spLocks noChangeArrowheads="1"/>
            </p:cNvSpPr>
            <p:nvPr/>
          </p:nvSpPr>
          <p:spPr bwMode="auto">
            <a:xfrm>
              <a:off x="1505" y="2561"/>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763" name="Rectangle 468"/>
            <p:cNvSpPr>
              <a:spLocks noChangeArrowheads="1"/>
            </p:cNvSpPr>
            <p:nvPr/>
          </p:nvSpPr>
          <p:spPr bwMode="auto">
            <a:xfrm>
              <a:off x="1893" y="2561"/>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764" name="Rectangle 469"/>
            <p:cNvSpPr>
              <a:spLocks noChangeArrowheads="1"/>
            </p:cNvSpPr>
            <p:nvPr/>
          </p:nvSpPr>
          <p:spPr bwMode="auto">
            <a:xfrm>
              <a:off x="2282" y="2561"/>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765" name="Rectangle 470"/>
            <p:cNvSpPr>
              <a:spLocks noChangeArrowheads="1"/>
            </p:cNvSpPr>
            <p:nvPr/>
          </p:nvSpPr>
          <p:spPr bwMode="auto">
            <a:xfrm>
              <a:off x="2671" y="2561"/>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66" name="Rectangle 471"/>
            <p:cNvSpPr>
              <a:spLocks noChangeArrowheads="1"/>
            </p:cNvSpPr>
            <p:nvPr/>
          </p:nvSpPr>
          <p:spPr bwMode="auto">
            <a:xfrm>
              <a:off x="2671" y="2561"/>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767" name="Rectangle 472"/>
            <p:cNvSpPr>
              <a:spLocks noChangeArrowheads="1"/>
            </p:cNvSpPr>
            <p:nvPr/>
          </p:nvSpPr>
          <p:spPr bwMode="auto">
            <a:xfrm>
              <a:off x="4226" y="2561"/>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68" name="Rectangle 473"/>
            <p:cNvSpPr>
              <a:spLocks noChangeArrowheads="1"/>
            </p:cNvSpPr>
            <p:nvPr/>
          </p:nvSpPr>
          <p:spPr bwMode="auto">
            <a:xfrm>
              <a:off x="4226" y="2561"/>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769" name="Rectangle 474"/>
            <p:cNvSpPr>
              <a:spLocks noChangeArrowheads="1"/>
            </p:cNvSpPr>
            <p:nvPr/>
          </p:nvSpPr>
          <p:spPr bwMode="auto">
            <a:xfrm>
              <a:off x="4615" y="2561"/>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70" name="Rectangle 475"/>
            <p:cNvSpPr>
              <a:spLocks noChangeArrowheads="1"/>
            </p:cNvSpPr>
            <p:nvPr/>
          </p:nvSpPr>
          <p:spPr bwMode="auto">
            <a:xfrm>
              <a:off x="4615" y="2561"/>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771" name="Rectangle 476"/>
            <p:cNvSpPr>
              <a:spLocks noChangeArrowheads="1"/>
            </p:cNvSpPr>
            <p:nvPr/>
          </p:nvSpPr>
          <p:spPr bwMode="auto">
            <a:xfrm>
              <a:off x="997" y="256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72" name="Line 477"/>
            <p:cNvSpPr>
              <a:spLocks noChangeShapeType="1"/>
            </p:cNvSpPr>
            <p:nvPr/>
          </p:nvSpPr>
          <p:spPr bwMode="auto">
            <a:xfrm>
              <a:off x="997" y="256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73" name="Line 478"/>
            <p:cNvSpPr>
              <a:spLocks noChangeShapeType="1"/>
            </p:cNvSpPr>
            <p:nvPr/>
          </p:nvSpPr>
          <p:spPr bwMode="auto">
            <a:xfrm>
              <a:off x="997"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74" name="Rectangle 479"/>
            <p:cNvSpPr>
              <a:spLocks noChangeArrowheads="1"/>
            </p:cNvSpPr>
            <p:nvPr/>
          </p:nvSpPr>
          <p:spPr bwMode="auto">
            <a:xfrm>
              <a:off x="1006"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75" name="Line 480"/>
            <p:cNvSpPr>
              <a:spLocks noChangeShapeType="1"/>
            </p:cNvSpPr>
            <p:nvPr/>
          </p:nvSpPr>
          <p:spPr bwMode="auto">
            <a:xfrm>
              <a:off x="1006"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76" name="Rectangle 481"/>
            <p:cNvSpPr>
              <a:spLocks noChangeArrowheads="1"/>
            </p:cNvSpPr>
            <p:nvPr/>
          </p:nvSpPr>
          <p:spPr bwMode="auto">
            <a:xfrm>
              <a:off x="1386" y="256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77" name="Line 482"/>
            <p:cNvSpPr>
              <a:spLocks noChangeShapeType="1"/>
            </p:cNvSpPr>
            <p:nvPr/>
          </p:nvSpPr>
          <p:spPr bwMode="auto">
            <a:xfrm>
              <a:off x="1386" y="256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78" name="Line 483"/>
            <p:cNvSpPr>
              <a:spLocks noChangeShapeType="1"/>
            </p:cNvSpPr>
            <p:nvPr/>
          </p:nvSpPr>
          <p:spPr bwMode="auto">
            <a:xfrm>
              <a:off x="1386"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79" name="Rectangle 484"/>
            <p:cNvSpPr>
              <a:spLocks noChangeArrowheads="1"/>
            </p:cNvSpPr>
            <p:nvPr/>
          </p:nvSpPr>
          <p:spPr bwMode="auto">
            <a:xfrm>
              <a:off x="1395"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80" name="Line 485"/>
            <p:cNvSpPr>
              <a:spLocks noChangeShapeType="1"/>
            </p:cNvSpPr>
            <p:nvPr/>
          </p:nvSpPr>
          <p:spPr bwMode="auto">
            <a:xfrm>
              <a:off x="1395"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1" name="Rectangle 486"/>
            <p:cNvSpPr>
              <a:spLocks noChangeArrowheads="1"/>
            </p:cNvSpPr>
            <p:nvPr/>
          </p:nvSpPr>
          <p:spPr bwMode="auto">
            <a:xfrm>
              <a:off x="1775"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82" name="Line 487"/>
            <p:cNvSpPr>
              <a:spLocks noChangeShapeType="1"/>
            </p:cNvSpPr>
            <p:nvPr/>
          </p:nvSpPr>
          <p:spPr bwMode="auto">
            <a:xfrm>
              <a:off x="1775"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3" name="Line 488"/>
            <p:cNvSpPr>
              <a:spLocks noChangeShapeType="1"/>
            </p:cNvSpPr>
            <p:nvPr/>
          </p:nvSpPr>
          <p:spPr bwMode="auto">
            <a:xfrm>
              <a:off x="1775"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4" name="Rectangle 489"/>
            <p:cNvSpPr>
              <a:spLocks noChangeArrowheads="1"/>
            </p:cNvSpPr>
            <p:nvPr/>
          </p:nvSpPr>
          <p:spPr bwMode="auto">
            <a:xfrm>
              <a:off x="1783" y="2561"/>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85" name="Line 490"/>
            <p:cNvSpPr>
              <a:spLocks noChangeShapeType="1"/>
            </p:cNvSpPr>
            <p:nvPr/>
          </p:nvSpPr>
          <p:spPr bwMode="auto">
            <a:xfrm>
              <a:off x="1783" y="2561"/>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6" name="Rectangle 491"/>
            <p:cNvSpPr>
              <a:spLocks noChangeArrowheads="1"/>
            </p:cNvSpPr>
            <p:nvPr/>
          </p:nvSpPr>
          <p:spPr bwMode="auto">
            <a:xfrm>
              <a:off x="2164"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87" name="Line 492"/>
            <p:cNvSpPr>
              <a:spLocks noChangeShapeType="1"/>
            </p:cNvSpPr>
            <p:nvPr/>
          </p:nvSpPr>
          <p:spPr bwMode="auto">
            <a:xfrm>
              <a:off x="2164"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8" name="Line 493"/>
            <p:cNvSpPr>
              <a:spLocks noChangeShapeType="1"/>
            </p:cNvSpPr>
            <p:nvPr/>
          </p:nvSpPr>
          <p:spPr bwMode="auto">
            <a:xfrm>
              <a:off x="2164"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89" name="Rectangle 494"/>
            <p:cNvSpPr>
              <a:spLocks noChangeArrowheads="1"/>
            </p:cNvSpPr>
            <p:nvPr/>
          </p:nvSpPr>
          <p:spPr bwMode="auto">
            <a:xfrm>
              <a:off x="2172" y="2561"/>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90" name="Line 495"/>
            <p:cNvSpPr>
              <a:spLocks noChangeShapeType="1"/>
            </p:cNvSpPr>
            <p:nvPr/>
          </p:nvSpPr>
          <p:spPr bwMode="auto">
            <a:xfrm>
              <a:off x="2172" y="2561"/>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1" name="Rectangle 496"/>
            <p:cNvSpPr>
              <a:spLocks noChangeArrowheads="1"/>
            </p:cNvSpPr>
            <p:nvPr/>
          </p:nvSpPr>
          <p:spPr bwMode="auto">
            <a:xfrm>
              <a:off x="2553"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92" name="Line 497"/>
            <p:cNvSpPr>
              <a:spLocks noChangeShapeType="1"/>
            </p:cNvSpPr>
            <p:nvPr/>
          </p:nvSpPr>
          <p:spPr bwMode="auto">
            <a:xfrm>
              <a:off x="2553"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3" name="Line 498"/>
            <p:cNvSpPr>
              <a:spLocks noChangeShapeType="1"/>
            </p:cNvSpPr>
            <p:nvPr/>
          </p:nvSpPr>
          <p:spPr bwMode="auto">
            <a:xfrm>
              <a:off x="2553"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4" name="Rectangle 499"/>
            <p:cNvSpPr>
              <a:spLocks noChangeArrowheads="1"/>
            </p:cNvSpPr>
            <p:nvPr/>
          </p:nvSpPr>
          <p:spPr bwMode="auto">
            <a:xfrm>
              <a:off x="2561"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95" name="Line 500"/>
            <p:cNvSpPr>
              <a:spLocks noChangeShapeType="1"/>
            </p:cNvSpPr>
            <p:nvPr/>
          </p:nvSpPr>
          <p:spPr bwMode="auto">
            <a:xfrm>
              <a:off x="2561"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6" name="Rectangle 501"/>
            <p:cNvSpPr>
              <a:spLocks noChangeArrowheads="1"/>
            </p:cNvSpPr>
            <p:nvPr/>
          </p:nvSpPr>
          <p:spPr bwMode="auto">
            <a:xfrm>
              <a:off x="2941" y="256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97" name="Line 502"/>
            <p:cNvSpPr>
              <a:spLocks noChangeShapeType="1"/>
            </p:cNvSpPr>
            <p:nvPr/>
          </p:nvSpPr>
          <p:spPr bwMode="auto">
            <a:xfrm>
              <a:off x="2941" y="256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8" name="Line 503"/>
            <p:cNvSpPr>
              <a:spLocks noChangeShapeType="1"/>
            </p:cNvSpPr>
            <p:nvPr/>
          </p:nvSpPr>
          <p:spPr bwMode="auto">
            <a:xfrm>
              <a:off x="2941"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799" name="Rectangle 504"/>
            <p:cNvSpPr>
              <a:spLocks noChangeArrowheads="1"/>
            </p:cNvSpPr>
            <p:nvPr/>
          </p:nvSpPr>
          <p:spPr bwMode="auto">
            <a:xfrm>
              <a:off x="2950"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00" name="Line 505"/>
            <p:cNvSpPr>
              <a:spLocks noChangeShapeType="1"/>
            </p:cNvSpPr>
            <p:nvPr/>
          </p:nvSpPr>
          <p:spPr bwMode="auto">
            <a:xfrm>
              <a:off x="2950"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1" name="Rectangle 506"/>
            <p:cNvSpPr>
              <a:spLocks noChangeArrowheads="1"/>
            </p:cNvSpPr>
            <p:nvPr/>
          </p:nvSpPr>
          <p:spPr bwMode="auto">
            <a:xfrm>
              <a:off x="3330" y="256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02" name="Line 507"/>
            <p:cNvSpPr>
              <a:spLocks noChangeShapeType="1"/>
            </p:cNvSpPr>
            <p:nvPr/>
          </p:nvSpPr>
          <p:spPr bwMode="auto">
            <a:xfrm>
              <a:off x="3330" y="256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3" name="Line 508"/>
            <p:cNvSpPr>
              <a:spLocks noChangeShapeType="1"/>
            </p:cNvSpPr>
            <p:nvPr/>
          </p:nvSpPr>
          <p:spPr bwMode="auto">
            <a:xfrm>
              <a:off x="3330"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4" name="Rectangle 509"/>
            <p:cNvSpPr>
              <a:spLocks noChangeArrowheads="1"/>
            </p:cNvSpPr>
            <p:nvPr/>
          </p:nvSpPr>
          <p:spPr bwMode="auto">
            <a:xfrm>
              <a:off x="3339"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05" name="Line 510"/>
            <p:cNvSpPr>
              <a:spLocks noChangeShapeType="1"/>
            </p:cNvSpPr>
            <p:nvPr/>
          </p:nvSpPr>
          <p:spPr bwMode="auto">
            <a:xfrm>
              <a:off x="3339"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6" name="Rectangle 511"/>
            <p:cNvSpPr>
              <a:spLocks noChangeArrowheads="1"/>
            </p:cNvSpPr>
            <p:nvPr/>
          </p:nvSpPr>
          <p:spPr bwMode="auto">
            <a:xfrm>
              <a:off x="3719"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07" name="Line 512"/>
            <p:cNvSpPr>
              <a:spLocks noChangeShapeType="1"/>
            </p:cNvSpPr>
            <p:nvPr/>
          </p:nvSpPr>
          <p:spPr bwMode="auto">
            <a:xfrm>
              <a:off x="3719"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8" name="Line 513"/>
            <p:cNvSpPr>
              <a:spLocks noChangeShapeType="1"/>
            </p:cNvSpPr>
            <p:nvPr/>
          </p:nvSpPr>
          <p:spPr bwMode="auto">
            <a:xfrm>
              <a:off x="3719"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09" name="Rectangle 514"/>
            <p:cNvSpPr>
              <a:spLocks noChangeArrowheads="1"/>
            </p:cNvSpPr>
            <p:nvPr/>
          </p:nvSpPr>
          <p:spPr bwMode="auto">
            <a:xfrm>
              <a:off x="3727" y="2561"/>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10" name="Line 515"/>
            <p:cNvSpPr>
              <a:spLocks noChangeShapeType="1"/>
            </p:cNvSpPr>
            <p:nvPr/>
          </p:nvSpPr>
          <p:spPr bwMode="auto">
            <a:xfrm>
              <a:off x="3727" y="2561"/>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1" name="Rectangle 516"/>
            <p:cNvSpPr>
              <a:spLocks noChangeArrowheads="1"/>
            </p:cNvSpPr>
            <p:nvPr/>
          </p:nvSpPr>
          <p:spPr bwMode="auto">
            <a:xfrm>
              <a:off x="4108"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12" name="Line 517"/>
            <p:cNvSpPr>
              <a:spLocks noChangeShapeType="1"/>
            </p:cNvSpPr>
            <p:nvPr/>
          </p:nvSpPr>
          <p:spPr bwMode="auto">
            <a:xfrm>
              <a:off x="4108"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3" name="Line 518"/>
            <p:cNvSpPr>
              <a:spLocks noChangeShapeType="1"/>
            </p:cNvSpPr>
            <p:nvPr/>
          </p:nvSpPr>
          <p:spPr bwMode="auto">
            <a:xfrm>
              <a:off x="4108"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4" name="Rectangle 519"/>
            <p:cNvSpPr>
              <a:spLocks noChangeArrowheads="1"/>
            </p:cNvSpPr>
            <p:nvPr/>
          </p:nvSpPr>
          <p:spPr bwMode="auto">
            <a:xfrm>
              <a:off x="4116" y="2561"/>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15" name="Line 520"/>
            <p:cNvSpPr>
              <a:spLocks noChangeShapeType="1"/>
            </p:cNvSpPr>
            <p:nvPr/>
          </p:nvSpPr>
          <p:spPr bwMode="auto">
            <a:xfrm>
              <a:off x="4116" y="256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6" name="Rectangle 521"/>
            <p:cNvSpPr>
              <a:spLocks noChangeArrowheads="1"/>
            </p:cNvSpPr>
            <p:nvPr/>
          </p:nvSpPr>
          <p:spPr bwMode="auto">
            <a:xfrm>
              <a:off x="4488" y="256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17" name="Line 522"/>
            <p:cNvSpPr>
              <a:spLocks noChangeShapeType="1"/>
            </p:cNvSpPr>
            <p:nvPr/>
          </p:nvSpPr>
          <p:spPr bwMode="auto">
            <a:xfrm>
              <a:off x="4488" y="256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8" name="Line 523"/>
            <p:cNvSpPr>
              <a:spLocks noChangeShapeType="1"/>
            </p:cNvSpPr>
            <p:nvPr/>
          </p:nvSpPr>
          <p:spPr bwMode="auto">
            <a:xfrm>
              <a:off x="4488"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19" name="Rectangle 524"/>
            <p:cNvSpPr>
              <a:spLocks noChangeArrowheads="1"/>
            </p:cNvSpPr>
            <p:nvPr/>
          </p:nvSpPr>
          <p:spPr bwMode="auto">
            <a:xfrm>
              <a:off x="4497" y="2561"/>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20" name="Line 525"/>
            <p:cNvSpPr>
              <a:spLocks noChangeShapeType="1"/>
            </p:cNvSpPr>
            <p:nvPr/>
          </p:nvSpPr>
          <p:spPr bwMode="auto">
            <a:xfrm>
              <a:off x="4497" y="2561"/>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21" name="Rectangle 526"/>
            <p:cNvSpPr>
              <a:spLocks noChangeArrowheads="1"/>
            </p:cNvSpPr>
            <p:nvPr/>
          </p:nvSpPr>
          <p:spPr bwMode="auto">
            <a:xfrm>
              <a:off x="4877" y="2561"/>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22" name="Line 527"/>
            <p:cNvSpPr>
              <a:spLocks noChangeShapeType="1"/>
            </p:cNvSpPr>
            <p:nvPr/>
          </p:nvSpPr>
          <p:spPr bwMode="auto">
            <a:xfrm>
              <a:off x="4877" y="2561"/>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23" name="Line 528"/>
            <p:cNvSpPr>
              <a:spLocks noChangeShapeType="1"/>
            </p:cNvSpPr>
            <p:nvPr/>
          </p:nvSpPr>
          <p:spPr bwMode="auto">
            <a:xfrm>
              <a:off x="4877" y="256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24" name="Rectangle 529"/>
            <p:cNvSpPr>
              <a:spLocks noChangeArrowheads="1"/>
            </p:cNvSpPr>
            <p:nvPr/>
          </p:nvSpPr>
          <p:spPr bwMode="auto">
            <a:xfrm>
              <a:off x="997" y="2569"/>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25" name="Line 530"/>
            <p:cNvSpPr>
              <a:spLocks noChangeShapeType="1"/>
            </p:cNvSpPr>
            <p:nvPr/>
          </p:nvSpPr>
          <p:spPr bwMode="auto">
            <a:xfrm>
              <a:off x="997"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26" name="Rectangle 531"/>
            <p:cNvSpPr>
              <a:spLocks noChangeArrowheads="1"/>
            </p:cNvSpPr>
            <p:nvPr/>
          </p:nvSpPr>
          <p:spPr bwMode="auto">
            <a:xfrm>
              <a:off x="1386" y="2569"/>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27" name="Line 532"/>
            <p:cNvSpPr>
              <a:spLocks noChangeShapeType="1"/>
            </p:cNvSpPr>
            <p:nvPr/>
          </p:nvSpPr>
          <p:spPr bwMode="auto">
            <a:xfrm>
              <a:off x="1386"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28" name="Rectangle 533"/>
            <p:cNvSpPr>
              <a:spLocks noChangeArrowheads="1"/>
            </p:cNvSpPr>
            <p:nvPr/>
          </p:nvSpPr>
          <p:spPr bwMode="auto">
            <a:xfrm>
              <a:off x="1775"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29" name="Line 534"/>
            <p:cNvSpPr>
              <a:spLocks noChangeShapeType="1"/>
            </p:cNvSpPr>
            <p:nvPr/>
          </p:nvSpPr>
          <p:spPr bwMode="auto">
            <a:xfrm>
              <a:off x="1775"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30" name="Rectangle 535"/>
            <p:cNvSpPr>
              <a:spLocks noChangeArrowheads="1"/>
            </p:cNvSpPr>
            <p:nvPr/>
          </p:nvSpPr>
          <p:spPr bwMode="auto">
            <a:xfrm>
              <a:off x="2164"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31" name="Line 536"/>
            <p:cNvSpPr>
              <a:spLocks noChangeShapeType="1"/>
            </p:cNvSpPr>
            <p:nvPr/>
          </p:nvSpPr>
          <p:spPr bwMode="auto">
            <a:xfrm>
              <a:off x="2164"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32" name="Rectangle 537"/>
            <p:cNvSpPr>
              <a:spLocks noChangeArrowheads="1"/>
            </p:cNvSpPr>
            <p:nvPr/>
          </p:nvSpPr>
          <p:spPr bwMode="auto">
            <a:xfrm>
              <a:off x="2553"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33" name="Line 538"/>
            <p:cNvSpPr>
              <a:spLocks noChangeShapeType="1"/>
            </p:cNvSpPr>
            <p:nvPr/>
          </p:nvSpPr>
          <p:spPr bwMode="auto">
            <a:xfrm>
              <a:off x="2553"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34" name="Rectangle 539"/>
            <p:cNvSpPr>
              <a:spLocks noChangeArrowheads="1"/>
            </p:cNvSpPr>
            <p:nvPr/>
          </p:nvSpPr>
          <p:spPr bwMode="auto">
            <a:xfrm>
              <a:off x="2941" y="2569"/>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35" name="Line 540"/>
            <p:cNvSpPr>
              <a:spLocks noChangeShapeType="1"/>
            </p:cNvSpPr>
            <p:nvPr/>
          </p:nvSpPr>
          <p:spPr bwMode="auto">
            <a:xfrm>
              <a:off x="2941"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36" name="Rectangle 541"/>
            <p:cNvSpPr>
              <a:spLocks noChangeArrowheads="1"/>
            </p:cNvSpPr>
            <p:nvPr/>
          </p:nvSpPr>
          <p:spPr bwMode="auto">
            <a:xfrm>
              <a:off x="3330" y="2569"/>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37" name="Line 542"/>
            <p:cNvSpPr>
              <a:spLocks noChangeShapeType="1"/>
            </p:cNvSpPr>
            <p:nvPr/>
          </p:nvSpPr>
          <p:spPr bwMode="auto">
            <a:xfrm>
              <a:off x="3330"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38" name="Rectangle 543"/>
            <p:cNvSpPr>
              <a:spLocks noChangeArrowheads="1"/>
            </p:cNvSpPr>
            <p:nvPr/>
          </p:nvSpPr>
          <p:spPr bwMode="auto">
            <a:xfrm>
              <a:off x="3719"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39" name="Line 544"/>
            <p:cNvSpPr>
              <a:spLocks noChangeShapeType="1"/>
            </p:cNvSpPr>
            <p:nvPr/>
          </p:nvSpPr>
          <p:spPr bwMode="auto">
            <a:xfrm>
              <a:off x="3719"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40" name="Rectangle 545"/>
            <p:cNvSpPr>
              <a:spLocks noChangeArrowheads="1"/>
            </p:cNvSpPr>
            <p:nvPr/>
          </p:nvSpPr>
          <p:spPr bwMode="auto">
            <a:xfrm>
              <a:off x="4108"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41" name="Line 546"/>
            <p:cNvSpPr>
              <a:spLocks noChangeShapeType="1"/>
            </p:cNvSpPr>
            <p:nvPr/>
          </p:nvSpPr>
          <p:spPr bwMode="auto">
            <a:xfrm>
              <a:off x="4108"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42" name="Rectangle 547"/>
            <p:cNvSpPr>
              <a:spLocks noChangeArrowheads="1"/>
            </p:cNvSpPr>
            <p:nvPr/>
          </p:nvSpPr>
          <p:spPr bwMode="auto">
            <a:xfrm>
              <a:off x="4488" y="2569"/>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43" name="Line 548"/>
            <p:cNvSpPr>
              <a:spLocks noChangeShapeType="1"/>
            </p:cNvSpPr>
            <p:nvPr/>
          </p:nvSpPr>
          <p:spPr bwMode="auto">
            <a:xfrm>
              <a:off x="4488"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44" name="Rectangle 549"/>
            <p:cNvSpPr>
              <a:spLocks noChangeArrowheads="1"/>
            </p:cNvSpPr>
            <p:nvPr/>
          </p:nvSpPr>
          <p:spPr bwMode="auto">
            <a:xfrm>
              <a:off x="4877" y="2569"/>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45" name="Line 550"/>
            <p:cNvSpPr>
              <a:spLocks noChangeShapeType="1"/>
            </p:cNvSpPr>
            <p:nvPr/>
          </p:nvSpPr>
          <p:spPr bwMode="auto">
            <a:xfrm>
              <a:off x="4877" y="2569"/>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46" name="Rectangle 551"/>
            <p:cNvSpPr>
              <a:spLocks noChangeArrowheads="1"/>
            </p:cNvSpPr>
            <p:nvPr/>
          </p:nvSpPr>
          <p:spPr bwMode="auto">
            <a:xfrm>
              <a:off x="1124" y="2865"/>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47" name="Rectangle 552"/>
            <p:cNvSpPr>
              <a:spLocks noChangeArrowheads="1"/>
            </p:cNvSpPr>
            <p:nvPr/>
          </p:nvSpPr>
          <p:spPr bwMode="auto">
            <a:xfrm>
              <a:off x="1124" y="2865"/>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848" name="Rectangle 553"/>
            <p:cNvSpPr>
              <a:spLocks noChangeArrowheads="1"/>
            </p:cNvSpPr>
            <p:nvPr/>
          </p:nvSpPr>
          <p:spPr bwMode="auto">
            <a:xfrm>
              <a:off x="1893" y="2865"/>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49" name="Rectangle 554"/>
            <p:cNvSpPr>
              <a:spLocks noChangeArrowheads="1"/>
            </p:cNvSpPr>
            <p:nvPr/>
          </p:nvSpPr>
          <p:spPr bwMode="auto">
            <a:xfrm>
              <a:off x="1893" y="2865"/>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850" name="Rectangle 555"/>
            <p:cNvSpPr>
              <a:spLocks noChangeArrowheads="1"/>
            </p:cNvSpPr>
            <p:nvPr/>
          </p:nvSpPr>
          <p:spPr bwMode="auto">
            <a:xfrm>
              <a:off x="2282" y="2865"/>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851" name="Rectangle 556"/>
            <p:cNvSpPr>
              <a:spLocks noChangeArrowheads="1"/>
            </p:cNvSpPr>
            <p:nvPr/>
          </p:nvSpPr>
          <p:spPr bwMode="auto">
            <a:xfrm>
              <a:off x="2671" y="2865"/>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852" name="Rectangle 557"/>
            <p:cNvSpPr>
              <a:spLocks noChangeArrowheads="1"/>
            </p:cNvSpPr>
            <p:nvPr/>
          </p:nvSpPr>
          <p:spPr bwMode="auto">
            <a:xfrm>
              <a:off x="3060" y="2865"/>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853" name="Rectangle 558"/>
            <p:cNvSpPr>
              <a:spLocks noChangeArrowheads="1"/>
            </p:cNvSpPr>
            <p:nvPr/>
          </p:nvSpPr>
          <p:spPr bwMode="auto">
            <a:xfrm>
              <a:off x="3449" y="2865"/>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54" name="Rectangle 559"/>
            <p:cNvSpPr>
              <a:spLocks noChangeArrowheads="1"/>
            </p:cNvSpPr>
            <p:nvPr/>
          </p:nvSpPr>
          <p:spPr bwMode="auto">
            <a:xfrm>
              <a:off x="3449" y="2865"/>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855" name="Rectangle 560"/>
            <p:cNvSpPr>
              <a:spLocks noChangeArrowheads="1"/>
            </p:cNvSpPr>
            <p:nvPr/>
          </p:nvSpPr>
          <p:spPr bwMode="auto">
            <a:xfrm>
              <a:off x="4615" y="2865"/>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56" name="Rectangle 561"/>
            <p:cNvSpPr>
              <a:spLocks noChangeArrowheads="1"/>
            </p:cNvSpPr>
            <p:nvPr/>
          </p:nvSpPr>
          <p:spPr bwMode="auto">
            <a:xfrm>
              <a:off x="4615" y="2865"/>
              <a:ext cx="23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857" name="Rectangle 562"/>
            <p:cNvSpPr>
              <a:spLocks noChangeArrowheads="1"/>
            </p:cNvSpPr>
            <p:nvPr/>
          </p:nvSpPr>
          <p:spPr bwMode="auto">
            <a:xfrm>
              <a:off x="997" y="28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58" name="Line 563"/>
            <p:cNvSpPr>
              <a:spLocks noChangeShapeType="1"/>
            </p:cNvSpPr>
            <p:nvPr/>
          </p:nvSpPr>
          <p:spPr bwMode="auto">
            <a:xfrm>
              <a:off x="997" y="28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59" name="Line 564"/>
            <p:cNvSpPr>
              <a:spLocks noChangeShapeType="1"/>
            </p:cNvSpPr>
            <p:nvPr/>
          </p:nvSpPr>
          <p:spPr bwMode="auto">
            <a:xfrm>
              <a:off x="997"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0" name="Rectangle 565"/>
            <p:cNvSpPr>
              <a:spLocks noChangeArrowheads="1"/>
            </p:cNvSpPr>
            <p:nvPr/>
          </p:nvSpPr>
          <p:spPr bwMode="auto">
            <a:xfrm>
              <a:off x="1006"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61" name="Line 566"/>
            <p:cNvSpPr>
              <a:spLocks noChangeShapeType="1"/>
            </p:cNvSpPr>
            <p:nvPr/>
          </p:nvSpPr>
          <p:spPr bwMode="auto">
            <a:xfrm>
              <a:off x="1006"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2" name="Rectangle 567"/>
            <p:cNvSpPr>
              <a:spLocks noChangeArrowheads="1"/>
            </p:cNvSpPr>
            <p:nvPr/>
          </p:nvSpPr>
          <p:spPr bwMode="auto">
            <a:xfrm>
              <a:off x="1386" y="28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63" name="Line 568"/>
            <p:cNvSpPr>
              <a:spLocks noChangeShapeType="1"/>
            </p:cNvSpPr>
            <p:nvPr/>
          </p:nvSpPr>
          <p:spPr bwMode="auto">
            <a:xfrm>
              <a:off x="1386" y="28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4" name="Line 569"/>
            <p:cNvSpPr>
              <a:spLocks noChangeShapeType="1"/>
            </p:cNvSpPr>
            <p:nvPr/>
          </p:nvSpPr>
          <p:spPr bwMode="auto">
            <a:xfrm>
              <a:off x="1386"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5" name="Rectangle 570"/>
            <p:cNvSpPr>
              <a:spLocks noChangeArrowheads="1"/>
            </p:cNvSpPr>
            <p:nvPr/>
          </p:nvSpPr>
          <p:spPr bwMode="auto">
            <a:xfrm>
              <a:off x="1395"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66" name="Line 571"/>
            <p:cNvSpPr>
              <a:spLocks noChangeShapeType="1"/>
            </p:cNvSpPr>
            <p:nvPr/>
          </p:nvSpPr>
          <p:spPr bwMode="auto">
            <a:xfrm>
              <a:off x="1395"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7" name="Rectangle 572"/>
            <p:cNvSpPr>
              <a:spLocks noChangeArrowheads="1"/>
            </p:cNvSpPr>
            <p:nvPr/>
          </p:nvSpPr>
          <p:spPr bwMode="auto">
            <a:xfrm>
              <a:off x="1775"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68" name="Line 573"/>
            <p:cNvSpPr>
              <a:spLocks noChangeShapeType="1"/>
            </p:cNvSpPr>
            <p:nvPr/>
          </p:nvSpPr>
          <p:spPr bwMode="auto">
            <a:xfrm>
              <a:off x="1775"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69" name="Line 574"/>
            <p:cNvSpPr>
              <a:spLocks noChangeShapeType="1"/>
            </p:cNvSpPr>
            <p:nvPr/>
          </p:nvSpPr>
          <p:spPr bwMode="auto">
            <a:xfrm>
              <a:off x="1775"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0" name="Rectangle 575"/>
            <p:cNvSpPr>
              <a:spLocks noChangeArrowheads="1"/>
            </p:cNvSpPr>
            <p:nvPr/>
          </p:nvSpPr>
          <p:spPr bwMode="auto">
            <a:xfrm>
              <a:off x="1783" y="2865"/>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71" name="Line 576"/>
            <p:cNvSpPr>
              <a:spLocks noChangeShapeType="1"/>
            </p:cNvSpPr>
            <p:nvPr/>
          </p:nvSpPr>
          <p:spPr bwMode="auto">
            <a:xfrm>
              <a:off x="1783" y="2865"/>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2" name="Rectangle 577"/>
            <p:cNvSpPr>
              <a:spLocks noChangeArrowheads="1"/>
            </p:cNvSpPr>
            <p:nvPr/>
          </p:nvSpPr>
          <p:spPr bwMode="auto">
            <a:xfrm>
              <a:off x="2164"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73" name="Line 578"/>
            <p:cNvSpPr>
              <a:spLocks noChangeShapeType="1"/>
            </p:cNvSpPr>
            <p:nvPr/>
          </p:nvSpPr>
          <p:spPr bwMode="auto">
            <a:xfrm>
              <a:off x="2164"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4" name="Line 579"/>
            <p:cNvSpPr>
              <a:spLocks noChangeShapeType="1"/>
            </p:cNvSpPr>
            <p:nvPr/>
          </p:nvSpPr>
          <p:spPr bwMode="auto">
            <a:xfrm>
              <a:off x="2164"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5" name="Rectangle 580"/>
            <p:cNvSpPr>
              <a:spLocks noChangeArrowheads="1"/>
            </p:cNvSpPr>
            <p:nvPr/>
          </p:nvSpPr>
          <p:spPr bwMode="auto">
            <a:xfrm>
              <a:off x="2172" y="2865"/>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76" name="Line 581"/>
            <p:cNvSpPr>
              <a:spLocks noChangeShapeType="1"/>
            </p:cNvSpPr>
            <p:nvPr/>
          </p:nvSpPr>
          <p:spPr bwMode="auto">
            <a:xfrm>
              <a:off x="2172" y="2865"/>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7" name="Rectangle 582"/>
            <p:cNvSpPr>
              <a:spLocks noChangeArrowheads="1"/>
            </p:cNvSpPr>
            <p:nvPr/>
          </p:nvSpPr>
          <p:spPr bwMode="auto">
            <a:xfrm>
              <a:off x="2553"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78" name="Line 583"/>
            <p:cNvSpPr>
              <a:spLocks noChangeShapeType="1"/>
            </p:cNvSpPr>
            <p:nvPr/>
          </p:nvSpPr>
          <p:spPr bwMode="auto">
            <a:xfrm>
              <a:off x="2553"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79" name="Line 584"/>
            <p:cNvSpPr>
              <a:spLocks noChangeShapeType="1"/>
            </p:cNvSpPr>
            <p:nvPr/>
          </p:nvSpPr>
          <p:spPr bwMode="auto">
            <a:xfrm>
              <a:off x="2553"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0" name="Rectangle 585"/>
            <p:cNvSpPr>
              <a:spLocks noChangeArrowheads="1"/>
            </p:cNvSpPr>
            <p:nvPr/>
          </p:nvSpPr>
          <p:spPr bwMode="auto">
            <a:xfrm>
              <a:off x="2561"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81" name="Line 586"/>
            <p:cNvSpPr>
              <a:spLocks noChangeShapeType="1"/>
            </p:cNvSpPr>
            <p:nvPr/>
          </p:nvSpPr>
          <p:spPr bwMode="auto">
            <a:xfrm>
              <a:off x="2561"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2" name="Rectangle 587"/>
            <p:cNvSpPr>
              <a:spLocks noChangeArrowheads="1"/>
            </p:cNvSpPr>
            <p:nvPr/>
          </p:nvSpPr>
          <p:spPr bwMode="auto">
            <a:xfrm>
              <a:off x="2941" y="28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83" name="Line 588"/>
            <p:cNvSpPr>
              <a:spLocks noChangeShapeType="1"/>
            </p:cNvSpPr>
            <p:nvPr/>
          </p:nvSpPr>
          <p:spPr bwMode="auto">
            <a:xfrm>
              <a:off x="2941" y="28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4" name="Line 589"/>
            <p:cNvSpPr>
              <a:spLocks noChangeShapeType="1"/>
            </p:cNvSpPr>
            <p:nvPr/>
          </p:nvSpPr>
          <p:spPr bwMode="auto">
            <a:xfrm>
              <a:off x="2941"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5" name="Rectangle 590"/>
            <p:cNvSpPr>
              <a:spLocks noChangeArrowheads="1"/>
            </p:cNvSpPr>
            <p:nvPr/>
          </p:nvSpPr>
          <p:spPr bwMode="auto">
            <a:xfrm>
              <a:off x="2950"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86" name="Line 591"/>
            <p:cNvSpPr>
              <a:spLocks noChangeShapeType="1"/>
            </p:cNvSpPr>
            <p:nvPr/>
          </p:nvSpPr>
          <p:spPr bwMode="auto">
            <a:xfrm>
              <a:off x="2950"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7" name="Rectangle 592"/>
            <p:cNvSpPr>
              <a:spLocks noChangeArrowheads="1"/>
            </p:cNvSpPr>
            <p:nvPr/>
          </p:nvSpPr>
          <p:spPr bwMode="auto">
            <a:xfrm>
              <a:off x="3330" y="28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88" name="Line 593"/>
            <p:cNvSpPr>
              <a:spLocks noChangeShapeType="1"/>
            </p:cNvSpPr>
            <p:nvPr/>
          </p:nvSpPr>
          <p:spPr bwMode="auto">
            <a:xfrm>
              <a:off x="3330" y="28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89" name="Line 594"/>
            <p:cNvSpPr>
              <a:spLocks noChangeShapeType="1"/>
            </p:cNvSpPr>
            <p:nvPr/>
          </p:nvSpPr>
          <p:spPr bwMode="auto">
            <a:xfrm>
              <a:off x="3330"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0" name="Rectangle 595"/>
            <p:cNvSpPr>
              <a:spLocks noChangeArrowheads="1"/>
            </p:cNvSpPr>
            <p:nvPr/>
          </p:nvSpPr>
          <p:spPr bwMode="auto">
            <a:xfrm>
              <a:off x="3339"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91" name="Line 596"/>
            <p:cNvSpPr>
              <a:spLocks noChangeShapeType="1"/>
            </p:cNvSpPr>
            <p:nvPr/>
          </p:nvSpPr>
          <p:spPr bwMode="auto">
            <a:xfrm>
              <a:off x="3339"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2" name="Rectangle 597"/>
            <p:cNvSpPr>
              <a:spLocks noChangeArrowheads="1"/>
            </p:cNvSpPr>
            <p:nvPr/>
          </p:nvSpPr>
          <p:spPr bwMode="auto">
            <a:xfrm>
              <a:off x="3719"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93" name="Line 598"/>
            <p:cNvSpPr>
              <a:spLocks noChangeShapeType="1"/>
            </p:cNvSpPr>
            <p:nvPr/>
          </p:nvSpPr>
          <p:spPr bwMode="auto">
            <a:xfrm>
              <a:off x="3719"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4" name="Line 599"/>
            <p:cNvSpPr>
              <a:spLocks noChangeShapeType="1"/>
            </p:cNvSpPr>
            <p:nvPr/>
          </p:nvSpPr>
          <p:spPr bwMode="auto">
            <a:xfrm>
              <a:off x="3719"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5" name="Rectangle 600"/>
            <p:cNvSpPr>
              <a:spLocks noChangeArrowheads="1"/>
            </p:cNvSpPr>
            <p:nvPr/>
          </p:nvSpPr>
          <p:spPr bwMode="auto">
            <a:xfrm>
              <a:off x="3727" y="2865"/>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96" name="Line 601"/>
            <p:cNvSpPr>
              <a:spLocks noChangeShapeType="1"/>
            </p:cNvSpPr>
            <p:nvPr/>
          </p:nvSpPr>
          <p:spPr bwMode="auto">
            <a:xfrm>
              <a:off x="3727" y="2865"/>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7" name="Rectangle 602"/>
            <p:cNvSpPr>
              <a:spLocks noChangeArrowheads="1"/>
            </p:cNvSpPr>
            <p:nvPr/>
          </p:nvSpPr>
          <p:spPr bwMode="auto">
            <a:xfrm>
              <a:off x="4108"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898" name="Line 603"/>
            <p:cNvSpPr>
              <a:spLocks noChangeShapeType="1"/>
            </p:cNvSpPr>
            <p:nvPr/>
          </p:nvSpPr>
          <p:spPr bwMode="auto">
            <a:xfrm>
              <a:off x="4108"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899" name="Line 604"/>
            <p:cNvSpPr>
              <a:spLocks noChangeShapeType="1"/>
            </p:cNvSpPr>
            <p:nvPr/>
          </p:nvSpPr>
          <p:spPr bwMode="auto">
            <a:xfrm>
              <a:off x="4108"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900" name="Rectangle 605"/>
            <p:cNvSpPr>
              <a:spLocks noChangeArrowheads="1"/>
            </p:cNvSpPr>
            <p:nvPr/>
          </p:nvSpPr>
          <p:spPr bwMode="auto">
            <a:xfrm>
              <a:off x="4116" y="2865"/>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grpSp>
      <p:grpSp>
        <p:nvGrpSpPr>
          <p:cNvPr id="55303" name="Group 606"/>
          <p:cNvGrpSpPr>
            <a:grpSpLocks/>
          </p:cNvGrpSpPr>
          <p:nvPr/>
        </p:nvGrpSpPr>
        <p:grpSpPr bwMode="auto">
          <a:xfrm>
            <a:off x="1601788" y="4554538"/>
            <a:ext cx="6172200" cy="1697037"/>
            <a:chOff x="997" y="2865"/>
            <a:chExt cx="3888" cy="1069"/>
          </a:xfrm>
        </p:grpSpPr>
        <p:sp>
          <p:nvSpPr>
            <p:cNvPr id="55501" name="Line 607"/>
            <p:cNvSpPr>
              <a:spLocks noChangeShapeType="1"/>
            </p:cNvSpPr>
            <p:nvPr/>
          </p:nvSpPr>
          <p:spPr bwMode="auto">
            <a:xfrm>
              <a:off x="4116" y="2865"/>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2" name="Rectangle 608"/>
            <p:cNvSpPr>
              <a:spLocks noChangeArrowheads="1"/>
            </p:cNvSpPr>
            <p:nvPr/>
          </p:nvSpPr>
          <p:spPr bwMode="auto">
            <a:xfrm>
              <a:off x="4488" y="28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03" name="Line 609"/>
            <p:cNvSpPr>
              <a:spLocks noChangeShapeType="1"/>
            </p:cNvSpPr>
            <p:nvPr/>
          </p:nvSpPr>
          <p:spPr bwMode="auto">
            <a:xfrm>
              <a:off x="4488" y="28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4" name="Line 610"/>
            <p:cNvSpPr>
              <a:spLocks noChangeShapeType="1"/>
            </p:cNvSpPr>
            <p:nvPr/>
          </p:nvSpPr>
          <p:spPr bwMode="auto">
            <a:xfrm>
              <a:off x="4488"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5" name="Rectangle 611"/>
            <p:cNvSpPr>
              <a:spLocks noChangeArrowheads="1"/>
            </p:cNvSpPr>
            <p:nvPr/>
          </p:nvSpPr>
          <p:spPr bwMode="auto">
            <a:xfrm>
              <a:off x="4497" y="2865"/>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06" name="Line 612"/>
            <p:cNvSpPr>
              <a:spLocks noChangeShapeType="1"/>
            </p:cNvSpPr>
            <p:nvPr/>
          </p:nvSpPr>
          <p:spPr bwMode="auto">
            <a:xfrm>
              <a:off x="4497" y="2865"/>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7" name="Rectangle 613"/>
            <p:cNvSpPr>
              <a:spLocks noChangeArrowheads="1"/>
            </p:cNvSpPr>
            <p:nvPr/>
          </p:nvSpPr>
          <p:spPr bwMode="auto">
            <a:xfrm>
              <a:off x="4877" y="286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08" name="Line 614"/>
            <p:cNvSpPr>
              <a:spLocks noChangeShapeType="1"/>
            </p:cNvSpPr>
            <p:nvPr/>
          </p:nvSpPr>
          <p:spPr bwMode="auto">
            <a:xfrm>
              <a:off x="4877" y="2865"/>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9" name="Line 615"/>
            <p:cNvSpPr>
              <a:spLocks noChangeShapeType="1"/>
            </p:cNvSpPr>
            <p:nvPr/>
          </p:nvSpPr>
          <p:spPr bwMode="auto">
            <a:xfrm>
              <a:off x="4877" y="28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10" name="Rectangle 616"/>
            <p:cNvSpPr>
              <a:spLocks noChangeArrowheads="1"/>
            </p:cNvSpPr>
            <p:nvPr/>
          </p:nvSpPr>
          <p:spPr bwMode="auto">
            <a:xfrm>
              <a:off x="997" y="2873"/>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11" name="Line 617"/>
            <p:cNvSpPr>
              <a:spLocks noChangeShapeType="1"/>
            </p:cNvSpPr>
            <p:nvPr/>
          </p:nvSpPr>
          <p:spPr bwMode="auto">
            <a:xfrm>
              <a:off x="997"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12" name="Rectangle 618"/>
            <p:cNvSpPr>
              <a:spLocks noChangeArrowheads="1"/>
            </p:cNvSpPr>
            <p:nvPr/>
          </p:nvSpPr>
          <p:spPr bwMode="auto">
            <a:xfrm>
              <a:off x="1386" y="2873"/>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13" name="Line 619"/>
            <p:cNvSpPr>
              <a:spLocks noChangeShapeType="1"/>
            </p:cNvSpPr>
            <p:nvPr/>
          </p:nvSpPr>
          <p:spPr bwMode="auto">
            <a:xfrm>
              <a:off x="1386"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14" name="Rectangle 620"/>
            <p:cNvSpPr>
              <a:spLocks noChangeArrowheads="1"/>
            </p:cNvSpPr>
            <p:nvPr/>
          </p:nvSpPr>
          <p:spPr bwMode="auto">
            <a:xfrm>
              <a:off x="1775"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15" name="Line 621"/>
            <p:cNvSpPr>
              <a:spLocks noChangeShapeType="1"/>
            </p:cNvSpPr>
            <p:nvPr/>
          </p:nvSpPr>
          <p:spPr bwMode="auto">
            <a:xfrm>
              <a:off x="1775"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16" name="Rectangle 622"/>
            <p:cNvSpPr>
              <a:spLocks noChangeArrowheads="1"/>
            </p:cNvSpPr>
            <p:nvPr/>
          </p:nvSpPr>
          <p:spPr bwMode="auto">
            <a:xfrm>
              <a:off x="2164"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17" name="Line 623"/>
            <p:cNvSpPr>
              <a:spLocks noChangeShapeType="1"/>
            </p:cNvSpPr>
            <p:nvPr/>
          </p:nvSpPr>
          <p:spPr bwMode="auto">
            <a:xfrm>
              <a:off x="2164"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18" name="Rectangle 624"/>
            <p:cNvSpPr>
              <a:spLocks noChangeArrowheads="1"/>
            </p:cNvSpPr>
            <p:nvPr/>
          </p:nvSpPr>
          <p:spPr bwMode="auto">
            <a:xfrm>
              <a:off x="2553"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19" name="Line 625"/>
            <p:cNvSpPr>
              <a:spLocks noChangeShapeType="1"/>
            </p:cNvSpPr>
            <p:nvPr/>
          </p:nvSpPr>
          <p:spPr bwMode="auto">
            <a:xfrm>
              <a:off x="2553"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20" name="Rectangle 626"/>
            <p:cNvSpPr>
              <a:spLocks noChangeArrowheads="1"/>
            </p:cNvSpPr>
            <p:nvPr/>
          </p:nvSpPr>
          <p:spPr bwMode="auto">
            <a:xfrm>
              <a:off x="2941" y="2873"/>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21" name="Line 627"/>
            <p:cNvSpPr>
              <a:spLocks noChangeShapeType="1"/>
            </p:cNvSpPr>
            <p:nvPr/>
          </p:nvSpPr>
          <p:spPr bwMode="auto">
            <a:xfrm>
              <a:off x="2941"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22" name="Rectangle 628"/>
            <p:cNvSpPr>
              <a:spLocks noChangeArrowheads="1"/>
            </p:cNvSpPr>
            <p:nvPr/>
          </p:nvSpPr>
          <p:spPr bwMode="auto">
            <a:xfrm>
              <a:off x="3330" y="2873"/>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23" name="Line 629"/>
            <p:cNvSpPr>
              <a:spLocks noChangeShapeType="1"/>
            </p:cNvSpPr>
            <p:nvPr/>
          </p:nvSpPr>
          <p:spPr bwMode="auto">
            <a:xfrm>
              <a:off x="3330"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24" name="Rectangle 630"/>
            <p:cNvSpPr>
              <a:spLocks noChangeArrowheads="1"/>
            </p:cNvSpPr>
            <p:nvPr/>
          </p:nvSpPr>
          <p:spPr bwMode="auto">
            <a:xfrm>
              <a:off x="3719"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25" name="Line 631"/>
            <p:cNvSpPr>
              <a:spLocks noChangeShapeType="1"/>
            </p:cNvSpPr>
            <p:nvPr/>
          </p:nvSpPr>
          <p:spPr bwMode="auto">
            <a:xfrm>
              <a:off x="3719"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26" name="Rectangle 632"/>
            <p:cNvSpPr>
              <a:spLocks noChangeArrowheads="1"/>
            </p:cNvSpPr>
            <p:nvPr/>
          </p:nvSpPr>
          <p:spPr bwMode="auto">
            <a:xfrm>
              <a:off x="4108"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27" name="Line 633"/>
            <p:cNvSpPr>
              <a:spLocks noChangeShapeType="1"/>
            </p:cNvSpPr>
            <p:nvPr/>
          </p:nvSpPr>
          <p:spPr bwMode="auto">
            <a:xfrm>
              <a:off x="4108"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28" name="Rectangle 634"/>
            <p:cNvSpPr>
              <a:spLocks noChangeArrowheads="1"/>
            </p:cNvSpPr>
            <p:nvPr/>
          </p:nvSpPr>
          <p:spPr bwMode="auto">
            <a:xfrm>
              <a:off x="4488" y="2873"/>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29" name="Line 635"/>
            <p:cNvSpPr>
              <a:spLocks noChangeShapeType="1"/>
            </p:cNvSpPr>
            <p:nvPr/>
          </p:nvSpPr>
          <p:spPr bwMode="auto">
            <a:xfrm>
              <a:off x="4488"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30" name="Rectangle 636"/>
            <p:cNvSpPr>
              <a:spLocks noChangeArrowheads="1"/>
            </p:cNvSpPr>
            <p:nvPr/>
          </p:nvSpPr>
          <p:spPr bwMode="auto">
            <a:xfrm>
              <a:off x="4877" y="2873"/>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31" name="Line 637"/>
            <p:cNvSpPr>
              <a:spLocks noChangeShapeType="1"/>
            </p:cNvSpPr>
            <p:nvPr/>
          </p:nvSpPr>
          <p:spPr bwMode="auto">
            <a:xfrm>
              <a:off x="4877" y="2873"/>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32" name="Rectangle 638"/>
            <p:cNvSpPr>
              <a:spLocks noChangeArrowheads="1"/>
            </p:cNvSpPr>
            <p:nvPr/>
          </p:nvSpPr>
          <p:spPr bwMode="auto">
            <a:xfrm>
              <a:off x="1124"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33" name="Rectangle 639"/>
            <p:cNvSpPr>
              <a:spLocks noChangeArrowheads="1"/>
            </p:cNvSpPr>
            <p:nvPr/>
          </p:nvSpPr>
          <p:spPr bwMode="auto">
            <a:xfrm>
              <a:off x="1124"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34" name="Rectangle 640"/>
            <p:cNvSpPr>
              <a:spLocks noChangeArrowheads="1"/>
            </p:cNvSpPr>
            <p:nvPr/>
          </p:nvSpPr>
          <p:spPr bwMode="auto">
            <a:xfrm>
              <a:off x="1505" y="3169"/>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35" name="Rectangle 641"/>
            <p:cNvSpPr>
              <a:spLocks noChangeArrowheads="1"/>
            </p:cNvSpPr>
            <p:nvPr/>
          </p:nvSpPr>
          <p:spPr bwMode="auto">
            <a:xfrm>
              <a:off x="1505"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36" name="Rectangle 642"/>
            <p:cNvSpPr>
              <a:spLocks noChangeArrowheads="1"/>
            </p:cNvSpPr>
            <p:nvPr/>
          </p:nvSpPr>
          <p:spPr bwMode="auto">
            <a:xfrm>
              <a:off x="1893"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37" name="Rectangle 643"/>
            <p:cNvSpPr>
              <a:spLocks noChangeArrowheads="1"/>
            </p:cNvSpPr>
            <p:nvPr/>
          </p:nvSpPr>
          <p:spPr bwMode="auto">
            <a:xfrm>
              <a:off x="1893"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38" name="Rectangle 644"/>
            <p:cNvSpPr>
              <a:spLocks noChangeArrowheads="1"/>
            </p:cNvSpPr>
            <p:nvPr/>
          </p:nvSpPr>
          <p:spPr bwMode="auto">
            <a:xfrm>
              <a:off x="2282"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39" name="Rectangle 645"/>
            <p:cNvSpPr>
              <a:spLocks noChangeArrowheads="1"/>
            </p:cNvSpPr>
            <p:nvPr/>
          </p:nvSpPr>
          <p:spPr bwMode="auto">
            <a:xfrm>
              <a:off x="2282"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40" name="Rectangle 646"/>
            <p:cNvSpPr>
              <a:spLocks noChangeArrowheads="1"/>
            </p:cNvSpPr>
            <p:nvPr/>
          </p:nvSpPr>
          <p:spPr bwMode="auto">
            <a:xfrm>
              <a:off x="2671"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41" name="Rectangle 647"/>
            <p:cNvSpPr>
              <a:spLocks noChangeArrowheads="1"/>
            </p:cNvSpPr>
            <p:nvPr/>
          </p:nvSpPr>
          <p:spPr bwMode="auto">
            <a:xfrm>
              <a:off x="2671"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42" name="Rectangle 648"/>
            <p:cNvSpPr>
              <a:spLocks noChangeArrowheads="1"/>
            </p:cNvSpPr>
            <p:nvPr/>
          </p:nvSpPr>
          <p:spPr bwMode="auto">
            <a:xfrm>
              <a:off x="3060" y="3169"/>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543" name="Rectangle 649"/>
            <p:cNvSpPr>
              <a:spLocks noChangeArrowheads="1"/>
            </p:cNvSpPr>
            <p:nvPr/>
          </p:nvSpPr>
          <p:spPr bwMode="auto">
            <a:xfrm>
              <a:off x="3449" y="3169"/>
              <a:ext cx="126"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44" name="Rectangle 650"/>
            <p:cNvSpPr>
              <a:spLocks noChangeArrowheads="1"/>
            </p:cNvSpPr>
            <p:nvPr/>
          </p:nvSpPr>
          <p:spPr bwMode="auto">
            <a:xfrm>
              <a:off x="3449"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45" name="Rectangle 651"/>
            <p:cNvSpPr>
              <a:spLocks noChangeArrowheads="1"/>
            </p:cNvSpPr>
            <p:nvPr/>
          </p:nvSpPr>
          <p:spPr bwMode="auto">
            <a:xfrm>
              <a:off x="3837"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46" name="Rectangle 652"/>
            <p:cNvSpPr>
              <a:spLocks noChangeArrowheads="1"/>
            </p:cNvSpPr>
            <p:nvPr/>
          </p:nvSpPr>
          <p:spPr bwMode="auto">
            <a:xfrm>
              <a:off x="3837"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47" name="Rectangle 653"/>
            <p:cNvSpPr>
              <a:spLocks noChangeArrowheads="1"/>
            </p:cNvSpPr>
            <p:nvPr/>
          </p:nvSpPr>
          <p:spPr bwMode="auto">
            <a:xfrm>
              <a:off x="4615" y="3169"/>
              <a:ext cx="127" cy="28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48" name="Rectangle 654"/>
            <p:cNvSpPr>
              <a:spLocks noChangeArrowheads="1"/>
            </p:cNvSpPr>
            <p:nvPr/>
          </p:nvSpPr>
          <p:spPr bwMode="auto">
            <a:xfrm>
              <a:off x="4615" y="3169"/>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549" name="Rectangle 655"/>
            <p:cNvSpPr>
              <a:spLocks noChangeArrowheads="1"/>
            </p:cNvSpPr>
            <p:nvPr/>
          </p:nvSpPr>
          <p:spPr bwMode="auto">
            <a:xfrm>
              <a:off x="997" y="316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50" name="Line 656"/>
            <p:cNvSpPr>
              <a:spLocks noChangeShapeType="1"/>
            </p:cNvSpPr>
            <p:nvPr/>
          </p:nvSpPr>
          <p:spPr bwMode="auto">
            <a:xfrm>
              <a:off x="997" y="316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1" name="Line 657"/>
            <p:cNvSpPr>
              <a:spLocks noChangeShapeType="1"/>
            </p:cNvSpPr>
            <p:nvPr/>
          </p:nvSpPr>
          <p:spPr bwMode="auto">
            <a:xfrm>
              <a:off x="997"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2" name="Rectangle 658"/>
            <p:cNvSpPr>
              <a:spLocks noChangeArrowheads="1"/>
            </p:cNvSpPr>
            <p:nvPr/>
          </p:nvSpPr>
          <p:spPr bwMode="auto">
            <a:xfrm>
              <a:off x="1006"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53" name="Line 659"/>
            <p:cNvSpPr>
              <a:spLocks noChangeShapeType="1"/>
            </p:cNvSpPr>
            <p:nvPr/>
          </p:nvSpPr>
          <p:spPr bwMode="auto">
            <a:xfrm>
              <a:off x="1006"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4" name="Rectangle 660"/>
            <p:cNvSpPr>
              <a:spLocks noChangeArrowheads="1"/>
            </p:cNvSpPr>
            <p:nvPr/>
          </p:nvSpPr>
          <p:spPr bwMode="auto">
            <a:xfrm>
              <a:off x="1386" y="316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55" name="Line 661"/>
            <p:cNvSpPr>
              <a:spLocks noChangeShapeType="1"/>
            </p:cNvSpPr>
            <p:nvPr/>
          </p:nvSpPr>
          <p:spPr bwMode="auto">
            <a:xfrm>
              <a:off x="1386" y="316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6" name="Line 662"/>
            <p:cNvSpPr>
              <a:spLocks noChangeShapeType="1"/>
            </p:cNvSpPr>
            <p:nvPr/>
          </p:nvSpPr>
          <p:spPr bwMode="auto">
            <a:xfrm>
              <a:off x="1386"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7" name="Rectangle 663"/>
            <p:cNvSpPr>
              <a:spLocks noChangeArrowheads="1"/>
            </p:cNvSpPr>
            <p:nvPr/>
          </p:nvSpPr>
          <p:spPr bwMode="auto">
            <a:xfrm>
              <a:off x="1395"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58" name="Line 664"/>
            <p:cNvSpPr>
              <a:spLocks noChangeShapeType="1"/>
            </p:cNvSpPr>
            <p:nvPr/>
          </p:nvSpPr>
          <p:spPr bwMode="auto">
            <a:xfrm>
              <a:off x="1395"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59" name="Rectangle 665"/>
            <p:cNvSpPr>
              <a:spLocks noChangeArrowheads="1"/>
            </p:cNvSpPr>
            <p:nvPr/>
          </p:nvSpPr>
          <p:spPr bwMode="auto">
            <a:xfrm>
              <a:off x="1775"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60" name="Line 666"/>
            <p:cNvSpPr>
              <a:spLocks noChangeShapeType="1"/>
            </p:cNvSpPr>
            <p:nvPr/>
          </p:nvSpPr>
          <p:spPr bwMode="auto">
            <a:xfrm>
              <a:off x="1775"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1" name="Line 667"/>
            <p:cNvSpPr>
              <a:spLocks noChangeShapeType="1"/>
            </p:cNvSpPr>
            <p:nvPr/>
          </p:nvSpPr>
          <p:spPr bwMode="auto">
            <a:xfrm>
              <a:off x="1775"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2" name="Rectangle 668"/>
            <p:cNvSpPr>
              <a:spLocks noChangeArrowheads="1"/>
            </p:cNvSpPr>
            <p:nvPr/>
          </p:nvSpPr>
          <p:spPr bwMode="auto">
            <a:xfrm>
              <a:off x="1783" y="3169"/>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63" name="Line 669"/>
            <p:cNvSpPr>
              <a:spLocks noChangeShapeType="1"/>
            </p:cNvSpPr>
            <p:nvPr/>
          </p:nvSpPr>
          <p:spPr bwMode="auto">
            <a:xfrm>
              <a:off x="1783" y="3169"/>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4" name="Rectangle 670"/>
            <p:cNvSpPr>
              <a:spLocks noChangeArrowheads="1"/>
            </p:cNvSpPr>
            <p:nvPr/>
          </p:nvSpPr>
          <p:spPr bwMode="auto">
            <a:xfrm>
              <a:off x="2164"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65" name="Line 671"/>
            <p:cNvSpPr>
              <a:spLocks noChangeShapeType="1"/>
            </p:cNvSpPr>
            <p:nvPr/>
          </p:nvSpPr>
          <p:spPr bwMode="auto">
            <a:xfrm>
              <a:off x="2164"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6" name="Line 672"/>
            <p:cNvSpPr>
              <a:spLocks noChangeShapeType="1"/>
            </p:cNvSpPr>
            <p:nvPr/>
          </p:nvSpPr>
          <p:spPr bwMode="auto">
            <a:xfrm>
              <a:off x="2164"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7" name="Rectangle 673"/>
            <p:cNvSpPr>
              <a:spLocks noChangeArrowheads="1"/>
            </p:cNvSpPr>
            <p:nvPr/>
          </p:nvSpPr>
          <p:spPr bwMode="auto">
            <a:xfrm>
              <a:off x="2172" y="3169"/>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68" name="Line 674"/>
            <p:cNvSpPr>
              <a:spLocks noChangeShapeType="1"/>
            </p:cNvSpPr>
            <p:nvPr/>
          </p:nvSpPr>
          <p:spPr bwMode="auto">
            <a:xfrm>
              <a:off x="2172" y="3169"/>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69" name="Rectangle 675"/>
            <p:cNvSpPr>
              <a:spLocks noChangeArrowheads="1"/>
            </p:cNvSpPr>
            <p:nvPr/>
          </p:nvSpPr>
          <p:spPr bwMode="auto">
            <a:xfrm>
              <a:off x="2553"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70" name="Line 676"/>
            <p:cNvSpPr>
              <a:spLocks noChangeShapeType="1"/>
            </p:cNvSpPr>
            <p:nvPr/>
          </p:nvSpPr>
          <p:spPr bwMode="auto">
            <a:xfrm>
              <a:off x="2553"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1" name="Line 677"/>
            <p:cNvSpPr>
              <a:spLocks noChangeShapeType="1"/>
            </p:cNvSpPr>
            <p:nvPr/>
          </p:nvSpPr>
          <p:spPr bwMode="auto">
            <a:xfrm>
              <a:off x="2553"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2" name="Rectangle 678"/>
            <p:cNvSpPr>
              <a:spLocks noChangeArrowheads="1"/>
            </p:cNvSpPr>
            <p:nvPr/>
          </p:nvSpPr>
          <p:spPr bwMode="auto">
            <a:xfrm>
              <a:off x="2561"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73" name="Line 679"/>
            <p:cNvSpPr>
              <a:spLocks noChangeShapeType="1"/>
            </p:cNvSpPr>
            <p:nvPr/>
          </p:nvSpPr>
          <p:spPr bwMode="auto">
            <a:xfrm>
              <a:off x="2561"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4" name="Rectangle 680"/>
            <p:cNvSpPr>
              <a:spLocks noChangeArrowheads="1"/>
            </p:cNvSpPr>
            <p:nvPr/>
          </p:nvSpPr>
          <p:spPr bwMode="auto">
            <a:xfrm>
              <a:off x="2941" y="316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75" name="Line 681"/>
            <p:cNvSpPr>
              <a:spLocks noChangeShapeType="1"/>
            </p:cNvSpPr>
            <p:nvPr/>
          </p:nvSpPr>
          <p:spPr bwMode="auto">
            <a:xfrm>
              <a:off x="2941" y="316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6" name="Line 682"/>
            <p:cNvSpPr>
              <a:spLocks noChangeShapeType="1"/>
            </p:cNvSpPr>
            <p:nvPr/>
          </p:nvSpPr>
          <p:spPr bwMode="auto">
            <a:xfrm>
              <a:off x="2941"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7" name="Rectangle 683"/>
            <p:cNvSpPr>
              <a:spLocks noChangeArrowheads="1"/>
            </p:cNvSpPr>
            <p:nvPr/>
          </p:nvSpPr>
          <p:spPr bwMode="auto">
            <a:xfrm>
              <a:off x="2950"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78" name="Line 684"/>
            <p:cNvSpPr>
              <a:spLocks noChangeShapeType="1"/>
            </p:cNvSpPr>
            <p:nvPr/>
          </p:nvSpPr>
          <p:spPr bwMode="auto">
            <a:xfrm>
              <a:off x="2950"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79" name="Rectangle 685"/>
            <p:cNvSpPr>
              <a:spLocks noChangeArrowheads="1"/>
            </p:cNvSpPr>
            <p:nvPr/>
          </p:nvSpPr>
          <p:spPr bwMode="auto">
            <a:xfrm>
              <a:off x="3330" y="316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80" name="Line 686"/>
            <p:cNvSpPr>
              <a:spLocks noChangeShapeType="1"/>
            </p:cNvSpPr>
            <p:nvPr/>
          </p:nvSpPr>
          <p:spPr bwMode="auto">
            <a:xfrm>
              <a:off x="3330" y="316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1" name="Line 687"/>
            <p:cNvSpPr>
              <a:spLocks noChangeShapeType="1"/>
            </p:cNvSpPr>
            <p:nvPr/>
          </p:nvSpPr>
          <p:spPr bwMode="auto">
            <a:xfrm>
              <a:off x="3330"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2" name="Rectangle 688"/>
            <p:cNvSpPr>
              <a:spLocks noChangeArrowheads="1"/>
            </p:cNvSpPr>
            <p:nvPr/>
          </p:nvSpPr>
          <p:spPr bwMode="auto">
            <a:xfrm>
              <a:off x="3339"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83" name="Line 689"/>
            <p:cNvSpPr>
              <a:spLocks noChangeShapeType="1"/>
            </p:cNvSpPr>
            <p:nvPr/>
          </p:nvSpPr>
          <p:spPr bwMode="auto">
            <a:xfrm>
              <a:off x="3339"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4" name="Rectangle 690"/>
            <p:cNvSpPr>
              <a:spLocks noChangeArrowheads="1"/>
            </p:cNvSpPr>
            <p:nvPr/>
          </p:nvSpPr>
          <p:spPr bwMode="auto">
            <a:xfrm>
              <a:off x="3719"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85" name="Line 691"/>
            <p:cNvSpPr>
              <a:spLocks noChangeShapeType="1"/>
            </p:cNvSpPr>
            <p:nvPr/>
          </p:nvSpPr>
          <p:spPr bwMode="auto">
            <a:xfrm>
              <a:off x="3719"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6" name="Line 692"/>
            <p:cNvSpPr>
              <a:spLocks noChangeShapeType="1"/>
            </p:cNvSpPr>
            <p:nvPr/>
          </p:nvSpPr>
          <p:spPr bwMode="auto">
            <a:xfrm>
              <a:off x="3719"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7" name="Rectangle 693"/>
            <p:cNvSpPr>
              <a:spLocks noChangeArrowheads="1"/>
            </p:cNvSpPr>
            <p:nvPr/>
          </p:nvSpPr>
          <p:spPr bwMode="auto">
            <a:xfrm>
              <a:off x="3727" y="3169"/>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88" name="Line 694"/>
            <p:cNvSpPr>
              <a:spLocks noChangeShapeType="1"/>
            </p:cNvSpPr>
            <p:nvPr/>
          </p:nvSpPr>
          <p:spPr bwMode="auto">
            <a:xfrm>
              <a:off x="3727" y="3169"/>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89" name="Rectangle 695"/>
            <p:cNvSpPr>
              <a:spLocks noChangeArrowheads="1"/>
            </p:cNvSpPr>
            <p:nvPr/>
          </p:nvSpPr>
          <p:spPr bwMode="auto">
            <a:xfrm>
              <a:off x="4108"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90" name="Line 696"/>
            <p:cNvSpPr>
              <a:spLocks noChangeShapeType="1"/>
            </p:cNvSpPr>
            <p:nvPr/>
          </p:nvSpPr>
          <p:spPr bwMode="auto">
            <a:xfrm>
              <a:off x="4108"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1" name="Line 697"/>
            <p:cNvSpPr>
              <a:spLocks noChangeShapeType="1"/>
            </p:cNvSpPr>
            <p:nvPr/>
          </p:nvSpPr>
          <p:spPr bwMode="auto">
            <a:xfrm>
              <a:off x="4108"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2" name="Rectangle 698"/>
            <p:cNvSpPr>
              <a:spLocks noChangeArrowheads="1"/>
            </p:cNvSpPr>
            <p:nvPr/>
          </p:nvSpPr>
          <p:spPr bwMode="auto">
            <a:xfrm>
              <a:off x="4116" y="3169"/>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93" name="Line 699"/>
            <p:cNvSpPr>
              <a:spLocks noChangeShapeType="1"/>
            </p:cNvSpPr>
            <p:nvPr/>
          </p:nvSpPr>
          <p:spPr bwMode="auto">
            <a:xfrm>
              <a:off x="4116" y="3169"/>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4" name="Rectangle 700"/>
            <p:cNvSpPr>
              <a:spLocks noChangeArrowheads="1"/>
            </p:cNvSpPr>
            <p:nvPr/>
          </p:nvSpPr>
          <p:spPr bwMode="auto">
            <a:xfrm>
              <a:off x="4488" y="316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95" name="Line 701"/>
            <p:cNvSpPr>
              <a:spLocks noChangeShapeType="1"/>
            </p:cNvSpPr>
            <p:nvPr/>
          </p:nvSpPr>
          <p:spPr bwMode="auto">
            <a:xfrm>
              <a:off x="4488" y="316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6" name="Line 702"/>
            <p:cNvSpPr>
              <a:spLocks noChangeShapeType="1"/>
            </p:cNvSpPr>
            <p:nvPr/>
          </p:nvSpPr>
          <p:spPr bwMode="auto">
            <a:xfrm>
              <a:off x="4488"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7" name="Rectangle 703"/>
            <p:cNvSpPr>
              <a:spLocks noChangeArrowheads="1"/>
            </p:cNvSpPr>
            <p:nvPr/>
          </p:nvSpPr>
          <p:spPr bwMode="auto">
            <a:xfrm>
              <a:off x="4497" y="3169"/>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598" name="Line 704"/>
            <p:cNvSpPr>
              <a:spLocks noChangeShapeType="1"/>
            </p:cNvSpPr>
            <p:nvPr/>
          </p:nvSpPr>
          <p:spPr bwMode="auto">
            <a:xfrm>
              <a:off x="4497" y="3169"/>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99" name="Rectangle 705"/>
            <p:cNvSpPr>
              <a:spLocks noChangeArrowheads="1"/>
            </p:cNvSpPr>
            <p:nvPr/>
          </p:nvSpPr>
          <p:spPr bwMode="auto">
            <a:xfrm>
              <a:off x="4877" y="3169"/>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00" name="Line 706"/>
            <p:cNvSpPr>
              <a:spLocks noChangeShapeType="1"/>
            </p:cNvSpPr>
            <p:nvPr/>
          </p:nvSpPr>
          <p:spPr bwMode="auto">
            <a:xfrm>
              <a:off x="4877" y="3169"/>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01" name="Line 707"/>
            <p:cNvSpPr>
              <a:spLocks noChangeShapeType="1"/>
            </p:cNvSpPr>
            <p:nvPr/>
          </p:nvSpPr>
          <p:spPr bwMode="auto">
            <a:xfrm>
              <a:off x="4877" y="316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02" name="Rectangle 708"/>
            <p:cNvSpPr>
              <a:spLocks noChangeArrowheads="1"/>
            </p:cNvSpPr>
            <p:nvPr/>
          </p:nvSpPr>
          <p:spPr bwMode="auto">
            <a:xfrm>
              <a:off x="997" y="3177"/>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03" name="Line 709"/>
            <p:cNvSpPr>
              <a:spLocks noChangeShapeType="1"/>
            </p:cNvSpPr>
            <p:nvPr/>
          </p:nvSpPr>
          <p:spPr bwMode="auto">
            <a:xfrm>
              <a:off x="997"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04" name="Rectangle 710"/>
            <p:cNvSpPr>
              <a:spLocks noChangeArrowheads="1"/>
            </p:cNvSpPr>
            <p:nvPr/>
          </p:nvSpPr>
          <p:spPr bwMode="auto">
            <a:xfrm>
              <a:off x="1386" y="3177"/>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05" name="Line 711"/>
            <p:cNvSpPr>
              <a:spLocks noChangeShapeType="1"/>
            </p:cNvSpPr>
            <p:nvPr/>
          </p:nvSpPr>
          <p:spPr bwMode="auto">
            <a:xfrm>
              <a:off x="1386"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06" name="Rectangle 712"/>
            <p:cNvSpPr>
              <a:spLocks noChangeArrowheads="1"/>
            </p:cNvSpPr>
            <p:nvPr/>
          </p:nvSpPr>
          <p:spPr bwMode="auto">
            <a:xfrm>
              <a:off x="1775"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07" name="Line 713"/>
            <p:cNvSpPr>
              <a:spLocks noChangeShapeType="1"/>
            </p:cNvSpPr>
            <p:nvPr/>
          </p:nvSpPr>
          <p:spPr bwMode="auto">
            <a:xfrm>
              <a:off x="1775"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08" name="Rectangle 714"/>
            <p:cNvSpPr>
              <a:spLocks noChangeArrowheads="1"/>
            </p:cNvSpPr>
            <p:nvPr/>
          </p:nvSpPr>
          <p:spPr bwMode="auto">
            <a:xfrm>
              <a:off x="2164"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09" name="Line 715"/>
            <p:cNvSpPr>
              <a:spLocks noChangeShapeType="1"/>
            </p:cNvSpPr>
            <p:nvPr/>
          </p:nvSpPr>
          <p:spPr bwMode="auto">
            <a:xfrm>
              <a:off x="2164"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10" name="Rectangle 716"/>
            <p:cNvSpPr>
              <a:spLocks noChangeArrowheads="1"/>
            </p:cNvSpPr>
            <p:nvPr/>
          </p:nvSpPr>
          <p:spPr bwMode="auto">
            <a:xfrm>
              <a:off x="2553"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11" name="Line 717"/>
            <p:cNvSpPr>
              <a:spLocks noChangeShapeType="1"/>
            </p:cNvSpPr>
            <p:nvPr/>
          </p:nvSpPr>
          <p:spPr bwMode="auto">
            <a:xfrm>
              <a:off x="2553"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12" name="Rectangle 718"/>
            <p:cNvSpPr>
              <a:spLocks noChangeArrowheads="1"/>
            </p:cNvSpPr>
            <p:nvPr/>
          </p:nvSpPr>
          <p:spPr bwMode="auto">
            <a:xfrm>
              <a:off x="2941" y="3177"/>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13" name="Line 719"/>
            <p:cNvSpPr>
              <a:spLocks noChangeShapeType="1"/>
            </p:cNvSpPr>
            <p:nvPr/>
          </p:nvSpPr>
          <p:spPr bwMode="auto">
            <a:xfrm>
              <a:off x="2941"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14" name="Rectangle 720"/>
            <p:cNvSpPr>
              <a:spLocks noChangeArrowheads="1"/>
            </p:cNvSpPr>
            <p:nvPr/>
          </p:nvSpPr>
          <p:spPr bwMode="auto">
            <a:xfrm>
              <a:off x="3330" y="3177"/>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15" name="Line 721"/>
            <p:cNvSpPr>
              <a:spLocks noChangeShapeType="1"/>
            </p:cNvSpPr>
            <p:nvPr/>
          </p:nvSpPr>
          <p:spPr bwMode="auto">
            <a:xfrm>
              <a:off x="3330"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16" name="Rectangle 722"/>
            <p:cNvSpPr>
              <a:spLocks noChangeArrowheads="1"/>
            </p:cNvSpPr>
            <p:nvPr/>
          </p:nvSpPr>
          <p:spPr bwMode="auto">
            <a:xfrm>
              <a:off x="3719"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17" name="Line 723"/>
            <p:cNvSpPr>
              <a:spLocks noChangeShapeType="1"/>
            </p:cNvSpPr>
            <p:nvPr/>
          </p:nvSpPr>
          <p:spPr bwMode="auto">
            <a:xfrm>
              <a:off x="3719"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18" name="Rectangle 724"/>
            <p:cNvSpPr>
              <a:spLocks noChangeArrowheads="1"/>
            </p:cNvSpPr>
            <p:nvPr/>
          </p:nvSpPr>
          <p:spPr bwMode="auto">
            <a:xfrm>
              <a:off x="4108"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19" name="Line 725"/>
            <p:cNvSpPr>
              <a:spLocks noChangeShapeType="1"/>
            </p:cNvSpPr>
            <p:nvPr/>
          </p:nvSpPr>
          <p:spPr bwMode="auto">
            <a:xfrm>
              <a:off x="4108"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20" name="Rectangle 726"/>
            <p:cNvSpPr>
              <a:spLocks noChangeArrowheads="1"/>
            </p:cNvSpPr>
            <p:nvPr/>
          </p:nvSpPr>
          <p:spPr bwMode="auto">
            <a:xfrm>
              <a:off x="4488" y="3177"/>
              <a:ext cx="9"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21" name="Line 727"/>
            <p:cNvSpPr>
              <a:spLocks noChangeShapeType="1"/>
            </p:cNvSpPr>
            <p:nvPr/>
          </p:nvSpPr>
          <p:spPr bwMode="auto">
            <a:xfrm>
              <a:off x="4488"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22" name="Rectangle 728"/>
            <p:cNvSpPr>
              <a:spLocks noChangeArrowheads="1"/>
            </p:cNvSpPr>
            <p:nvPr/>
          </p:nvSpPr>
          <p:spPr bwMode="auto">
            <a:xfrm>
              <a:off x="4877" y="3177"/>
              <a:ext cx="8" cy="29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23" name="Line 729"/>
            <p:cNvSpPr>
              <a:spLocks noChangeShapeType="1"/>
            </p:cNvSpPr>
            <p:nvPr/>
          </p:nvSpPr>
          <p:spPr bwMode="auto">
            <a:xfrm>
              <a:off x="4877" y="3177"/>
              <a:ext cx="1" cy="29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24" name="Rectangle 730"/>
            <p:cNvSpPr>
              <a:spLocks noChangeArrowheads="1"/>
            </p:cNvSpPr>
            <p:nvPr/>
          </p:nvSpPr>
          <p:spPr bwMode="auto">
            <a:xfrm>
              <a:off x="1124" y="3473"/>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25" name="Rectangle 731"/>
            <p:cNvSpPr>
              <a:spLocks noChangeArrowheads="1"/>
            </p:cNvSpPr>
            <p:nvPr/>
          </p:nvSpPr>
          <p:spPr bwMode="auto">
            <a:xfrm>
              <a:off x="1124" y="3473"/>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626" name="Rectangle 732"/>
            <p:cNvSpPr>
              <a:spLocks noChangeArrowheads="1"/>
            </p:cNvSpPr>
            <p:nvPr/>
          </p:nvSpPr>
          <p:spPr bwMode="auto">
            <a:xfrm>
              <a:off x="3060" y="347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627" name="Rectangle 733"/>
            <p:cNvSpPr>
              <a:spLocks noChangeArrowheads="1"/>
            </p:cNvSpPr>
            <p:nvPr/>
          </p:nvSpPr>
          <p:spPr bwMode="auto">
            <a:xfrm>
              <a:off x="3449" y="347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628" name="Rectangle 734"/>
            <p:cNvSpPr>
              <a:spLocks noChangeArrowheads="1"/>
            </p:cNvSpPr>
            <p:nvPr/>
          </p:nvSpPr>
          <p:spPr bwMode="auto">
            <a:xfrm>
              <a:off x="3837" y="3473"/>
              <a:ext cx="0"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zh-CN" altLang="zh-CN" sz="4800" b="1"/>
            </a:p>
          </p:txBody>
        </p:sp>
        <p:sp>
          <p:nvSpPr>
            <p:cNvPr id="55629" name="Rectangle 735"/>
            <p:cNvSpPr>
              <a:spLocks noChangeArrowheads="1"/>
            </p:cNvSpPr>
            <p:nvPr/>
          </p:nvSpPr>
          <p:spPr bwMode="auto">
            <a:xfrm>
              <a:off x="4226" y="3473"/>
              <a:ext cx="1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FF0000"/>
                  </a:solidFill>
                  <a:latin typeface="Symbol" pitchFamily="18" charset="2"/>
                </a:rPr>
                <a:t>Q</a:t>
              </a:r>
              <a:endParaRPr lang="en-US" altLang="zh-CN" sz="4800" b="1"/>
            </a:p>
          </p:txBody>
        </p:sp>
        <p:sp>
          <p:nvSpPr>
            <p:cNvPr id="55630" name="Rectangle 736"/>
            <p:cNvSpPr>
              <a:spLocks noChangeArrowheads="1"/>
            </p:cNvSpPr>
            <p:nvPr/>
          </p:nvSpPr>
          <p:spPr bwMode="auto">
            <a:xfrm>
              <a:off x="4615" y="3473"/>
              <a:ext cx="127" cy="28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31" name="Rectangle 737"/>
            <p:cNvSpPr>
              <a:spLocks noChangeArrowheads="1"/>
            </p:cNvSpPr>
            <p:nvPr/>
          </p:nvSpPr>
          <p:spPr bwMode="auto">
            <a:xfrm>
              <a:off x="4615" y="3473"/>
              <a:ext cx="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632" name="Rectangle 738"/>
            <p:cNvSpPr>
              <a:spLocks noChangeArrowheads="1"/>
            </p:cNvSpPr>
            <p:nvPr/>
          </p:nvSpPr>
          <p:spPr bwMode="auto">
            <a:xfrm>
              <a:off x="997" y="347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33" name="Line 739"/>
            <p:cNvSpPr>
              <a:spLocks noChangeShapeType="1"/>
            </p:cNvSpPr>
            <p:nvPr/>
          </p:nvSpPr>
          <p:spPr bwMode="auto">
            <a:xfrm>
              <a:off x="997" y="347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34" name="Line 740"/>
            <p:cNvSpPr>
              <a:spLocks noChangeShapeType="1"/>
            </p:cNvSpPr>
            <p:nvPr/>
          </p:nvSpPr>
          <p:spPr bwMode="auto">
            <a:xfrm>
              <a:off x="997"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35" name="Rectangle 741"/>
            <p:cNvSpPr>
              <a:spLocks noChangeArrowheads="1"/>
            </p:cNvSpPr>
            <p:nvPr/>
          </p:nvSpPr>
          <p:spPr bwMode="auto">
            <a:xfrm>
              <a:off x="1006"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36" name="Line 742"/>
            <p:cNvSpPr>
              <a:spLocks noChangeShapeType="1"/>
            </p:cNvSpPr>
            <p:nvPr/>
          </p:nvSpPr>
          <p:spPr bwMode="auto">
            <a:xfrm>
              <a:off x="1006"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37" name="Rectangle 743"/>
            <p:cNvSpPr>
              <a:spLocks noChangeArrowheads="1"/>
            </p:cNvSpPr>
            <p:nvPr/>
          </p:nvSpPr>
          <p:spPr bwMode="auto">
            <a:xfrm>
              <a:off x="1386" y="347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38" name="Line 744"/>
            <p:cNvSpPr>
              <a:spLocks noChangeShapeType="1"/>
            </p:cNvSpPr>
            <p:nvPr/>
          </p:nvSpPr>
          <p:spPr bwMode="auto">
            <a:xfrm>
              <a:off x="1386" y="347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39" name="Line 745"/>
            <p:cNvSpPr>
              <a:spLocks noChangeShapeType="1"/>
            </p:cNvSpPr>
            <p:nvPr/>
          </p:nvSpPr>
          <p:spPr bwMode="auto">
            <a:xfrm>
              <a:off x="1386"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0" name="Rectangle 746"/>
            <p:cNvSpPr>
              <a:spLocks noChangeArrowheads="1"/>
            </p:cNvSpPr>
            <p:nvPr/>
          </p:nvSpPr>
          <p:spPr bwMode="auto">
            <a:xfrm>
              <a:off x="1395"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41" name="Line 747"/>
            <p:cNvSpPr>
              <a:spLocks noChangeShapeType="1"/>
            </p:cNvSpPr>
            <p:nvPr/>
          </p:nvSpPr>
          <p:spPr bwMode="auto">
            <a:xfrm>
              <a:off x="1395"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2" name="Rectangle 748"/>
            <p:cNvSpPr>
              <a:spLocks noChangeArrowheads="1"/>
            </p:cNvSpPr>
            <p:nvPr/>
          </p:nvSpPr>
          <p:spPr bwMode="auto">
            <a:xfrm>
              <a:off x="1775"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43" name="Line 749"/>
            <p:cNvSpPr>
              <a:spLocks noChangeShapeType="1"/>
            </p:cNvSpPr>
            <p:nvPr/>
          </p:nvSpPr>
          <p:spPr bwMode="auto">
            <a:xfrm>
              <a:off x="1775"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4" name="Line 750"/>
            <p:cNvSpPr>
              <a:spLocks noChangeShapeType="1"/>
            </p:cNvSpPr>
            <p:nvPr/>
          </p:nvSpPr>
          <p:spPr bwMode="auto">
            <a:xfrm>
              <a:off x="1775"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5" name="Rectangle 751"/>
            <p:cNvSpPr>
              <a:spLocks noChangeArrowheads="1"/>
            </p:cNvSpPr>
            <p:nvPr/>
          </p:nvSpPr>
          <p:spPr bwMode="auto">
            <a:xfrm>
              <a:off x="1783" y="347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46" name="Line 752"/>
            <p:cNvSpPr>
              <a:spLocks noChangeShapeType="1"/>
            </p:cNvSpPr>
            <p:nvPr/>
          </p:nvSpPr>
          <p:spPr bwMode="auto">
            <a:xfrm>
              <a:off x="1783" y="347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7" name="Rectangle 753"/>
            <p:cNvSpPr>
              <a:spLocks noChangeArrowheads="1"/>
            </p:cNvSpPr>
            <p:nvPr/>
          </p:nvSpPr>
          <p:spPr bwMode="auto">
            <a:xfrm>
              <a:off x="2164"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48" name="Line 754"/>
            <p:cNvSpPr>
              <a:spLocks noChangeShapeType="1"/>
            </p:cNvSpPr>
            <p:nvPr/>
          </p:nvSpPr>
          <p:spPr bwMode="auto">
            <a:xfrm>
              <a:off x="2164"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49" name="Line 755"/>
            <p:cNvSpPr>
              <a:spLocks noChangeShapeType="1"/>
            </p:cNvSpPr>
            <p:nvPr/>
          </p:nvSpPr>
          <p:spPr bwMode="auto">
            <a:xfrm>
              <a:off x="2164"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0" name="Rectangle 756"/>
            <p:cNvSpPr>
              <a:spLocks noChangeArrowheads="1"/>
            </p:cNvSpPr>
            <p:nvPr/>
          </p:nvSpPr>
          <p:spPr bwMode="auto">
            <a:xfrm>
              <a:off x="2172" y="347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51" name="Line 757"/>
            <p:cNvSpPr>
              <a:spLocks noChangeShapeType="1"/>
            </p:cNvSpPr>
            <p:nvPr/>
          </p:nvSpPr>
          <p:spPr bwMode="auto">
            <a:xfrm>
              <a:off x="2172" y="347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2" name="Rectangle 758"/>
            <p:cNvSpPr>
              <a:spLocks noChangeArrowheads="1"/>
            </p:cNvSpPr>
            <p:nvPr/>
          </p:nvSpPr>
          <p:spPr bwMode="auto">
            <a:xfrm>
              <a:off x="2553"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53" name="Line 759"/>
            <p:cNvSpPr>
              <a:spLocks noChangeShapeType="1"/>
            </p:cNvSpPr>
            <p:nvPr/>
          </p:nvSpPr>
          <p:spPr bwMode="auto">
            <a:xfrm>
              <a:off x="2553"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4" name="Line 760"/>
            <p:cNvSpPr>
              <a:spLocks noChangeShapeType="1"/>
            </p:cNvSpPr>
            <p:nvPr/>
          </p:nvSpPr>
          <p:spPr bwMode="auto">
            <a:xfrm>
              <a:off x="2553"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5" name="Rectangle 761"/>
            <p:cNvSpPr>
              <a:spLocks noChangeArrowheads="1"/>
            </p:cNvSpPr>
            <p:nvPr/>
          </p:nvSpPr>
          <p:spPr bwMode="auto">
            <a:xfrm>
              <a:off x="2561"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56" name="Line 762"/>
            <p:cNvSpPr>
              <a:spLocks noChangeShapeType="1"/>
            </p:cNvSpPr>
            <p:nvPr/>
          </p:nvSpPr>
          <p:spPr bwMode="auto">
            <a:xfrm>
              <a:off x="2561"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7" name="Rectangle 763"/>
            <p:cNvSpPr>
              <a:spLocks noChangeArrowheads="1"/>
            </p:cNvSpPr>
            <p:nvPr/>
          </p:nvSpPr>
          <p:spPr bwMode="auto">
            <a:xfrm>
              <a:off x="2941" y="347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58" name="Line 764"/>
            <p:cNvSpPr>
              <a:spLocks noChangeShapeType="1"/>
            </p:cNvSpPr>
            <p:nvPr/>
          </p:nvSpPr>
          <p:spPr bwMode="auto">
            <a:xfrm>
              <a:off x="2941" y="347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59" name="Line 765"/>
            <p:cNvSpPr>
              <a:spLocks noChangeShapeType="1"/>
            </p:cNvSpPr>
            <p:nvPr/>
          </p:nvSpPr>
          <p:spPr bwMode="auto">
            <a:xfrm>
              <a:off x="2941"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0" name="Rectangle 766"/>
            <p:cNvSpPr>
              <a:spLocks noChangeArrowheads="1"/>
            </p:cNvSpPr>
            <p:nvPr/>
          </p:nvSpPr>
          <p:spPr bwMode="auto">
            <a:xfrm>
              <a:off x="2950"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61" name="Line 767"/>
            <p:cNvSpPr>
              <a:spLocks noChangeShapeType="1"/>
            </p:cNvSpPr>
            <p:nvPr/>
          </p:nvSpPr>
          <p:spPr bwMode="auto">
            <a:xfrm>
              <a:off x="2950"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2" name="Rectangle 768"/>
            <p:cNvSpPr>
              <a:spLocks noChangeArrowheads="1"/>
            </p:cNvSpPr>
            <p:nvPr/>
          </p:nvSpPr>
          <p:spPr bwMode="auto">
            <a:xfrm>
              <a:off x="3330" y="347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63" name="Line 769"/>
            <p:cNvSpPr>
              <a:spLocks noChangeShapeType="1"/>
            </p:cNvSpPr>
            <p:nvPr/>
          </p:nvSpPr>
          <p:spPr bwMode="auto">
            <a:xfrm>
              <a:off x="3330" y="347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4" name="Line 770"/>
            <p:cNvSpPr>
              <a:spLocks noChangeShapeType="1"/>
            </p:cNvSpPr>
            <p:nvPr/>
          </p:nvSpPr>
          <p:spPr bwMode="auto">
            <a:xfrm>
              <a:off x="3330"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5" name="Rectangle 771"/>
            <p:cNvSpPr>
              <a:spLocks noChangeArrowheads="1"/>
            </p:cNvSpPr>
            <p:nvPr/>
          </p:nvSpPr>
          <p:spPr bwMode="auto">
            <a:xfrm>
              <a:off x="3339"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66" name="Line 772"/>
            <p:cNvSpPr>
              <a:spLocks noChangeShapeType="1"/>
            </p:cNvSpPr>
            <p:nvPr/>
          </p:nvSpPr>
          <p:spPr bwMode="auto">
            <a:xfrm>
              <a:off x="3339"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7" name="Rectangle 773"/>
            <p:cNvSpPr>
              <a:spLocks noChangeArrowheads="1"/>
            </p:cNvSpPr>
            <p:nvPr/>
          </p:nvSpPr>
          <p:spPr bwMode="auto">
            <a:xfrm>
              <a:off x="3719"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68" name="Line 774"/>
            <p:cNvSpPr>
              <a:spLocks noChangeShapeType="1"/>
            </p:cNvSpPr>
            <p:nvPr/>
          </p:nvSpPr>
          <p:spPr bwMode="auto">
            <a:xfrm>
              <a:off x="3719"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69" name="Line 775"/>
            <p:cNvSpPr>
              <a:spLocks noChangeShapeType="1"/>
            </p:cNvSpPr>
            <p:nvPr/>
          </p:nvSpPr>
          <p:spPr bwMode="auto">
            <a:xfrm>
              <a:off x="3719"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0" name="Rectangle 776"/>
            <p:cNvSpPr>
              <a:spLocks noChangeArrowheads="1"/>
            </p:cNvSpPr>
            <p:nvPr/>
          </p:nvSpPr>
          <p:spPr bwMode="auto">
            <a:xfrm>
              <a:off x="3727" y="3473"/>
              <a:ext cx="381"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71" name="Line 777"/>
            <p:cNvSpPr>
              <a:spLocks noChangeShapeType="1"/>
            </p:cNvSpPr>
            <p:nvPr/>
          </p:nvSpPr>
          <p:spPr bwMode="auto">
            <a:xfrm>
              <a:off x="3727" y="3473"/>
              <a:ext cx="38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2" name="Rectangle 778"/>
            <p:cNvSpPr>
              <a:spLocks noChangeArrowheads="1"/>
            </p:cNvSpPr>
            <p:nvPr/>
          </p:nvSpPr>
          <p:spPr bwMode="auto">
            <a:xfrm>
              <a:off x="4108"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73" name="Line 779"/>
            <p:cNvSpPr>
              <a:spLocks noChangeShapeType="1"/>
            </p:cNvSpPr>
            <p:nvPr/>
          </p:nvSpPr>
          <p:spPr bwMode="auto">
            <a:xfrm>
              <a:off x="4108"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4" name="Line 780"/>
            <p:cNvSpPr>
              <a:spLocks noChangeShapeType="1"/>
            </p:cNvSpPr>
            <p:nvPr/>
          </p:nvSpPr>
          <p:spPr bwMode="auto">
            <a:xfrm>
              <a:off x="4108"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5" name="Rectangle 781"/>
            <p:cNvSpPr>
              <a:spLocks noChangeArrowheads="1"/>
            </p:cNvSpPr>
            <p:nvPr/>
          </p:nvSpPr>
          <p:spPr bwMode="auto">
            <a:xfrm>
              <a:off x="4116" y="3473"/>
              <a:ext cx="372"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76" name="Line 782"/>
            <p:cNvSpPr>
              <a:spLocks noChangeShapeType="1"/>
            </p:cNvSpPr>
            <p:nvPr/>
          </p:nvSpPr>
          <p:spPr bwMode="auto">
            <a:xfrm>
              <a:off x="4116" y="3473"/>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7" name="Rectangle 783"/>
            <p:cNvSpPr>
              <a:spLocks noChangeArrowheads="1"/>
            </p:cNvSpPr>
            <p:nvPr/>
          </p:nvSpPr>
          <p:spPr bwMode="auto">
            <a:xfrm>
              <a:off x="4488" y="3473"/>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78" name="Line 784"/>
            <p:cNvSpPr>
              <a:spLocks noChangeShapeType="1"/>
            </p:cNvSpPr>
            <p:nvPr/>
          </p:nvSpPr>
          <p:spPr bwMode="auto">
            <a:xfrm>
              <a:off x="4488" y="347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79" name="Line 785"/>
            <p:cNvSpPr>
              <a:spLocks noChangeShapeType="1"/>
            </p:cNvSpPr>
            <p:nvPr/>
          </p:nvSpPr>
          <p:spPr bwMode="auto">
            <a:xfrm>
              <a:off x="4488"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0" name="Rectangle 786"/>
            <p:cNvSpPr>
              <a:spLocks noChangeArrowheads="1"/>
            </p:cNvSpPr>
            <p:nvPr/>
          </p:nvSpPr>
          <p:spPr bwMode="auto">
            <a:xfrm>
              <a:off x="4497" y="3473"/>
              <a:ext cx="38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81" name="Line 787"/>
            <p:cNvSpPr>
              <a:spLocks noChangeShapeType="1"/>
            </p:cNvSpPr>
            <p:nvPr/>
          </p:nvSpPr>
          <p:spPr bwMode="auto">
            <a:xfrm>
              <a:off x="4497" y="3473"/>
              <a:ext cx="38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2" name="Rectangle 788"/>
            <p:cNvSpPr>
              <a:spLocks noChangeArrowheads="1"/>
            </p:cNvSpPr>
            <p:nvPr/>
          </p:nvSpPr>
          <p:spPr bwMode="auto">
            <a:xfrm>
              <a:off x="4877" y="3473"/>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83" name="Line 789"/>
            <p:cNvSpPr>
              <a:spLocks noChangeShapeType="1"/>
            </p:cNvSpPr>
            <p:nvPr/>
          </p:nvSpPr>
          <p:spPr bwMode="auto">
            <a:xfrm>
              <a:off x="4877" y="3473"/>
              <a:ext cx="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4" name="Line 790"/>
            <p:cNvSpPr>
              <a:spLocks noChangeShapeType="1"/>
            </p:cNvSpPr>
            <p:nvPr/>
          </p:nvSpPr>
          <p:spPr bwMode="auto">
            <a:xfrm>
              <a:off x="4877" y="3473"/>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5" name="Rectangle 791"/>
            <p:cNvSpPr>
              <a:spLocks noChangeArrowheads="1"/>
            </p:cNvSpPr>
            <p:nvPr/>
          </p:nvSpPr>
          <p:spPr bwMode="auto">
            <a:xfrm>
              <a:off x="997" y="3481"/>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86" name="Line 792"/>
            <p:cNvSpPr>
              <a:spLocks noChangeShapeType="1"/>
            </p:cNvSpPr>
            <p:nvPr/>
          </p:nvSpPr>
          <p:spPr bwMode="auto">
            <a:xfrm>
              <a:off x="997"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7" name="Rectangle 793"/>
            <p:cNvSpPr>
              <a:spLocks noChangeArrowheads="1"/>
            </p:cNvSpPr>
            <p:nvPr/>
          </p:nvSpPr>
          <p:spPr bwMode="auto">
            <a:xfrm>
              <a:off x="1386" y="3481"/>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88" name="Line 794"/>
            <p:cNvSpPr>
              <a:spLocks noChangeShapeType="1"/>
            </p:cNvSpPr>
            <p:nvPr/>
          </p:nvSpPr>
          <p:spPr bwMode="auto">
            <a:xfrm>
              <a:off x="1386"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89" name="Rectangle 795"/>
            <p:cNvSpPr>
              <a:spLocks noChangeArrowheads="1"/>
            </p:cNvSpPr>
            <p:nvPr/>
          </p:nvSpPr>
          <p:spPr bwMode="auto">
            <a:xfrm>
              <a:off x="1775" y="3481"/>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90" name="Line 796"/>
            <p:cNvSpPr>
              <a:spLocks noChangeShapeType="1"/>
            </p:cNvSpPr>
            <p:nvPr/>
          </p:nvSpPr>
          <p:spPr bwMode="auto">
            <a:xfrm>
              <a:off x="1775"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91" name="Rectangle 797"/>
            <p:cNvSpPr>
              <a:spLocks noChangeArrowheads="1"/>
            </p:cNvSpPr>
            <p:nvPr/>
          </p:nvSpPr>
          <p:spPr bwMode="auto">
            <a:xfrm>
              <a:off x="2164" y="3481"/>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92" name="Line 798"/>
            <p:cNvSpPr>
              <a:spLocks noChangeShapeType="1"/>
            </p:cNvSpPr>
            <p:nvPr/>
          </p:nvSpPr>
          <p:spPr bwMode="auto">
            <a:xfrm>
              <a:off x="2164"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93" name="Rectangle 799"/>
            <p:cNvSpPr>
              <a:spLocks noChangeArrowheads="1"/>
            </p:cNvSpPr>
            <p:nvPr/>
          </p:nvSpPr>
          <p:spPr bwMode="auto">
            <a:xfrm>
              <a:off x="2553" y="3481"/>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94" name="Line 800"/>
            <p:cNvSpPr>
              <a:spLocks noChangeShapeType="1"/>
            </p:cNvSpPr>
            <p:nvPr/>
          </p:nvSpPr>
          <p:spPr bwMode="auto">
            <a:xfrm>
              <a:off x="2553"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95" name="Rectangle 801"/>
            <p:cNvSpPr>
              <a:spLocks noChangeArrowheads="1"/>
            </p:cNvSpPr>
            <p:nvPr/>
          </p:nvSpPr>
          <p:spPr bwMode="auto">
            <a:xfrm>
              <a:off x="2941" y="3481"/>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96" name="Line 802"/>
            <p:cNvSpPr>
              <a:spLocks noChangeShapeType="1"/>
            </p:cNvSpPr>
            <p:nvPr/>
          </p:nvSpPr>
          <p:spPr bwMode="auto">
            <a:xfrm>
              <a:off x="2941"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97" name="Rectangle 803"/>
            <p:cNvSpPr>
              <a:spLocks noChangeArrowheads="1"/>
            </p:cNvSpPr>
            <p:nvPr/>
          </p:nvSpPr>
          <p:spPr bwMode="auto">
            <a:xfrm>
              <a:off x="3330" y="3481"/>
              <a:ext cx="9"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698" name="Line 804"/>
            <p:cNvSpPr>
              <a:spLocks noChangeShapeType="1"/>
            </p:cNvSpPr>
            <p:nvPr/>
          </p:nvSpPr>
          <p:spPr bwMode="auto">
            <a:xfrm>
              <a:off x="3330"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99" name="Rectangle 805"/>
            <p:cNvSpPr>
              <a:spLocks noChangeArrowheads="1"/>
            </p:cNvSpPr>
            <p:nvPr/>
          </p:nvSpPr>
          <p:spPr bwMode="auto">
            <a:xfrm>
              <a:off x="3719" y="3481"/>
              <a:ext cx="8" cy="2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700" name="Line 806"/>
            <p:cNvSpPr>
              <a:spLocks noChangeShapeType="1"/>
            </p:cNvSpPr>
            <p:nvPr/>
          </p:nvSpPr>
          <p:spPr bwMode="auto">
            <a:xfrm>
              <a:off x="3719" y="3481"/>
              <a:ext cx="1" cy="2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04" name="Rectangle 807"/>
          <p:cNvSpPr>
            <a:spLocks noChangeArrowheads="1"/>
          </p:cNvSpPr>
          <p:nvPr/>
        </p:nvSpPr>
        <p:spPr bwMode="auto">
          <a:xfrm>
            <a:off x="6521450" y="5526088"/>
            <a:ext cx="12700" cy="4714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05" name="Line 808"/>
          <p:cNvSpPr>
            <a:spLocks noChangeShapeType="1"/>
          </p:cNvSpPr>
          <p:nvPr/>
        </p:nvSpPr>
        <p:spPr bwMode="auto">
          <a:xfrm>
            <a:off x="6521450" y="5526088"/>
            <a:ext cx="1588" cy="4714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6" name="Rectangle 809"/>
          <p:cNvSpPr>
            <a:spLocks noChangeArrowheads="1"/>
          </p:cNvSpPr>
          <p:nvPr/>
        </p:nvSpPr>
        <p:spPr bwMode="auto">
          <a:xfrm>
            <a:off x="7124700" y="5526088"/>
            <a:ext cx="14288" cy="4714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07" name="Line 810"/>
          <p:cNvSpPr>
            <a:spLocks noChangeShapeType="1"/>
          </p:cNvSpPr>
          <p:nvPr/>
        </p:nvSpPr>
        <p:spPr bwMode="auto">
          <a:xfrm>
            <a:off x="7124700" y="5526088"/>
            <a:ext cx="1588" cy="4714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Rectangle 811"/>
          <p:cNvSpPr>
            <a:spLocks noChangeArrowheads="1"/>
          </p:cNvSpPr>
          <p:nvPr/>
        </p:nvSpPr>
        <p:spPr bwMode="auto">
          <a:xfrm>
            <a:off x="7742238" y="5526088"/>
            <a:ext cx="12700" cy="4714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09" name="Line 812"/>
          <p:cNvSpPr>
            <a:spLocks noChangeShapeType="1"/>
          </p:cNvSpPr>
          <p:nvPr/>
        </p:nvSpPr>
        <p:spPr bwMode="auto">
          <a:xfrm>
            <a:off x="7742238" y="5526088"/>
            <a:ext cx="1587" cy="4714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0" name="Rectangle 813"/>
          <p:cNvSpPr>
            <a:spLocks noChangeArrowheads="1"/>
          </p:cNvSpPr>
          <p:nvPr/>
        </p:nvSpPr>
        <p:spPr bwMode="auto">
          <a:xfrm>
            <a:off x="1784350" y="5997575"/>
            <a:ext cx="201613"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11" name="Rectangle 814"/>
          <p:cNvSpPr>
            <a:spLocks noChangeArrowheads="1"/>
          </p:cNvSpPr>
          <p:nvPr/>
        </p:nvSpPr>
        <p:spPr bwMode="auto">
          <a:xfrm>
            <a:off x="1784350" y="5997575"/>
            <a:ext cx="3762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12" name="Rectangle 815"/>
          <p:cNvSpPr>
            <a:spLocks noChangeArrowheads="1"/>
          </p:cNvSpPr>
          <p:nvPr/>
        </p:nvSpPr>
        <p:spPr bwMode="auto">
          <a:xfrm>
            <a:off x="2389188" y="5997575"/>
            <a:ext cx="200025"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13" name="Rectangle 816"/>
          <p:cNvSpPr>
            <a:spLocks noChangeArrowheads="1"/>
          </p:cNvSpPr>
          <p:nvPr/>
        </p:nvSpPr>
        <p:spPr bwMode="auto">
          <a:xfrm>
            <a:off x="2389188"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14" name="Rectangle 817"/>
          <p:cNvSpPr>
            <a:spLocks noChangeArrowheads="1"/>
          </p:cNvSpPr>
          <p:nvPr/>
        </p:nvSpPr>
        <p:spPr bwMode="auto">
          <a:xfrm>
            <a:off x="3005138" y="5997575"/>
            <a:ext cx="201612"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15" name="Rectangle 818"/>
          <p:cNvSpPr>
            <a:spLocks noChangeArrowheads="1"/>
          </p:cNvSpPr>
          <p:nvPr/>
        </p:nvSpPr>
        <p:spPr bwMode="auto">
          <a:xfrm>
            <a:off x="3005138"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16" name="Rectangle 819"/>
          <p:cNvSpPr>
            <a:spLocks noChangeArrowheads="1"/>
          </p:cNvSpPr>
          <p:nvPr/>
        </p:nvSpPr>
        <p:spPr bwMode="auto">
          <a:xfrm>
            <a:off x="3622675" y="5997575"/>
            <a:ext cx="201613"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17" name="Rectangle 820"/>
          <p:cNvSpPr>
            <a:spLocks noChangeArrowheads="1"/>
          </p:cNvSpPr>
          <p:nvPr/>
        </p:nvSpPr>
        <p:spPr bwMode="auto">
          <a:xfrm>
            <a:off x="3622675" y="5997575"/>
            <a:ext cx="3762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18" name="Rectangle 821"/>
          <p:cNvSpPr>
            <a:spLocks noChangeArrowheads="1"/>
          </p:cNvSpPr>
          <p:nvPr/>
        </p:nvSpPr>
        <p:spPr bwMode="auto">
          <a:xfrm>
            <a:off x="4240213" y="5997575"/>
            <a:ext cx="201612"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19" name="Rectangle 822"/>
          <p:cNvSpPr>
            <a:spLocks noChangeArrowheads="1"/>
          </p:cNvSpPr>
          <p:nvPr/>
        </p:nvSpPr>
        <p:spPr bwMode="auto">
          <a:xfrm>
            <a:off x="4240213"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20" name="Rectangle 823"/>
          <p:cNvSpPr>
            <a:spLocks noChangeArrowheads="1"/>
          </p:cNvSpPr>
          <p:nvPr/>
        </p:nvSpPr>
        <p:spPr bwMode="auto">
          <a:xfrm>
            <a:off x="4857750" y="5997575"/>
            <a:ext cx="201613"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21" name="Rectangle 824"/>
          <p:cNvSpPr>
            <a:spLocks noChangeArrowheads="1"/>
          </p:cNvSpPr>
          <p:nvPr/>
        </p:nvSpPr>
        <p:spPr bwMode="auto">
          <a:xfrm>
            <a:off x="4857750" y="5997575"/>
            <a:ext cx="3762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22" name="Rectangle 825"/>
          <p:cNvSpPr>
            <a:spLocks noChangeArrowheads="1"/>
          </p:cNvSpPr>
          <p:nvPr/>
        </p:nvSpPr>
        <p:spPr bwMode="auto">
          <a:xfrm>
            <a:off x="5475288" y="5997575"/>
            <a:ext cx="200025"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23" name="Rectangle 826"/>
          <p:cNvSpPr>
            <a:spLocks noChangeArrowheads="1"/>
          </p:cNvSpPr>
          <p:nvPr/>
        </p:nvSpPr>
        <p:spPr bwMode="auto">
          <a:xfrm>
            <a:off x="5475288"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24" name="Rectangle 827"/>
          <p:cNvSpPr>
            <a:spLocks noChangeArrowheads="1"/>
          </p:cNvSpPr>
          <p:nvPr/>
        </p:nvSpPr>
        <p:spPr bwMode="auto">
          <a:xfrm>
            <a:off x="6091238" y="5997575"/>
            <a:ext cx="201612"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25" name="Rectangle 828"/>
          <p:cNvSpPr>
            <a:spLocks noChangeArrowheads="1"/>
          </p:cNvSpPr>
          <p:nvPr/>
        </p:nvSpPr>
        <p:spPr bwMode="auto">
          <a:xfrm>
            <a:off x="6091238"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26" name="Rectangle 829"/>
          <p:cNvSpPr>
            <a:spLocks noChangeArrowheads="1"/>
          </p:cNvSpPr>
          <p:nvPr/>
        </p:nvSpPr>
        <p:spPr bwMode="auto">
          <a:xfrm>
            <a:off x="6708775" y="5997575"/>
            <a:ext cx="201613"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27" name="Rectangle 830"/>
          <p:cNvSpPr>
            <a:spLocks noChangeArrowheads="1"/>
          </p:cNvSpPr>
          <p:nvPr/>
        </p:nvSpPr>
        <p:spPr bwMode="auto">
          <a:xfrm>
            <a:off x="6708775" y="5997575"/>
            <a:ext cx="3762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28" name="Rectangle 831"/>
          <p:cNvSpPr>
            <a:spLocks noChangeArrowheads="1"/>
          </p:cNvSpPr>
          <p:nvPr/>
        </p:nvSpPr>
        <p:spPr bwMode="auto">
          <a:xfrm>
            <a:off x="7326313" y="5997575"/>
            <a:ext cx="201612" cy="4445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29" name="Rectangle 832"/>
          <p:cNvSpPr>
            <a:spLocks noChangeArrowheads="1"/>
          </p:cNvSpPr>
          <p:nvPr/>
        </p:nvSpPr>
        <p:spPr bwMode="auto">
          <a:xfrm>
            <a:off x="7326313" y="5997575"/>
            <a:ext cx="3762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000" b="1">
                <a:solidFill>
                  <a:srgbClr val="010000"/>
                </a:solidFill>
              </a:rPr>
              <a:t>#</a:t>
            </a:r>
            <a:endParaRPr lang="en-US" altLang="zh-CN" sz="4800" b="1"/>
          </a:p>
        </p:txBody>
      </p:sp>
      <p:sp>
        <p:nvSpPr>
          <p:cNvPr id="55330" name="Rectangle 833"/>
          <p:cNvSpPr>
            <a:spLocks noChangeArrowheads="1"/>
          </p:cNvSpPr>
          <p:nvPr/>
        </p:nvSpPr>
        <p:spPr bwMode="auto">
          <a:xfrm>
            <a:off x="1582738" y="5997575"/>
            <a:ext cx="1428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31" name="Line 834"/>
          <p:cNvSpPr>
            <a:spLocks noChangeShapeType="1"/>
          </p:cNvSpPr>
          <p:nvPr/>
        </p:nvSpPr>
        <p:spPr bwMode="auto">
          <a:xfrm>
            <a:off x="1582738" y="5997575"/>
            <a:ext cx="142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2" name="Line 835"/>
          <p:cNvSpPr>
            <a:spLocks noChangeShapeType="1"/>
          </p:cNvSpPr>
          <p:nvPr/>
        </p:nvSpPr>
        <p:spPr bwMode="auto">
          <a:xfrm>
            <a:off x="1582738"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3" name="Rectangle 836"/>
          <p:cNvSpPr>
            <a:spLocks noChangeArrowheads="1"/>
          </p:cNvSpPr>
          <p:nvPr/>
        </p:nvSpPr>
        <p:spPr bwMode="auto">
          <a:xfrm>
            <a:off x="1597025"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34" name="Line 837"/>
          <p:cNvSpPr>
            <a:spLocks noChangeShapeType="1"/>
          </p:cNvSpPr>
          <p:nvPr/>
        </p:nvSpPr>
        <p:spPr bwMode="auto">
          <a:xfrm>
            <a:off x="1597025"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5" name="Rectangle 838"/>
          <p:cNvSpPr>
            <a:spLocks noChangeArrowheads="1"/>
          </p:cNvSpPr>
          <p:nvPr/>
        </p:nvSpPr>
        <p:spPr bwMode="auto">
          <a:xfrm>
            <a:off x="2200275" y="59975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36" name="Line 839"/>
          <p:cNvSpPr>
            <a:spLocks noChangeShapeType="1"/>
          </p:cNvSpPr>
          <p:nvPr/>
        </p:nvSpPr>
        <p:spPr bwMode="auto">
          <a:xfrm>
            <a:off x="2200275" y="59975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7" name="Line 840"/>
          <p:cNvSpPr>
            <a:spLocks noChangeShapeType="1"/>
          </p:cNvSpPr>
          <p:nvPr/>
        </p:nvSpPr>
        <p:spPr bwMode="auto">
          <a:xfrm>
            <a:off x="2200275" y="59975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8" name="Rectangle 841"/>
          <p:cNvSpPr>
            <a:spLocks noChangeArrowheads="1"/>
          </p:cNvSpPr>
          <p:nvPr/>
        </p:nvSpPr>
        <p:spPr bwMode="auto">
          <a:xfrm>
            <a:off x="2214563"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39" name="Line 842"/>
          <p:cNvSpPr>
            <a:spLocks noChangeShapeType="1"/>
          </p:cNvSpPr>
          <p:nvPr/>
        </p:nvSpPr>
        <p:spPr bwMode="auto">
          <a:xfrm>
            <a:off x="2214563"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0" name="Rectangle 843"/>
          <p:cNvSpPr>
            <a:spLocks noChangeArrowheads="1"/>
          </p:cNvSpPr>
          <p:nvPr/>
        </p:nvSpPr>
        <p:spPr bwMode="auto">
          <a:xfrm>
            <a:off x="2817813"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41" name="Line 844"/>
          <p:cNvSpPr>
            <a:spLocks noChangeShapeType="1"/>
          </p:cNvSpPr>
          <p:nvPr/>
        </p:nvSpPr>
        <p:spPr bwMode="auto">
          <a:xfrm>
            <a:off x="2817813"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2" name="Line 845"/>
          <p:cNvSpPr>
            <a:spLocks noChangeShapeType="1"/>
          </p:cNvSpPr>
          <p:nvPr/>
        </p:nvSpPr>
        <p:spPr bwMode="auto">
          <a:xfrm>
            <a:off x="2817813"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Rectangle 846"/>
          <p:cNvSpPr>
            <a:spLocks noChangeArrowheads="1"/>
          </p:cNvSpPr>
          <p:nvPr/>
        </p:nvSpPr>
        <p:spPr bwMode="auto">
          <a:xfrm>
            <a:off x="2830513" y="5997575"/>
            <a:ext cx="6048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44" name="Line 847"/>
          <p:cNvSpPr>
            <a:spLocks noChangeShapeType="1"/>
          </p:cNvSpPr>
          <p:nvPr/>
        </p:nvSpPr>
        <p:spPr bwMode="auto">
          <a:xfrm>
            <a:off x="2830513" y="5997575"/>
            <a:ext cx="6048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Rectangle 848"/>
          <p:cNvSpPr>
            <a:spLocks noChangeArrowheads="1"/>
          </p:cNvSpPr>
          <p:nvPr/>
        </p:nvSpPr>
        <p:spPr bwMode="auto">
          <a:xfrm>
            <a:off x="3435350"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46" name="Line 849"/>
          <p:cNvSpPr>
            <a:spLocks noChangeShapeType="1"/>
          </p:cNvSpPr>
          <p:nvPr/>
        </p:nvSpPr>
        <p:spPr bwMode="auto">
          <a:xfrm>
            <a:off x="3435350"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7" name="Line 850"/>
          <p:cNvSpPr>
            <a:spLocks noChangeShapeType="1"/>
          </p:cNvSpPr>
          <p:nvPr/>
        </p:nvSpPr>
        <p:spPr bwMode="auto">
          <a:xfrm>
            <a:off x="3435350" y="59975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8" name="Rectangle 851"/>
          <p:cNvSpPr>
            <a:spLocks noChangeArrowheads="1"/>
          </p:cNvSpPr>
          <p:nvPr/>
        </p:nvSpPr>
        <p:spPr bwMode="auto">
          <a:xfrm>
            <a:off x="3448050" y="5997575"/>
            <a:ext cx="60483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49" name="Line 852"/>
          <p:cNvSpPr>
            <a:spLocks noChangeShapeType="1"/>
          </p:cNvSpPr>
          <p:nvPr/>
        </p:nvSpPr>
        <p:spPr bwMode="auto">
          <a:xfrm>
            <a:off x="3448050" y="5997575"/>
            <a:ext cx="6048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0" name="Rectangle 853"/>
          <p:cNvSpPr>
            <a:spLocks noChangeArrowheads="1"/>
          </p:cNvSpPr>
          <p:nvPr/>
        </p:nvSpPr>
        <p:spPr bwMode="auto">
          <a:xfrm>
            <a:off x="4052888"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51" name="Line 854"/>
          <p:cNvSpPr>
            <a:spLocks noChangeShapeType="1"/>
          </p:cNvSpPr>
          <p:nvPr/>
        </p:nvSpPr>
        <p:spPr bwMode="auto">
          <a:xfrm>
            <a:off x="4052888"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2" name="Line 855"/>
          <p:cNvSpPr>
            <a:spLocks noChangeShapeType="1"/>
          </p:cNvSpPr>
          <p:nvPr/>
        </p:nvSpPr>
        <p:spPr bwMode="auto">
          <a:xfrm>
            <a:off x="4052888"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3" name="Rectangle 856"/>
          <p:cNvSpPr>
            <a:spLocks noChangeArrowheads="1"/>
          </p:cNvSpPr>
          <p:nvPr/>
        </p:nvSpPr>
        <p:spPr bwMode="auto">
          <a:xfrm>
            <a:off x="4065588"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54" name="Line 857"/>
          <p:cNvSpPr>
            <a:spLocks noChangeShapeType="1"/>
          </p:cNvSpPr>
          <p:nvPr/>
        </p:nvSpPr>
        <p:spPr bwMode="auto">
          <a:xfrm>
            <a:off x="4065588"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5" name="Rectangle 858"/>
          <p:cNvSpPr>
            <a:spLocks noChangeArrowheads="1"/>
          </p:cNvSpPr>
          <p:nvPr/>
        </p:nvSpPr>
        <p:spPr bwMode="auto">
          <a:xfrm>
            <a:off x="4668838" y="5997575"/>
            <a:ext cx="1428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56" name="Line 859"/>
          <p:cNvSpPr>
            <a:spLocks noChangeShapeType="1"/>
          </p:cNvSpPr>
          <p:nvPr/>
        </p:nvSpPr>
        <p:spPr bwMode="auto">
          <a:xfrm>
            <a:off x="4668838" y="5997575"/>
            <a:ext cx="142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7" name="Line 860"/>
          <p:cNvSpPr>
            <a:spLocks noChangeShapeType="1"/>
          </p:cNvSpPr>
          <p:nvPr/>
        </p:nvSpPr>
        <p:spPr bwMode="auto">
          <a:xfrm>
            <a:off x="4668838"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8" name="Rectangle 861"/>
          <p:cNvSpPr>
            <a:spLocks noChangeArrowheads="1"/>
          </p:cNvSpPr>
          <p:nvPr/>
        </p:nvSpPr>
        <p:spPr bwMode="auto">
          <a:xfrm>
            <a:off x="4683125"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59" name="Line 862"/>
          <p:cNvSpPr>
            <a:spLocks noChangeShapeType="1"/>
          </p:cNvSpPr>
          <p:nvPr/>
        </p:nvSpPr>
        <p:spPr bwMode="auto">
          <a:xfrm>
            <a:off x="4683125"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0" name="Rectangle 863"/>
          <p:cNvSpPr>
            <a:spLocks noChangeArrowheads="1"/>
          </p:cNvSpPr>
          <p:nvPr/>
        </p:nvSpPr>
        <p:spPr bwMode="auto">
          <a:xfrm>
            <a:off x="5286375" y="59975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61" name="Line 864"/>
          <p:cNvSpPr>
            <a:spLocks noChangeShapeType="1"/>
          </p:cNvSpPr>
          <p:nvPr/>
        </p:nvSpPr>
        <p:spPr bwMode="auto">
          <a:xfrm>
            <a:off x="5286375" y="59975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Line 865"/>
          <p:cNvSpPr>
            <a:spLocks noChangeShapeType="1"/>
          </p:cNvSpPr>
          <p:nvPr/>
        </p:nvSpPr>
        <p:spPr bwMode="auto">
          <a:xfrm>
            <a:off x="5286375" y="59975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3" name="Rectangle 866"/>
          <p:cNvSpPr>
            <a:spLocks noChangeArrowheads="1"/>
          </p:cNvSpPr>
          <p:nvPr/>
        </p:nvSpPr>
        <p:spPr bwMode="auto">
          <a:xfrm>
            <a:off x="5300663"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64" name="Line 867"/>
          <p:cNvSpPr>
            <a:spLocks noChangeShapeType="1"/>
          </p:cNvSpPr>
          <p:nvPr/>
        </p:nvSpPr>
        <p:spPr bwMode="auto">
          <a:xfrm>
            <a:off x="5300663"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5" name="Rectangle 868"/>
          <p:cNvSpPr>
            <a:spLocks noChangeArrowheads="1"/>
          </p:cNvSpPr>
          <p:nvPr/>
        </p:nvSpPr>
        <p:spPr bwMode="auto">
          <a:xfrm>
            <a:off x="5903913"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66" name="Line 869"/>
          <p:cNvSpPr>
            <a:spLocks noChangeShapeType="1"/>
          </p:cNvSpPr>
          <p:nvPr/>
        </p:nvSpPr>
        <p:spPr bwMode="auto">
          <a:xfrm>
            <a:off x="5903913"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7" name="Line 870"/>
          <p:cNvSpPr>
            <a:spLocks noChangeShapeType="1"/>
          </p:cNvSpPr>
          <p:nvPr/>
        </p:nvSpPr>
        <p:spPr bwMode="auto">
          <a:xfrm>
            <a:off x="5903913"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8" name="Rectangle 871"/>
          <p:cNvSpPr>
            <a:spLocks noChangeArrowheads="1"/>
          </p:cNvSpPr>
          <p:nvPr/>
        </p:nvSpPr>
        <p:spPr bwMode="auto">
          <a:xfrm>
            <a:off x="5916613" y="5997575"/>
            <a:ext cx="6048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69" name="Line 872"/>
          <p:cNvSpPr>
            <a:spLocks noChangeShapeType="1"/>
          </p:cNvSpPr>
          <p:nvPr/>
        </p:nvSpPr>
        <p:spPr bwMode="auto">
          <a:xfrm>
            <a:off x="5916613" y="5997575"/>
            <a:ext cx="6048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Rectangle 873"/>
          <p:cNvSpPr>
            <a:spLocks noChangeArrowheads="1"/>
          </p:cNvSpPr>
          <p:nvPr/>
        </p:nvSpPr>
        <p:spPr bwMode="auto">
          <a:xfrm>
            <a:off x="6521450"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71" name="Line 874"/>
          <p:cNvSpPr>
            <a:spLocks noChangeShapeType="1"/>
          </p:cNvSpPr>
          <p:nvPr/>
        </p:nvSpPr>
        <p:spPr bwMode="auto">
          <a:xfrm>
            <a:off x="6521450"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2" name="Line 875"/>
          <p:cNvSpPr>
            <a:spLocks noChangeShapeType="1"/>
          </p:cNvSpPr>
          <p:nvPr/>
        </p:nvSpPr>
        <p:spPr bwMode="auto">
          <a:xfrm>
            <a:off x="6521450" y="59975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3" name="Rectangle 876"/>
          <p:cNvSpPr>
            <a:spLocks noChangeArrowheads="1"/>
          </p:cNvSpPr>
          <p:nvPr/>
        </p:nvSpPr>
        <p:spPr bwMode="auto">
          <a:xfrm>
            <a:off x="6534150" y="5997575"/>
            <a:ext cx="5905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74" name="Line 877"/>
          <p:cNvSpPr>
            <a:spLocks noChangeShapeType="1"/>
          </p:cNvSpPr>
          <p:nvPr/>
        </p:nvSpPr>
        <p:spPr bwMode="auto">
          <a:xfrm>
            <a:off x="6534150" y="5997575"/>
            <a:ext cx="5905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5" name="Rectangle 878"/>
          <p:cNvSpPr>
            <a:spLocks noChangeArrowheads="1"/>
          </p:cNvSpPr>
          <p:nvPr/>
        </p:nvSpPr>
        <p:spPr bwMode="auto">
          <a:xfrm>
            <a:off x="7124700" y="59975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76" name="Line 879"/>
          <p:cNvSpPr>
            <a:spLocks noChangeShapeType="1"/>
          </p:cNvSpPr>
          <p:nvPr/>
        </p:nvSpPr>
        <p:spPr bwMode="auto">
          <a:xfrm>
            <a:off x="7124700" y="59975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7" name="Line 880"/>
          <p:cNvSpPr>
            <a:spLocks noChangeShapeType="1"/>
          </p:cNvSpPr>
          <p:nvPr/>
        </p:nvSpPr>
        <p:spPr bwMode="auto">
          <a:xfrm>
            <a:off x="7124700" y="59975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Rectangle 881"/>
          <p:cNvSpPr>
            <a:spLocks noChangeArrowheads="1"/>
          </p:cNvSpPr>
          <p:nvPr/>
        </p:nvSpPr>
        <p:spPr bwMode="auto">
          <a:xfrm>
            <a:off x="7138988" y="59975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79" name="Line 882"/>
          <p:cNvSpPr>
            <a:spLocks noChangeShapeType="1"/>
          </p:cNvSpPr>
          <p:nvPr/>
        </p:nvSpPr>
        <p:spPr bwMode="auto">
          <a:xfrm>
            <a:off x="7138988" y="59975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0" name="Rectangle 883"/>
          <p:cNvSpPr>
            <a:spLocks noChangeArrowheads="1"/>
          </p:cNvSpPr>
          <p:nvPr/>
        </p:nvSpPr>
        <p:spPr bwMode="auto">
          <a:xfrm>
            <a:off x="7742238" y="59975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81" name="Line 884"/>
          <p:cNvSpPr>
            <a:spLocks noChangeShapeType="1"/>
          </p:cNvSpPr>
          <p:nvPr/>
        </p:nvSpPr>
        <p:spPr bwMode="auto">
          <a:xfrm>
            <a:off x="7742238" y="59975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Line 885"/>
          <p:cNvSpPr>
            <a:spLocks noChangeShapeType="1"/>
          </p:cNvSpPr>
          <p:nvPr/>
        </p:nvSpPr>
        <p:spPr bwMode="auto">
          <a:xfrm>
            <a:off x="7742238" y="59975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3" name="Rectangle 886"/>
          <p:cNvSpPr>
            <a:spLocks noChangeArrowheads="1"/>
          </p:cNvSpPr>
          <p:nvPr/>
        </p:nvSpPr>
        <p:spPr bwMode="auto">
          <a:xfrm>
            <a:off x="1582738" y="6010275"/>
            <a:ext cx="14287"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84" name="Line 887"/>
          <p:cNvSpPr>
            <a:spLocks noChangeShapeType="1"/>
          </p:cNvSpPr>
          <p:nvPr/>
        </p:nvSpPr>
        <p:spPr bwMode="auto">
          <a:xfrm>
            <a:off x="1582738"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5" name="Rectangle 888"/>
          <p:cNvSpPr>
            <a:spLocks noChangeArrowheads="1"/>
          </p:cNvSpPr>
          <p:nvPr/>
        </p:nvSpPr>
        <p:spPr bwMode="auto">
          <a:xfrm>
            <a:off x="1582738" y="6454775"/>
            <a:ext cx="1428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86" name="Line 889"/>
          <p:cNvSpPr>
            <a:spLocks noChangeShapeType="1"/>
          </p:cNvSpPr>
          <p:nvPr/>
        </p:nvSpPr>
        <p:spPr bwMode="auto">
          <a:xfrm>
            <a:off x="1582738" y="6454775"/>
            <a:ext cx="142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7" name="Line 890"/>
          <p:cNvSpPr>
            <a:spLocks noChangeShapeType="1"/>
          </p:cNvSpPr>
          <p:nvPr/>
        </p:nvSpPr>
        <p:spPr bwMode="auto">
          <a:xfrm>
            <a:off x="158273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8" name="Rectangle 891"/>
          <p:cNvSpPr>
            <a:spLocks noChangeArrowheads="1"/>
          </p:cNvSpPr>
          <p:nvPr/>
        </p:nvSpPr>
        <p:spPr bwMode="auto">
          <a:xfrm>
            <a:off x="1582738" y="6454775"/>
            <a:ext cx="1428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89" name="Line 892"/>
          <p:cNvSpPr>
            <a:spLocks noChangeShapeType="1"/>
          </p:cNvSpPr>
          <p:nvPr/>
        </p:nvSpPr>
        <p:spPr bwMode="auto">
          <a:xfrm>
            <a:off x="1582738" y="6454775"/>
            <a:ext cx="142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0" name="Line 893"/>
          <p:cNvSpPr>
            <a:spLocks noChangeShapeType="1"/>
          </p:cNvSpPr>
          <p:nvPr/>
        </p:nvSpPr>
        <p:spPr bwMode="auto">
          <a:xfrm>
            <a:off x="158273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1" name="Rectangle 894"/>
          <p:cNvSpPr>
            <a:spLocks noChangeArrowheads="1"/>
          </p:cNvSpPr>
          <p:nvPr/>
        </p:nvSpPr>
        <p:spPr bwMode="auto">
          <a:xfrm>
            <a:off x="1597025"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92" name="Line 895"/>
          <p:cNvSpPr>
            <a:spLocks noChangeShapeType="1"/>
          </p:cNvSpPr>
          <p:nvPr/>
        </p:nvSpPr>
        <p:spPr bwMode="auto">
          <a:xfrm>
            <a:off x="1597025"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3" name="Rectangle 896"/>
          <p:cNvSpPr>
            <a:spLocks noChangeArrowheads="1"/>
          </p:cNvSpPr>
          <p:nvPr/>
        </p:nvSpPr>
        <p:spPr bwMode="auto">
          <a:xfrm>
            <a:off x="2200275" y="6010275"/>
            <a:ext cx="14288"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94" name="Line 897"/>
          <p:cNvSpPr>
            <a:spLocks noChangeShapeType="1"/>
          </p:cNvSpPr>
          <p:nvPr/>
        </p:nvSpPr>
        <p:spPr bwMode="auto">
          <a:xfrm>
            <a:off x="2200275" y="6010275"/>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5" name="Rectangle 898"/>
          <p:cNvSpPr>
            <a:spLocks noChangeArrowheads="1"/>
          </p:cNvSpPr>
          <p:nvPr/>
        </p:nvSpPr>
        <p:spPr bwMode="auto">
          <a:xfrm>
            <a:off x="2200275" y="64547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96" name="Line 899"/>
          <p:cNvSpPr>
            <a:spLocks noChangeShapeType="1"/>
          </p:cNvSpPr>
          <p:nvPr/>
        </p:nvSpPr>
        <p:spPr bwMode="auto">
          <a:xfrm>
            <a:off x="2200275" y="64547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7" name="Line 900"/>
          <p:cNvSpPr>
            <a:spLocks noChangeShapeType="1"/>
          </p:cNvSpPr>
          <p:nvPr/>
        </p:nvSpPr>
        <p:spPr bwMode="auto">
          <a:xfrm>
            <a:off x="2200275" y="64547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8" name="Rectangle 901"/>
          <p:cNvSpPr>
            <a:spLocks noChangeArrowheads="1"/>
          </p:cNvSpPr>
          <p:nvPr/>
        </p:nvSpPr>
        <p:spPr bwMode="auto">
          <a:xfrm>
            <a:off x="2214563"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399" name="Line 902"/>
          <p:cNvSpPr>
            <a:spLocks noChangeShapeType="1"/>
          </p:cNvSpPr>
          <p:nvPr/>
        </p:nvSpPr>
        <p:spPr bwMode="auto">
          <a:xfrm>
            <a:off x="2214563"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0" name="Rectangle 903"/>
          <p:cNvSpPr>
            <a:spLocks noChangeArrowheads="1"/>
          </p:cNvSpPr>
          <p:nvPr/>
        </p:nvSpPr>
        <p:spPr bwMode="auto">
          <a:xfrm>
            <a:off x="2817813"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01" name="Line 904"/>
          <p:cNvSpPr>
            <a:spLocks noChangeShapeType="1"/>
          </p:cNvSpPr>
          <p:nvPr/>
        </p:nvSpPr>
        <p:spPr bwMode="auto">
          <a:xfrm>
            <a:off x="2817813"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2" name="Rectangle 905"/>
          <p:cNvSpPr>
            <a:spLocks noChangeArrowheads="1"/>
          </p:cNvSpPr>
          <p:nvPr/>
        </p:nvSpPr>
        <p:spPr bwMode="auto">
          <a:xfrm>
            <a:off x="2817813"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03" name="Line 906"/>
          <p:cNvSpPr>
            <a:spLocks noChangeShapeType="1"/>
          </p:cNvSpPr>
          <p:nvPr/>
        </p:nvSpPr>
        <p:spPr bwMode="auto">
          <a:xfrm>
            <a:off x="2817813"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4" name="Line 907"/>
          <p:cNvSpPr>
            <a:spLocks noChangeShapeType="1"/>
          </p:cNvSpPr>
          <p:nvPr/>
        </p:nvSpPr>
        <p:spPr bwMode="auto">
          <a:xfrm>
            <a:off x="2817813"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5" name="Rectangle 908"/>
          <p:cNvSpPr>
            <a:spLocks noChangeArrowheads="1"/>
          </p:cNvSpPr>
          <p:nvPr/>
        </p:nvSpPr>
        <p:spPr bwMode="auto">
          <a:xfrm>
            <a:off x="2830513" y="6454775"/>
            <a:ext cx="6048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06" name="Line 909"/>
          <p:cNvSpPr>
            <a:spLocks noChangeShapeType="1"/>
          </p:cNvSpPr>
          <p:nvPr/>
        </p:nvSpPr>
        <p:spPr bwMode="auto">
          <a:xfrm>
            <a:off x="2830513" y="6454775"/>
            <a:ext cx="6048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7" name="Rectangle 910"/>
          <p:cNvSpPr>
            <a:spLocks noChangeArrowheads="1"/>
          </p:cNvSpPr>
          <p:nvPr/>
        </p:nvSpPr>
        <p:spPr bwMode="auto">
          <a:xfrm>
            <a:off x="3435350"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08" name="Line 911"/>
          <p:cNvSpPr>
            <a:spLocks noChangeShapeType="1"/>
          </p:cNvSpPr>
          <p:nvPr/>
        </p:nvSpPr>
        <p:spPr bwMode="auto">
          <a:xfrm>
            <a:off x="3435350" y="6010275"/>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9" name="Rectangle 912"/>
          <p:cNvSpPr>
            <a:spLocks noChangeArrowheads="1"/>
          </p:cNvSpPr>
          <p:nvPr/>
        </p:nvSpPr>
        <p:spPr bwMode="auto">
          <a:xfrm>
            <a:off x="3435350"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10" name="Line 913"/>
          <p:cNvSpPr>
            <a:spLocks noChangeShapeType="1"/>
          </p:cNvSpPr>
          <p:nvPr/>
        </p:nvSpPr>
        <p:spPr bwMode="auto">
          <a:xfrm>
            <a:off x="3435350"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1" name="Line 914"/>
          <p:cNvSpPr>
            <a:spLocks noChangeShapeType="1"/>
          </p:cNvSpPr>
          <p:nvPr/>
        </p:nvSpPr>
        <p:spPr bwMode="auto">
          <a:xfrm>
            <a:off x="3435350" y="64547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2" name="Rectangle 915"/>
          <p:cNvSpPr>
            <a:spLocks noChangeArrowheads="1"/>
          </p:cNvSpPr>
          <p:nvPr/>
        </p:nvSpPr>
        <p:spPr bwMode="auto">
          <a:xfrm>
            <a:off x="3448050" y="6454775"/>
            <a:ext cx="60483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13" name="Line 916"/>
          <p:cNvSpPr>
            <a:spLocks noChangeShapeType="1"/>
          </p:cNvSpPr>
          <p:nvPr/>
        </p:nvSpPr>
        <p:spPr bwMode="auto">
          <a:xfrm>
            <a:off x="3448050" y="6454775"/>
            <a:ext cx="6048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4" name="Rectangle 917"/>
          <p:cNvSpPr>
            <a:spLocks noChangeArrowheads="1"/>
          </p:cNvSpPr>
          <p:nvPr/>
        </p:nvSpPr>
        <p:spPr bwMode="auto">
          <a:xfrm>
            <a:off x="4052888"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15" name="Line 918"/>
          <p:cNvSpPr>
            <a:spLocks noChangeShapeType="1"/>
          </p:cNvSpPr>
          <p:nvPr/>
        </p:nvSpPr>
        <p:spPr bwMode="auto">
          <a:xfrm>
            <a:off x="4052888"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6" name="Rectangle 919"/>
          <p:cNvSpPr>
            <a:spLocks noChangeArrowheads="1"/>
          </p:cNvSpPr>
          <p:nvPr/>
        </p:nvSpPr>
        <p:spPr bwMode="auto">
          <a:xfrm>
            <a:off x="4052888"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17" name="Line 920"/>
          <p:cNvSpPr>
            <a:spLocks noChangeShapeType="1"/>
          </p:cNvSpPr>
          <p:nvPr/>
        </p:nvSpPr>
        <p:spPr bwMode="auto">
          <a:xfrm>
            <a:off x="4052888"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8" name="Line 921"/>
          <p:cNvSpPr>
            <a:spLocks noChangeShapeType="1"/>
          </p:cNvSpPr>
          <p:nvPr/>
        </p:nvSpPr>
        <p:spPr bwMode="auto">
          <a:xfrm>
            <a:off x="405288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9" name="Rectangle 922"/>
          <p:cNvSpPr>
            <a:spLocks noChangeArrowheads="1"/>
          </p:cNvSpPr>
          <p:nvPr/>
        </p:nvSpPr>
        <p:spPr bwMode="auto">
          <a:xfrm>
            <a:off x="4065588"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20" name="Line 923"/>
          <p:cNvSpPr>
            <a:spLocks noChangeShapeType="1"/>
          </p:cNvSpPr>
          <p:nvPr/>
        </p:nvSpPr>
        <p:spPr bwMode="auto">
          <a:xfrm>
            <a:off x="4065588"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1" name="Rectangle 924"/>
          <p:cNvSpPr>
            <a:spLocks noChangeArrowheads="1"/>
          </p:cNvSpPr>
          <p:nvPr/>
        </p:nvSpPr>
        <p:spPr bwMode="auto">
          <a:xfrm>
            <a:off x="4668838" y="6010275"/>
            <a:ext cx="14287"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22" name="Line 925"/>
          <p:cNvSpPr>
            <a:spLocks noChangeShapeType="1"/>
          </p:cNvSpPr>
          <p:nvPr/>
        </p:nvSpPr>
        <p:spPr bwMode="auto">
          <a:xfrm>
            <a:off x="4668838"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3" name="Rectangle 926"/>
          <p:cNvSpPr>
            <a:spLocks noChangeArrowheads="1"/>
          </p:cNvSpPr>
          <p:nvPr/>
        </p:nvSpPr>
        <p:spPr bwMode="auto">
          <a:xfrm>
            <a:off x="4668838" y="6454775"/>
            <a:ext cx="1428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24" name="Line 927"/>
          <p:cNvSpPr>
            <a:spLocks noChangeShapeType="1"/>
          </p:cNvSpPr>
          <p:nvPr/>
        </p:nvSpPr>
        <p:spPr bwMode="auto">
          <a:xfrm>
            <a:off x="4668838" y="6454775"/>
            <a:ext cx="142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5" name="Line 928"/>
          <p:cNvSpPr>
            <a:spLocks noChangeShapeType="1"/>
          </p:cNvSpPr>
          <p:nvPr/>
        </p:nvSpPr>
        <p:spPr bwMode="auto">
          <a:xfrm>
            <a:off x="466883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6" name="Rectangle 929"/>
          <p:cNvSpPr>
            <a:spLocks noChangeArrowheads="1"/>
          </p:cNvSpPr>
          <p:nvPr/>
        </p:nvSpPr>
        <p:spPr bwMode="auto">
          <a:xfrm>
            <a:off x="4683125"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27" name="Line 930"/>
          <p:cNvSpPr>
            <a:spLocks noChangeShapeType="1"/>
          </p:cNvSpPr>
          <p:nvPr/>
        </p:nvSpPr>
        <p:spPr bwMode="auto">
          <a:xfrm>
            <a:off x="4683125"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28" name="Rectangle 931"/>
          <p:cNvSpPr>
            <a:spLocks noChangeArrowheads="1"/>
          </p:cNvSpPr>
          <p:nvPr/>
        </p:nvSpPr>
        <p:spPr bwMode="auto">
          <a:xfrm>
            <a:off x="5286375" y="6010275"/>
            <a:ext cx="14288"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29" name="Line 932"/>
          <p:cNvSpPr>
            <a:spLocks noChangeShapeType="1"/>
          </p:cNvSpPr>
          <p:nvPr/>
        </p:nvSpPr>
        <p:spPr bwMode="auto">
          <a:xfrm>
            <a:off x="5286375" y="6010275"/>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0" name="Rectangle 933"/>
          <p:cNvSpPr>
            <a:spLocks noChangeArrowheads="1"/>
          </p:cNvSpPr>
          <p:nvPr/>
        </p:nvSpPr>
        <p:spPr bwMode="auto">
          <a:xfrm>
            <a:off x="5286375" y="64547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31" name="Line 934"/>
          <p:cNvSpPr>
            <a:spLocks noChangeShapeType="1"/>
          </p:cNvSpPr>
          <p:nvPr/>
        </p:nvSpPr>
        <p:spPr bwMode="auto">
          <a:xfrm>
            <a:off x="5286375" y="64547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2" name="Line 935"/>
          <p:cNvSpPr>
            <a:spLocks noChangeShapeType="1"/>
          </p:cNvSpPr>
          <p:nvPr/>
        </p:nvSpPr>
        <p:spPr bwMode="auto">
          <a:xfrm>
            <a:off x="5286375" y="64547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3" name="Rectangle 936"/>
          <p:cNvSpPr>
            <a:spLocks noChangeArrowheads="1"/>
          </p:cNvSpPr>
          <p:nvPr/>
        </p:nvSpPr>
        <p:spPr bwMode="auto">
          <a:xfrm>
            <a:off x="5300663"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34" name="Line 937"/>
          <p:cNvSpPr>
            <a:spLocks noChangeShapeType="1"/>
          </p:cNvSpPr>
          <p:nvPr/>
        </p:nvSpPr>
        <p:spPr bwMode="auto">
          <a:xfrm>
            <a:off x="5300663"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5" name="Rectangle 938"/>
          <p:cNvSpPr>
            <a:spLocks noChangeArrowheads="1"/>
          </p:cNvSpPr>
          <p:nvPr/>
        </p:nvSpPr>
        <p:spPr bwMode="auto">
          <a:xfrm>
            <a:off x="5903913"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36" name="Line 939"/>
          <p:cNvSpPr>
            <a:spLocks noChangeShapeType="1"/>
          </p:cNvSpPr>
          <p:nvPr/>
        </p:nvSpPr>
        <p:spPr bwMode="auto">
          <a:xfrm>
            <a:off x="5903913"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7" name="Rectangle 940"/>
          <p:cNvSpPr>
            <a:spLocks noChangeArrowheads="1"/>
          </p:cNvSpPr>
          <p:nvPr/>
        </p:nvSpPr>
        <p:spPr bwMode="auto">
          <a:xfrm>
            <a:off x="5903913"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38" name="Line 941"/>
          <p:cNvSpPr>
            <a:spLocks noChangeShapeType="1"/>
          </p:cNvSpPr>
          <p:nvPr/>
        </p:nvSpPr>
        <p:spPr bwMode="auto">
          <a:xfrm>
            <a:off x="5903913"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9" name="Line 942"/>
          <p:cNvSpPr>
            <a:spLocks noChangeShapeType="1"/>
          </p:cNvSpPr>
          <p:nvPr/>
        </p:nvSpPr>
        <p:spPr bwMode="auto">
          <a:xfrm>
            <a:off x="5903913"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0" name="Rectangle 943"/>
          <p:cNvSpPr>
            <a:spLocks noChangeArrowheads="1"/>
          </p:cNvSpPr>
          <p:nvPr/>
        </p:nvSpPr>
        <p:spPr bwMode="auto">
          <a:xfrm>
            <a:off x="5916613" y="6454775"/>
            <a:ext cx="6048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41" name="Line 944"/>
          <p:cNvSpPr>
            <a:spLocks noChangeShapeType="1"/>
          </p:cNvSpPr>
          <p:nvPr/>
        </p:nvSpPr>
        <p:spPr bwMode="auto">
          <a:xfrm>
            <a:off x="5916613" y="6454775"/>
            <a:ext cx="6048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2" name="Rectangle 945"/>
          <p:cNvSpPr>
            <a:spLocks noChangeArrowheads="1"/>
          </p:cNvSpPr>
          <p:nvPr/>
        </p:nvSpPr>
        <p:spPr bwMode="auto">
          <a:xfrm>
            <a:off x="6521450"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43" name="Line 946"/>
          <p:cNvSpPr>
            <a:spLocks noChangeShapeType="1"/>
          </p:cNvSpPr>
          <p:nvPr/>
        </p:nvSpPr>
        <p:spPr bwMode="auto">
          <a:xfrm>
            <a:off x="6521450" y="6010275"/>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4" name="Rectangle 947"/>
          <p:cNvSpPr>
            <a:spLocks noChangeArrowheads="1"/>
          </p:cNvSpPr>
          <p:nvPr/>
        </p:nvSpPr>
        <p:spPr bwMode="auto">
          <a:xfrm>
            <a:off x="6521450"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45" name="Line 948"/>
          <p:cNvSpPr>
            <a:spLocks noChangeShapeType="1"/>
          </p:cNvSpPr>
          <p:nvPr/>
        </p:nvSpPr>
        <p:spPr bwMode="auto">
          <a:xfrm>
            <a:off x="6521450"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6" name="Line 949"/>
          <p:cNvSpPr>
            <a:spLocks noChangeShapeType="1"/>
          </p:cNvSpPr>
          <p:nvPr/>
        </p:nvSpPr>
        <p:spPr bwMode="auto">
          <a:xfrm>
            <a:off x="6521450" y="64547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7" name="Rectangle 950"/>
          <p:cNvSpPr>
            <a:spLocks noChangeArrowheads="1"/>
          </p:cNvSpPr>
          <p:nvPr/>
        </p:nvSpPr>
        <p:spPr bwMode="auto">
          <a:xfrm>
            <a:off x="6534150" y="6454775"/>
            <a:ext cx="5905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48" name="Line 951"/>
          <p:cNvSpPr>
            <a:spLocks noChangeShapeType="1"/>
          </p:cNvSpPr>
          <p:nvPr/>
        </p:nvSpPr>
        <p:spPr bwMode="auto">
          <a:xfrm>
            <a:off x="6534150" y="6454775"/>
            <a:ext cx="5905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9" name="Rectangle 952"/>
          <p:cNvSpPr>
            <a:spLocks noChangeArrowheads="1"/>
          </p:cNvSpPr>
          <p:nvPr/>
        </p:nvSpPr>
        <p:spPr bwMode="auto">
          <a:xfrm>
            <a:off x="7124700" y="6010275"/>
            <a:ext cx="14288"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50" name="Line 953"/>
          <p:cNvSpPr>
            <a:spLocks noChangeShapeType="1"/>
          </p:cNvSpPr>
          <p:nvPr/>
        </p:nvSpPr>
        <p:spPr bwMode="auto">
          <a:xfrm>
            <a:off x="7124700" y="6010275"/>
            <a:ext cx="1588"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1" name="Rectangle 954"/>
          <p:cNvSpPr>
            <a:spLocks noChangeArrowheads="1"/>
          </p:cNvSpPr>
          <p:nvPr/>
        </p:nvSpPr>
        <p:spPr bwMode="auto">
          <a:xfrm>
            <a:off x="7124700" y="6454775"/>
            <a:ext cx="14288"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52" name="Line 955"/>
          <p:cNvSpPr>
            <a:spLocks noChangeShapeType="1"/>
          </p:cNvSpPr>
          <p:nvPr/>
        </p:nvSpPr>
        <p:spPr bwMode="auto">
          <a:xfrm>
            <a:off x="7124700" y="6454775"/>
            <a:ext cx="142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3" name="Line 956"/>
          <p:cNvSpPr>
            <a:spLocks noChangeShapeType="1"/>
          </p:cNvSpPr>
          <p:nvPr/>
        </p:nvSpPr>
        <p:spPr bwMode="auto">
          <a:xfrm>
            <a:off x="7124700" y="645477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4" name="Rectangle 957"/>
          <p:cNvSpPr>
            <a:spLocks noChangeArrowheads="1"/>
          </p:cNvSpPr>
          <p:nvPr/>
        </p:nvSpPr>
        <p:spPr bwMode="auto">
          <a:xfrm>
            <a:off x="7138988" y="6454775"/>
            <a:ext cx="6032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55" name="Line 958"/>
          <p:cNvSpPr>
            <a:spLocks noChangeShapeType="1"/>
          </p:cNvSpPr>
          <p:nvPr/>
        </p:nvSpPr>
        <p:spPr bwMode="auto">
          <a:xfrm>
            <a:off x="7138988" y="6454775"/>
            <a:ext cx="6032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6" name="Rectangle 959"/>
          <p:cNvSpPr>
            <a:spLocks noChangeArrowheads="1"/>
          </p:cNvSpPr>
          <p:nvPr/>
        </p:nvSpPr>
        <p:spPr bwMode="auto">
          <a:xfrm>
            <a:off x="7742238" y="6010275"/>
            <a:ext cx="12700" cy="4445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57" name="Line 960"/>
          <p:cNvSpPr>
            <a:spLocks noChangeShapeType="1"/>
          </p:cNvSpPr>
          <p:nvPr/>
        </p:nvSpPr>
        <p:spPr bwMode="auto">
          <a:xfrm>
            <a:off x="7742238" y="6010275"/>
            <a:ext cx="1587" cy="4445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8" name="Rectangle 961"/>
          <p:cNvSpPr>
            <a:spLocks noChangeArrowheads="1"/>
          </p:cNvSpPr>
          <p:nvPr/>
        </p:nvSpPr>
        <p:spPr bwMode="auto">
          <a:xfrm>
            <a:off x="7742238"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59" name="Line 962"/>
          <p:cNvSpPr>
            <a:spLocks noChangeShapeType="1"/>
          </p:cNvSpPr>
          <p:nvPr/>
        </p:nvSpPr>
        <p:spPr bwMode="auto">
          <a:xfrm>
            <a:off x="7742238"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0" name="Line 963"/>
          <p:cNvSpPr>
            <a:spLocks noChangeShapeType="1"/>
          </p:cNvSpPr>
          <p:nvPr/>
        </p:nvSpPr>
        <p:spPr bwMode="auto">
          <a:xfrm>
            <a:off x="774223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1" name="Rectangle 964"/>
          <p:cNvSpPr>
            <a:spLocks noChangeArrowheads="1"/>
          </p:cNvSpPr>
          <p:nvPr/>
        </p:nvSpPr>
        <p:spPr bwMode="auto">
          <a:xfrm>
            <a:off x="7742238" y="6454775"/>
            <a:ext cx="1270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55462" name="Line 965"/>
          <p:cNvSpPr>
            <a:spLocks noChangeShapeType="1"/>
          </p:cNvSpPr>
          <p:nvPr/>
        </p:nvSpPr>
        <p:spPr bwMode="auto">
          <a:xfrm>
            <a:off x="7742238" y="6454775"/>
            <a:ext cx="127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3" name="Line 966"/>
          <p:cNvSpPr>
            <a:spLocks noChangeShapeType="1"/>
          </p:cNvSpPr>
          <p:nvPr/>
        </p:nvSpPr>
        <p:spPr bwMode="auto">
          <a:xfrm>
            <a:off x="7742238" y="645477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64" name="Rectangle 967"/>
          <p:cNvSpPr>
            <a:spLocks noGrp="1" noChangeArrowheads="1"/>
          </p:cNvSpPr>
          <p:nvPr>
            <p:ph type="ctrTitle"/>
          </p:nvPr>
        </p:nvSpPr>
        <p:spPr>
          <a:xfrm>
            <a:off x="-76200" y="0"/>
            <a:ext cx="4038600" cy="1143000"/>
          </a:xfrm>
        </p:spPr>
        <p:txBody>
          <a:bodyPr anchor="ctr"/>
          <a:lstStyle/>
          <a:p>
            <a:pPr eaLnBrk="1" hangingPunct="1"/>
            <a:r>
              <a:rPr lang="zh-CN" altLang="en-US" sz="4000" b="1">
                <a:solidFill>
                  <a:srgbClr val="FF5050"/>
                </a:solidFill>
                <a:ea typeface="楷体_GB2312" pitchFamily="49" charset="-122"/>
              </a:rPr>
              <a:t>例四、迷宫求解  </a:t>
            </a:r>
          </a:p>
        </p:txBody>
      </p:sp>
      <p:sp>
        <p:nvSpPr>
          <p:cNvPr id="656328" name="Text Box 968"/>
          <p:cNvSpPr txBox="1">
            <a:spLocks noChangeArrowheads="1"/>
          </p:cNvSpPr>
          <p:nvPr/>
        </p:nvSpPr>
        <p:spPr bwMode="auto">
          <a:xfrm>
            <a:off x="2209800" y="2133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29" name="Text Box 969"/>
          <p:cNvSpPr txBox="1">
            <a:spLocks noChangeArrowheads="1"/>
          </p:cNvSpPr>
          <p:nvPr/>
        </p:nvSpPr>
        <p:spPr bwMode="auto">
          <a:xfrm>
            <a:off x="2895600" y="2133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0" name="Text Box 970"/>
          <p:cNvSpPr txBox="1">
            <a:spLocks noChangeArrowheads="1"/>
          </p:cNvSpPr>
          <p:nvPr/>
        </p:nvSpPr>
        <p:spPr bwMode="auto">
          <a:xfrm>
            <a:off x="2286000" y="3073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1" name="Text Box 971"/>
          <p:cNvSpPr txBox="1">
            <a:spLocks noChangeArrowheads="1"/>
          </p:cNvSpPr>
          <p:nvPr/>
        </p:nvSpPr>
        <p:spPr bwMode="auto">
          <a:xfrm>
            <a:off x="2819400" y="25908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2" name="Text Box 972"/>
          <p:cNvSpPr txBox="1">
            <a:spLocks noChangeArrowheads="1"/>
          </p:cNvSpPr>
          <p:nvPr/>
        </p:nvSpPr>
        <p:spPr bwMode="auto">
          <a:xfrm>
            <a:off x="3429000" y="3087688"/>
            <a:ext cx="561975" cy="519112"/>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3" name="Text Box 973"/>
          <p:cNvSpPr txBox="1">
            <a:spLocks noChangeArrowheads="1"/>
          </p:cNvSpPr>
          <p:nvPr/>
        </p:nvSpPr>
        <p:spPr bwMode="auto">
          <a:xfrm>
            <a:off x="4111625" y="26162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4" name="Text Box 974"/>
          <p:cNvSpPr txBox="1">
            <a:spLocks noChangeArrowheads="1"/>
          </p:cNvSpPr>
          <p:nvPr/>
        </p:nvSpPr>
        <p:spPr bwMode="auto">
          <a:xfrm>
            <a:off x="4114800" y="3073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5" name="Text Box 975"/>
          <p:cNvSpPr txBox="1">
            <a:spLocks noChangeArrowheads="1"/>
          </p:cNvSpPr>
          <p:nvPr/>
        </p:nvSpPr>
        <p:spPr bwMode="auto">
          <a:xfrm>
            <a:off x="4724400" y="25908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6" name="Text Box 976"/>
          <p:cNvSpPr txBox="1">
            <a:spLocks noChangeArrowheads="1"/>
          </p:cNvSpPr>
          <p:nvPr/>
        </p:nvSpPr>
        <p:spPr bwMode="auto">
          <a:xfrm>
            <a:off x="5308600" y="2133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7" name="Text Box 977"/>
          <p:cNvSpPr txBox="1">
            <a:spLocks noChangeArrowheads="1"/>
          </p:cNvSpPr>
          <p:nvPr/>
        </p:nvSpPr>
        <p:spPr bwMode="auto">
          <a:xfrm>
            <a:off x="5334000" y="25908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8" name="Text Box 978"/>
          <p:cNvSpPr txBox="1">
            <a:spLocks noChangeArrowheads="1"/>
          </p:cNvSpPr>
          <p:nvPr/>
        </p:nvSpPr>
        <p:spPr bwMode="auto">
          <a:xfrm>
            <a:off x="4724400" y="2147888"/>
            <a:ext cx="561975" cy="519112"/>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39" name="Text Box 979"/>
          <p:cNvSpPr txBox="1">
            <a:spLocks noChangeArrowheads="1"/>
          </p:cNvSpPr>
          <p:nvPr/>
        </p:nvSpPr>
        <p:spPr bwMode="auto">
          <a:xfrm>
            <a:off x="4114800" y="2133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0" name="Text Box 980"/>
          <p:cNvSpPr txBox="1">
            <a:spLocks noChangeArrowheads="1"/>
          </p:cNvSpPr>
          <p:nvPr/>
        </p:nvSpPr>
        <p:spPr bwMode="auto">
          <a:xfrm>
            <a:off x="4089400" y="21336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1" name="Text Box 981"/>
          <p:cNvSpPr txBox="1">
            <a:spLocks noChangeArrowheads="1"/>
          </p:cNvSpPr>
          <p:nvPr/>
        </p:nvSpPr>
        <p:spPr bwMode="auto">
          <a:xfrm>
            <a:off x="4699000" y="21336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2" name="Text Box 982"/>
          <p:cNvSpPr txBox="1">
            <a:spLocks noChangeArrowheads="1"/>
          </p:cNvSpPr>
          <p:nvPr/>
        </p:nvSpPr>
        <p:spPr bwMode="auto">
          <a:xfrm>
            <a:off x="5308600" y="21336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3" name="Text Box 983"/>
          <p:cNvSpPr txBox="1">
            <a:spLocks noChangeArrowheads="1"/>
          </p:cNvSpPr>
          <p:nvPr/>
        </p:nvSpPr>
        <p:spPr bwMode="auto">
          <a:xfrm>
            <a:off x="5334000" y="25908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4" name="Text Box 984"/>
          <p:cNvSpPr txBox="1">
            <a:spLocks noChangeArrowheads="1"/>
          </p:cNvSpPr>
          <p:nvPr/>
        </p:nvSpPr>
        <p:spPr bwMode="auto">
          <a:xfrm>
            <a:off x="4699000" y="25908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5" name="Text Box 985"/>
          <p:cNvSpPr txBox="1">
            <a:spLocks noChangeArrowheads="1"/>
          </p:cNvSpPr>
          <p:nvPr/>
        </p:nvSpPr>
        <p:spPr bwMode="auto">
          <a:xfrm>
            <a:off x="4089400" y="25908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6" name="Text Box 986"/>
          <p:cNvSpPr txBox="1">
            <a:spLocks noChangeArrowheads="1"/>
          </p:cNvSpPr>
          <p:nvPr/>
        </p:nvSpPr>
        <p:spPr bwMode="auto">
          <a:xfrm>
            <a:off x="4089400" y="30734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7" name="Text Box 987"/>
          <p:cNvSpPr txBox="1">
            <a:spLocks noChangeArrowheads="1"/>
          </p:cNvSpPr>
          <p:nvPr/>
        </p:nvSpPr>
        <p:spPr bwMode="auto">
          <a:xfrm>
            <a:off x="3454400" y="31242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8" name="Text Box 988"/>
          <p:cNvSpPr txBox="1">
            <a:spLocks noChangeArrowheads="1"/>
          </p:cNvSpPr>
          <p:nvPr/>
        </p:nvSpPr>
        <p:spPr bwMode="auto">
          <a:xfrm>
            <a:off x="2235200" y="3581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49" name="Text Box 989"/>
          <p:cNvSpPr txBox="1">
            <a:spLocks noChangeArrowheads="1"/>
          </p:cNvSpPr>
          <p:nvPr/>
        </p:nvSpPr>
        <p:spPr bwMode="auto">
          <a:xfrm>
            <a:off x="2209800" y="4038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0" name="Text Box 990"/>
          <p:cNvSpPr txBox="1">
            <a:spLocks noChangeArrowheads="1"/>
          </p:cNvSpPr>
          <p:nvPr/>
        </p:nvSpPr>
        <p:spPr bwMode="auto">
          <a:xfrm>
            <a:off x="2819400" y="4038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1" name="Text Box 991"/>
          <p:cNvSpPr txBox="1">
            <a:spLocks noChangeArrowheads="1"/>
          </p:cNvSpPr>
          <p:nvPr/>
        </p:nvSpPr>
        <p:spPr bwMode="auto">
          <a:xfrm>
            <a:off x="3429000" y="4038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2" name="Text Box 992"/>
          <p:cNvSpPr txBox="1">
            <a:spLocks noChangeArrowheads="1"/>
          </p:cNvSpPr>
          <p:nvPr/>
        </p:nvSpPr>
        <p:spPr bwMode="auto">
          <a:xfrm>
            <a:off x="3429000" y="45720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3" name="Text Box 993"/>
          <p:cNvSpPr txBox="1">
            <a:spLocks noChangeArrowheads="1"/>
          </p:cNvSpPr>
          <p:nvPr/>
        </p:nvSpPr>
        <p:spPr bwMode="auto">
          <a:xfrm>
            <a:off x="4114800" y="45466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4" name="Text Box 994"/>
          <p:cNvSpPr txBox="1">
            <a:spLocks noChangeArrowheads="1"/>
          </p:cNvSpPr>
          <p:nvPr/>
        </p:nvSpPr>
        <p:spPr bwMode="auto">
          <a:xfrm>
            <a:off x="4724400" y="44958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5" name="Text Box 995"/>
          <p:cNvSpPr txBox="1">
            <a:spLocks noChangeArrowheads="1"/>
          </p:cNvSpPr>
          <p:nvPr/>
        </p:nvSpPr>
        <p:spPr bwMode="auto">
          <a:xfrm>
            <a:off x="4721225" y="50292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6" name="Text Box 996"/>
          <p:cNvSpPr txBox="1">
            <a:spLocks noChangeArrowheads="1"/>
          </p:cNvSpPr>
          <p:nvPr/>
        </p:nvSpPr>
        <p:spPr bwMode="auto">
          <a:xfrm>
            <a:off x="4724400" y="5486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7" name="Text Box 997"/>
          <p:cNvSpPr txBox="1">
            <a:spLocks noChangeArrowheads="1"/>
          </p:cNvSpPr>
          <p:nvPr/>
        </p:nvSpPr>
        <p:spPr bwMode="auto">
          <a:xfrm>
            <a:off x="5334000" y="5486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8" name="Text Box 998"/>
          <p:cNvSpPr txBox="1">
            <a:spLocks noChangeArrowheads="1"/>
          </p:cNvSpPr>
          <p:nvPr/>
        </p:nvSpPr>
        <p:spPr bwMode="auto">
          <a:xfrm>
            <a:off x="5943600" y="54864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59" name="Text Box 999"/>
          <p:cNvSpPr txBox="1">
            <a:spLocks noChangeArrowheads="1"/>
          </p:cNvSpPr>
          <p:nvPr/>
        </p:nvSpPr>
        <p:spPr bwMode="auto">
          <a:xfrm>
            <a:off x="2819400" y="3098800"/>
            <a:ext cx="561975"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60" name="Text Box 1000"/>
          <p:cNvSpPr txBox="1">
            <a:spLocks noChangeArrowheads="1"/>
          </p:cNvSpPr>
          <p:nvPr/>
        </p:nvSpPr>
        <p:spPr bwMode="auto">
          <a:xfrm>
            <a:off x="2870200" y="3124200"/>
            <a:ext cx="561975"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800" b="1"/>
              <a:t>←</a:t>
            </a:r>
          </a:p>
        </p:txBody>
      </p:sp>
      <p:sp>
        <p:nvSpPr>
          <p:cNvPr id="656361" name="Text Box 1001"/>
          <p:cNvSpPr txBox="1">
            <a:spLocks noChangeArrowheads="1"/>
          </p:cNvSpPr>
          <p:nvPr/>
        </p:nvSpPr>
        <p:spPr bwMode="auto">
          <a:xfrm>
            <a:off x="4191000" y="279400"/>
            <a:ext cx="510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2800"/>
              <a:t>从点的东向开始按顺时针旋转</a:t>
            </a:r>
          </a:p>
        </p:txBody>
      </p:sp>
      <p:sp>
        <p:nvSpPr>
          <p:cNvPr id="55499" name="AutoShape 1005"/>
          <p:cNvSpPr>
            <a:spLocks noChangeArrowheads="1"/>
          </p:cNvSpPr>
          <p:nvPr/>
        </p:nvSpPr>
        <p:spPr bwMode="auto">
          <a:xfrm>
            <a:off x="296863" y="1763713"/>
            <a:ext cx="944562" cy="541337"/>
          </a:xfrm>
          <a:prstGeom prst="wedgeRoundRectCallout">
            <a:avLst>
              <a:gd name="adj1" fmla="val 162606"/>
              <a:gd name="adj2" fmla="val 6143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r>
              <a:rPr lang="zh-CN" altLang="en-US" b="1">
                <a:solidFill>
                  <a:schemeClr val="hlink"/>
                </a:solidFill>
              </a:rPr>
              <a:t>入口</a:t>
            </a:r>
          </a:p>
          <a:p>
            <a:pPr algn="ctr" eaLnBrk="1" hangingPunct="1"/>
            <a:endParaRPr lang="en-US" altLang="zh-CN"/>
          </a:p>
        </p:txBody>
      </p:sp>
      <p:sp>
        <p:nvSpPr>
          <p:cNvPr id="55500" name="AutoShape 1006">
            <a:hlinkClick r:id="" action="ppaction://hlinkshowjump?jump=nextslide" highlightClick="1"/>
          </p:cNvPr>
          <p:cNvSpPr>
            <a:spLocks noChangeArrowheads="1"/>
          </p:cNvSpPr>
          <p:nvPr/>
        </p:nvSpPr>
        <p:spPr bwMode="auto">
          <a:xfrm>
            <a:off x="8802688" y="6578600"/>
            <a:ext cx="341312" cy="2794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Tree>
    <p:extLst>
      <p:ext uri="{BB962C8B-B14F-4D97-AF65-F5344CB8AC3E}">
        <p14:creationId xmlns:p14="http://schemas.microsoft.com/office/powerpoint/2010/main" val="27415818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62"/>
                                        </p:tgtEl>
                                        <p:attrNameLst>
                                          <p:attrName>style.visibility</p:attrName>
                                        </p:attrNameLst>
                                      </p:cBhvr>
                                      <p:to>
                                        <p:strVal val="visible"/>
                                      </p:to>
                                    </p:set>
                                    <p:animEffect transition="in" filter="wipe(left)">
                                      <p:cBhvr>
                                        <p:cTn id="7" dur="500"/>
                                        <p:tgtEl>
                                          <p:spTgt spid="65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6361">
                                            <p:txEl>
                                              <p:pRg st="0" end="0"/>
                                            </p:txEl>
                                          </p:spTgt>
                                        </p:tgtEl>
                                        <p:attrNameLst>
                                          <p:attrName>style.visibility</p:attrName>
                                        </p:attrNameLst>
                                      </p:cBhvr>
                                      <p:to>
                                        <p:strVal val="visible"/>
                                      </p:to>
                                    </p:set>
                                    <p:animEffect transition="in" filter="dissolve">
                                      <p:cBhvr>
                                        <p:cTn id="12" dur="500"/>
                                        <p:tgtEl>
                                          <p:spTgt spid="65636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56328">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56329">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56331">
                                            <p:txEl>
                                              <p:pRg st="0" end="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656359">
                                            <p:txEl>
                                              <p:pRg st="0" end="0"/>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656332">
                                            <p:txEl>
                                              <p:pRg st="0" end="0"/>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656334">
                                            <p:txEl>
                                              <p:pRg st="0" end="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656333">
                                            <p:txEl>
                                              <p:pRg st="0" end="0"/>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656335">
                                            <p:txEl>
                                              <p:pRg st="0" end="0"/>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65633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656336">
                                            <p:txEl>
                                              <p:pRg st="0" end="0"/>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656338">
                                            <p:txEl>
                                              <p:pRg st="0" end="0"/>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656339">
                                            <p:txEl>
                                              <p:pRg st="0" end="0"/>
                                            </p:txEl>
                                          </p:spTgt>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65634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656341"/>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656342"/>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656343"/>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656344"/>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656345"/>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656346"/>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656347"/>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656360"/>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499"/>
                                          </p:stCondLst>
                                        </p:cTn>
                                        <p:tgtEl>
                                          <p:spTgt spid="656330">
                                            <p:txEl>
                                              <p:pRg st="0" end="0"/>
                                            </p:txEl>
                                          </p:spTgt>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499"/>
                                          </p:stCondLst>
                                        </p:cTn>
                                        <p:tgtEl>
                                          <p:spTgt spid="656348">
                                            <p:txEl>
                                              <p:pRg st="0" end="0"/>
                                            </p:txEl>
                                          </p:spTgt>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656349">
                                            <p:txEl>
                                              <p:pRg st="0" end="0"/>
                                            </p:txEl>
                                          </p:spTgt>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656350">
                                            <p:txEl>
                                              <p:pRg st="0" end="0"/>
                                            </p:txEl>
                                          </p:spTgt>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656351">
                                            <p:txEl>
                                              <p:pRg st="0" end="0"/>
                                            </p:txEl>
                                          </p:spTgt>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499"/>
                                          </p:stCondLst>
                                        </p:cTn>
                                        <p:tgtEl>
                                          <p:spTgt spid="656352">
                                            <p:txEl>
                                              <p:pRg st="0" end="0"/>
                                            </p:txEl>
                                          </p:spTgt>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499"/>
                                          </p:stCondLst>
                                        </p:cTn>
                                        <p:tgtEl>
                                          <p:spTgt spid="656353">
                                            <p:txEl>
                                              <p:pRg st="0" end="0"/>
                                            </p:txEl>
                                          </p:spTgt>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grpId="0" nodeType="clickEffect">
                                  <p:stCondLst>
                                    <p:cond delay="0"/>
                                  </p:stCondLst>
                                  <p:childTnLst>
                                    <p:set>
                                      <p:cBhvr>
                                        <p:cTn id="128" dur="1" fill="hold">
                                          <p:stCondLst>
                                            <p:cond delay="499"/>
                                          </p:stCondLst>
                                        </p:cTn>
                                        <p:tgtEl>
                                          <p:spTgt spid="656354">
                                            <p:txEl>
                                              <p:pRg st="0" end="0"/>
                                            </p:txEl>
                                          </p:spTgt>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grpId="0" nodeType="clickEffect">
                                  <p:stCondLst>
                                    <p:cond delay="0"/>
                                  </p:stCondLst>
                                  <p:childTnLst>
                                    <p:set>
                                      <p:cBhvr>
                                        <p:cTn id="132" dur="1" fill="hold">
                                          <p:stCondLst>
                                            <p:cond delay="499"/>
                                          </p:stCondLst>
                                        </p:cTn>
                                        <p:tgtEl>
                                          <p:spTgt spid="656355">
                                            <p:txEl>
                                              <p:pRg st="0" end="0"/>
                                            </p:txEl>
                                          </p:spTgt>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grpId="0" nodeType="clickEffect">
                                  <p:stCondLst>
                                    <p:cond delay="0"/>
                                  </p:stCondLst>
                                  <p:childTnLst>
                                    <p:set>
                                      <p:cBhvr>
                                        <p:cTn id="136" dur="1" fill="hold">
                                          <p:stCondLst>
                                            <p:cond delay="499"/>
                                          </p:stCondLst>
                                        </p:cTn>
                                        <p:tgtEl>
                                          <p:spTgt spid="656356">
                                            <p:txEl>
                                              <p:pRg st="0" end="0"/>
                                            </p:txEl>
                                          </p:spTgt>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grpId="0" nodeType="clickEffect">
                                  <p:stCondLst>
                                    <p:cond delay="0"/>
                                  </p:stCondLst>
                                  <p:childTnLst>
                                    <p:set>
                                      <p:cBhvr>
                                        <p:cTn id="140" dur="1" fill="hold">
                                          <p:stCondLst>
                                            <p:cond delay="499"/>
                                          </p:stCondLst>
                                        </p:cTn>
                                        <p:tgtEl>
                                          <p:spTgt spid="656357">
                                            <p:txEl>
                                              <p:pRg st="0" end="0"/>
                                            </p:txEl>
                                          </p:spTgt>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grpId="0" nodeType="clickEffect">
                                  <p:stCondLst>
                                    <p:cond delay="0"/>
                                  </p:stCondLst>
                                  <p:childTnLst>
                                    <p:set>
                                      <p:cBhvr>
                                        <p:cTn id="144" dur="1" fill="hold">
                                          <p:stCondLst>
                                            <p:cond delay="499"/>
                                          </p:stCondLst>
                                        </p:cTn>
                                        <p:tgtEl>
                                          <p:spTgt spid="6563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2" grpId="0"/>
      <p:bldP spid="656328" grpId="0" build="p" autoUpdateAnimBg="0"/>
      <p:bldP spid="656329" grpId="0" build="p" autoUpdateAnimBg="0"/>
      <p:bldP spid="656330" grpId="0" build="p" autoUpdateAnimBg="0"/>
      <p:bldP spid="656331" grpId="0" build="p" autoUpdateAnimBg="0"/>
      <p:bldP spid="656332" grpId="0" build="p" autoUpdateAnimBg="0"/>
      <p:bldP spid="656333" grpId="0" build="p" autoUpdateAnimBg="0"/>
      <p:bldP spid="656334" grpId="0" build="p" autoUpdateAnimBg="0"/>
      <p:bldP spid="656335" grpId="0" build="p" autoUpdateAnimBg="0"/>
      <p:bldP spid="656336" grpId="0" build="p" autoUpdateAnimBg="0"/>
      <p:bldP spid="656337" grpId="0" autoUpdateAnimBg="0"/>
      <p:bldP spid="656338" grpId="0" build="p" autoUpdateAnimBg="0"/>
      <p:bldP spid="656339" grpId="0" build="p" autoUpdateAnimBg="0"/>
      <p:bldP spid="656340" grpId="0" animBg="1" autoUpdateAnimBg="0"/>
      <p:bldP spid="656341" grpId="0" animBg="1" autoUpdateAnimBg="0"/>
      <p:bldP spid="656342" grpId="0" animBg="1" autoUpdateAnimBg="0"/>
      <p:bldP spid="656343" grpId="0" animBg="1" autoUpdateAnimBg="0"/>
      <p:bldP spid="656344" grpId="0" animBg="1" autoUpdateAnimBg="0"/>
      <p:bldP spid="656345" grpId="0" animBg="1" autoUpdateAnimBg="0"/>
      <p:bldP spid="656346" grpId="0" animBg="1" autoUpdateAnimBg="0"/>
      <p:bldP spid="656347" grpId="0" animBg="1" autoUpdateAnimBg="0"/>
      <p:bldP spid="656348" grpId="0" build="p" autoUpdateAnimBg="0"/>
      <p:bldP spid="656349" grpId="0" build="p" autoUpdateAnimBg="0"/>
      <p:bldP spid="656350" grpId="0" build="p" autoUpdateAnimBg="0"/>
      <p:bldP spid="656351" grpId="0" build="p" autoUpdateAnimBg="0"/>
      <p:bldP spid="656352" grpId="0" build="p" autoUpdateAnimBg="0"/>
      <p:bldP spid="656353" grpId="0" build="p" autoUpdateAnimBg="0"/>
      <p:bldP spid="656354" grpId="0" build="p" autoUpdateAnimBg="0"/>
      <p:bldP spid="656355" grpId="0" build="p" autoUpdateAnimBg="0"/>
      <p:bldP spid="656356" grpId="0" build="p" autoUpdateAnimBg="0"/>
      <p:bldP spid="656357" grpId="0" build="p" autoUpdateAnimBg="0"/>
      <p:bldP spid="656358" grpId="0" build="p" autoUpdateAnimBg="0"/>
      <p:bldP spid="656359" grpId="0" build="p" autoUpdateAnimBg="0"/>
      <p:bldP spid="656360" grpId="0" animBg="1" autoUpdateAnimBg="0"/>
      <p:bldP spid="656361"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6ABA1EB0-C110-490F-8559-31D655AD8243}" type="slidenum">
              <a:rPr lang="en-US" altLang="zh-CN" sz="1400"/>
              <a:pPr/>
              <a:t>55</a:t>
            </a:fld>
            <a:endParaRPr lang="en-US" altLang="zh-CN" sz="1400"/>
          </a:p>
        </p:txBody>
      </p:sp>
      <p:sp>
        <p:nvSpPr>
          <p:cNvPr id="56323" name="Rectangle 2"/>
          <p:cNvSpPr>
            <a:spLocks noGrp="1" noChangeArrowheads="1"/>
          </p:cNvSpPr>
          <p:nvPr>
            <p:ph type="title" idx="4294967295"/>
          </p:nvPr>
        </p:nvSpPr>
        <p:spPr>
          <a:xfrm>
            <a:off x="685800" y="457200"/>
            <a:ext cx="8251825" cy="1143000"/>
          </a:xfrm>
        </p:spPr>
        <p:txBody>
          <a:bodyPr/>
          <a:lstStyle/>
          <a:p>
            <a:pPr eaLnBrk="1" hangingPunct="1"/>
            <a:r>
              <a:rPr lang="zh-CN" altLang="en-US">
                <a:solidFill>
                  <a:schemeClr val="tx1"/>
                </a:solidFill>
                <a:ea typeface="楷体_GB2312" pitchFamily="49" charset="-122"/>
              </a:rPr>
              <a:t>求迷宫路径算法的</a:t>
            </a:r>
            <a:r>
              <a:rPr lang="zh-CN" altLang="en-US" b="1">
                <a:solidFill>
                  <a:srgbClr val="0000FF"/>
                </a:solidFill>
                <a:ea typeface="楷体_GB2312" pitchFamily="49" charset="-122"/>
              </a:rPr>
              <a:t>基本思想</a:t>
            </a:r>
            <a:r>
              <a:rPr lang="zh-CN" altLang="en-US">
                <a:solidFill>
                  <a:schemeClr val="tx1"/>
                </a:solidFill>
                <a:ea typeface="楷体_GB2312" pitchFamily="49" charset="-122"/>
              </a:rPr>
              <a:t>是：</a:t>
            </a:r>
          </a:p>
        </p:txBody>
      </p:sp>
      <p:sp>
        <p:nvSpPr>
          <p:cNvPr id="499715" name="Rectangle 3"/>
          <p:cNvSpPr>
            <a:spLocks noGrp="1" noChangeArrowheads="1"/>
          </p:cNvSpPr>
          <p:nvPr>
            <p:ph type="body" idx="4294967295"/>
          </p:nvPr>
        </p:nvSpPr>
        <p:spPr>
          <a:xfrm>
            <a:off x="685800" y="1828800"/>
            <a:ext cx="7772400" cy="1295400"/>
          </a:xfrm>
        </p:spPr>
        <p:txBody>
          <a:bodyPr/>
          <a:lstStyle/>
          <a:p>
            <a:pPr eaLnBrk="1" hangingPunct="1"/>
            <a:r>
              <a:rPr lang="zh-CN" altLang="en-US" b="1">
                <a:ea typeface="楷体_GB2312" pitchFamily="49" charset="-122"/>
              </a:rPr>
              <a:t>若当前位置“</a:t>
            </a:r>
            <a:r>
              <a:rPr lang="zh-CN" altLang="en-US" b="1">
                <a:solidFill>
                  <a:schemeClr val="hlink"/>
                </a:solidFill>
                <a:ea typeface="楷体_GB2312" pitchFamily="49" charset="-122"/>
              </a:rPr>
              <a:t>可通</a:t>
            </a:r>
            <a:r>
              <a:rPr lang="zh-CN" altLang="en-US" b="1">
                <a:ea typeface="楷体_GB2312" pitchFamily="49" charset="-122"/>
              </a:rPr>
              <a:t>”，则纳入路径，继续前进</a:t>
            </a:r>
            <a:r>
              <a:rPr lang="en-US" altLang="zh-CN" b="1">
                <a:ea typeface="楷体_GB2312" pitchFamily="49" charset="-122"/>
              </a:rPr>
              <a:t>;</a:t>
            </a:r>
          </a:p>
        </p:txBody>
      </p:sp>
      <p:sp>
        <p:nvSpPr>
          <p:cNvPr id="499716" name="Rectangle 4"/>
          <p:cNvSpPr>
            <a:spLocks noChangeArrowheads="1"/>
          </p:cNvSpPr>
          <p:nvPr/>
        </p:nvSpPr>
        <p:spPr bwMode="auto">
          <a:xfrm>
            <a:off x="685800" y="32766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FontTx/>
              <a:buChar char="•"/>
            </a:pPr>
            <a:r>
              <a:rPr lang="zh-CN" altLang="en-US" sz="3200" b="1">
                <a:ea typeface="楷体_GB2312" pitchFamily="49" charset="-122"/>
              </a:rPr>
              <a:t>若当前位置“</a:t>
            </a:r>
            <a:r>
              <a:rPr lang="zh-CN" altLang="en-US" sz="3200" b="1">
                <a:solidFill>
                  <a:schemeClr val="hlink"/>
                </a:solidFill>
                <a:ea typeface="楷体_GB2312" pitchFamily="49" charset="-122"/>
              </a:rPr>
              <a:t>不可通</a:t>
            </a:r>
            <a:r>
              <a:rPr lang="zh-CN" altLang="en-US" sz="3200" b="1">
                <a:ea typeface="楷体_GB2312" pitchFamily="49" charset="-122"/>
              </a:rPr>
              <a:t>”，则后退，换方向继续探索</a:t>
            </a:r>
            <a:r>
              <a:rPr lang="en-US" altLang="zh-CN" sz="3200" b="1">
                <a:ea typeface="楷体_GB2312" pitchFamily="49" charset="-122"/>
              </a:rPr>
              <a:t>;</a:t>
            </a:r>
          </a:p>
        </p:txBody>
      </p:sp>
      <p:sp>
        <p:nvSpPr>
          <p:cNvPr id="499717" name="Rectangle 5"/>
          <p:cNvSpPr>
            <a:spLocks noChangeArrowheads="1"/>
          </p:cNvSpPr>
          <p:nvPr/>
        </p:nvSpPr>
        <p:spPr bwMode="auto">
          <a:xfrm>
            <a:off x="685800" y="47244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FontTx/>
              <a:buChar char="•"/>
            </a:pPr>
            <a:r>
              <a:rPr lang="zh-CN" altLang="en-US" sz="3200" b="1">
                <a:ea typeface="楷体_GB2312" pitchFamily="49" charset="-122"/>
              </a:rPr>
              <a:t>若四周“</a:t>
            </a:r>
            <a:r>
              <a:rPr lang="zh-CN" altLang="en-US" sz="3200" b="1">
                <a:solidFill>
                  <a:schemeClr val="hlink"/>
                </a:solidFill>
                <a:ea typeface="楷体_GB2312" pitchFamily="49" charset="-122"/>
              </a:rPr>
              <a:t>均无通路</a:t>
            </a:r>
            <a:r>
              <a:rPr lang="zh-CN" altLang="en-US" sz="3200" b="1">
                <a:ea typeface="楷体_GB2312" pitchFamily="49" charset="-122"/>
              </a:rPr>
              <a:t>”，则将当前位置从路径中删除出去。</a:t>
            </a:r>
          </a:p>
        </p:txBody>
      </p:sp>
      <p:sp>
        <p:nvSpPr>
          <p:cNvPr id="56327" name="AutoShape 6">
            <a:hlinkClick r:id="" action="ppaction://hlinkshowjump?jump=previousslide" highlightClick="1"/>
          </p:cNvPr>
          <p:cNvSpPr>
            <a:spLocks noChangeArrowheads="1"/>
          </p:cNvSpPr>
          <p:nvPr/>
        </p:nvSpPr>
        <p:spPr bwMode="auto">
          <a:xfrm>
            <a:off x="8667750" y="6443663"/>
            <a:ext cx="476250" cy="271462"/>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zh-CN" altLang="en-US" sz="1600"/>
              <a:t>迷宫图</a:t>
            </a:r>
          </a:p>
        </p:txBody>
      </p:sp>
    </p:spTree>
    <p:extLst>
      <p:ext uri="{BB962C8B-B14F-4D97-AF65-F5344CB8AC3E}">
        <p14:creationId xmlns:p14="http://schemas.microsoft.com/office/powerpoint/2010/main" val="1170633041"/>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99715">
                                            <p:txEl>
                                              <p:pRg st="0" end="0"/>
                                            </p:txEl>
                                          </p:spTgt>
                                        </p:tgtEl>
                                        <p:attrNameLst>
                                          <p:attrName>style.visibility</p:attrName>
                                        </p:attrNameLst>
                                      </p:cBhvr>
                                      <p:to>
                                        <p:strVal val="visible"/>
                                      </p:to>
                                    </p:set>
                                    <p:animEffect transition="in" filter="strips(downRight)">
                                      <p:cBhvr>
                                        <p:cTn id="7" dur="500"/>
                                        <p:tgtEl>
                                          <p:spTgt spid="499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99716"/>
                                        </p:tgtEl>
                                        <p:attrNameLst>
                                          <p:attrName>style.visibility</p:attrName>
                                        </p:attrNameLst>
                                      </p:cBhvr>
                                      <p:to>
                                        <p:strVal val="visible"/>
                                      </p:to>
                                    </p:set>
                                    <p:animEffect transition="in" filter="strips(downRight)">
                                      <p:cBhvr>
                                        <p:cTn id="12" dur="500"/>
                                        <p:tgtEl>
                                          <p:spTgt spid="4997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99717"/>
                                        </p:tgtEl>
                                        <p:attrNameLst>
                                          <p:attrName>style.visibility</p:attrName>
                                        </p:attrNameLst>
                                      </p:cBhvr>
                                      <p:to>
                                        <p:strVal val="visible"/>
                                      </p:to>
                                    </p:set>
                                    <p:animEffect transition="in" filter="strips(downRight)">
                                      <p:cBhvr>
                                        <p:cTn id="17" dur="500"/>
                                        <p:tgtEl>
                                          <p:spTgt spid="499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5" grpId="0" build="p" autoUpdateAnimBg="0"/>
      <p:bldP spid="499716" grpId="0" autoUpdateAnimBg="0"/>
      <p:bldP spid="49971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810D3BC-9504-41C0-80C4-A465561C4643}" type="slidenum">
              <a:rPr lang="en-US" altLang="zh-CN" sz="1400"/>
              <a:pPr/>
              <a:t>56</a:t>
            </a:fld>
            <a:endParaRPr lang="en-US" altLang="zh-CN" sz="1400"/>
          </a:p>
        </p:txBody>
      </p:sp>
      <p:sp>
        <p:nvSpPr>
          <p:cNvPr id="500738" name="Text Box 2"/>
          <p:cNvSpPr txBox="1">
            <a:spLocks noChangeArrowheads="1"/>
          </p:cNvSpPr>
          <p:nvPr/>
        </p:nvSpPr>
        <p:spPr bwMode="auto">
          <a:xfrm>
            <a:off x="611188" y="908050"/>
            <a:ext cx="7912100" cy="573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0000"/>
              </a:lnSpc>
            </a:pPr>
            <a:r>
              <a:rPr lang="zh-CN" altLang="en-US" sz="2800">
                <a:ea typeface="楷体_GB2312" pitchFamily="49" charset="-122"/>
              </a:rPr>
              <a:t>设定当前位置的初值为入口位置；</a:t>
            </a:r>
          </a:p>
          <a:p>
            <a:pPr>
              <a:lnSpc>
                <a:spcPct val="110000"/>
              </a:lnSpc>
            </a:pPr>
            <a:r>
              <a:rPr lang="zh-CN" altLang="en-US" sz="2800">
                <a:ea typeface="楷体_GB2312" pitchFamily="49" charset="-122"/>
              </a:rPr>
              <a:t> </a:t>
            </a:r>
            <a:r>
              <a:rPr lang="en-US" altLang="zh-CN" sz="2800">
                <a:ea typeface="楷体_GB2312" pitchFamily="49" charset="-122"/>
              </a:rPr>
              <a:t>do</a:t>
            </a:r>
            <a:r>
              <a:rPr lang="zh-CN" altLang="en-US" sz="2800">
                <a:ea typeface="楷体_GB2312" pitchFamily="49" charset="-122"/>
              </a:rPr>
              <a:t>｛</a:t>
            </a:r>
          </a:p>
          <a:p>
            <a:pPr>
              <a:lnSpc>
                <a:spcPct val="110000"/>
              </a:lnSpc>
            </a:pPr>
            <a:r>
              <a:rPr lang="zh-CN" altLang="en-US" sz="2800">
                <a:ea typeface="楷体_GB2312" pitchFamily="49" charset="-122"/>
              </a:rPr>
              <a:t>     若当前位置</a:t>
            </a:r>
            <a:r>
              <a:rPr lang="zh-CN" altLang="en-US" sz="2800" b="1">
                <a:solidFill>
                  <a:schemeClr val="hlink"/>
                </a:solidFill>
                <a:ea typeface="楷体_GB2312" pitchFamily="49" charset="-122"/>
              </a:rPr>
              <a:t>可通</a:t>
            </a:r>
            <a:r>
              <a:rPr lang="zh-CN" altLang="en-US" sz="2800">
                <a:ea typeface="楷体_GB2312" pitchFamily="49" charset="-122"/>
              </a:rPr>
              <a:t>，</a:t>
            </a:r>
          </a:p>
          <a:p>
            <a:pPr>
              <a:lnSpc>
                <a:spcPct val="110000"/>
              </a:lnSpc>
            </a:pPr>
            <a:r>
              <a:rPr lang="zh-CN" altLang="en-US" sz="2800">
                <a:ea typeface="楷体_GB2312" pitchFamily="49" charset="-122"/>
              </a:rPr>
              <a:t>     则｛将当前位置</a:t>
            </a:r>
            <a:r>
              <a:rPr lang="zh-CN" altLang="en-US" sz="2800" b="1">
                <a:solidFill>
                  <a:srgbClr val="993300"/>
                </a:solidFill>
                <a:ea typeface="楷体_GB2312" pitchFamily="49" charset="-122"/>
              </a:rPr>
              <a:t>插入栈顶</a:t>
            </a:r>
            <a:r>
              <a:rPr lang="zh-CN" altLang="en-US" sz="2800">
                <a:ea typeface="楷体_GB2312" pitchFamily="49" charset="-122"/>
              </a:rPr>
              <a:t>； </a:t>
            </a:r>
          </a:p>
          <a:p>
            <a:pPr>
              <a:lnSpc>
                <a:spcPct val="110000"/>
              </a:lnSpc>
            </a:pPr>
            <a:r>
              <a:rPr lang="zh-CN" altLang="en-US" sz="2800">
                <a:ea typeface="楷体_GB2312" pitchFamily="49" charset="-122"/>
              </a:rPr>
              <a:t>             若该位置是</a:t>
            </a:r>
            <a:r>
              <a:rPr lang="zh-CN" altLang="en-US" sz="2800" b="1">
                <a:solidFill>
                  <a:srgbClr val="993300"/>
                </a:solidFill>
                <a:ea typeface="楷体_GB2312" pitchFamily="49" charset="-122"/>
              </a:rPr>
              <a:t>出口</a:t>
            </a:r>
            <a:r>
              <a:rPr lang="zh-CN" altLang="en-US" sz="2800">
                <a:ea typeface="楷体_GB2312" pitchFamily="49" charset="-122"/>
              </a:rPr>
              <a:t>位置，则算法</a:t>
            </a:r>
            <a:r>
              <a:rPr lang="zh-CN" altLang="en-US" sz="2800" b="1">
                <a:solidFill>
                  <a:srgbClr val="993300"/>
                </a:solidFill>
                <a:ea typeface="楷体_GB2312" pitchFamily="49" charset="-122"/>
              </a:rPr>
              <a:t>结束</a:t>
            </a:r>
            <a:r>
              <a:rPr lang="zh-CN" altLang="en-US" sz="2800">
                <a:ea typeface="楷体_GB2312" pitchFamily="49" charset="-122"/>
              </a:rPr>
              <a:t>；            </a:t>
            </a:r>
          </a:p>
          <a:p>
            <a:pPr>
              <a:lnSpc>
                <a:spcPct val="110000"/>
              </a:lnSpc>
            </a:pPr>
            <a:r>
              <a:rPr lang="zh-CN" altLang="en-US" sz="2800" b="1">
                <a:ea typeface="楷体_GB2312" pitchFamily="49" charset="-122"/>
              </a:rPr>
              <a:t>             </a:t>
            </a:r>
            <a:r>
              <a:rPr lang="zh-CN" altLang="en-US" sz="2800">
                <a:ea typeface="楷体_GB2312" pitchFamily="49" charset="-122"/>
              </a:rPr>
              <a:t>否则切换当前位置的</a:t>
            </a:r>
            <a:r>
              <a:rPr lang="zh-CN" altLang="en-US" sz="2800" b="1">
                <a:solidFill>
                  <a:srgbClr val="993300"/>
                </a:solidFill>
                <a:ea typeface="楷体_GB2312" pitchFamily="49" charset="-122"/>
              </a:rPr>
              <a:t>东</a:t>
            </a:r>
            <a:r>
              <a:rPr lang="zh-CN" altLang="en-US" sz="2800">
                <a:ea typeface="楷体_GB2312" pitchFamily="49" charset="-122"/>
              </a:rPr>
              <a:t>邻方块为</a:t>
            </a:r>
          </a:p>
          <a:p>
            <a:pPr>
              <a:lnSpc>
                <a:spcPct val="110000"/>
              </a:lnSpc>
            </a:pPr>
            <a:r>
              <a:rPr lang="zh-CN" altLang="en-US" sz="2800">
                <a:ea typeface="楷体_GB2312" pitchFamily="49" charset="-122"/>
              </a:rPr>
              <a:t>                   </a:t>
            </a:r>
            <a:r>
              <a:rPr lang="zh-CN" altLang="en-US" sz="2800" b="1">
                <a:solidFill>
                  <a:srgbClr val="993300"/>
                </a:solidFill>
                <a:ea typeface="楷体_GB2312" pitchFamily="49" charset="-122"/>
              </a:rPr>
              <a:t>新的当前位置</a:t>
            </a:r>
            <a:r>
              <a:rPr lang="zh-CN" altLang="en-US" sz="2800">
                <a:ea typeface="楷体_GB2312" pitchFamily="49" charset="-122"/>
              </a:rPr>
              <a:t>；</a:t>
            </a:r>
          </a:p>
          <a:p>
            <a:pPr>
              <a:lnSpc>
                <a:spcPct val="110000"/>
              </a:lnSpc>
            </a:pPr>
            <a:r>
              <a:rPr lang="zh-CN" altLang="en-US" sz="2800">
                <a:ea typeface="楷体_GB2312" pitchFamily="49" charset="-122"/>
              </a:rPr>
              <a:t>           </a:t>
            </a:r>
            <a:r>
              <a:rPr lang="zh-CN" altLang="en-US" sz="2800" b="1">
                <a:solidFill>
                  <a:srgbClr val="663300"/>
                </a:solidFill>
                <a:ea typeface="楷体_GB2312" pitchFamily="49" charset="-122"/>
              </a:rPr>
              <a:t>｝</a:t>
            </a:r>
            <a:endParaRPr lang="zh-CN" altLang="en-US" sz="2800">
              <a:solidFill>
                <a:srgbClr val="663300"/>
              </a:solidFill>
              <a:ea typeface="楷体_GB2312" pitchFamily="49" charset="-122"/>
            </a:endParaRPr>
          </a:p>
          <a:p>
            <a:pPr>
              <a:lnSpc>
                <a:spcPct val="110000"/>
              </a:lnSpc>
            </a:pPr>
            <a:r>
              <a:rPr lang="zh-CN" altLang="en-US" sz="2800">
                <a:ea typeface="楷体_GB2312" pitchFamily="49" charset="-122"/>
              </a:rPr>
              <a:t>     </a:t>
            </a:r>
            <a:r>
              <a:rPr lang="zh-CN" altLang="en-US" sz="2800" b="1">
                <a:ea typeface="楷体_GB2312" pitchFamily="49" charset="-122"/>
              </a:rPr>
              <a:t>否则  </a:t>
            </a:r>
            <a:r>
              <a:rPr lang="en-US" altLang="zh-CN" sz="2800" b="1">
                <a:ea typeface="楷体_GB2312" pitchFamily="49" charset="-122"/>
              </a:rPr>
              <a:t>{</a:t>
            </a:r>
          </a:p>
          <a:p>
            <a:pPr>
              <a:lnSpc>
                <a:spcPct val="110000"/>
              </a:lnSpc>
            </a:pPr>
            <a:r>
              <a:rPr lang="en-US" altLang="zh-CN" sz="2800">
                <a:ea typeface="楷体_GB2312" pitchFamily="49" charset="-122"/>
              </a:rPr>
              <a:t>            </a:t>
            </a:r>
          </a:p>
          <a:p>
            <a:pPr>
              <a:lnSpc>
                <a:spcPct val="110000"/>
              </a:lnSpc>
            </a:pPr>
            <a:r>
              <a:rPr lang="en-US" altLang="zh-CN" sz="2800">
                <a:ea typeface="楷体_GB2312" pitchFamily="49" charset="-122"/>
              </a:rPr>
              <a:t>                </a:t>
            </a:r>
            <a:r>
              <a:rPr lang="zh-CN" altLang="en-US" sz="2800" b="1">
                <a:ea typeface="楷体_GB2312" pitchFamily="49" charset="-122"/>
              </a:rPr>
              <a:t>｝</a:t>
            </a:r>
            <a:endParaRPr lang="zh-CN" altLang="en-US" sz="2800">
              <a:ea typeface="楷体_GB2312" pitchFamily="49" charset="-122"/>
            </a:endParaRPr>
          </a:p>
          <a:p>
            <a:pPr>
              <a:lnSpc>
                <a:spcPct val="110000"/>
              </a:lnSpc>
            </a:pPr>
            <a:r>
              <a:rPr lang="zh-CN" altLang="en-US" sz="2800" b="1">
                <a:ea typeface="楷体_GB2312" pitchFamily="49" charset="-122"/>
              </a:rPr>
              <a:t>  ｝</a:t>
            </a:r>
            <a:r>
              <a:rPr lang="en-US" altLang="zh-CN" sz="2800" b="1">
                <a:ea typeface="楷体_GB2312" pitchFamily="49" charset="-122"/>
              </a:rPr>
              <a:t>while (</a:t>
            </a:r>
            <a:r>
              <a:rPr lang="zh-CN" altLang="en-US" sz="2800" b="1">
                <a:ea typeface="楷体_GB2312" pitchFamily="49" charset="-122"/>
              </a:rPr>
              <a:t>栈不空）</a:t>
            </a:r>
            <a:r>
              <a:rPr lang="zh-CN" altLang="en-US" sz="2800">
                <a:ea typeface="楷体_GB2312" pitchFamily="49" charset="-122"/>
              </a:rPr>
              <a:t>；</a:t>
            </a:r>
            <a:endParaRPr lang="zh-CN" altLang="en-US" sz="2800"/>
          </a:p>
        </p:txBody>
      </p:sp>
      <p:sp>
        <p:nvSpPr>
          <p:cNvPr id="57348" name="Text Box 3"/>
          <p:cNvSpPr txBox="1">
            <a:spLocks noChangeArrowheads="1"/>
          </p:cNvSpPr>
          <p:nvPr/>
        </p:nvSpPr>
        <p:spPr bwMode="auto">
          <a:xfrm>
            <a:off x="0" y="0"/>
            <a:ext cx="891540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zh-CN" altLang="en-US" sz="3600" b="1">
                <a:ea typeface="楷体_GB2312" pitchFamily="49" charset="-122"/>
              </a:rPr>
              <a:t>求迷宫中一条从入口到出口的路径的算法：</a:t>
            </a:r>
            <a:endParaRPr lang="zh-CN" altLang="en-US" sz="3600" b="1"/>
          </a:p>
        </p:txBody>
      </p:sp>
      <p:sp>
        <p:nvSpPr>
          <p:cNvPr id="500740" name="Text Box 4">
            <a:hlinkClick r:id="" action="ppaction://hlinkshowjump?jump=nextslide"/>
          </p:cNvPr>
          <p:cNvSpPr txBox="1">
            <a:spLocks noChangeArrowheads="1"/>
          </p:cNvSpPr>
          <p:nvPr/>
        </p:nvSpPr>
        <p:spPr bwMode="auto">
          <a:xfrm>
            <a:off x="2097088" y="5049838"/>
            <a:ext cx="181610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b="1">
                <a:solidFill>
                  <a:srgbClr val="A50021"/>
                </a:solidFill>
                <a:latin typeface="楷体_GB2312" pitchFamily="49" charset="-122"/>
                <a:ea typeface="楷体_GB2312" pitchFamily="49" charset="-122"/>
              </a:rPr>
              <a:t> </a:t>
            </a:r>
            <a:r>
              <a:rPr lang="en-US" altLang="zh-CN" b="1">
                <a:solidFill>
                  <a:schemeClr val="hlink"/>
                </a:solidFill>
                <a:latin typeface="楷体_GB2312" pitchFamily="49" charset="-122"/>
                <a:ea typeface="楷体_GB2312" pitchFamily="49" charset="-122"/>
              </a:rPr>
              <a:t>A:</a:t>
            </a:r>
            <a:r>
              <a:rPr lang="en-US" altLang="zh-CN" b="1">
                <a:solidFill>
                  <a:schemeClr val="hlink"/>
                </a:solidFill>
                <a:ea typeface="楷体_GB2312" pitchFamily="49" charset="-122"/>
              </a:rPr>
              <a:t>…</a:t>
            </a:r>
            <a:r>
              <a:rPr lang="en-US" altLang="zh-CN" b="1">
                <a:solidFill>
                  <a:schemeClr val="hlink"/>
                </a:solidFill>
                <a:latin typeface="楷体_GB2312" pitchFamily="49" charset="-122"/>
                <a:ea typeface="楷体_GB2312" pitchFamily="49" charset="-122"/>
              </a:rPr>
              <a:t> </a:t>
            </a:r>
            <a:r>
              <a:rPr lang="en-US" altLang="zh-CN" b="1">
                <a:solidFill>
                  <a:schemeClr val="hlink"/>
                </a:solidFill>
                <a:ea typeface="楷体_GB2312" pitchFamily="49" charset="-122"/>
              </a:rPr>
              <a:t>…</a:t>
            </a:r>
            <a:endParaRPr lang="en-US" altLang="zh-CN" b="1">
              <a:solidFill>
                <a:schemeClr val="hlink"/>
              </a:solidFill>
              <a:latin typeface="楷体_GB2312" pitchFamily="49" charset="-122"/>
              <a:ea typeface="楷体_GB2312" pitchFamily="49" charset="-122"/>
            </a:endParaRPr>
          </a:p>
        </p:txBody>
      </p:sp>
      <p:sp>
        <p:nvSpPr>
          <p:cNvPr id="57350" name="AutoShape 6">
            <a:hlinkClick r:id="" action="ppaction://hlinkshowjump?jump=previousslide" highlightClick="1"/>
          </p:cNvPr>
          <p:cNvSpPr>
            <a:spLocks noChangeArrowheads="1"/>
          </p:cNvSpPr>
          <p:nvPr/>
        </p:nvSpPr>
        <p:spPr bwMode="auto">
          <a:xfrm>
            <a:off x="8667750" y="6443663"/>
            <a:ext cx="476250" cy="271462"/>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zh-CN" altLang="en-US" sz="1600"/>
              <a:t>迷宫图</a:t>
            </a:r>
          </a:p>
        </p:txBody>
      </p:sp>
    </p:spTree>
    <p:extLst>
      <p:ext uri="{BB962C8B-B14F-4D97-AF65-F5344CB8AC3E}">
        <p14:creationId xmlns:p14="http://schemas.microsoft.com/office/powerpoint/2010/main" val="493097566"/>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500738"/>
                                        </p:tgtEl>
                                        <p:attrNameLst>
                                          <p:attrName>style.visibility</p:attrName>
                                        </p:attrNameLst>
                                      </p:cBhvr>
                                      <p:to>
                                        <p:strVal val="visible"/>
                                      </p:to>
                                    </p:set>
                                    <p:animEffect transition="in" filter="strips(upLeft)">
                                      <p:cBhvr>
                                        <p:cTn id="7" dur="500"/>
                                        <p:tgtEl>
                                          <p:spTgt spid="500738"/>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5007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8" grpId="0" autoUpdateAnimBg="0"/>
      <p:bldP spid="50074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4A24173-339B-44D0-AC29-18DEA2C71BCE}" type="slidenum">
              <a:rPr lang="en-US" altLang="zh-CN" sz="1400"/>
              <a:pPr/>
              <a:t>57</a:t>
            </a:fld>
            <a:endParaRPr lang="en-US" altLang="zh-CN" sz="1400"/>
          </a:p>
        </p:txBody>
      </p:sp>
      <p:sp>
        <p:nvSpPr>
          <p:cNvPr id="501762" name="Text Box 2"/>
          <p:cNvSpPr txBox="1">
            <a:spLocks noChangeArrowheads="1"/>
          </p:cNvSpPr>
          <p:nvPr/>
        </p:nvSpPr>
        <p:spPr bwMode="auto">
          <a:xfrm>
            <a:off x="566738" y="188913"/>
            <a:ext cx="838200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pPr>
            <a:r>
              <a:rPr lang="en-US" altLang="zh-CN" b="1">
                <a:solidFill>
                  <a:schemeClr val="hlink"/>
                </a:solidFill>
                <a:ea typeface="楷体_GB2312" pitchFamily="49" charset="-122"/>
              </a:rPr>
              <a:t>A:</a:t>
            </a:r>
          </a:p>
          <a:p>
            <a:pPr>
              <a:lnSpc>
                <a:spcPct val="120000"/>
              </a:lnSpc>
            </a:pPr>
            <a:r>
              <a:rPr lang="zh-CN" altLang="en-US">
                <a:ea typeface="楷体_GB2312" pitchFamily="49" charset="-122"/>
              </a:rPr>
              <a:t>若</a:t>
            </a:r>
            <a:r>
              <a:rPr lang="zh-CN" altLang="en-US" b="1">
                <a:solidFill>
                  <a:srgbClr val="660033"/>
                </a:solidFill>
                <a:ea typeface="楷体_GB2312" pitchFamily="49" charset="-122"/>
              </a:rPr>
              <a:t>栈不空</a:t>
            </a:r>
            <a:r>
              <a:rPr lang="zh-CN" altLang="en-US">
                <a:ea typeface="楷体_GB2312" pitchFamily="49" charset="-122"/>
              </a:rPr>
              <a:t>且</a:t>
            </a:r>
            <a:r>
              <a:rPr lang="zh-CN" altLang="en-US" b="1">
                <a:solidFill>
                  <a:srgbClr val="660033"/>
                </a:solidFill>
                <a:ea typeface="楷体_GB2312" pitchFamily="49" charset="-122"/>
              </a:rPr>
              <a:t>栈顶</a:t>
            </a:r>
            <a:r>
              <a:rPr lang="zh-CN" altLang="en-US">
                <a:ea typeface="楷体_GB2312" pitchFamily="49" charset="-122"/>
              </a:rPr>
              <a:t>位置尚有</a:t>
            </a:r>
            <a:r>
              <a:rPr lang="zh-CN" altLang="en-US" b="1">
                <a:solidFill>
                  <a:srgbClr val="660033"/>
                </a:solidFill>
                <a:ea typeface="楷体_GB2312" pitchFamily="49" charset="-122"/>
              </a:rPr>
              <a:t>其他方向</a:t>
            </a:r>
            <a:r>
              <a:rPr lang="zh-CN" altLang="en-US">
                <a:ea typeface="楷体_GB2312" pitchFamily="49" charset="-122"/>
              </a:rPr>
              <a:t>未被探索，</a:t>
            </a:r>
          </a:p>
          <a:p>
            <a:pPr>
              <a:lnSpc>
                <a:spcPct val="120000"/>
              </a:lnSpc>
            </a:pPr>
            <a:r>
              <a:rPr lang="zh-CN" altLang="en-US" b="1">
                <a:ea typeface="楷体_GB2312" pitchFamily="49" charset="-122"/>
              </a:rPr>
              <a:t>      </a:t>
            </a:r>
            <a:r>
              <a:rPr lang="en-US" altLang="zh-CN" b="1">
                <a:ea typeface="楷体_GB2312" pitchFamily="49" charset="-122"/>
              </a:rPr>
              <a:t>{</a:t>
            </a:r>
            <a:r>
              <a:rPr lang="zh-CN" altLang="en-US">
                <a:ea typeface="楷体_GB2312" pitchFamily="49" charset="-122"/>
              </a:rPr>
              <a:t>则设定</a:t>
            </a:r>
            <a:r>
              <a:rPr lang="zh-CN" altLang="en-US" b="1">
                <a:solidFill>
                  <a:schemeClr val="hlink"/>
                </a:solidFill>
                <a:ea typeface="楷体_GB2312" pitchFamily="49" charset="-122"/>
              </a:rPr>
              <a:t>新的当前位置</a:t>
            </a:r>
            <a:r>
              <a:rPr lang="zh-CN" altLang="en-US">
                <a:ea typeface="楷体_GB2312" pitchFamily="49" charset="-122"/>
              </a:rPr>
              <a:t>为</a:t>
            </a:r>
            <a:r>
              <a:rPr lang="en-US" altLang="zh-CN">
                <a:ea typeface="楷体_GB2312" pitchFamily="49" charset="-122"/>
              </a:rPr>
              <a:t>: </a:t>
            </a:r>
            <a:r>
              <a:rPr lang="zh-CN" altLang="en-US">
                <a:ea typeface="楷体_GB2312" pitchFamily="49" charset="-122"/>
              </a:rPr>
              <a:t>沿顺时针方向旋</a:t>
            </a:r>
          </a:p>
          <a:p>
            <a:pPr>
              <a:lnSpc>
                <a:spcPct val="120000"/>
              </a:lnSpc>
            </a:pPr>
            <a:r>
              <a:rPr lang="zh-CN" altLang="en-US">
                <a:ea typeface="楷体_GB2312" pitchFamily="49" charset="-122"/>
              </a:rPr>
              <a:t>        转找到的</a:t>
            </a:r>
            <a:r>
              <a:rPr lang="zh-CN" altLang="en-US" b="1">
                <a:ea typeface="楷体_GB2312" pitchFamily="49" charset="-122"/>
              </a:rPr>
              <a:t>栈顶位置的</a:t>
            </a:r>
            <a:r>
              <a:rPr lang="zh-CN" altLang="en-US" b="1">
                <a:solidFill>
                  <a:schemeClr val="hlink"/>
                </a:solidFill>
                <a:ea typeface="楷体_GB2312" pitchFamily="49" charset="-122"/>
              </a:rPr>
              <a:t>下一相邻块</a:t>
            </a:r>
            <a:r>
              <a:rPr lang="zh-CN" altLang="en-US">
                <a:ea typeface="楷体_GB2312" pitchFamily="49" charset="-122"/>
              </a:rPr>
              <a:t>；</a:t>
            </a:r>
            <a:r>
              <a:rPr lang="en-US" altLang="zh-CN">
                <a:ea typeface="楷体_GB2312" pitchFamily="49" charset="-122"/>
              </a:rPr>
              <a:t>}</a:t>
            </a:r>
          </a:p>
        </p:txBody>
      </p:sp>
      <p:sp>
        <p:nvSpPr>
          <p:cNvPr id="501763" name="Text Box 3"/>
          <p:cNvSpPr txBox="1">
            <a:spLocks noChangeArrowheads="1"/>
          </p:cNvSpPr>
          <p:nvPr/>
        </p:nvSpPr>
        <p:spPr bwMode="auto">
          <a:xfrm>
            <a:off x="522288" y="2708275"/>
            <a:ext cx="8839200" cy="301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0000"/>
              </a:lnSpc>
            </a:pPr>
            <a:r>
              <a:rPr lang="zh-CN" altLang="en-US" b="1">
                <a:ea typeface="楷体_GB2312" pitchFamily="49" charset="-122"/>
              </a:rPr>
              <a:t>若</a:t>
            </a:r>
            <a:r>
              <a:rPr lang="zh-CN" altLang="en-US" b="1">
                <a:solidFill>
                  <a:srgbClr val="660033"/>
                </a:solidFill>
                <a:ea typeface="楷体_GB2312" pitchFamily="49" charset="-122"/>
              </a:rPr>
              <a:t>栈不空</a:t>
            </a:r>
            <a:r>
              <a:rPr lang="zh-CN" altLang="en-US">
                <a:ea typeface="楷体_GB2312" pitchFamily="49" charset="-122"/>
              </a:rPr>
              <a:t>但</a:t>
            </a:r>
            <a:r>
              <a:rPr lang="zh-CN" altLang="en-US" b="1">
                <a:solidFill>
                  <a:srgbClr val="660033"/>
                </a:solidFill>
                <a:ea typeface="楷体_GB2312" pitchFamily="49" charset="-122"/>
              </a:rPr>
              <a:t>栈顶</a:t>
            </a:r>
            <a:r>
              <a:rPr lang="zh-CN" altLang="en-US">
                <a:ea typeface="楷体_GB2312" pitchFamily="49" charset="-122"/>
              </a:rPr>
              <a:t>位置的</a:t>
            </a:r>
            <a:r>
              <a:rPr lang="zh-CN" altLang="en-US" b="1">
                <a:solidFill>
                  <a:srgbClr val="660033"/>
                </a:solidFill>
                <a:ea typeface="楷体_GB2312" pitchFamily="49" charset="-122"/>
              </a:rPr>
              <a:t>四周</a:t>
            </a:r>
            <a:r>
              <a:rPr lang="zh-CN" altLang="en-US">
                <a:ea typeface="楷体_GB2312" pitchFamily="49" charset="-122"/>
              </a:rPr>
              <a:t>均不可通，</a:t>
            </a:r>
          </a:p>
          <a:p>
            <a:pPr>
              <a:lnSpc>
                <a:spcPct val="120000"/>
              </a:lnSpc>
            </a:pPr>
            <a:r>
              <a:rPr lang="zh-CN" altLang="en-US">
                <a:ea typeface="楷体_GB2312" pitchFamily="49" charset="-122"/>
              </a:rPr>
              <a:t>    </a:t>
            </a:r>
            <a:r>
              <a:rPr lang="zh-CN" altLang="en-US" b="1">
                <a:ea typeface="楷体_GB2312" pitchFamily="49" charset="-122"/>
              </a:rPr>
              <a:t>｛</a:t>
            </a:r>
            <a:r>
              <a:rPr lang="zh-CN" altLang="en-US">
                <a:ea typeface="楷体_GB2312" pitchFamily="49" charset="-122"/>
              </a:rPr>
              <a:t>则</a:t>
            </a:r>
            <a:r>
              <a:rPr lang="zh-CN" altLang="en-US" b="1">
                <a:solidFill>
                  <a:schemeClr val="hlink"/>
                </a:solidFill>
                <a:ea typeface="楷体_GB2312" pitchFamily="49" charset="-122"/>
              </a:rPr>
              <a:t>删去栈顶位置</a:t>
            </a:r>
            <a:r>
              <a:rPr lang="zh-CN" altLang="en-US">
                <a:ea typeface="楷体_GB2312" pitchFamily="49" charset="-122"/>
              </a:rPr>
              <a:t>；</a:t>
            </a:r>
            <a:r>
              <a:rPr lang="en-US" altLang="zh-CN" sz="2400" b="1">
                <a:solidFill>
                  <a:srgbClr val="006600"/>
                </a:solidFill>
                <a:ea typeface="楷体_GB2312" pitchFamily="49" charset="-122"/>
              </a:rPr>
              <a:t>// </a:t>
            </a:r>
            <a:r>
              <a:rPr lang="zh-CN" altLang="en-US" sz="2400" b="1">
                <a:solidFill>
                  <a:srgbClr val="006600"/>
                </a:solidFill>
                <a:ea typeface="楷体_GB2312" pitchFamily="49" charset="-122"/>
              </a:rPr>
              <a:t>从路径中删去该通道块</a:t>
            </a:r>
            <a:r>
              <a:rPr lang="zh-CN" altLang="en-US">
                <a:ea typeface="楷体_GB2312" pitchFamily="49" charset="-122"/>
              </a:rPr>
              <a:t>                   </a:t>
            </a:r>
          </a:p>
          <a:p>
            <a:pPr>
              <a:lnSpc>
                <a:spcPct val="120000"/>
              </a:lnSpc>
            </a:pPr>
            <a:r>
              <a:rPr lang="zh-CN" altLang="en-US">
                <a:ea typeface="楷体_GB2312" pitchFamily="49" charset="-122"/>
              </a:rPr>
              <a:t>       若栈不空，则重新测试新的栈顶位置，</a:t>
            </a:r>
          </a:p>
          <a:p>
            <a:pPr>
              <a:lnSpc>
                <a:spcPct val="120000"/>
              </a:lnSpc>
            </a:pPr>
            <a:r>
              <a:rPr lang="zh-CN" altLang="en-US">
                <a:ea typeface="楷体_GB2312" pitchFamily="49" charset="-122"/>
              </a:rPr>
              <a:t>       直至找到一个可通的相邻块或出栈至栈空；</a:t>
            </a:r>
          </a:p>
          <a:p>
            <a:pPr>
              <a:lnSpc>
                <a:spcPct val="120000"/>
              </a:lnSpc>
            </a:pPr>
            <a:r>
              <a:rPr lang="zh-CN" altLang="en-US" b="1">
                <a:ea typeface="楷体_GB2312" pitchFamily="49" charset="-122"/>
              </a:rPr>
              <a:t>     ｝</a:t>
            </a:r>
          </a:p>
        </p:txBody>
      </p:sp>
      <p:sp>
        <p:nvSpPr>
          <p:cNvPr id="501764" name="Text Box 4"/>
          <p:cNvSpPr txBox="1">
            <a:spLocks noChangeArrowheads="1"/>
          </p:cNvSpPr>
          <p:nvPr/>
        </p:nvSpPr>
        <p:spPr bwMode="auto">
          <a:xfrm>
            <a:off x="385763" y="5768975"/>
            <a:ext cx="8551862"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b="1" dirty="0">
                <a:ea typeface="楷体_GB2312" pitchFamily="49" charset="-122"/>
              </a:rPr>
              <a:t> </a:t>
            </a:r>
            <a:r>
              <a:rPr lang="zh-CN" altLang="en-US" b="1" dirty="0">
                <a:ea typeface="楷体_GB2312" pitchFamily="49" charset="-122"/>
              </a:rPr>
              <a:t>若</a:t>
            </a:r>
            <a:r>
              <a:rPr lang="zh-CN" altLang="en-US" b="1" dirty="0">
                <a:solidFill>
                  <a:srgbClr val="660033"/>
                </a:solidFill>
                <a:ea typeface="楷体_GB2312" pitchFamily="49" charset="-122"/>
              </a:rPr>
              <a:t>栈空</a:t>
            </a:r>
            <a:r>
              <a:rPr lang="zh-CN" altLang="en-US" dirty="0">
                <a:solidFill>
                  <a:srgbClr val="A50021"/>
                </a:solidFill>
                <a:ea typeface="楷体_GB2312" pitchFamily="49" charset="-122"/>
              </a:rPr>
              <a:t>，</a:t>
            </a:r>
            <a:r>
              <a:rPr lang="zh-CN" altLang="en-US" b="1" dirty="0">
                <a:ea typeface="楷体_GB2312" pitchFamily="49" charset="-122"/>
              </a:rPr>
              <a:t>则</a:t>
            </a:r>
            <a:r>
              <a:rPr lang="zh-CN" altLang="en-US" dirty="0">
                <a:ea typeface="楷体_GB2312" pitchFamily="49" charset="-122"/>
              </a:rPr>
              <a:t>表明迷宫</a:t>
            </a:r>
            <a:r>
              <a:rPr lang="zh-CN" altLang="en-US" b="1" dirty="0">
                <a:solidFill>
                  <a:schemeClr val="hlink"/>
                </a:solidFill>
                <a:ea typeface="楷体_GB2312" pitchFamily="49" charset="-122"/>
              </a:rPr>
              <a:t>没有通路</a:t>
            </a:r>
            <a:r>
              <a:rPr lang="zh-CN" altLang="en-US" dirty="0">
                <a:ea typeface="楷体_GB2312" pitchFamily="49" charset="-122"/>
              </a:rPr>
              <a:t>。</a:t>
            </a:r>
            <a:endParaRPr lang="en-US" altLang="zh-CN" sz="2800" dirty="0"/>
          </a:p>
        </p:txBody>
      </p:sp>
      <p:sp>
        <p:nvSpPr>
          <p:cNvPr id="58374" name="AutoShape 5">
            <a:hlinkClick r:id="" action="ppaction://hlinkshowjump?jump=previousslide" highlightClick="1"/>
          </p:cNvPr>
          <p:cNvSpPr>
            <a:spLocks noChangeArrowheads="1"/>
          </p:cNvSpPr>
          <p:nvPr/>
        </p:nvSpPr>
        <p:spPr bwMode="auto">
          <a:xfrm>
            <a:off x="8667750" y="6443663"/>
            <a:ext cx="476250" cy="271462"/>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zh-CN" altLang="en-US" sz="1600"/>
              <a:t>迷宫图</a:t>
            </a:r>
          </a:p>
        </p:txBody>
      </p:sp>
    </p:spTree>
    <p:extLst>
      <p:ext uri="{BB962C8B-B14F-4D97-AF65-F5344CB8AC3E}">
        <p14:creationId xmlns:p14="http://schemas.microsoft.com/office/powerpoint/2010/main" val="1220774506"/>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01762"/>
                                        </p:tgtEl>
                                        <p:attrNameLst>
                                          <p:attrName>style.visibility</p:attrName>
                                        </p:attrNameLst>
                                      </p:cBhvr>
                                      <p:to>
                                        <p:strVal val="visible"/>
                                      </p:to>
                                    </p:set>
                                    <p:animEffect transition="in" filter="barn(outVertical)">
                                      <p:cBhvr>
                                        <p:cTn id="7" dur="500"/>
                                        <p:tgtEl>
                                          <p:spTgt spid="501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01763"/>
                                        </p:tgtEl>
                                        <p:attrNameLst>
                                          <p:attrName>style.visibility</p:attrName>
                                        </p:attrNameLst>
                                      </p:cBhvr>
                                      <p:to>
                                        <p:strVal val="visible"/>
                                      </p:to>
                                    </p:set>
                                    <p:animEffect transition="in" filter="barn(outVertical)">
                                      <p:cBhvr>
                                        <p:cTn id="12" dur="500"/>
                                        <p:tgtEl>
                                          <p:spTgt spid="501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01764"/>
                                        </p:tgtEl>
                                        <p:attrNameLst>
                                          <p:attrName>style.visibility</p:attrName>
                                        </p:attrNameLst>
                                      </p:cBhvr>
                                      <p:to>
                                        <p:strVal val="visible"/>
                                      </p:to>
                                    </p:set>
                                    <p:animEffect transition="in" filter="barn(outVertical)">
                                      <p:cBhvr>
                                        <p:cTn id="17" dur="500"/>
                                        <p:tgtEl>
                                          <p:spTgt spid="501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2" grpId="0" autoUpdateAnimBg="0"/>
      <p:bldP spid="501763" grpId="0" autoUpdateAnimBg="0"/>
      <p:bldP spid="50176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43AA105-B83A-4047-A5FE-212F573DFE1E}" type="slidenum">
              <a:rPr lang="en-US" altLang="zh-CN" sz="1400"/>
              <a:pPr/>
              <a:t>58</a:t>
            </a:fld>
            <a:endParaRPr lang="en-US" altLang="zh-CN" sz="1400"/>
          </a:p>
        </p:txBody>
      </p:sp>
      <p:sp>
        <p:nvSpPr>
          <p:cNvPr id="502786" name="Text Box 2"/>
          <p:cNvSpPr txBox="1">
            <a:spLocks noChangeArrowheads="1"/>
          </p:cNvSpPr>
          <p:nvPr/>
        </p:nvSpPr>
        <p:spPr bwMode="auto">
          <a:xfrm>
            <a:off x="381000" y="1330325"/>
            <a:ext cx="8458200" cy="529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pPr>
            <a:r>
              <a:rPr lang="en-US" altLang="zh-CN" sz="2800" b="1"/>
              <a:t>         </a:t>
            </a:r>
            <a:r>
              <a:rPr lang="zh-CN" altLang="en-US" sz="2800" b="1">
                <a:ea typeface="楷体_GB2312" pitchFamily="49" charset="-122"/>
              </a:rPr>
              <a:t>表达式求值是程序设计语言编译中的一个基本问题，它的实现是栈应用的又一个典型例子。这里介绍一种简单直观，广为使用的算法，叫“</a:t>
            </a:r>
            <a:r>
              <a:rPr lang="zh-CN" altLang="en-US" sz="2800" b="1">
                <a:solidFill>
                  <a:srgbClr val="A50021"/>
                </a:solidFill>
                <a:ea typeface="楷体_GB2312" pitchFamily="49" charset="-122"/>
              </a:rPr>
              <a:t>算符优先法</a:t>
            </a:r>
            <a:r>
              <a:rPr lang="zh-CN" altLang="en-US" sz="2800" b="1">
                <a:ea typeface="楷体_GB2312" pitchFamily="49" charset="-122"/>
              </a:rPr>
              <a:t>”。它是根据运算优先关系的规定来实现对表达式的编译或解释执行的。</a:t>
            </a:r>
          </a:p>
          <a:p>
            <a:pPr eaLnBrk="1" hangingPunct="1">
              <a:lnSpc>
                <a:spcPct val="90000"/>
              </a:lnSpc>
              <a:spcBef>
                <a:spcPct val="50000"/>
              </a:spcBef>
            </a:pPr>
            <a:r>
              <a:rPr lang="zh-CN" altLang="en-US" sz="2800" b="1">
                <a:ea typeface="楷体_GB2312" pitchFamily="49" charset="-122"/>
              </a:rPr>
              <a:t>例如：要对算术表达式  </a:t>
            </a:r>
            <a:r>
              <a:rPr lang="en-US" altLang="zh-CN" sz="2800" b="1">
                <a:ea typeface="楷体_GB2312" pitchFamily="49" charset="-122"/>
              </a:rPr>
              <a:t>4+2*3-10/5  </a:t>
            </a:r>
            <a:r>
              <a:rPr lang="zh-CN" altLang="en-US" sz="2800" b="1">
                <a:ea typeface="楷体_GB2312" pitchFamily="49" charset="-122"/>
              </a:rPr>
              <a:t>求值。</a:t>
            </a:r>
          </a:p>
          <a:p>
            <a:pPr eaLnBrk="1" hangingPunct="1">
              <a:lnSpc>
                <a:spcPct val="90000"/>
              </a:lnSpc>
              <a:spcBef>
                <a:spcPct val="15000"/>
              </a:spcBef>
            </a:pPr>
            <a:r>
              <a:rPr lang="zh-CN" altLang="en-US" sz="2800" b="1">
                <a:ea typeface="楷体_GB2312" pitchFamily="49" charset="-122"/>
              </a:rPr>
              <a:t>算术四则运算规则：</a:t>
            </a:r>
          </a:p>
          <a:p>
            <a:pPr eaLnBrk="1" hangingPunct="1">
              <a:lnSpc>
                <a:spcPct val="90000"/>
              </a:lnSpc>
              <a:spcBef>
                <a:spcPct val="15000"/>
              </a:spcBef>
            </a:pPr>
            <a:r>
              <a:rPr lang="zh-CN" altLang="en-US" sz="2800" b="1">
                <a:ea typeface="楷体_GB2312" pitchFamily="49" charset="-122"/>
              </a:rPr>
              <a:t>         ⑴先括号内，后括号外；</a:t>
            </a:r>
          </a:p>
          <a:p>
            <a:pPr eaLnBrk="1" hangingPunct="1">
              <a:lnSpc>
                <a:spcPct val="90000"/>
              </a:lnSpc>
              <a:spcBef>
                <a:spcPct val="15000"/>
              </a:spcBef>
            </a:pPr>
            <a:r>
              <a:rPr lang="zh-CN" altLang="en-US" sz="2800" b="1">
                <a:ea typeface="楷体_GB2312" pitchFamily="49" charset="-122"/>
              </a:rPr>
              <a:t>         ⑵先乘除，后加减；</a:t>
            </a:r>
          </a:p>
          <a:p>
            <a:pPr eaLnBrk="1" hangingPunct="1">
              <a:lnSpc>
                <a:spcPct val="90000"/>
              </a:lnSpc>
              <a:spcBef>
                <a:spcPct val="15000"/>
              </a:spcBef>
            </a:pPr>
            <a:r>
              <a:rPr lang="zh-CN" altLang="en-US" sz="2800" b="1">
                <a:ea typeface="楷体_GB2312" pitchFamily="49" charset="-122"/>
              </a:rPr>
              <a:t>         ⑶同级运算从左算到右。</a:t>
            </a:r>
          </a:p>
          <a:p>
            <a:pPr eaLnBrk="1" hangingPunct="1">
              <a:lnSpc>
                <a:spcPct val="90000"/>
              </a:lnSpc>
              <a:spcBef>
                <a:spcPct val="30000"/>
              </a:spcBef>
            </a:pPr>
            <a:r>
              <a:rPr lang="zh-CN" altLang="en-US" sz="2800" b="1">
                <a:ea typeface="楷体_GB2312" pitchFamily="49" charset="-122"/>
              </a:rPr>
              <a:t>        “算符优先法”就是根据这个运算优先关系的规定来实现对表达式的编译或解释执行的。</a:t>
            </a:r>
          </a:p>
        </p:txBody>
      </p:sp>
      <p:sp>
        <p:nvSpPr>
          <p:cNvPr id="59396" name="Text Box 3"/>
          <p:cNvSpPr txBox="1">
            <a:spLocks noChangeArrowheads="1"/>
          </p:cNvSpPr>
          <p:nvPr/>
        </p:nvSpPr>
        <p:spPr bwMode="auto">
          <a:xfrm>
            <a:off x="412750" y="381000"/>
            <a:ext cx="6364288"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800" b="1">
                <a:solidFill>
                  <a:srgbClr val="FF5050"/>
                </a:solidFill>
                <a:ea typeface="楷体_GB2312" pitchFamily="49" charset="-122"/>
              </a:rPr>
              <a:t>例五、 表达式求值</a:t>
            </a:r>
            <a:endParaRPr lang="zh-CN" altLang="en-US" sz="4800" b="1">
              <a:ea typeface="楷体_GB2312" pitchFamily="49" charset="-122"/>
            </a:endParaRPr>
          </a:p>
        </p:txBody>
      </p:sp>
    </p:spTree>
    <p:extLst>
      <p:ext uri="{BB962C8B-B14F-4D97-AF65-F5344CB8AC3E}">
        <p14:creationId xmlns:p14="http://schemas.microsoft.com/office/powerpoint/2010/main" val="3123828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2786">
                                            <p:txEl>
                                              <p:pRg st="0" end="0"/>
                                            </p:txEl>
                                          </p:spTgt>
                                        </p:tgtEl>
                                        <p:attrNameLst>
                                          <p:attrName>style.visibility</p:attrName>
                                        </p:attrNameLst>
                                      </p:cBhvr>
                                      <p:to>
                                        <p:strVal val="visible"/>
                                      </p:to>
                                    </p:set>
                                    <p:animEffect transition="in" filter="box(in)">
                                      <p:cBhvr>
                                        <p:cTn id="7" dur="500"/>
                                        <p:tgtEl>
                                          <p:spTgt spid="5027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02786">
                                            <p:txEl>
                                              <p:pRg st="1" end="1"/>
                                            </p:txEl>
                                          </p:spTgt>
                                        </p:tgtEl>
                                        <p:attrNameLst>
                                          <p:attrName>style.visibility</p:attrName>
                                        </p:attrNameLst>
                                      </p:cBhvr>
                                      <p:to>
                                        <p:strVal val="visible"/>
                                      </p:to>
                                    </p:set>
                                    <p:animEffect transition="in" filter="box(in)">
                                      <p:cBhvr>
                                        <p:cTn id="12" dur="500"/>
                                        <p:tgtEl>
                                          <p:spTgt spid="50278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02786">
                                            <p:txEl>
                                              <p:pRg st="2" end="2"/>
                                            </p:txEl>
                                          </p:spTgt>
                                        </p:tgtEl>
                                        <p:attrNameLst>
                                          <p:attrName>style.visibility</p:attrName>
                                        </p:attrNameLst>
                                      </p:cBhvr>
                                      <p:to>
                                        <p:strVal val="visible"/>
                                      </p:to>
                                    </p:set>
                                    <p:animEffect transition="in" filter="box(in)">
                                      <p:cBhvr>
                                        <p:cTn id="17" dur="500"/>
                                        <p:tgtEl>
                                          <p:spTgt spid="50278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02786">
                                            <p:txEl>
                                              <p:pRg st="3" end="3"/>
                                            </p:txEl>
                                          </p:spTgt>
                                        </p:tgtEl>
                                        <p:attrNameLst>
                                          <p:attrName>style.visibility</p:attrName>
                                        </p:attrNameLst>
                                      </p:cBhvr>
                                      <p:to>
                                        <p:strVal val="visible"/>
                                      </p:to>
                                    </p:set>
                                    <p:animEffect transition="in" filter="box(in)">
                                      <p:cBhvr>
                                        <p:cTn id="22" dur="500"/>
                                        <p:tgtEl>
                                          <p:spTgt spid="50278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02786">
                                            <p:txEl>
                                              <p:pRg st="4" end="4"/>
                                            </p:txEl>
                                          </p:spTgt>
                                        </p:tgtEl>
                                        <p:attrNameLst>
                                          <p:attrName>style.visibility</p:attrName>
                                        </p:attrNameLst>
                                      </p:cBhvr>
                                      <p:to>
                                        <p:strVal val="visible"/>
                                      </p:to>
                                    </p:set>
                                    <p:animEffect transition="in" filter="box(in)">
                                      <p:cBhvr>
                                        <p:cTn id="27" dur="500"/>
                                        <p:tgtEl>
                                          <p:spTgt spid="50278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02786">
                                            <p:txEl>
                                              <p:pRg st="5" end="5"/>
                                            </p:txEl>
                                          </p:spTgt>
                                        </p:tgtEl>
                                        <p:attrNameLst>
                                          <p:attrName>style.visibility</p:attrName>
                                        </p:attrNameLst>
                                      </p:cBhvr>
                                      <p:to>
                                        <p:strVal val="visible"/>
                                      </p:to>
                                    </p:set>
                                    <p:animEffect transition="in" filter="box(in)">
                                      <p:cBhvr>
                                        <p:cTn id="32" dur="500"/>
                                        <p:tgtEl>
                                          <p:spTgt spid="50278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502786">
                                            <p:txEl>
                                              <p:pRg st="6" end="6"/>
                                            </p:txEl>
                                          </p:spTgt>
                                        </p:tgtEl>
                                        <p:attrNameLst>
                                          <p:attrName>style.visibility</p:attrName>
                                        </p:attrNameLst>
                                      </p:cBhvr>
                                      <p:to>
                                        <p:strVal val="visible"/>
                                      </p:to>
                                    </p:set>
                                    <p:animEffect transition="in" filter="box(in)">
                                      <p:cBhvr>
                                        <p:cTn id="37" dur="500"/>
                                        <p:tgtEl>
                                          <p:spTgt spid="50278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A878F72-A497-4F98-A1E2-F74DFB57EF65}" type="slidenum">
              <a:rPr lang="en-US" altLang="zh-CN" sz="1400"/>
              <a:pPr/>
              <a:t>59</a:t>
            </a:fld>
            <a:endParaRPr lang="en-US" altLang="zh-CN" sz="1400"/>
          </a:p>
        </p:txBody>
      </p:sp>
      <p:sp>
        <p:nvSpPr>
          <p:cNvPr id="60419" name="Text Box 2"/>
          <p:cNvSpPr txBox="1">
            <a:spLocks noChangeArrowheads="1"/>
          </p:cNvSpPr>
          <p:nvPr/>
        </p:nvSpPr>
        <p:spPr bwMode="auto">
          <a:xfrm>
            <a:off x="536575" y="1577975"/>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ea typeface="楷体_GB2312" pitchFamily="49" charset="-122"/>
              </a:rPr>
              <a:t>表达式</a:t>
            </a:r>
          </a:p>
        </p:txBody>
      </p:sp>
      <p:sp>
        <p:nvSpPr>
          <p:cNvPr id="60420" name="AutoShape 3"/>
          <p:cNvSpPr>
            <a:spLocks/>
          </p:cNvSpPr>
          <p:nvPr/>
        </p:nvSpPr>
        <p:spPr bwMode="auto">
          <a:xfrm>
            <a:off x="1879600" y="1174750"/>
            <a:ext cx="228600" cy="1365250"/>
          </a:xfrm>
          <a:prstGeom prst="leftBrace">
            <a:avLst>
              <a:gd name="adj1" fmla="val 4976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0421" name="Text Box 4"/>
          <p:cNvSpPr txBox="1">
            <a:spLocks noChangeArrowheads="1"/>
          </p:cNvSpPr>
          <p:nvPr/>
        </p:nvSpPr>
        <p:spPr bwMode="auto">
          <a:xfrm>
            <a:off x="2209800" y="93345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b="1">
                <a:ea typeface="楷体_GB2312" pitchFamily="49" charset="-122"/>
              </a:rPr>
              <a:t>操作数</a:t>
            </a:r>
            <a:r>
              <a:rPr lang="en-US" altLang="zh-CN" sz="2400" b="1">
                <a:ea typeface="楷体_GB2312" pitchFamily="49" charset="-122"/>
              </a:rPr>
              <a:t>(operand)</a:t>
            </a:r>
            <a:r>
              <a:rPr lang="zh-CN" altLang="en-US" sz="2400" b="1">
                <a:ea typeface="楷体_GB2312" pitchFamily="49" charset="-122"/>
              </a:rPr>
              <a:t>：常数、变量或常量标识符</a:t>
            </a:r>
          </a:p>
        </p:txBody>
      </p:sp>
      <p:sp>
        <p:nvSpPr>
          <p:cNvPr id="60422" name="Text Box 5"/>
          <p:cNvSpPr txBox="1">
            <a:spLocks noChangeArrowheads="1"/>
          </p:cNvSpPr>
          <p:nvPr/>
        </p:nvSpPr>
        <p:spPr bwMode="auto">
          <a:xfrm>
            <a:off x="2206625" y="1419225"/>
            <a:ext cx="637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65400" indent="-2565400">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b="1">
                <a:ea typeface="楷体_GB2312" pitchFamily="49" charset="-122"/>
              </a:rPr>
              <a:t>运算符</a:t>
            </a:r>
            <a:r>
              <a:rPr lang="en-US" altLang="zh-CN" sz="2400" b="1">
                <a:ea typeface="楷体_GB2312" pitchFamily="49" charset="-122"/>
              </a:rPr>
              <a:t>(operator)</a:t>
            </a:r>
            <a:r>
              <a:rPr lang="zh-CN" altLang="en-US" sz="2400" b="1">
                <a:ea typeface="楷体_GB2312" pitchFamily="49" charset="-122"/>
              </a:rPr>
              <a:t>：算术运算符、关系运算符、 逻辑运算符等</a:t>
            </a:r>
          </a:p>
        </p:txBody>
      </p:sp>
      <p:sp>
        <p:nvSpPr>
          <p:cNvPr id="60423" name="Text Box 6"/>
          <p:cNvSpPr txBox="1">
            <a:spLocks noChangeArrowheads="1"/>
          </p:cNvSpPr>
          <p:nvPr/>
        </p:nvSpPr>
        <p:spPr bwMode="auto">
          <a:xfrm>
            <a:off x="2197100" y="2289175"/>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b="1">
                <a:ea typeface="楷体_GB2312" pitchFamily="49" charset="-122"/>
              </a:rPr>
              <a:t>界限符</a:t>
            </a:r>
            <a:r>
              <a:rPr lang="en-US" altLang="zh-CN" sz="2400" b="1">
                <a:ea typeface="楷体_GB2312" pitchFamily="49" charset="-122"/>
              </a:rPr>
              <a:t>(delimiter)</a:t>
            </a:r>
            <a:r>
              <a:rPr lang="zh-CN" altLang="en-US" sz="2400" b="1">
                <a:ea typeface="楷体_GB2312" pitchFamily="49" charset="-122"/>
              </a:rPr>
              <a:t>：</a:t>
            </a:r>
            <a:r>
              <a:rPr lang="zh-CN" altLang="en-US" sz="2400" b="1">
                <a:solidFill>
                  <a:schemeClr val="hlink"/>
                </a:solidFill>
                <a:ea typeface="楷体_GB2312" pitchFamily="49" charset="-122"/>
                <a:sym typeface="Wingdings" pitchFamily="2" charset="2"/>
              </a:rPr>
              <a:t>（</a:t>
            </a:r>
            <a:r>
              <a:rPr lang="zh-CN" altLang="en-US" sz="2400" b="1">
                <a:ea typeface="楷体_GB2312" pitchFamily="49" charset="-122"/>
              </a:rPr>
              <a:t> 、</a:t>
            </a:r>
            <a:r>
              <a:rPr lang="zh-CN" altLang="en-US" sz="2400" b="1">
                <a:solidFill>
                  <a:schemeClr val="hlink"/>
                </a:solidFill>
                <a:ea typeface="楷体_GB2312" pitchFamily="49" charset="-122"/>
              </a:rPr>
              <a:t>）</a:t>
            </a:r>
            <a:r>
              <a:rPr lang="zh-CN" altLang="en-US" sz="2400" b="1">
                <a:ea typeface="楷体_GB2312" pitchFamily="49" charset="-122"/>
              </a:rPr>
              <a:t>、表达式结束符等</a:t>
            </a:r>
          </a:p>
        </p:txBody>
      </p:sp>
      <p:sp>
        <p:nvSpPr>
          <p:cNvPr id="503815" name="Text Box 7"/>
          <p:cNvSpPr txBox="1">
            <a:spLocks noChangeArrowheads="1"/>
          </p:cNvSpPr>
          <p:nvPr/>
        </p:nvSpPr>
        <p:spPr bwMode="auto">
          <a:xfrm>
            <a:off x="457200" y="3505200"/>
            <a:ext cx="836612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50000"/>
              </a:spcBef>
            </a:pPr>
            <a:r>
              <a:rPr lang="en-US" altLang="zh-CN" sz="2800" b="1">
                <a:ea typeface="楷体_GB2312" pitchFamily="49" charset="-122"/>
              </a:rPr>
              <a:t>        </a:t>
            </a:r>
            <a:r>
              <a:rPr lang="zh-CN" altLang="en-US" sz="2800" b="1">
                <a:ea typeface="楷体_GB2312" pitchFamily="49" charset="-122"/>
              </a:rPr>
              <a:t>为了叙述的简洁，我们仅讨论</a:t>
            </a:r>
            <a:r>
              <a:rPr lang="zh-CN" altLang="en-US" sz="2800" b="1">
                <a:solidFill>
                  <a:srgbClr val="A50021"/>
                </a:solidFill>
                <a:ea typeface="楷体_GB2312" pitchFamily="49" charset="-122"/>
              </a:rPr>
              <a:t>简单算术表达式的求值问题</a:t>
            </a:r>
            <a:r>
              <a:rPr lang="zh-CN" altLang="en-US" sz="2800" b="1">
                <a:ea typeface="楷体_GB2312" pitchFamily="49" charset="-122"/>
              </a:rPr>
              <a:t>，这种表达式仅包含</a:t>
            </a:r>
            <a:r>
              <a:rPr lang="zh-CN" altLang="en-US" sz="2800" b="1">
                <a:solidFill>
                  <a:schemeClr val="hlink"/>
                </a:solidFill>
                <a:ea typeface="楷体_GB2312" pitchFamily="49" charset="-122"/>
              </a:rPr>
              <a:t>加、减、乘、除</a:t>
            </a:r>
            <a:r>
              <a:rPr lang="zh-CN" altLang="en-US" sz="2800" b="1">
                <a:ea typeface="楷体_GB2312" pitchFamily="49" charset="-122"/>
              </a:rPr>
              <a:t>、</a:t>
            </a:r>
            <a:r>
              <a:rPr lang="zh-CN" altLang="en-US" sz="2800" b="1">
                <a:solidFill>
                  <a:schemeClr val="hlink"/>
                </a:solidFill>
                <a:ea typeface="楷体_GB2312" pitchFamily="49" charset="-122"/>
              </a:rPr>
              <a:t>括号</a:t>
            </a:r>
            <a:r>
              <a:rPr lang="zh-CN" altLang="en-US" sz="2800" b="1">
                <a:ea typeface="楷体_GB2312" pitchFamily="49" charset="-122"/>
              </a:rPr>
              <a:t>等四种运算。不难将它推广到更一般的表达式上。</a:t>
            </a:r>
          </a:p>
        </p:txBody>
      </p:sp>
    </p:spTree>
    <p:extLst>
      <p:ext uri="{BB962C8B-B14F-4D97-AF65-F5344CB8AC3E}">
        <p14:creationId xmlns:p14="http://schemas.microsoft.com/office/powerpoint/2010/main" val="157633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03815">
                                            <p:txEl>
                                              <p:pRg st="0" end="0"/>
                                            </p:txEl>
                                          </p:spTgt>
                                        </p:tgtEl>
                                        <p:attrNameLst>
                                          <p:attrName>style.visibility</p:attrName>
                                        </p:attrNameLst>
                                      </p:cBhvr>
                                      <p:to>
                                        <p:strVal val="visible"/>
                                      </p:to>
                                    </p:set>
                                    <p:anim calcmode="lin" valueType="num">
                                      <p:cBhvr additive="base">
                                        <p:cTn id="7" dur="500" fill="hold"/>
                                        <p:tgtEl>
                                          <p:spTgt spid="5038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38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2D14E6D1-C16C-48E0-89FA-6CCCE2C459C1}" type="slidenum">
              <a:rPr lang="en-US" altLang="zh-CN" sz="1400"/>
              <a:pPr/>
              <a:t>60</a:t>
            </a:fld>
            <a:endParaRPr lang="en-US" altLang="zh-CN" sz="1400"/>
          </a:p>
        </p:txBody>
      </p:sp>
      <p:sp>
        <p:nvSpPr>
          <p:cNvPr id="504834" name="Text Box 2"/>
          <p:cNvSpPr txBox="1">
            <a:spLocks noChangeArrowheads="1"/>
          </p:cNvSpPr>
          <p:nvPr/>
        </p:nvSpPr>
        <p:spPr bwMode="auto">
          <a:xfrm>
            <a:off x="228600" y="609600"/>
            <a:ext cx="8534400" cy="487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spcBef>
                <a:spcPct val="50000"/>
              </a:spcBef>
            </a:pPr>
            <a:r>
              <a:rPr lang="en-US" altLang="zh-CN" sz="2800" b="1">
                <a:ea typeface="楷体_GB2312" pitchFamily="49" charset="-122"/>
              </a:rPr>
              <a:t>        </a:t>
            </a:r>
            <a:r>
              <a:rPr lang="zh-CN" altLang="en-US" sz="2800" b="1">
                <a:ea typeface="楷体_GB2312" pitchFamily="49" charset="-122"/>
              </a:rPr>
              <a:t>我们把</a:t>
            </a:r>
            <a:r>
              <a:rPr lang="zh-CN" altLang="en-US" sz="2800" b="1">
                <a:solidFill>
                  <a:schemeClr val="hlink"/>
                </a:solidFill>
                <a:ea typeface="楷体_GB2312" pitchFamily="49" charset="-122"/>
              </a:rPr>
              <a:t>运算符</a:t>
            </a:r>
            <a:r>
              <a:rPr lang="zh-CN" altLang="en-US" sz="2800" b="1">
                <a:ea typeface="楷体_GB2312" pitchFamily="49" charset="-122"/>
              </a:rPr>
              <a:t>和</a:t>
            </a:r>
            <a:r>
              <a:rPr lang="zh-CN" altLang="en-US" sz="2800" b="1">
                <a:solidFill>
                  <a:schemeClr val="hlink"/>
                </a:solidFill>
                <a:ea typeface="楷体_GB2312" pitchFamily="49" charset="-122"/>
              </a:rPr>
              <a:t>界限符</a:t>
            </a:r>
            <a:r>
              <a:rPr lang="zh-CN" altLang="en-US" sz="2800" b="1">
                <a:ea typeface="楷体_GB2312" pitchFamily="49" charset="-122"/>
              </a:rPr>
              <a:t>统称为</a:t>
            </a:r>
            <a:r>
              <a:rPr lang="zh-CN" altLang="en-US" sz="2800" b="1">
                <a:solidFill>
                  <a:schemeClr val="hlink"/>
                </a:solidFill>
                <a:ea typeface="楷体_GB2312" pitchFamily="49" charset="-122"/>
              </a:rPr>
              <a:t>算符</a:t>
            </a:r>
            <a:r>
              <a:rPr lang="zh-CN" altLang="en-US" sz="2800" b="1">
                <a:ea typeface="楷体_GB2312" pitchFamily="49" charset="-122"/>
              </a:rPr>
              <a:t>，它们构成的集合命名为</a:t>
            </a:r>
            <a:r>
              <a:rPr lang="en-US" altLang="zh-CN" sz="2800" b="1">
                <a:ea typeface="楷体_GB2312" pitchFamily="49" charset="-122"/>
              </a:rPr>
              <a:t>op</a:t>
            </a:r>
            <a:r>
              <a:rPr lang="zh-CN" altLang="en-US" sz="2800" b="1">
                <a:ea typeface="楷体_GB2312" pitchFamily="49" charset="-122"/>
              </a:rPr>
              <a:t>，在运算的每一步中，任意两个</a:t>
            </a:r>
            <a:r>
              <a:rPr lang="zh-CN" altLang="en-US" sz="2800" b="1">
                <a:solidFill>
                  <a:schemeClr val="hlink"/>
                </a:solidFill>
                <a:ea typeface="楷体_GB2312" pitchFamily="49" charset="-122"/>
              </a:rPr>
              <a:t>相继出现</a:t>
            </a:r>
            <a:r>
              <a:rPr lang="zh-CN" altLang="en-US" sz="2800" b="1">
                <a:ea typeface="楷体_GB2312" pitchFamily="49" charset="-122"/>
              </a:rPr>
              <a:t>的运算符</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a:t>
            </a:r>
            <a:r>
              <a:rPr lang="zh-CN" altLang="en-US" sz="2800" b="1">
                <a:ea typeface="楷体_GB2312" pitchFamily="49" charset="-122"/>
                <a:sym typeface="Kingsoft Phonetic Plain" pitchFamily="2" charset="2"/>
              </a:rPr>
              <a:t>和</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a:t>
            </a:r>
            <a:r>
              <a:rPr lang="zh-CN" altLang="en-US" sz="2800" b="1">
                <a:ea typeface="楷体_GB2312" pitchFamily="49" charset="-122"/>
                <a:sym typeface="Kingsoft Phonetic Plain" pitchFamily="2" charset="2"/>
              </a:rPr>
              <a:t>之间的优先关系至多是下面三种关系之一：</a:t>
            </a:r>
          </a:p>
          <a:p>
            <a:pPr eaLnBrk="1" hangingPunct="1">
              <a:spcBef>
                <a:spcPct val="50000"/>
              </a:spcBef>
            </a:pPr>
            <a:r>
              <a:rPr lang="zh-CN" altLang="en-US" sz="2800" b="1">
                <a:ea typeface="楷体_GB2312" pitchFamily="49" charset="-122"/>
                <a:sym typeface="Kingsoft Phonetic Plain" pitchFamily="2" charset="2"/>
              </a:rPr>
              <a:t>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1&lt;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 :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a:t>
            </a:r>
            <a:r>
              <a:rPr lang="zh-CN" altLang="en-US" sz="2800" b="1">
                <a:ea typeface="楷体_GB2312" pitchFamily="49" charset="-122"/>
                <a:sym typeface="Kingsoft Phonetic Plain" pitchFamily="2" charset="2"/>
              </a:rPr>
              <a:t>的优先权</a:t>
            </a:r>
            <a:r>
              <a:rPr lang="zh-CN" altLang="en-US" sz="2800" b="1">
                <a:solidFill>
                  <a:srgbClr val="A50021"/>
                </a:solidFill>
                <a:ea typeface="楷体_GB2312" pitchFamily="49" charset="-122"/>
                <a:sym typeface="Kingsoft Phonetic Plain" pitchFamily="2" charset="2"/>
              </a:rPr>
              <a:t>低于</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a:t>
            </a:r>
            <a:r>
              <a:rPr lang="zh-CN" altLang="en-US" sz="2800" b="1">
                <a:ea typeface="楷体_GB2312" pitchFamily="49" charset="-122"/>
                <a:sym typeface="Kingsoft Phonetic Plain" pitchFamily="2" charset="2"/>
              </a:rPr>
              <a:t>；</a:t>
            </a:r>
          </a:p>
          <a:p>
            <a:pPr eaLnBrk="1" hangingPunct="1">
              <a:spcBef>
                <a:spcPct val="50000"/>
              </a:spcBef>
            </a:pPr>
            <a:r>
              <a:rPr lang="zh-CN" altLang="en-US" sz="2800" b="1">
                <a:ea typeface="楷体_GB2312" pitchFamily="49" charset="-122"/>
                <a:sym typeface="Kingsoft Phonetic Plain" pitchFamily="2" charset="2"/>
              </a:rPr>
              <a:t>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 :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a:t>
            </a:r>
            <a:r>
              <a:rPr lang="zh-CN" altLang="en-US" sz="2800" b="1">
                <a:ea typeface="楷体_GB2312" pitchFamily="49" charset="-122"/>
                <a:sym typeface="Kingsoft Phonetic Plain" pitchFamily="2" charset="2"/>
              </a:rPr>
              <a:t>的优先权</a:t>
            </a:r>
            <a:r>
              <a:rPr lang="zh-CN" altLang="en-US" sz="2800" b="1">
                <a:solidFill>
                  <a:srgbClr val="A50021"/>
                </a:solidFill>
                <a:ea typeface="楷体_GB2312" pitchFamily="49" charset="-122"/>
                <a:sym typeface="Kingsoft Phonetic Plain" pitchFamily="2" charset="2"/>
              </a:rPr>
              <a:t>等于</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a:t>
            </a:r>
            <a:r>
              <a:rPr lang="zh-CN" altLang="en-US" sz="2800" b="1">
                <a:ea typeface="楷体_GB2312" pitchFamily="49" charset="-122"/>
                <a:sym typeface="Kingsoft Phonetic Plain" pitchFamily="2" charset="2"/>
              </a:rPr>
              <a:t>；</a:t>
            </a:r>
          </a:p>
          <a:p>
            <a:pPr eaLnBrk="1" hangingPunct="1">
              <a:spcBef>
                <a:spcPct val="50000"/>
              </a:spcBef>
            </a:pPr>
            <a:r>
              <a:rPr lang="zh-CN" altLang="en-US" sz="2800" b="1">
                <a:ea typeface="楷体_GB2312" pitchFamily="49" charset="-122"/>
                <a:sym typeface="Kingsoft Phonetic Plain" pitchFamily="2" charset="2"/>
              </a:rPr>
              <a:t>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1&gt;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 : </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a:t>
            </a:r>
            <a:r>
              <a:rPr lang="zh-CN" altLang="en-US" sz="2800" b="1">
                <a:ea typeface="楷体_GB2312" pitchFamily="49" charset="-122"/>
                <a:sym typeface="Kingsoft Phonetic Plain" pitchFamily="2" charset="2"/>
              </a:rPr>
              <a:t>的优先权</a:t>
            </a:r>
            <a:r>
              <a:rPr lang="zh-CN" altLang="en-US" sz="2800" b="1">
                <a:solidFill>
                  <a:srgbClr val="A50021"/>
                </a:solidFill>
                <a:ea typeface="楷体_GB2312" pitchFamily="49" charset="-122"/>
                <a:sym typeface="Kingsoft Phonetic Plain" pitchFamily="2" charset="2"/>
              </a:rPr>
              <a:t>高于</a:t>
            </a: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a:t>
            </a:r>
            <a:r>
              <a:rPr lang="zh-CN" altLang="en-US" sz="2800" b="1">
                <a:ea typeface="楷体_GB2312" pitchFamily="49" charset="-122"/>
                <a:sym typeface="Kingsoft Phonetic Plain" pitchFamily="2" charset="2"/>
              </a:rPr>
              <a:t>；</a:t>
            </a:r>
          </a:p>
          <a:p>
            <a:pPr eaLnBrk="1" hangingPunct="1">
              <a:spcBef>
                <a:spcPct val="50000"/>
              </a:spcBef>
            </a:pPr>
            <a:r>
              <a:rPr lang="zh-CN" altLang="en-US" sz="2800" b="1">
                <a:ea typeface="楷体_GB2312" pitchFamily="49" charset="-122"/>
                <a:sym typeface="Kingsoft Phonetic Plain" pitchFamily="2" charset="2"/>
              </a:rPr>
              <a:t>下表定义了算符之间的这种优先关系。</a:t>
            </a:r>
          </a:p>
        </p:txBody>
      </p:sp>
    </p:spTree>
    <p:extLst>
      <p:ext uri="{BB962C8B-B14F-4D97-AF65-F5344CB8AC3E}">
        <p14:creationId xmlns:p14="http://schemas.microsoft.com/office/powerpoint/2010/main" val="312534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04834">
                                            <p:txEl>
                                              <p:pRg st="0" end="0"/>
                                            </p:txEl>
                                          </p:spTgt>
                                        </p:tgtEl>
                                        <p:attrNameLst>
                                          <p:attrName>style.visibility</p:attrName>
                                        </p:attrNameLst>
                                      </p:cBhvr>
                                      <p:to>
                                        <p:strVal val="visible"/>
                                      </p:to>
                                    </p:set>
                                    <p:animEffect transition="in" filter="checkerboard(across)">
                                      <p:cBhvr>
                                        <p:cTn id="7" dur="500"/>
                                        <p:tgtEl>
                                          <p:spTgt spid="5048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04834">
                                            <p:txEl>
                                              <p:pRg st="1" end="1"/>
                                            </p:txEl>
                                          </p:spTgt>
                                        </p:tgtEl>
                                        <p:attrNameLst>
                                          <p:attrName>style.visibility</p:attrName>
                                        </p:attrNameLst>
                                      </p:cBhvr>
                                      <p:to>
                                        <p:strVal val="visible"/>
                                      </p:to>
                                    </p:set>
                                    <p:animEffect transition="in" filter="checkerboard(across)">
                                      <p:cBhvr>
                                        <p:cTn id="12" dur="500"/>
                                        <p:tgtEl>
                                          <p:spTgt spid="5048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04834">
                                            <p:txEl>
                                              <p:pRg st="2" end="2"/>
                                            </p:txEl>
                                          </p:spTgt>
                                        </p:tgtEl>
                                        <p:attrNameLst>
                                          <p:attrName>style.visibility</p:attrName>
                                        </p:attrNameLst>
                                      </p:cBhvr>
                                      <p:to>
                                        <p:strVal val="visible"/>
                                      </p:to>
                                    </p:set>
                                    <p:animEffect transition="in" filter="checkerboard(across)">
                                      <p:cBhvr>
                                        <p:cTn id="17" dur="500"/>
                                        <p:tgtEl>
                                          <p:spTgt spid="50483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04834">
                                            <p:txEl>
                                              <p:pRg st="3" end="3"/>
                                            </p:txEl>
                                          </p:spTgt>
                                        </p:tgtEl>
                                        <p:attrNameLst>
                                          <p:attrName>style.visibility</p:attrName>
                                        </p:attrNameLst>
                                      </p:cBhvr>
                                      <p:to>
                                        <p:strVal val="visible"/>
                                      </p:to>
                                    </p:set>
                                    <p:animEffect transition="in" filter="checkerboard(across)">
                                      <p:cBhvr>
                                        <p:cTn id="22" dur="500"/>
                                        <p:tgtEl>
                                          <p:spTgt spid="5048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04834">
                                            <p:txEl>
                                              <p:pRg st="4" end="4"/>
                                            </p:txEl>
                                          </p:spTgt>
                                        </p:tgtEl>
                                        <p:attrNameLst>
                                          <p:attrName>style.visibility</p:attrName>
                                        </p:attrNameLst>
                                      </p:cBhvr>
                                      <p:to>
                                        <p:strVal val="visible"/>
                                      </p:to>
                                    </p:set>
                                    <p:animEffect transition="in" filter="checkerboard(across)">
                                      <p:cBhvr>
                                        <p:cTn id="27" dur="500"/>
                                        <p:tgtEl>
                                          <p:spTgt spid="5048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4"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B73AE40C-C945-449A-82EC-C7ECF52F23A0}" type="slidenum">
              <a:rPr lang="en-US" altLang="zh-CN" sz="1400"/>
              <a:pPr/>
              <a:t>61</a:t>
            </a:fld>
            <a:endParaRPr lang="en-US" altLang="zh-CN" sz="1400"/>
          </a:p>
        </p:txBody>
      </p:sp>
      <p:sp>
        <p:nvSpPr>
          <p:cNvPr id="62467" name="Text Box 2"/>
          <p:cNvSpPr txBox="1">
            <a:spLocks noChangeArrowheads="1"/>
          </p:cNvSpPr>
          <p:nvPr/>
        </p:nvSpPr>
        <p:spPr bwMode="auto">
          <a:xfrm>
            <a:off x="533400" y="381000"/>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b="1">
                <a:ea typeface="楷体_GB2312" pitchFamily="49" charset="-122"/>
              </a:rPr>
              <a:t>算符优先关系表</a:t>
            </a:r>
          </a:p>
        </p:txBody>
      </p:sp>
      <p:sp>
        <p:nvSpPr>
          <p:cNvPr id="62468" name="Rectangle 3"/>
          <p:cNvSpPr>
            <a:spLocks noChangeArrowheads="1"/>
          </p:cNvSpPr>
          <p:nvPr/>
        </p:nvSpPr>
        <p:spPr bwMode="auto">
          <a:xfrm>
            <a:off x="0" y="1295400"/>
            <a:ext cx="9144000" cy="426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2469" name="Line 4"/>
          <p:cNvSpPr>
            <a:spLocks noChangeShapeType="1"/>
          </p:cNvSpPr>
          <p:nvPr/>
        </p:nvSpPr>
        <p:spPr bwMode="auto">
          <a:xfrm>
            <a:off x="0" y="1981200"/>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0" name="Line 5"/>
          <p:cNvSpPr>
            <a:spLocks noChangeShapeType="1"/>
          </p:cNvSpPr>
          <p:nvPr/>
        </p:nvSpPr>
        <p:spPr bwMode="auto">
          <a:xfrm>
            <a:off x="990600" y="1295400"/>
            <a:ext cx="0" cy="426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1" name="Line 6"/>
          <p:cNvSpPr>
            <a:spLocks noChangeShapeType="1"/>
          </p:cNvSpPr>
          <p:nvPr/>
        </p:nvSpPr>
        <p:spPr bwMode="auto">
          <a:xfrm>
            <a:off x="0" y="1295400"/>
            <a:ext cx="990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2" name="Text Box 7"/>
          <p:cNvSpPr txBox="1">
            <a:spLocks noChangeArrowheads="1"/>
          </p:cNvSpPr>
          <p:nvPr/>
        </p:nvSpPr>
        <p:spPr bwMode="auto">
          <a:xfrm>
            <a:off x="990600" y="1447800"/>
            <a:ext cx="8153400" cy="401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pPr>
            <a:r>
              <a:rPr lang="en-US" altLang="zh-CN" sz="2800" b="1"/>
              <a:t>     </a:t>
            </a:r>
            <a:r>
              <a:rPr lang="en-US" altLang="zh-CN" b="1"/>
              <a:t>+       -        *       /</a:t>
            </a:r>
            <a:r>
              <a:rPr lang="en-US" altLang="zh-CN" sz="2800" b="1"/>
              <a:t>        </a:t>
            </a:r>
            <a:r>
              <a:rPr lang="zh-CN" altLang="en-US" sz="2800" b="1"/>
              <a:t>（        ）      </a:t>
            </a:r>
            <a:r>
              <a:rPr lang="en-US" altLang="zh-CN" sz="2800" b="1"/>
              <a:t>#</a:t>
            </a:r>
          </a:p>
          <a:p>
            <a:pPr eaLnBrk="1" hangingPunct="1">
              <a:spcBef>
                <a:spcPct val="15000"/>
              </a:spcBef>
            </a:pPr>
            <a:r>
              <a:rPr lang="en-US" altLang="zh-CN" sz="2800" b="1"/>
              <a:t>      &gt;        &gt;        &lt;        &lt;         &lt;        &gt;        &gt;</a:t>
            </a:r>
          </a:p>
          <a:p>
            <a:pPr eaLnBrk="1" hangingPunct="1">
              <a:spcBef>
                <a:spcPct val="15000"/>
              </a:spcBef>
            </a:pPr>
            <a:r>
              <a:rPr lang="en-US" altLang="zh-CN" sz="2800" b="1"/>
              <a:t>      &gt;        &gt;        &lt;        &lt;         &lt;        &gt;        &gt;</a:t>
            </a:r>
          </a:p>
          <a:p>
            <a:pPr eaLnBrk="1" hangingPunct="1">
              <a:spcBef>
                <a:spcPct val="15000"/>
              </a:spcBef>
            </a:pPr>
            <a:r>
              <a:rPr lang="en-US" altLang="zh-CN" sz="2800" b="1"/>
              <a:t>      &gt;        &gt;        &gt;        &gt;         &lt;        &gt;        &gt;</a:t>
            </a:r>
          </a:p>
          <a:p>
            <a:pPr eaLnBrk="1" hangingPunct="1">
              <a:spcBef>
                <a:spcPct val="15000"/>
              </a:spcBef>
            </a:pPr>
            <a:r>
              <a:rPr lang="en-US" altLang="zh-CN" sz="2800" b="1"/>
              <a:t>      &gt;        &gt;        &gt;        &gt;         &lt;        &gt;        &gt;</a:t>
            </a:r>
          </a:p>
          <a:p>
            <a:pPr eaLnBrk="1" hangingPunct="1">
              <a:spcBef>
                <a:spcPct val="15000"/>
              </a:spcBef>
            </a:pPr>
            <a:r>
              <a:rPr lang="en-US" altLang="zh-CN" sz="2800" b="1"/>
              <a:t>      &lt;        &lt;        &lt;        &lt;         &lt;        =</a:t>
            </a:r>
          </a:p>
          <a:p>
            <a:pPr eaLnBrk="1" hangingPunct="1">
              <a:spcBef>
                <a:spcPct val="15000"/>
              </a:spcBef>
            </a:pPr>
            <a:r>
              <a:rPr lang="en-US" altLang="zh-CN" sz="2800" b="1"/>
              <a:t>      &gt;        &gt;        &gt;        &gt;                    &gt;        &gt;</a:t>
            </a:r>
          </a:p>
          <a:p>
            <a:pPr eaLnBrk="1" hangingPunct="1">
              <a:spcBef>
                <a:spcPct val="15000"/>
              </a:spcBef>
            </a:pPr>
            <a:r>
              <a:rPr lang="en-US" altLang="zh-CN" sz="2800" b="1"/>
              <a:t>      &lt;        &lt;        &lt;        &lt;         &lt;                   =</a:t>
            </a:r>
          </a:p>
        </p:txBody>
      </p:sp>
      <p:sp>
        <p:nvSpPr>
          <p:cNvPr id="62473" name="Text Box 8"/>
          <p:cNvSpPr txBox="1">
            <a:spLocks noChangeArrowheads="1"/>
          </p:cNvSpPr>
          <p:nvPr/>
        </p:nvSpPr>
        <p:spPr bwMode="auto">
          <a:xfrm>
            <a:off x="228600" y="1981200"/>
            <a:ext cx="609600"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b="1"/>
              <a:t>+</a:t>
            </a:r>
          </a:p>
          <a:p>
            <a:pPr eaLnBrk="1" hangingPunct="1"/>
            <a:r>
              <a:rPr lang="en-US" altLang="zh-CN" b="1"/>
              <a:t>-</a:t>
            </a:r>
          </a:p>
          <a:p>
            <a:pPr eaLnBrk="1" hangingPunct="1"/>
            <a:r>
              <a:rPr lang="en-US" altLang="zh-CN" b="1"/>
              <a:t>*</a:t>
            </a:r>
          </a:p>
          <a:p>
            <a:pPr eaLnBrk="1" hangingPunct="1"/>
            <a:r>
              <a:rPr lang="en-US" altLang="zh-CN" b="1"/>
              <a:t>/</a:t>
            </a:r>
          </a:p>
          <a:p>
            <a:pPr eaLnBrk="1" hangingPunct="1">
              <a:lnSpc>
                <a:spcPct val="110000"/>
              </a:lnSpc>
            </a:pPr>
            <a:r>
              <a:rPr lang="en-US" altLang="zh-CN" sz="2800" b="1"/>
              <a:t>(</a:t>
            </a:r>
          </a:p>
          <a:p>
            <a:pPr eaLnBrk="1" hangingPunct="1">
              <a:lnSpc>
                <a:spcPct val="110000"/>
              </a:lnSpc>
            </a:pPr>
            <a:r>
              <a:rPr lang="en-US" altLang="zh-CN" sz="2800" b="1"/>
              <a:t>)</a:t>
            </a:r>
          </a:p>
          <a:p>
            <a:pPr eaLnBrk="1" hangingPunct="1">
              <a:lnSpc>
                <a:spcPct val="110000"/>
              </a:lnSpc>
            </a:pPr>
            <a:r>
              <a:rPr lang="en-US" altLang="zh-CN" sz="2800" b="1"/>
              <a:t>#</a:t>
            </a:r>
          </a:p>
        </p:txBody>
      </p:sp>
      <p:sp>
        <p:nvSpPr>
          <p:cNvPr id="62474" name="Text Box 10"/>
          <p:cNvSpPr txBox="1">
            <a:spLocks noChangeArrowheads="1"/>
          </p:cNvSpPr>
          <p:nvPr/>
        </p:nvSpPr>
        <p:spPr bwMode="auto">
          <a:xfrm>
            <a:off x="0" y="1676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endParaRPr lang="zh-CN" altLang="zh-CN" sz="2400"/>
          </a:p>
        </p:txBody>
      </p:sp>
      <p:sp>
        <p:nvSpPr>
          <p:cNvPr id="62475" name="Text Box 11"/>
          <p:cNvSpPr txBox="1">
            <a:spLocks noChangeArrowheads="1"/>
          </p:cNvSpPr>
          <p:nvPr/>
        </p:nvSpPr>
        <p:spPr bwMode="auto">
          <a:xfrm>
            <a:off x="0" y="1538288"/>
            <a:ext cx="927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1</a:t>
            </a:r>
          </a:p>
        </p:txBody>
      </p:sp>
      <p:sp>
        <p:nvSpPr>
          <p:cNvPr id="62476" name="Text Box 12"/>
          <p:cNvSpPr txBox="1">
            <a:spLocks noChangeArrowheads="1"/>
          </p:cNvSpPr>
          <p:nvPr/>
        </p:nvSpPr>
        <p:spPr bwMode="auto">
          <a:xfrm>
            <a:off x="381000" y="1219200"/>
            <a:ext cx="769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cs typeface="Times New Roman" pitchFamily="18" charset="0"/>
                <a:sym typeface="Kingsoft Phonetic Plain" pitchFamily="2" charset="2"/>
              </a:rPr>
              <a:t>θ</a:t>
            </a:r>
            <a:r>
              <a:rPr lang="en-US" altLang="zh-CN" sz="2800" b="1">
                <a:ea typeface="楷体_GB2312" pitchFamily="49" charset="-122"/>
                <a:sym typeface="Kingsoft Phonetic Plain" pitchFamily="2" charset="2"/>
              </a:rPr>
              <a:t>2</a:t>
            </a:r>
          </a:p>
        </p:txBody>
      </p:sp>
    </p:spTree>
    <p:extLst>
      <p:ext uri="{BB962C8B-B14F-4D97-AF65-F5344CB8AC3E}">
        <p14:creationId xmlns:p14="http://schemas.microsoft.com/office/powerpoint/2010/main" val="891185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BC925AD-A39C-4BBB-BD23-2018494678F8}" type="slidenum">
              <a:rPr lang="en-US" altLang="zh-CN" sz="1400"/>
              <a:pPr/>
              <a:t>62</a:t>
            </a:fld>
            <a:endParaRPr lang="en-US" altLang="zh-CN" sz="1400"/>
          </a:p>
        </p:txBody>
      </p:sp>
      <p:sp>
        <p:nvSpPr>
          <p:cNvPr id="63491" name="Text Box 2"/>
          <p:cNvSpPr txBox="1">
            <a:spLocks noChangeArrowheads="1"/>
          </p:cNvSpPr>
          <p:nvPr/>
        </p:nvSpPr>
        <p:spPr bwMode="auto">
          <a:xfrm>
            <a:off x="431800" y="368300"/>
            <a:ext cx="8229600"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为实现算符优先算法可使用</a:t>
            </a:r>
            <a:r>
              <a:rPr lang="zh-CN" altLang="en-US" sz="2800" b="1">
                <a:solidFill>
                  <a:srgbClr val="A50021"/>
                </a:solidFill>
                <a:ea typeface="楷体_GB2312" pitchFamily="49" charset="-122"/>
              </a:rPr>
              <a:t>两个</a:t>
            </a:r>
            <a:r>
              <a:rPr lang="zh-CN" altLang="en-US" sz="2800" b="1">
                <a:ea typeface="楷体_GB2312" pitchFamily="49" charset="-122"/>
              </a:rPr>
              <a:t>工作栈：</a:t>
            </a:r>
          </a:p>
          <a:p>
            <a:pPr eaLnBrk="1" hangingPunct="1">
              <a:spcBef>
                <a:spcPct val="50000"/>
              </a:spcBef>
            </a:pPr>
            <a:r>
              <a:rPr lang="zh-CN" altLang="en-US" sz="2800" b="1">
                <a:ea typeface="楷体_GB2312" pitchFamily="49" charset="-122"/>
              </a:rPr>
              <a:t>              </a:t>
            </a:r>
            <a:r>
              <a:rPr lang="en-US" altLang="zh-CN" sz="2800" b="1">
                <a:latin typeface="楷体_GB2312" pitchFamily="49" charset="-122"/>
                <a:ea typeface="楷体_GB2312" pitchFamily="49" charset="-122"/>
              </a:rPr>
              <a:t>OPTR</a:t>
            </a:r>
            <a:r>
              <a:rPr lang="zh-CN" altLang="en-US" sz="2800" b="1">
                <a:latin typeface="楷体_GB2312" pitchFamily="49" charset="-122"/>
                <a:ea typeface="楷体_GB2312" pitchFamily="49" charset="-122"/>
              </a:rPr>
              <a:t>栈：用以寄存</a:t>
            </a:r>
            <a:r>
              <a:rPr lang="zh-CN" altLang="en-US" sz="2800" b="1">
                <a:solidFill>
                  <a:schemeClr val="hlink"/>
                </a:solidFill>
                <a:latin typeface="楷体_GB2312" pitchFamily="49" charset="-122"/>
                <a:ea typeface="楷体_GB2312" pitchFamily="49" charset="-122"/>
              </a:rPr>
              <a:t>运算符</a:t>
            </a:r>
            <a:r>
              <a:rPr lang="zh-CN" altLang="en-US" sz="2800" b="1">
                <a:latin typeface="楷体_GB2312" pitchFamily="49" charset="-122"/>
                <a:ea typeface="楷体_GB2312" pitchFamily="49" charset="-122"/>
              </a:rPr>
              <a:t>；</a:t>
            </a:r>
          </a:p>
          <a:p>
            <a:pPr eaLnBrk="1" hangingPunct="1">
              <a:spcBef>
                <a:spcPct val="50000"/>
              </a:spcBef>
            </a:pPr>
            <a:r>
              <a:rPr lang="zh-CN" altLang="en-US" sz="2800" b="1">
                <a:latin typeface="楷体_GB2312" pitchFamily="49" charset="-122"/>
                <a:ea typeface="楷体_GB2312" pitchFamily="49" charset="-122"/>
              </a:rPr>
              <a:t>       </a:t>
            </a:r>
            <a:r>
              <a:rPr lang="en-US" altLang="zh-CN" sz="2800" b="1">
                <a:latin typeface="楷体_GB2312" pitchFamily="49" charset="-122"/>
                <a:ea typeface="楷体_GB2312" pitchFamily="49" charset="-122"/>
              </a:rPr>
              <a:t>OPND</a:t>
            </a:r>
            <a:r>
              <a:rPr lang="zh-CN" altLang="en-US" sz="2800" b="1">
                <a:latin typeface="楷体_GB2312" pitchFamily="49" charset="-122"/>
                <a:ea typeface="楷体_GB2312" pitchFamily="49" charset="-122"/>
              </a:rPr>
              <a:t>栈：用以寄存</a:t>
            </a:r>
            <a:r>
              <a:rPr lang="zh-CN" altLang="en-US" sz="2800" b="1">
                <a:solidFill>
                  <a:schemeClr val="hlink"/>
                </a:solidFill>
                <a:latin typeface="楷体_GB2312" pitchFamily="49" charset="-122"/>
                <a:ea typeface="楷体_GB2312" pitchFamily="49" charset="-122"/>
              </a:rPr>
              <a:t>操作数</a:t>
            </a:r>
            <a:r>
              <a:rPr lang="zh-CN" altLang="en-US" sz="2800" b="1">
                <a:latin typeface="楷体_GB2312" pitchFamily="49" charset="-122"/>
                <a:ea typeface="楷体_GB2312" pitchFamily="49" charset="-122"/>
              </a:rPr>
              <a:t>或运算</a:t>
            </a:r>
            <a:r>
              <a:rPr lang="zh-CN" altLang="en-US" sz="2800" b="1">
                <a:solidFill>
                  <a:schemeClr val="hlink"/>
                </a:solidFill>
                <a:latin typeface="楷体_GB2312" pitchFamily="49" charset="-122"/>
                <a:ea typeface="楷体_GB2312" pitchFamily="49" charset="-122"/>
              </a:rPr>
              <a:t>结果</a:t>
            </a:r>
            <a:r>
              <a:rPr lang="zh-CN" altLang="en-US" sz="2800" b="1">
                <a:latin typeface="楷体_GB2312" pitchFamily="49" charset="-122"/>
                <a:ea typeface="楷体_GB2312" pitchFamily="49" charset="-122"/>
              </a:rPr>
              <a:t>；</a:t>
            </a:r>
          </a:p>
        </p:txBody>
      </p:sp>
      <p:sp>
        <p:nvSpPr>
          <p:cNvPr id="506883" name="Text Box 3"/>
          <p:cNvSpPr txBox="1">
            <a:spLocks noChangeArrowheads="1"/>
          </p:cNvSpPr>
          <p:nvPr/>
        </p:nvSpPr>
        <p:spPr bwMode="auto">
          <a:xfrm>
            <a:off x="385763" y="2349500"/>
            <a:ext cx="82296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latin typeface="楷体_GB2312" pitchFamily="49" charset="-122"/>
                <a:ea typeface="楷体_GB2312" pitchFamily="49" charset="-122"/>
              </a:rPr>
              <a:t>算法基本思想：</a:t>
            </a:r>
          </a:p>
          <a:p>
            <a:pPr eaLnBrk="1" hangingPunct="1">
              <a:spcBef>
                <a:spcPct val="50000"/>
              </a:spcBef>
            </a:pPr>
            <a:r>
              <a:rPr lang="zh-CN" altLang="en-US" sz="2800" b="1">
                <a:latin typeface="楷体_GB2312" pitchFamily="49" charset="-122"/>
                <a:ea typeface="楷体_GB2312" pitchFamily="49" charset="-122"/>
              </a:rPr>
              <a:t>    ⑴ 首先置</a:t>
            </a:r>
            <a:r>
              <a:rPr lang="zh-CN" altLang="en-US" sz="2800" b="1">
                <a:solidFill>
                  <a:srgbClr val="A50021"/>
                </a:solidFill>
                <a:latin typeface="楷体_GB2312" pitchFamily="49" charset="-122"/>
                <a:ea typeface="楷体_GB2312" pitchFamily="49" charset="-122"/>
              </a:rPr>
              <a:t>操作数栈</a:t>
            </a:r>
            <a:r>
              <a:rPr lang="zh-CN" altLang="en-US" sz="2800" b="1">
                <a:latin typeface="楷体_GB2312" pitchFamily="49" charset="-122"/>
                <a:ea typeface="楷体_GB2312" pitchFamily="49" charset="-122"/>
              </a:rPr>
              <a:t>为空栈，表达式起始符</a:t>
            </a:r>
            <a:r>
              <a:rPr lang="zh-CN" altLang="en-US" sz="2800" b="1">
                <a:ea typeface="楷体_GB2312" pitchFamily="49" charset="-122"/>
              </a:rPr>
              <a:t>“</a:t>
            </a:r>
            <a:r>
              <a:rPr lang="en-US" altLang="zh-CN" sz="2800" b="1">
                <a:latin typeface="楷体_GB2312" pitchFamily="49" charset="-122"/>
                <a:ea typeface="楷体_GB2312" pitchFamily="49" charset="-122"/>
              </a:rPr>
              <a:t>#</a:t>
            </a:r>
            <a:r>
              <a:rPr lang="en-US" altLang="zh-CN" sz="2800" b="1">
                <a:ea typeface="楷体_GB2312" pitchFamily="49" charset="-122"/>
              </a:rPr>
              <a:t>”</a:t>
            </a:r>
            <a:r>
              <a:rPr lang="zh-CN" altLang="en-US" sz="2800" b="1">
                <a:latin typeface="楷体_GB2312" pitchFamily="49" charset="-122"/>
                <a:ea typeface="楷体_GB2312" pitchFamily="49" charset="-122"/>
              </a:rPr>
              <a:t>为</a:t>
            </a:r>
            <a:r>
              <a:rPr lang="zh-CN" altLang="en-US" sz="2800" b="1">
                <a:solidFill>
                  <a:srgbClr val="A50021"/>
                </a:solidFill>
                <a:latin typeface="楷体_GB2312" pitchFamily="49" charset="-122"/>
                <a:ea typeface="楷体_GB2312" pitchFamily="49" charset="-122"/>
              </a:rPr>
              <a:t>运算符栈</a:t>
            </a:r>
            <a:r>
              <a:rPr lang="zh-CN" altLang="en-US" sz="2800" b="1">
                <a:latin typeface="楷体_GB2312" pitchFamily="49" charset="-122"/>
                <a:ea typeface="楷体_GB2312" pitchFamily="49" charset="-122"/>
              </a:rPr>
              <a:t>的栈底元素；</a:t>
            </a:r>
          </a:p>
          <a:p>
            <a:pPr eaLnBrk="1" hangingPunct="1">
              <a:spcBef>
                <a:spcPct val="50000"/>
              </a:spcBef>
            </a:pPr>
            <a:r>
              <a:rPr lang="zh-CN" altLang="en-US" sz="2800" b="1">
                <a:latin typeface="楷体_GB2312" pitchFamily="49" charset="-122"/>
                <a:ea typeface="楷体_GB2312" pitchFamily="49" charset="-122"/>
              </a:rPr>
              <a:t>    ⑵ 依次读入表达式中的每个字符，若是操作数，则进</a:t>
            </a:r>
            <a:r>
              <a:rPr lang="en-US" altLang="zh-CN" sz="2800" b="1">
                <a:latin typeface="楷体_GB2312" pitchFamily="49" charset="-122"/>
                <a:ea typeface="楷体_GB2312" pitchFamily="49" charset="-122"/>
              </a:rPr>
              <a:t>OPND</a:t>
            </a:r>
            <a:r>
              <a:rPr lang="zh-CN" altLang="en-US" sz="2800" b="1">
                <a:latin typeface="楷体_GB2312" pitchFamily="49" charset="-122"/>
                <a:ea typeface="楷体_GB2312" pitchFamily="49" charset="-122"/>
              </a:rPr>
              <a:t>栈；若是运算符，则</a:t>
            </a:r>
            <a:r>
              <a:rPr lang="zh-CN" altLang="en-US" sz="2800" b="1">
                <a:solidFill>
                  <a:srgbClr val="A50021"/>
                </a:solidFill>
                <a:latin typeface="楷体_GB2312" pitchFamily="49" charset="-122"/>
                <a:ea typeface="楷体_GB2312" pitchFamily="49" charset="-122"/>
              </a:rPr>
              <a:t>和</a:t>
            </a:r>
            <a:r>
              <a:rPr lang="en-US" altLang="zh-CN" sz="2800" b="1">
                <a:solidFill>
                  <a:srgbClr val="A50021"/>
                </a:solidFill>
                <a:latin typeface="楷体_GB2312" pitchFamily="49" charset="-122"/>
                <a:ea typeface="楷体_GB2312" pitchFamily="49" charset="-122"/>
              </a:rPr>
              <a:t>OPTR</a:t>
            </a:r>
            <a:r>
              <a:rPr lang="zh-CN" altLang="en-US" sz="2800" b="1">
                <a:solidFill>
                  <a:srgbClr val="A50021"/>
                </a:solidFill>
                <a:latin typeface="楷体_GB2312" pitchFamily="49" charset="-122"/>
                <a:ea typeface="楷体_GB2312" pitchFamily="49" charset="-122"/>
              </a:rPr>
              <a:t>栈的栈顶运算符比较优先数后作相应操作</a:t>
            </a:r>
            <a:r>
              <a:rPr lang="zh-CN" altLang="en-US" sz="2800" b="1">
                <a:latin typeface="楷体_GB2312" pitchFamily="49" charset="-122"/>
                <a:ea typeface="楷体_GB2312" pitchFamily="49" charset="-122"/>
              </a:rPr>
              <a:t>，直至整个表达式求值完毕（即</a:t>
            </a:r>
            <a:r>
              <a:rPr lang="en-US" altLang="zh-CN" sz="2800" b="1">
                <a:latin typeface="楷体_GB2312" pitchFamily="49" charset="-122"/>
                <a:ea typeface="楷体_GB2312" pitchFamily="49" charset="-122"/>
              </a:rPr>
              <a:t>OPTR</a:t>
            </a:r>
            <a:r>
              <a:rPr lang="zh-CN" altLang="en-US" sz="2800" b="1">
                <a:latin typeface="楷体_GB2312" pitchFamily="49" charset="-122"/>
                <a:ea typeface="楷体_GB2312" pitchFamily="49" charset="-122"/>
              </a:rPr>
              <a:t>栈的</a:t>
            </a:r>
            <a:r>
              <a:rPr lang="zh-CN" altLang="en-US" sz="2800" b="1">
                <a:solidFill>
                  <a:srgbClr val="A50021"/>
                </a:solidFill>
                <a:latin typeface="楷体_GB2312" pitchFamily="49" charset="-122"/>
                <a:ea typeface="楷体_GB2312" pitchFamily="49" charset="-122"/>
              </a:rPr>
              <a:t>栈顶</a:t>
            </a:r>
            <a:r>
              <a:rPr lang="zh-CN" altLang="en-US" sz="2800" b="1">
                <a:latin typeface="楷体_GB2312" pitchFamily="49" charset="-122"/>
                <a:ea typeface="楷体_GB2312" pitchFamily="49" charset="-122"/>
              </a:rPr>
              <a:t>元素和</a:t>
            </a:r>
            <a:r>
              <a:rPr lang="zh-CN" altLang="en-US" sz="2800" b="1">
                <a:solidFill>
                  <a:srgbClr val="A50021"/>
                </a:solidFill>
                <a:latin typeface="楷体_GB2312" pitchFamily="49" charset="-122"/>
                <a:ea typeface="楷体_GB2312" pitchFamily="49" charset="-122"/>
              </a:rPr>
              <a:t>当前读入</a:t>
            </a:r>
            <a:r>
              <a:rPr lang="zh-CN" altLang="en-US" sz="2800" b="1">
                <a:latin typeface="楷体_GB2312" pitchFamily="49" charset="-122"/>
                <a:ea typeface="楷体_GB2312" pitchFamily="49" charset="-122"/>
              </a:rPr>
              <a:t>的字符均为</a:t>
            </a:r>
            <a:r>
              <a:rPr lang="zh-CN" altLang="en-US" sz="2800" b="1">
                <a:ea typeface="楷体_GB2312" pitchFamily="49" charset="-122"/>
              </a:rPr>
              <a:t>“</a:t>
            </a:r>
            <a:r>
              <a:rPr lang="en-US" altLang="zh-CN" sz="2800" b="1">
                <a:latin typeface="楷体_GB2312" pitchFamily="49" charset="-122"/>
                <a:ea typeface="楷体_GB2312" pitchFamily="49" charset="-122"/>
              </a:rPr>
              <a:t>#</a:t>
            </a:r>
            <a:r>
              <a:rPr lang="en-US" altLang="zh-CN" sz="2800" b="1">
                <a:ea typeface="楷体_GB2312" pitchFamily="49" charset="-122"/>
              </a:rPr>
              <a:t>”</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a:t>
            </a:r>
          </a:p>
        </p:txBody>
      </p:sp>
    </p:spTree>
    <p:extLst>
      <p:ext uri="{BB962C8B-B14F-4D97-AF65-F5344CB8AC3E}">
        <p14:creationId xmlns:p14="http://schemas.microsoft.com/office/powerpoint/2010/main" val="3679677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6883">
                                            <p:txEl>
                                              <p:pRg st="0" end="0"/>
                                            </p:txEl>
                                          </p:spTgt>
                                        </p:tgtEl>
                                        <p:attrNameLst>
                                          <p:attrName>style.visibility</p:attrName>
                                        </p:attrNameLst>
                                      </p:cBhvr>
                                      <p:to>
                                        <p:strVal val="visible"/>
                                      </p:to>
                                    </p:set>
                                    <p:animEffect transition="in" filter="dissolve">
                                      <p:cBhvr>
                                        <p:cTn id="7" dur="500"/>
                                        <p:tgtEl>
                                          <p:spTgt spid="5068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6883">
                                            <p:txEl>
                                              <p:pRg st="1" end="1"/>
                                            </p:txEl>
                                          </p:spTgt>
                                        </p:tgtEl>
                                        <p:attrNameLst>
                                          <p:attrName>style.visibility</p:attrName>
                                        </p:attrNameLst>
                                      </p:cBhvr>
                                      <p:to>
                                        <p:strVal val="visible"/>
                                      </p:to>
                                    </p:set>
                                    <p:animEffect transition="in" filter="dissolve">
                                      <p:cBhvr>
                                        <p:cTn id="12" dur="500"/>
                                        <p:tgtEl>
                                          <p:spTgt spid="5068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06883">
                                            <p:txEl>
                                              <p:pRg st="2" end="2"/>
                                            </p:txEl>
                                          </p:spTgt>
                                        </p:tgtEl>
                                        <p:attrNameLst>
                                          <p:attrName>style.visibility</p:attrName>
                                        </p:attrNameLst>
                                      </p:cBhvr>
                                      <p:to>
                                        <p:strVal val="visible"/>
                                      </p:to>
                                    </p:set>
                                    <p:animEffect transition="in" filter="dissolve">
                                      <p:cBhvr>
                                        <p:cTn id="17" dur="500"/>
                                        <p:tgtEl>
                                          <p:spTgt spid="5068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3"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B2C3DE6-4AE4-4872-9D84-518D152E4F15}" type="slidenum">
              <a:rPr lang="en-US" altLang="zh-CN" sz="1400"/>
              <a:pPr/>
              <a:t>63</a:t>
            </a:fld>
            <a:endParaRPr lang="en-US" altLang="zh-CN" sz="1400"/>
          </a:p>
        </p:txBody>
      </p:sp>
      <p:sp>
        <p:nvSpPr>
          <p:cNvPr id="64515" name="Text Box 2"/>
          <p:cNvSpPr txBox="1">
            <a:spLocks noChangeArrowheads="1"/>
          </p:cNvSpPr>
          <p:nvPr/>
        </p:nvSpPr>
        <p:spPr bwMode="auto">
          <a:xfrm>
            <a:off x="95250" y="0"/>
            <a:ext cx="9144000" cy="675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5000"/>
              </a:lnSpc>
            </a:pPr>
            <a:r>
              <a:rPr lang="en-US" altLang="zh-CN" sz="2400" b="1">
                <a:ea typeface="楷体_GB2312" pitchFamily="49" charset="-122"/>
              </a:rPr>
              <a:t>OperandType</a:t>
            </a:r>
            <a:r>
              <a:rPr lang="en-US" altLang="zh-CN" sz="2400" b="1">
                <a:solidFill>
                  <a:srgbClr val="A50021"/>
                </a:solidFill>
                <a:ea typeface="楷体_GB2312" pitchFamily="49" charset="-122"/>
              </a:rPr>
              <a:t> EvaluateExpression</a:t>
            </a:r>
            <a:r>
              <a:rPr lang="en-US" altLang="zh-CN" sz="2400" b="1">
                <a:ea typeface="楷体_GB2312" pitchFamily="49" charset="-122"/>
              </a:rPr>
              <a:t>( )         </a:t>
            </a:r>
            <a:r>
              <a:rPr lang="en-US" altLang="zh-CN" sz="2400" b="1">
                <a:solidFill>
                  <a:srgbClr val="006600"/>
                </a:solidFill>
                <a:ea typeface="楷体_GB2312" pitchFamily="49" charset="-122"/>
              </a:rPr>
              <a:t>//</a:t>
            </a:r>
            <a:r>
              <a:rPr lang="zh-CN" altLang="en-US" sz="2400" b="1">
                <a:solidFill>
                  <a:srgbClr val="006600"/>
                </a:solidFill>
                <a:ea typeface="楷体_GB2312" pitchFamily="49" charset="-122"/>
              </a:rPr>
              <a:t>求算术表达式的值</a:t>
            </a:r>
            <a:endParaRPr lang="zh-CN" altLang="en-US" sz="2400" b="1">
              <a:ea typeface="楷体_GB2312" pitchFamily="49" charset="-122"/>
            </a:endParaRPr>
          </a:p>
          <a:p>
            <a:pPr eaLnBrk="1" hangingPunct="1">
              <a:lnSpc>
                <a:spcPct val="95000"/>
              </a:lnSpc>
            </a:pPr>
            <a:r>
              <a:rPr lang="zh-CN" altLang="en-US" sz="2400" b="1">
                <a:ea typeface="楷体_GB2312" pitchFamily="49" charset="-122"/>
              </a:rPr>
              <a:t>     </a:t>
            </a:r>
            <a:r>
              <a:rPr lang="en-US" altLang="zh-CN" sz="2400" b="1">
                <a:ea typeface="楷体_GB2312" pitchFamily="49" charset="-122"/>
              </a:rPr>
              <a:t>{ InitStack(OPTR); Push (OPTR,’#’);  </a:t>
            </a:r>
            <a:r>
              <a:rPr lang="en-US" altLang="zh-CN" sz="2400" b="1">
                <a:solidFill>
                  <a:srgbClr val="006600"/>
                </a:solidFill>
                <a:ea typeface="楷体_GB2312" pitchFamily="49" charset="-122"/>
              </a:rPr>
              <a:t>//</a:t>
            </a:r>
            <a:r>
              <a:rPr lang="zh-CN" altLang="en-US" sz="2400" b="1">
                <a:solidFill>
                  <a:srgbClr val="006600"/>
                </a:solidFill>
                <a:ea typeface="楷体_GB2312" pitchFamily="49" charset="-122"/>
              </a:rPr>
              <a:t>初始化运算符栈</a:t>
            </a:r>
          </a:p>
          <a:p>
            <a:pPr lvl="1" eaLnBrk="1" hangingPunct="1">
              <a:lnSpc>
                <a:spcPct val="95000"/>
              </a:lnSpc>
            </a:pPr>
            <a:r>
              <a:rPr lang="zh-CN" altLang="en-US" sz="2400" b="1">
                <a:ea typeface="楷体_GB2312" pitchFamily="49" charset="-122"/>
              </a:rPr>
              <a:t>  </a:t>
            </a:r>
            <a:r>
              <a:rPr lang="en-US" altLang="zh-CN" sz="2400" b="1">
                <a:ea typeface="楷体_GB2312" pitchFamily="49" charset="-122"/>
              </a:rPr>
              <a:t>InitStack(OPND); c=getchar( );         </a:t>
            </a:r>
            <a:r>
              <a:rPr lang="en-US" altLang="zh-CN" sz="2400" b="1">
                <a:solidFill>
                  <a:srgbClr val="006600"/>
                </a:solidFill>
                <a:ea typeface="楷体_GB2312" pitchFamily="49" charset="-122"/>
              </a:rPr>
              <a:t>//</a:t>
            </a:r>
            <a:r>
              <a:rPr lang="zh-CN" altLang="en-US" sz="2400" b="1">
                <a:solidFill>
                  <a:srgbClr val="006600"/>
                </a:solidFill>
                <a:ea typeface="楷体_GB2312" pitchFamily="49" charset="-122"/>
              </a:rPr>
              <a:t>初始化操作数栈</a:t>
            </a:r>
            <a:endParaRPr lang="zh-CN" altLang="en-US" sz="2400" b="1">
              <a:ea typeface="楷体_GB2312" pitchFamily="49" charset="-122"/>
            </a:endParaRPr>
          </a:p>
          <a:p>
            <a:pPr eaLnBrk="1" hangingPunct="1">
              <a:lnSpc>
                <a:spcPct val="95000"/>
              </a:lnSpc>
            </a:pPr>
            <a:r>
              <a:rPr lang="zh-CN" altLang="en-US" sz="2400" b="1">
                <a:ea typeface="楷体_GB2312" pitchFamily="49" charset="-122"/>
              </a:rPr>
              <a:t>        </a:t>
            </a:r>
            <a:r>
              <a:rPr lang="en-US" altLang="zh-CN" sz="2400" b="1">
                <a:ea typeface="楷体_GB2312" pitchFamily="49" charset="-122"/>
              </a:rPr>
              <a:t>while (</a:t>
            </a:r>
            <a:r>
              <a:rPr lang="en-US" altLang="zh-CN" sz="2400" b="1">
                <a:solidFill>
                  <a:schemeClr val="hlink"/>
                </a:solidFill>
                <a:ea typeface="楷体_GB2312" pitchFamily="49" charset="-122"/>
              </a:rPr>
              <a:t>c!=‘#’ || GetTop(OPTR))!=‘#’</a:t>
            </a:r>
            <a:r>
              <a:rPr lang="en-US" altLang="zh-CN" sz="2400" b="1">
                <a:ea typeface="楷体_GB2312" pitchFamily="49" charset="-122"/>
              </a:rPr>
              <a:t>)</a:t>
            </a:r>
          </a:p>
          <a:p>
            <a:pPr lvl="1" eaLnBrk="1" hangingPunct="1">
              <a:lnSpc>
                <a:spcPct val="95000"/>
              </a:lnSpc>
            </a:pPr>
            <a:r>
              <a:rPr lang="en-US" altLang="zh-CN" sz="2400" b="1">
                <a:ea typeface="楷体_GB2312" pitchFamily="49" charset="-122"/>
              </a:rPr>
              <a:t>     { if (!In(c,OP)            </a:t>
            </a:r>
            <a:r>
              <a:rPr lang="en-US" altLang="zh-CN" sz="2400" b="1">
                <a:solidFill>
                  <a:schemeClr val="folHlink"/>
                </a:solidFill>
                <a:ea typeface="楷体_GB2312" pitchFamily="49" charset="-122"/>
              </a:rPr>
              <a:t>//</a:t>
            </a:r>
            <a:r>
              <a:rPr lang="zh-CN" altLang="en-US" sz="2400" b="1">
                <a:solidFill>
                  <a:schemeClr val="folHlink"/>
                </a:solidFill>
                <a:ea typeface="楷体_GB2312" pitchFamily="49" charset="-122"/>
              </a:rPr>
              <a:t>读入的</a:t>
            </a:r>
            <a:r>
              <a:rPr lang="en-US" altLang="zh-CN" sz="2400" b="1">
                <a:solidFill>
                  <a:schemeClr val="folHlink"/>
                </a:solidFill>
                <a:ea typeface="楷体_GB2312" pitchFamily="49" charset="-122"/>
              </a:rPr>
              <a:t>c</a:t>
            </a:r>
            <a:r>
              <a:rPr lang="zh-CN" altLang="en-US" sz="2400" b="1">
                <a:solidFill>
                  <a:schemeClr val="folHlink"/>
                </a:solidFill>
                <a:ea typeface="楷体_GB2312" pitchFamily="49" charset="-122"/>
              </a:rPr>
              <a:t>不是运算符</a:t>
            </a:r>
            <a:endParaRPr lang="zh-CN" altLang="en-US" sz="2400" b="1">
              <a:ea typeface="楷体_GB2312" pitchFamily="49" charset="-122"/>
            </a:endParaRPr>
          </a:p>
          <a:p>
            <a:pPr lvl="1" eaLnBrk="1" hangingPunct="1">
              <a:lnSpc>
                <a:spcPct val="95000"/>
              </a:lnSpc>
            </a:pPr>
            <a:r>
              <a:rPr lang="zh-CN" altLang="en-US" sz="2400" b="1">
                <a:ea typeface="楷体_GB2312" pitchFamily="49" charset="-122"/>
              </a:rPr>
              <a:t>             </a:t>
            </a:r>
            <a:r>
              <a:rPr lang="en-US" altLang="zh-CN" sz="2400" b="1">
                <a:ea typeface="楷体_GB2312" pitchFamily="49" charset="-122"/>
              </a:rPr>
              <a:t>{ Push ((OPND,c);c=getchar( );} </a:t>
            </a:r>
            <a:r>
              <a:rPr lang="en-US" altLang="zh-CN" sz="2400" b="1">
                <a:solidFill>
                  <a:schemeClr val="folHlink"/>
                </a:solidFill>
                <a:ea typeface="楷体_GB2312" pitchFamily="49" charset="-122"/>
              </a:rPr>
              <a:t>//</a:t>
            </a:r>
            <a:r>
              <a:rPr lang="zh-CN" altLang="en-US" sz="2400" b="1">
                <a:solidFill>
                  <a:schemeClr val="folHlink"/>
                </a:solidFill>
                <a:ea typeface="楷体_GB2312" pitchFamily="49" charset="-122"/>
              </a:rPr>
              <a:t>操作数进栈</a:t>
            </a:r>
            <a:endParaRPr lang="zh-CN" altLang="en-US" sz="2400" b="1">
              <a:ea typeface="楷体_GB2312" pitchFamily="49" charset="-122"/>
            </a:endParaRPr>
          </a:p>
          <a:p>
            <a:pPr eaLnBrk="1" hangingPunct="1">
              <a:lnSpc>
                <a:spcPct val="95000"/>
              </a:lnSpc>
            </a:pPr>
            <a:r>
              <a:rPr lang="zh-CN" altLang="en-US" sz="2400" b="1">
                <a:ea typeface="楷体_GB2312" pitchFamily="49" charset="-122"/>
              </a:rPr>
              <a:t>              </a:t>
            </a:r>
            <a:r>
              <a:rPr lang="en-US" altLang="zh-CN" sz="2400" b="1">
                <a:ea typeface="楷体_GB2312" pitchFamily="49" charset="-122"/>
              </a:rPr>
              <a:t>else  switch (Precede(GetTop(OPTR),c)</a:t>
            </a:r>
          </a:p>
          <a:p>
            <a:pPr eaLnBrk="1" hangingPunct="1">
              <a:lnSpc>
                <a:spcPct val="95000"/>
              </a:lnSpc>
            </a:pPr>
            <a:r>
              <a:rPr lang="en-US" altLang="zh-CN" sz="2400" b="1">
                <a:ea typeface="楷体_GB2312" pitchFamily="49" charset="-122"/>
              </a:rPr>
              <a:t>                         { case ‘</a:t>
            </a:r>
            <a:r>
              <a:rPr lang="en-US" altLang="zh-CN" sz="2400" b="1">
                <a:solidFill>
                  <a:schemeClr val="hlink"/>
                </a:solidFill>
                <a:ea typeface="楷体_GB2312" pitchFamily="49" charset="-122"/>
              </a:rPr>
              <a:t>&lt;</a:t>
            </a:r>
            <a:r>
              <a:rPr lang="en-US" altLang="zh-CN" sz="2400" b="1">
                <a:ea typeface="楷体_GB2312" pitchFamily="49" charset="-122"/>
              </a:rPr>
              <a:t>’ : Push(OPTR,c); c=getchar( );</a:t>
            </a:r>
          </a:p>
          <a:p>
            <a:pPr lvl="1" eaLnBrk="1" hangingPunct="1">
              <a:lnSpc>
                <a:spcPct val="95000"/>
              </a:lnSpc>
            </a:pPr>
            <a:r>
              <a:rPr lang="en-US" altLang="zh-CN" sz="2400" b="1">
                <a:ea typeface="楷体_GB2312" pitchFamily="49" charset="-122"/>
              </a:rPr>
              <a:t>                                    break; </a:t>
            </a:r>
            <a:r>
              <a:rPr lang="en-US" altLang="zh-CN" sz="2400" b="1">
                <a:solidFill>
                  <a:schemeClr val="folHlink"/>
                </a:solidFill>
                <a:ea typeface="楷体_GB2312" pitchFamily="49" charset="-122"/>
              </a:rPr>
              <a:t>//</a:t>
            </a:r>
            <a:r>
              <a:rPr lang="zh-CN" altLang="en-US" sz="2400" b="1">
                <a:solidFill>
                  <a:schemeClr val="folHlink"/>
                </a:solidFill>
                <a:ea typeface="楷体_GB2312" pitchFamily="49" charset="-122"/>
              </a:rPr>
              <a:t>栈顶元素优先权低，运算符进栈</a:t>
            </a:r>
            <a:endParaRPr lang="zh-CN" altLang="en-US" sz="2400" b="1">
              <a:ea typeface="楷体_GB2312" pitchFamily="49" charset="-122"/>
            </a:endParaRPr>
          </a:p>
          <a:p>
            <a:pPr eaLnBrk="1" hangingPunct="1">
              <a:lnSpc>
                <a:spcPct val="95000"/>
              </a:lnSpc>
            </a:pPr>
            <a:r>
              <a:rPr lang="zh-CN" altLang="en-US" sz="2400" b="1">
                <a:ea typeface="楷体_GB2312" pitchFamily="49" charset="-122"/>
              </a:rPr>
              <a:t>                           </a:t>
            </a:r>
            <a:r>
              <a:rPr lang="en-US" altLang="zh-CN" sz="2400" b="1">
                <a:ea typeface="楷体_GB2312" pitchFamily="49" charset="-122"/>
              </a:rPr>
              <a:t>case ‘</a:t>
            </a:r>
            <a:r>
              <a:rPr lang="en-US" altLang="zh-CN" sz="2400" b="1">
                <a:solidFill>
                  <a:schemeClr val="hlink"/>
                </a:solidFill>
                <a:ea typeface="楷体_GB2312" pitchFamily="49" charset="-122"/>
              </a:rPr>
              <a:t>=</a:t>
            </a:r>
            <a:r>
              <a:rPr lang="en-US" altLang="zh-CN" sz="2400" b="1">
                <a:ea typeface="楷体_GB2312" pitchFamily="49" charset="-122"/>
              </a:rPr>
              <a:t>’ : Pop(OPTR,x); c=getchar( );</a:t>
            </a:r>
          </a:p>
          <a:p>
            <a:pPr lvl="1" eaLnBrk="1" hangingPunct="1">
              <a:lnSpc>
                <a:spcPct val="95000"/>
              </a:lnSpc>
            </a:pPr>
            <a:r>
              <a:rPr lang="en-US" altLang="zh-CN" sz="2400" b="1">
                <a:ea typeface="楷体_GB2312" pitchFamily="49" charset="-122"/>
              </a:rPr>
              <a:t>                                    break; </a:t>
            </a:r>
            <a:r>
              <a:rPr lang="en-US" altLang="zh-CN" sz="2400" b="1">
                <a:solidFill>
                  <a:schemeClr val="folHlink"/>
                </a:solidFill>
                <a:ea typeface="楷体_GB2312" pitchFamily="49" charset="-122"/>
              </a:rPr>
              <a:t>//</a:t>
            </a:r>
            <a:r>
              <a:rPr lang="zh-CN" altLang="en-US" sz="2400" b="1">
                <a:solidFill>
                  <a:schemeClr val="folHlink"/>
                </a:solidFill>
                <a:ea typeface="楷体_GB2312" pitchFamily="49" charset="-122"/>
              </a:rPr>
              <a:t>脱括号并接收下一字符</a:t>
            </a:r>
            <a:endParaRPr lang="zh-CN" altLang="en-US" sz="2400" b="1">
              <a:ea typeface="楷体_GB2312" pitchFamily="49" charset="-122"/>
            </a:endParaRPr>
          </a:p>
          <a:p>
            <a:pPr eaLnBrk="1" hangingPunct="1">
              <a:lnSpc>
                <a:spcPct val="95000"/>
              </a:lnSpc>
            </a:pPr>
            <a:r>
              <a:rPr lang="zh-CN" altLang="en-US" sz="2400" b="1">
                <a:ea typeface="楷体_GB2312" pitchFamily="49" charset="-122"/>
              </a:rPr>
              <a:t>                           </a:t>
            </a:r>
            <a:r>
              <a:rPr lang="en-US" altLang="zh-CN" sz="2400" b="1">
                <a:ea typeface="楷体_GB2312" pitchFamily="49" charset="-122"/>
              </a:rPr>
              <a:t>case ‘</a:t>
            </a:r>
            <a:r>
              <a:rPr lang="en-US" altLang="zh-CN" sz="2400" b="1">
                <a:solidFill>
                  <a:schemeClr val="hlink"/>
                </a:solidFill>
                <a:ea typeface="楷体_GB2312" pitchFamily="49" charset="-122"/>
              </a:rPr>
              <a:t>&gt;</a:t>
            </a:r>
            <a:r>
              <a:rPr lang="en-US" altLang="zh-CN" sz="2400" b="1">
                <a:ea typeface="楷体_GB2312" pitchFamily="49" charset="-122"/>
              </a:rPr>
              <a:t>’: Pop(OPTR, theta);</a:t>
            </a:r>
          </a:p>
          <a:p>
            <a:pPr lvl="1" eaLnBrk="1" hangingPunct="1">
              <a:lnSpc>
                <a:spcPct val="95000"/>
              </a:lnSpc>
            </a:pPr>
            <a:r>
              <a:rPr lang="en-US" altLang="zh-CN" sz="2400" b="1">
                <a:ea typeface="楷体_GB2312" pitchFamily="49" charset="-122"/>
              </a:rPr>
              <a:t>                                    Pop(OPND,b); Pop(OPND,a);</a:t>
            </a:r>
          </a:p>
          <a:p>
            <a:pPr lvl="1" eaLnBrk="1" hangingPunct="1">
              <a:lnSpc>
                <a:spcPct val="95000"/>
              </a:lnSpc>
            </a:pPr>
            <a:r>
              <a:rPr lang="en-US" altLang="zh-CN" sz="2400" b="1">
                <a:ea typeface="楷体_GB2312" pitchFamily="49" charset="-122"/>
              </a:rPr>
              <a:t>                                    Push(OPND,Operate(a,theta,b));</a:t>
            </a:r>
          </a:p>
          <a:p>
            <a:pPr lvl="1" eaLnBrk="1" hangingPunct="1">
              <a:lnSpc>
                <a:spcPct val="95000"/>
              </a:lnSpc>
            </a:pPr>
            <a:r>
              <a:rPr lang="en-US" altLang="zh-CN" sz="2400" b="1">
                <a:ea typeface="楷体_GB2312" pitchFamily="49" charset="-122"/>
              </a:rPr>
              <a:t>                                    break; </a:t>
            </a:r>
            <a:r>
              <a:rPr lang="en-US" altLang="zh-CN" sz="2400" b="1">
                <a:solidFill>
                  <a:schemeClr val="folHlink"/>
                </a:solidFill>
                <a:ea typeface="楷体_GB2312" pitchFamily="49" charset="-122"/>
              </a:rPr>
              <a:t>//</a:t>
            </a:r>
            <a:r>
              <a:rPr lang="zh-CN" altLang="en-US" sz="2400" b="1">
                <a:solidFill>
                  <a:schemeClr val="folHlink"/>
                </a:solidFill>
                <a:ea typeface="楷体_GB2312" pitchFamily="49" charset="-122"/>
              </a:rPr>
              <a:t>退栈并将运算结果入栈</a:t>
            </a:r>
            <a:r>
              <a:rPr lang="en-US" altLang="zh-CN" sz="2400" b="1">
                <a:solidFill>
                  <a:schemeClr val="folHlink"/>
                </a:solidFill>
                <a:ea typeface="楷体_GB2312" pitchFamily="49" charset="-122"/>
              </a:rPr>
              <a:t>, </a:t>
            </a:r>
            <a:r>
              <a:rPr lang="en-US" altLang="zh-CN" sz="2400" b="1">
                <a:solidFill>
                  <a:srgbClr val="A50021"/>
                </a:solidFill>
                <a:ea typeface="楷体_GB2312" pitchFamily="49" charset="-122"/>
              </a:rPr>
              <a:t>c</a:t>
            </a:r>
            <a:r>
              <a:rPr lang="zh-CN" altLang="en-US" sz="2400" b="1">
                <a:solidFill>
                  <a:srgbClr val="A50021"/>
                </a:solidFill>
                <a:ea typeface="楷体_GB2312" pitchFamily="49" charset="-122"/>
              </a:rPr>
              <a:t>不变</a:t>
            </a:r>
          </a:p>
          <a:p>
            <a:pPr lvl="1" eaLnBrk="1" hangingPunct="1">
              <a:lnSpc>
                <a:spcPct val="95000"/>
              </a:lnSpc>
            </a:pPr>
            <a:r>
              <a:rPr lang="zh-CN" altLang="en-US" sz="2400" b="1">
                <a:ea typeface="楷体_GB2312" pitchFamily="49" charset="-122"/>
              </a:rPr>
              <a:t>                   </a:t>
            </a:r>
            <a:r>
              <a:rPr lang="en-US" altLang="zh-CN" sz="2400" b="1">
                <a:ea typeface="楷体_GB2312" pitchFamily="49" charset="-122"/>
              </a:rPr>
              <a:t>} </a:t>
            </a:r>
            <a:r>
              <a:rPr lang="en-US" altLang="zh-CN" sz="2400" b="1">
                <a:solidFill>
                  <a:schemeClr val="folHlink"/>
                </a:solidFill>
                <a:ea typeface="楷体_GB2312" pitchFamily="49" charset="-122"/>
              </a:rPr>
              <a:t>//switch</a:t>
            </a:r>
            <a:endParaRPr lang="en-US" altLang="zh-CN" sz="2400" b="1">
              <a:ea typeface="楷体_GB2312" pitchFamily="49" charset="-122"/>
            </a:endParaRPr>
          </a:p>
          <a:p>
            <a:pPr lvl="1" eaLnBrk="1" hangingPunct="1">
              <a:lnSpc>
                <a:spcPct val="95000"/>
              </a:lnSpc>
            </a:pPr>
            <a:r>
              <a:rPr lang="en-US" altLang="zh-CN" sz="2400" b="1">
                <a:ea typeface="楷体_GB2312" pitchFamily="49" charset="-122"/>
              </a:rPr>
              <a:t>     } </a:t>
            </a:r>
            <a:r>
              <a:rPr lang="en-US" altLang="zh-CN" sz="2400" b="1">
                <a:solidFill>
                  <a:schemeClr val="folHlink"/>
                </a:solidFill>
                <a:ea typeface="楷体_GB2312" pitchFamily="49" charset="-122"/>
              </a:rPr>
              <a:t>//while</a:t>
            </a:r>
            <a:endParaRPr lang="en-US" altLang="zh-CN" sz="2400" b="1">
              <a:ea typeface="楷体_GB2312" pitchFamily="49" charset="-122"/>
            </a:endParaRPr>
          </a:p>
          <a:p>
            <a:pPr lvl="1" eaLnBrk="1" hangingPunct="1">
              <a:lnSpc>
                <a:spcPct val="95000"/>
              </a:lnSpc>
            </a:pPr>
            <a:r>
              <a:rPr lang="en-US" altLang="zh-CN" sz="2400" b="1">
                <a:ea typeface="楷体_GB2312" pitchFamily="49" charset="-122"/>
              </a:rPr>
              <a:t>       return GetTop(OPND);</a:t>
            </a:r>
          </a:p>
          <a:p>
            <a:pPr lvl="1" eaLnBrk="1" hangingPunct="1">
              <a:lnSpc>
                <a:spcPct val="95000"/>
              </a:lnSpc>
            </a:pPr>
            <a:r>
              <a:rPr lang="en-US" altLang="zh-CN" sz="2400" b="1">
                <a:ea typeface="楷体_GB2312" pitchFamily="49" charset="-122"/>
              </a:rPr>
              <a:t> } // </a:t>
            </a:r>
            <a:r>
              <a:rPr lang="en-US" altLang="zh-CN" sz="2400" b="1">
                <a:solidFill>
                  <a:srgbClr val="A50021"/>
                </a:solidFill>
                <a:ea typeface="楷体_GB2312" pitchFamily="49" charset="-122"/>
              </a:rPr>
              <a:t>EvaluateExpression</a:t>
            </a:r>
            <a:r>
              <a:rPr lang="en-US" altLang="zh-CN" b="1">
                <a:ea typeface="楷体_GB2312" pitchFamily="49" charset="-122"/>
              </a:rPr>
              <a:t>             </a:t>
            </a:r>
          </a:p>
        </p:txBody>
      </p:sp>
    </p:spTree>
    <p:extLst>
      <p:ext uri="{BB962C8B-B14F-4D97-AF65-F5344CB8AC3E}">
        <p14:creationId xmlns:p14="http://schemas.microsoft.com/office/powerpoint/2010/main" val="33866992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p>
            <a:fld id="{C3728F5B-B8E3-4489-ABBD-7BCEFCC71DA7}" type="slidenum">
              <a:rPr lang="en-US" altLang="zh-CN"/>
              <a:pPr/>
              <a:t>64</a:t>
            </a:fld>
            <a:endParaRPr lang="en-US" altLang="zh-CN"/>
          </a:p>
        </p:txBody>
      </p:sp>
      <p:sp>
        <p:nvSpPr>
          <p:cNvPr id="71683" name="Text Box 2"/>
          <p:cNvSpPr txBox="1">
            <a:spLocks noChangeArrowheads="1"/>
          </p:cNvSpPr>
          <p:nvPr/>
        </p:nvSpPr>
        <p:spPr bwMode="auto">
          <a:xfrm>
            <a:off x="215900" y="1739900"/>
            <a:ext cx="4818948" cy="584775"/>
          </a:xfrm>
          <a:prstGeom prst="rect">
            <a:avLst/>
          </a:prstGeom>
          <a:noFill/>
          <a:ln w="9525">
            <a:noFill/>
            <a:miter lim="800000"/>
            <a:headEnd/>
            <a:tailEnd/>
          </a:ln>
        </p:spPr>
        <p:txBody>
          <a:bodyPr wrap="none">
            <a:spAutoFit/>
          </a:bodyPr>
          <a:lstStyle/>
          <a:p>
            <a:pPr eaLnBrk="0" hangingPunct="0"/>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表达式的三种标识方法：</a:t>
            </a:r>
          </a:p>
        </p:txBody>
      </p:sp>
      <p:sp>
        <p:nvSpPr>
          <p:cNvPr id="71684" name="Text Box 3"/>
          <p:cNvSpPr txBox="1">
            <a:spLocks noChangeArrowheads="1"/>
          </p:cNvSpPr>
          <p:nvPr/>
        </p:nvSpPr>
        <p:spPr bwMode="auto">
          <a:xfrm>
            <a:off x="1238250" y="2495550"/>
            <a:ext cx="4204997" cy="584775"/>
          </a:xfrm>
          <a:prstGeom prst="rect">
            <a:avLst/>
          </a:prstGeom>
          <a:noFill/>
          <a:ln w="9525">
            <a:noFill/>
            <a:miter lim="800000"/>
            <a:headEnd/>
            <a:tailEnd/>
          </a:ln>
        </p:spPr>
        <p:txBody>
          <a:bodyPr wrap="none">
            <a:spAutoFit/>
          </a:bodyPr>
          <a:lstStyle/>
          <a:p>
            <a:pPr eaLnBrk="0" hangingPunct="0"/>
            <a:r>
              <a:rPr lang="zh-CN" altLang="en-US" sz="3200" b="1" dirty="0">
                <a:ea typeface="楷体_GB2312" pitchFamily="49" charset="-122"/>
              </a:rPr>
              <a:t>设 </a:t>
            </a:r>
            <a:r>
              <a:rPr lang="zh-CN" altLang="en-US" sz="3200" dirty="0">
                <a:solidFill>
                  <a:srgbClr val="FF5050"/>
                </a:solidFill>
                <a:ea typeface="楷体_GB2312" pitchFamily="49" charset="-122"/>
              </a:rPr>
              <a:t> </a:t>
            </a:r>
            <a:r>
              <a:rPr lang="en-US" altLang="zh-CN" sz="3200" dirty="0">
                <a:solidFill>
                  <a:srgbClr val="FF0000"/>
                </a:solidFill>
                <a:ea typeface="楷体_GB2312" pitchFamily="49" charset="-122"/>
              </a:rPr>
              <a:t>Exp = </a:t>
            </a:r>
            <a:r>
              <a:rPr lang="en-US" altLang="zh-CN" sz="3200" u="sng" dirty="0">
                <a:solidFill>
                  <a:srgbClr val="FF0000"/>
                </a:solidFill>
                <a:ea typeface="楷体_GB2312" pitchFamily="49" charset="-122"/>
              </a:rPr>
              <a:t>S1 </a:t>
            </a:r>
            <a:r>
              <a:rPr lang="en-US" altLang="zh-CN" sz="3200" dirty="0">
                <a:solidFill>
                  <a:srgbClr val="FF0000"/>
                </a:solidFill>
                <a:ea typeface="楷体_GB2312" pitchFamily="49" charset="-122"/>
              </a:rPr>
              <a:t>+</a:t>
            </a:r>
            <a:r>
              <a:rPr lang="en-US" altLang="zh-CN" sz="3200" dirty="0">
                <a:solidFill>
                  <a:srgbClr val="A50021"/>
                </a:solidFill>
                <a:ea typeface="楷体_GB2312" pitchFamily="49" charset="-122"/>
              </a:rPr>
              <a:t> </a:t>
            </a:r>
            <a:r>
              <a:rPr lang="en-US" altLang="zh-CN" sz="3200" b="1" dirty="0">
                <a:solidFill>
                  <a:srgbClr val="A50021"/>
                </a:solidFill>
                <a:ea typeface="楷体_GB2312" pitchFamily="49" charset="-122"/>
              </a:rPr>
              <a:t>OP</a:t>
            </a:r>
            <a:r>
              <a:rPr lang="en-US" altLang="zh-CN" sz="3200" dirty="0">
                <a:solidFill>
                  <a:srgbClr val="FF5050"/>
                </a:solidFill>
                <a:ea typeface="楷体_GB2312" pitchFamily="49" charset="-122"/>
              </a:rPr>
              <a:t> </a:t>
            </a:r>
            <a:r>
              <a:rPr lang="en-US" altLang="zh-CN" sz="3200" dirty="0">
                <a:solidFill>
                  <a:srgbClr val="FF0000"/>
                </a:solidFill>
                <a:ea typeface="楷体_GB2312" pitchFamily="49" charset="-122"/>
              </a:rPr>
              <a:t>+ </a:t>
            </a:r>
            <a:r>
              <a:rPr lang="en-US" altLang="zh-CN" sz="3200" u="sng" dirty="0">
                <a:solidFill>
                  <a:srgbClr val="FF0000"/>
                </a:solidFill>
                <a:ea typeface="楷体_GB2312" pitchFamily="49" charset="-122"/>
              </a:rPr>
              <a:t>S2</a:t>
            </a:r>
            <a:endParaRPr lang="en-US" altLang="zh-CN" sz="3200" dirty="0"/>
          </a:p>
        </p:txBody>
      </p:sp>
      <p:sp>
        <p:nvSpPr>
          <p:cNvPr id="71685" name="Text Box 4"/>
          <p:cNvSpPr txBox="1">
            <a:spLocks noChangeArrowheads="1"/>
          </p:cNvSpPr>
          <p:nvPr/>
        </p:nvSpPr>
        <p:spPr bwMode="auto">
          <a:xfrm>
            <a:off x="165100" y="3466525"/>
            <a:ext cx="9029700" cy="584775"/>
          </a:xfrm>
          <a:prstGeom prst="rect">
            <a:avLst/>
          </a:prstGeom>
          <a:noFill/>
          <a:ln w="9525">
            <a:noFill/>
            <a:miter lim="800000"/>
            <a:headEnd/>
            <a:tailEnd/>
          </a:ln>
        </p:spPr>
        <p:txBody>
          <a:bodyPr>
            <a:spAutoFit/>
          </a:bodyPr>
          <a:lstStyle/>
          <a:p>
            <a:pPr eaLnBrk="0" hangingPunct="0"/>
            <a:r>
              <a:rPr lang="zh-CN" altLang="en-US" sz="3200" b="1" dirty="0">
                <a:ea typeface="楷体_GB2312" pitchFamily="49" charset="-122"/>
              </a:rPr>
              <a:t>则称</a:t>
            </a:r>
            <a:r>
              <a:rPr lang="zh-CN" altLang="en-US" sz="3200" dirty="0">
                <a:ea typeface="楷体_GB2312" pitchFamily="49" charset="-122"/>
              </a:rPr>
              <a:t>  </a:t>
            </a:r>
            <a:r>
              <a:rPr lang="en-US" altLang="zh-CN" sz="3200" b="1" dirty="0">
                <a:solidFill>
                  <a:srgbClr val="A50021"/>
                </a:solidFill>
                <a:ea typeface="楷体_GB2312" pitchFamily="49" charset="-122"/>
              </a:rPr>
              <a:t>OP</a:t>
            </a:r>
            <a:r>
              <a:rPr lang="en-US" altLang="zh-CN" sz="3200" dirty="0">
                <a:ea typeface="楷体_GB2312" pitchFamily="49" charset="-122"/>
              </a:rPr>
              <a:t> </a:t>
            </a:r>
            <a:r>
              <a:rPr lang="en-US" altLang="zh-CN" sz="3200" dirty="0">
                <a:solidFill>
                  <a:srgbClr val="FF0000"/>
                </a:solidFill>
                <a:ea typeface="楷体_GB2312" pitchFamily="49" charset="-122"/>
              </a:rPr>
              <a:t>+ </a:t>
            </a:r>
            <a:r>
              <a:rPr lang="en-US" altLang="zh-CN" sz="3200" u="sng" dirty="0">
                <a:solidFill>
                  <a:srgbClr val="FF0000"/>
                </a:solidFill>
                <a:ea typeface="楷体_GB2312" pitchFamily="49" charset="-122"/>
              </a:rPr>
              <a:t>S1 </a:t>
            </a:r>
            <a:r>
              <a:rPr lang="en-US" altLang="zh-CN" sz="3200" dirty="0">
                <a:solidFill>
                  <a:srgbClr val="FF0000"/>
                </a:solidFill>
                <a:ea typeface="楷体_GB2312" pitchFamily="49" charset="-122"/>
              </a:rPr>
              <a:t>+ </a:t>
            </a:r>
            <a:r>
              <a:rPr lang="en-US" altLang="zh-CN" sz="3200" u="sng" dirty="0">
                <a:solidFill>
                  <a:srgbClr val="FF0000"/>
                </a:solidFill>
                <a:ea typeface="楷体_GB2312" pitchFamily="49" charset="-122"/>
              </a:rPr>
              <a:t>S2</a:t>
            </a:r>
            <a:r>
              <a:rPr lang="en-US" altLang="zh-CN" sz="3200" dirty="0">
                <a:ea typeface="楷体_GB2312" pitchFamily="49" charset="-122"/>
              </a:rPr>
              <a:t>      </a:t>
            </a:r>
            <a:r>
              <a:rPr lang="zh-CN" altLang="en-US" sz="3200" dirty="0">
                <a:ea typeface="楷体_GB2312" pitchFamily="49" charset="-122"/>
              </a:rPr>
              <a:t>为</a:t>
            </a:r>
            <a:r>
              <a:rPr lang="zh-CN" altLang="en-US" sz="3200" b="1" dirty="0">
                <a:solidFill>
                  <a:srgbClr val="A50021"/>
                </a:solidFill>
                <a:ea typeface="楷体_GB2312" pitchFamily="49" charset="-122"/>
              </a:rPr>
              <a:t>前缀表示法</a:t>
            </a:r>
            <a:r>
              <a:rPr lang="zh-CN" altLang="en-US" sz="3200" dirty="0">
                <a:ea typeface="楷体_GB2312" pitchFamily="49" charset="-122"/>
              </a:rPr>
              <a:t> </a:t>
            </a:r>
          </a:p>
        </p:txBody>
      </p:sp>
      <p:sp>
        <p:nvSpPr>
          <p:cNvPr id="71686" name="Text Box 5"/>
          <p:cNvSpPr txBox="1">
            <a:spLocks noChangeArrowheads="1"/>
          </p:cNvSpPr>
          <p:nvPr/>
        </p:nvSpPr>
        <p:spPr bwMode="auto">
          <a:xfrm>
            <a:off x="1238250" y="4311075"/>
            <a:ext cx="7559675" cy="584775"/>
          </a:xfrm>
          <a:prstGeom prst="rect">
            <a:avLst/>
          </a:prstGeom>
          <a:noFill/>
          <a:ln w="9525">
            <a:noFill/>
            <a:miter lim="800000"/>
            <a:headEnd/>
            <a:tailEnd/>
          </a:ln>
        </p:spPr>
        <p:txBody>
          <a:bodyPr>
            <a:spAutoFit/>
          </a:bodyPr>
          <a:lstStyle/>
          <a:p>
            <a:pPr eaLnBrk="0" hangingPunct="0"/>
            <a:r>
              <a:rPr lang="en-US" altLang="zh-CN" sz="3200" u="sng" dirty="0">
                <a:solidFill>
                  <a:srgbClr val="FF0000"/>
                </a:solidFill>
                <a:ea typeface="楷体_GB2312" pitchFamily="49" charset="-122"/>
              </a:rPr>
              <a:t>S1</a:t>
            </a:r>
            <a:r>
              <a:rPr lang="en-US" altLang="zh-CN" sz="3200" dirty="0">
                <a:solidFill>
                  <a:srgbClr val="FF0000"/>
                </a:solidFill>
                <a:ea typeface="楷体_GB2312" pitchFamily="49" charset="-122"/>
              </a:rPr>
              <a:t> +</a:t>
            </a:r>
            <a:r>
              <a:rPr lang="en-US" altLang="zh-CN" sz="3200" dirty="0">
                <a:ea typeface="楷体_GB2312" pitchFamily="49" charset="-122"/>
              </a:rPr>
              <a:t> </a:t>
            </a:r>
            <a:r>
              <a:rPr lang="en-US" altLang="zh-CN" sz="3200" b="1" dirty="0">
                <a:solidFill>
                  <a:srgbClr val="A50021"/>
                </a:solidFill>
                <a:ea typeface="楷体_GB2312" pitchFamily="49" charset="-122"/>
              </a:rPr>
              <a:t>OP</a:t>
            </a:r>
            <a:r>
              <a:rPr lang="en-US" altLang="zh-CN" sz="3200" dirty="0">
                <a:ea typeface="楷体_GB2312" pitchFamily="49" charset="-122"/>
              </a:rPr>
              <a:t> </a:t>
            </a:r>
            <a:r>
              <a:rPr lang="en-US" altLang="zh-CN" sz="3200" dirty="0">
                <a:solidFill>
                  <a:srgbClr val="FF0000"/>
                </a:solidFill>
                <a:ea typeface="楷体_GB2312" pitchFamily="49" charset="-122"/>
              </a:rPr>
              <a:t>+ </a:t>
            </a:r>
            <a:r>
              <a:rPr lang="en-US" altLang="zh-CN" sz="3200" u="sng" dirty="0">
                <a:solidFill>
                  <a:srgbClr val="FF0000"/>
                </a:solidFill>
                <a:ea typeface="楷体_GB2312" pitchFamily="49" charset="-122"/>
              </a:rPr>
              <a:t>S2</a:t>
            </a:r>
            <a:r>
              <a:rPr lang="en-US" altLang="zh-CN" sz="3200" dirty="0">
                <a:ea typeface="楷体_GB2312" pitchFamily="49" charset="-122"/>
              </a:rPr>
              <a:t>      </a:t>
            </a:r>
            <a:r>
              <a:rPr lang="zh-CN" altLang="en-US" sz="3200" dirty="0">
                <a:ea typeface="楷体_GB2312" pitchFamily="49" charset="-122"/>
              </a:rPr>
              <a:t>为</a:t>
            </a:r>
            <a:r>
              <a:rPr lang="zh-CN" altLang="en-US" sz="3200" b="1" dirty="0">
                <a:solidFill>
                  <a:srgbClr val="A50021"/>
                </a:solidFill>
                <a:ea typeface="楷体_GB2312" pitchFamily="49" charset="-122"/>
              </a:rPr>
              <a:t>中缀表示法</a:t>
            </a:r>
            <a:r>
              <a:rPr lang="zh-CN" altLang="en-US" sz="3200" dirty="0">
                <a:ea typeface="楷体_GB2312" pitchFamily="49" charset="-122"/>
              </a:rPr>
              <a:t> </a:t>
            </a:r>
          </a:p>
        </p:txBody>
      </p:sp>
      <p:sp>
        <p:nvSpPr>
          <p:cNvPr id="71687" name="Text Box 6"/>
          <p:cNvSpPr txBox="1">
            <a:spLocks noChangeArrowheads="1"/>
          </p:cNvSpPr>
          <p:nvPr/>
        </p:nvSpPr>
        <p:spPr bwMode="auto">
          <a:xfrm>
            <a:off x="1143000" y="5241925"/>
            <a:ext cx="7772400" cy="584775"/>
          </a:xfrm>
          <a:prstGeom prst="rect">
            <a:avLst/>
          </a:prstGeom>
          <a:noFill/>
          <a:ln w="9525">
            <a:noFill/>
            <a:miter lim="800000"/>
            <a:headEnd/>
            <a:tailEnd/>
          </a:ln>
        </p:spPr>
        <p:txBody>
          <a:bodyPr>
            <a:spAutoFit/>
          </a:bodyPr>
          <a:lstStyle/>
          <a:p>
            <a:pPr eaLnBrk="0" hangingPunct="0"/>
            <a:r>
              <a:rPr lang="en-US" altLang="zh-CN" sz="3200">
                <a:ea typeface="楷体_GB2312" pitchFamily="49" charset="-122"/>
              </a:rPr>
              <a:t> </a:t>
            </a:r>
            <a:r>
              <a:rPr lang="en-US" altLang="zh-CN" sz="3200" u="sng">
                <a:solidFill>
                  <a:srgbClr val="FF0000"/>
                </a:solidFill>
                <a:ea typeface="楷体_GB2312" pitchFamily="49" charset="-122"/>
              </a:rPr>
              <a:t>S1</a:t>
            </a:r>
            <a:r>
              <a:rPr lang="en-US" altLang="zh-CN" sz="3200">
                <a:solidFill>
                  <a:srgbClr val="FF0000"/>
                </a:solidFill>
                <a:ea typeface="楷体_GB2312" pitchFamily="49" charset="-122"/>
              </a:rPr>
              <a:t> + </a:t>
            </a:r>
            <a:r>
              <a:rPr lang="en-US" altLang="zh-CN" sz="3200" u="sng">
                <a:solidFill>
                  <a:srgbClr val="FF0000"/>
                </a:solidFill>
                <a:ea typeface="楷体_GB2312" pitchFamily="49" charset="-122"/>
              </a:rPr>
              <a:t>S2</a:t>
            </a:r>
            <a:r>
              <a:rPr lang="en-US" altLang="zh-CN" sz="3200">
                <a:solidFill>
                  <a:srgbClr val="FF0000"/>
                </a:solidFill>
                <a:ea typeface="楷体_GB2312" pitchFamily="49" charset="-122"/>
              </a:rPr>
              <a:t> +</a:t>
            </a:r>
            <a:r>
              <a:rPr lang="en-US" altLang="zh-CN" sz="3200">
                <a:ea typeface="楷体_GB2312" pitchFamily="49" charset="-122"/>
              </a:rPr>
              <a:t> </a:t>
            </a:r>
            <a:r>
              <a:rPr lang="en-US" altLang="zh-CN" sz="3200" b="1">
                <a:solidFill>
                  <a:srgbClr val="A50021"/>
                </a:solidFill>
                <a:ea typeface="楷体_GB2312" pitchFamily="49" charset="-122"/>
              </a:rPr>
              <a:t>OP</a:t>
            </a:r>
            <a:r>
              <a:rPr lang="en-US" altLang="zh-CN" sz="3200">
                <a:ea typeface="楷体_GB2312" pitchFamily="49" charset="-122"/>
              </a:rPr>
              <a:t>      </a:t>
            </a:r>
            <a:r>
              <a:rPr lang="zh-CN" altLang="en-US" sz="3200">
                <a:ea typeface="楷体_GB2312" pitchFamily="49" charset="-122"/>
              </a:rPr>
              <a:t>为</a:t>
            </a:r>
            <a:r>
              <a:rPr lang="zh-CN" altLang="en-US" sz="3200" b="1">
                <a:solidFill>
                  <a:srgbClr val="A50021"/>
                </a:solidFill>
                <a:ea typeface="楷体_GB2312" pitchFamily="49" charset="-122"/>
              </a:rPr>
              <a:t>后缀表示法</a:t>
            </a:r>
            <a:r>
              <a:rPr lang="zh-CN" altLang="en-US" sz="3200">
                <a:ea typeface="楷体_GB2312" pitchFamily="49" charset="-122"/>
              </a:rPr>
              <a:t> </a:t>
            </a:r>
          </a:p>
        </p:txBody>
      </p:sp>
      <p:sp>
        <p:nvSpPr>
          <p:cNvPr id="8"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2904671366"/>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E8E5544A-348D-45E1-8582-25178C4A46C3}" type="slidenum">
              <a:rPr lang="en-US" altLang="zh-CN"/>
              <a:pPr/>
              <a:t>65</a:t>
            </a:fld>
            <a:endParaRPr lang="en-US" altLang="zh-CN"/>
          </a:p>
        </p:txBody>
      </p:sp>
      <p:sp>
        <p:nvSpPr>
          <p:cNvPr id="72707" name="Text Box 2"/>
          <p:cNvSpPr txBox="1">
            <a:spLocks noChangeArrowheads="1"/>
          </p:cNvSpPr>
          <p:nvPr/>
        </p:nvSpPr>
        <p:spPr bwMode="auto">
          <a:xfrm>
            <a:off x="1460500" y="1428750"/>
            <a:ext cx="6091732" cy="2357568"/>
          </a:xfrm>
          <a:prstGeom prst="rect">
            <a:avLst/>
          </a:prstGeom>
          <a:noFill/>
          <a:ln w="9525">
            <a:noFill/>
            <a:miter lim="800000"/>
            <a:headEnd/>
            <a:tailEnd/>
          </a:ln>
        </p:spPr>
        <p:txBody>
          <a:bodyPr wrap="none">
            <a:spAutoFit/>
          </a:bodyPr>
          <a:lstStyle/>
          <a:p>
            <a:pPr eaLnBrk="0" hangingPunct="0">
              <a:lnSpc>
                <a:spcPct val="115000"/>
              </a:lnSpc>
            </a:pPr>
            <a:r>
              <a:rPr lang="zh-CN" altLang="en-US" sz="3200" dirty="0">
                <a:ea typeface="楷体_GB2312" pitchFamily="49" charset="-122"/>
              </a:rPr>
              <a:t>例如</a:t>
            </a:r>
            <a:r>
              <a:rPr lang="en-US" altLang="zh-CN" sz="3200" dirty="0">
                <a:ea typeface="楷体_GB2312" pitchFamily="49" charset="-122"/>
              </a:rPr>
              <a:t>:    </a:t>
            </a:r>
            <a:r>
              <a:rPr lang="en-US" altLang="zh-CN" sz="3200" b="1" dirty="0">
                <a:ea typeface="楷体_GB2312" pitchFamily="49" charset="-122"/>
              </a:rPr>
              <a:t>Exp</a:t>
            </a:r>
            <a:r>
              <a:rPr lang="en-US" altLang="zh-CN" sz="3200" dirty="0">
                <a:ea typeface="楷体_GB2312" pitchFamily="49" charset="-122"/>
              </a:rPr>
              <a:t> = </a:t>
            </a:r>
            <a:r>
              <a:rPr lang="en-US" altLang="zh-CN" sz="3200" u="sng" dirty="0">
                <a:solidFill>
                  <a:srgbClr val="800000"/>
                </a:solidFill>
                <a:ea typeface="楷体_GB2312" pitchFamily="49" charset="-122"/>
              </a:rPr>
              <a:t>a </a:t>
            </a:r>
            <a:r>
              <a:rPr lang="en-US" altLang="zh-CN" sz="3200" u="sng" dirty="0">
                <a:solidFill>
                  <a:srgbClr val="800000"/>
                </a:solidFill>
                <a:ea typeface="楷体_GB2312" pitchFamily="49" charset="-122"/>
                <a:sym typeface="Symbol" pitchFamily="18" charset="2"/>
              </a:rPr>
              <a:t></a:t>
            </a:r>
            <a:r>
              <a:rPr lang="en-US" altLang="zh-CN" sz="3200" u="sng" dirty="0">
                <a:solidFill>
                  <a:srgbClr val="800000"/>
                </a:solidFill>
                <a:ea typeface="楷体_GB2312" pitchFamily="49" charset="-122"/>
              </a:rPr>
              <a:t> b</a:t>
            </a:r>
            <a:r>
              <a:rPr lang="en-US" altLang="zh-CN" sz="3200" dirty="0">
                <a:ea typeface="楷体_GB2312" pitchFamily="49" charset="-122"/>
              </a:rPr>
              <a:t> </a:t>
            </a:r>
            <a:r>
              <a:rPr lang="en-US" altLang="zh-CN" sz="3200" b="1" dirty="0">
                <a:solidFill>
                  <a:srgbClr val="FF0000"/>
                </a:solidFill>
                <a:ea typeface="楷体_GB2312" pitchFamily="49" charset="-122"/>
              </a:rPr>
              <a:t>+</a:t>
            </a:r>
            <a:r>
              <a:rPr lang="en-US" altLang="zh-CN" sz="3200" dirty="0">
                <a:ea typeface="楷体_GB2312" pitchFamily="49" charset="-122"/>
              </a:rPr>
              <a:t> </a:t>
            </a:r>
            <a:r>
              <a:rPr lang="en-US" altLang="zh-CN" sz="3200" u="sng" dirty="0">
                <a:solidFill>
                  <a:srgbClr val="008080"/>
                </a:solidFill>
                <a:ea typeface="楷体_GB2312" pitchFamily="49" charset="-122"/>
              </a:rPr>
              <a:t>(c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d / e)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f</a:t>
            </a:r>
          </a:p>
          <a:p>
            <a:pPr eaLnBrk="0" hangingPunct="0">
              <a:lnSpc>
                <a:spcPct val="115000"/>
              </a:lnSpc>
            </a:pPr>
            <a:r>
              <a:rPr lang="zh-CN" altLang="en-US" sz="3200" dirty="0">
                <a:ea typeface="楷体_GB2312" pitchFamily="49" charset="-122"/>
              </a:rPr>
              <a:t>前缀式</a:t>
            </a:r>
            <a:r>
              <a:rPr lang="en-US" altLang="zh-CN" sz="3200" dirty="0">
                <a:ea typeface="楷体_GB2312" pitchFamily="49" charset="-122"/>
              </a:rPr>
              <a:t>:           </a:t>
            </a:r>
            <a:r>
              <a:rPr lang="en-US" altLang="zh-CN" sz="3200" b="1" dirty="0">
                <a:solidFill>
                  <a:srgbClr val="FF0000"/>
                </a:solidFill>
                <a:ea typeface="楷体_GB2312" pitchFamily="49" charset="-122"/>
              </a:rPr>
              <a:t> </a:t>
            </a:r>
            <a:endParaRPr lang="en-US" altLang="zh-CN" sz="3200" dirty="0">
              <a:ea typeface="楷体_GB2312" pitchFamily="49" charset="-122"/>
            </a:endParaRPr>
          </a:p>
          <a:p>
            <a:pPr eaLnBrk="0" hangingPunct="0">
              <a:lnSpc>
                <a:spcPct val="115000"/>
              </a:lnSpc>
            </a:pPr>
            <a:r>
              <a:rPr lang="zh-CN" altLang="en-US" sz="3200" dirty="0">
                <a:ea typeface="楷体_GB2312" pitchFamily="49" charset="-122"/>
              </a:rPr>
              <a:t>中缀式</a:t>
            </a:r>
            <a:r>
              <a:rPr lang="en-US" altLang="zh-CN" sz="3200" dirty="0">
                <a:ea typeface="楷体_GB2312" pitchFamily="49" charset="-122"/>
              </a:rPr>
              <a:t>:    </a:t>
            </a:r>
          </a:p>
          <a:p>
            <a:pPr eaLnBrk="0" hangingPunct="0">
              <a:lnSpc>
                <a:spcPct val="115000"/>
              </a:lnSpc>
            </a:pPr>
            <a:r>
              <a:rPr lang="zh-CN" altLang="en-US" sz="3200" dirty="0">
                <a:ea typeface="楷体_GB2312" pitchFamily="49" charset="-122"/>
              </a:rPr>
              <a:t>后缀式</a:t>
            </a:r>
            <a:r>
              <a:rPr lang="en-US" altLang="zh-CN" sz="3200" dirty="0">
                <a:ea typeface="楷体_GB2312" pitchFamily="49" charset="-122"/>
              </a:rPr>
              <a:t>:     </a:t>
            </a:r>
            <a:r>
              <a:rPr lang="en-US" altLang="zh-CN" sz="3200" b="1" dirty="0">
                <a:solidFill>
                  <a:srgbClr val="FF0000"/>
                </a:solidFill>
                <a:ea typeface="楷体_GB2312" pitchFamily="49" charset="-122"/>
              </a:rPr>
              <a:t>     </a:t>
            </a:r>
          </a:p>
        </p:txBody>
      </p:sp>
      <p:sp>
        <p:nvSpPr>
          <p:cNvPr id="72708" name="Text Box 3"/>
          <p:cNvSpPr txBox="1">
            <a:spLocks noChangeArrowheads="1"/>
          </p:cNvSpPr>
          <p:nvPr/>
        </p:nvSpPr>
        <p:spPr bwMode="auto">
          <a:xfrm>
            <a:off x="137835" y="3644325"/>
            <a:ext cx="1144865"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结论</a:t>
            </a:r>
            <a:r>
              <a:rPr lang="en-US" altLang="zh-CN" sz="3200" dirty="0">
                <a:solidFill>
                  <a:srgbClr val="000000"/>
                </a:solidFill>
                <a:ea typeface="楷体_GB2312" pitchFamily="49" charset="-122"/>
              </a:rPr>
              <a:t>:</a:t>
            </a:r>
          </a:p>
        </p:txBody>
      </p:sp>
      <p:sp>
        <p:nvSpPr>
          <p:cNvPr id="72709" name="Text Box 4"/>
          <p:cNvSpPr txBox="1">
            <a:spLocks noChangeArrowheads="1"/>
          </p:cNvSpPr>
          <p:nvPr/>
        </p:nvSpPr>
        <p:spPr bwMode="auto">
          <a:xfrm>
            <a:off x="704850" y="4222175"/>
            <a:ext cx="6764924" cy="584775"/>
          </a:xfrm>
          <a:prstGeom prst="rect">
            <a:avLst/>
          </a:prstGeom>
          <a:noFill/>
          <a:ln w="9525">
            <a:noFill/>
            <a:miter lim="800000"/>
            <a:headEnd/>
            <a:tailEnd/>
          </a:ln>
        </p:spPr>
        <p:txBody>
          <a:bodyPr wrap="square">
            <a:spAutoFit/>
          </a:bodyPr>
          <a:lstStyle/>
          <a:p>
            <a:r>
              <a:rPr lang="en-US" altLang="zh-CN" sz="3200" dirty="0">
                <a:solidFill>
                  <a:srgbClr val="000000"/>
                </a:solidFill>
                <a:ea typeface="楷体_GB2312" pitchFamily="49" charset="-122"/>
              </a:rPr>
              <a:t>1</a:t>
            </a:r>
            <a:r>
              <a:rPr lang="zh-CN" altLang="en-US" sz="3200" dirty="0">
                <a:solidFill>
                  <a:srgbClr val="000000"/>
                </a:solidFill>
                <a:ea typeface="楷体_GB2312" pitchFamily="49" charset="-122"/>
              </a:rPr>
              <a:t>）操作数之间的相对次序不变</a:t>
            </a:r>
            <a:r>
              <a:rPr lang="en-US" altLang="zh-CN" sz="3200" dirty="0">
                <a:solidFill>
                  <a:srgbClr val="000000"/>
                </a:solidFill>
                <a:ea typeface="楷体_GB2312" pitchFamily="49" charset="-122"/>
              </a:rPr>
              <a:t>;</a:t>
            </a:r>
          </a:p>
        </p:txBody>
      </p:sp>
      <p:sp>
        <p:nvSpPr>
          <p:cNvPr id="72710" name="Text Box 5"/>
          <p:cNvSpPr txBox="1">
            <a:spLocks noChangeArrowheads="1"/>
          </p:cNvSpPr>
          <p:nvPr/>
        </p:nvSpPr>
        <p:spPr bwMode="auto">
          <a:xfrm>
            <a:off x="755650" y="4844475"/>
            <a:ext cx="5817260" cy="584775"/>
          </a:xfrm>
          <a:prstGeom prst="rect">
            <a:avLst/>
          </a:prstGeom>
          <a:noFill/>
          <a:ln w="9525">
            <a:noFill/>
            <a:miter lim="800000"/>
            <a:headEnd/>
            <a:tailEnd/>
          </a:ln>
        </p:spPr>
        <p:txBody>
          <a:bodyPr wrap="square">
            <a:spAutoFit/>
          </a:bodyPr>
          <a:lstStyle/>
          <a:p>
            <a:r>
              <a:rPr lang="en-US" altLang="zh-CN" sz="3200" dirty="0">
                <a:solidFill>
                  <a:srgbClr val="000000"/>
                </a:solidFill>
                <a:ea typeface="楷体_GB2312" pitchFamily="49" charset="-122"/>
              </a:rPr>
              <a:t>2</a:t>
            </a:r>
            <a:r>
              <a:rPr lang="zh-CN" altLang="en-US" sz="3200" dirty="0">
                <a:solidFill>
                  <a:srgbClr val="000000"/>
                </a:solidFill>
                <a:ea typeface="楷体_GB2312" pitchFamily="49" charset="-122"/>
              </a:rPr>
              <a:t>）运算符的相对次序不同</a:t>
            </a:r>
            <a:r>
              <a:rPr lang="en-US" altLang="zh-CN" sz="3200" dirty="0">
                <a:solidFill>
                  <a:srgbClr val="000000"/>
                </a:solidFill>
                <a:ea typeface="楷体_GB2312" pitchFamily="49" charset="-122"/>
              </a:rPr>
              <a:t>;</a:t>
            </a:r>
          </a:p>
        </p:txBody>
      </p:sp>
      <p:sp>
        <p:nvSpPr>
          <p:cNvPr id="72711" name="Text Box 6"/>
          <p:cNvSpPr txBox="1">
            <a:spLocks noChangeArrowheads="1"/>
          </p:cNvSpPr>
          <p:nvPr/>
        </p:nvSpPr>
        <p:spPr bwMode="auto">
          <a:xfrm>
            <a:off x="-146050" y="5391725"/>
            <a:ext cx="8273445" cy="1077218"/>
          </a:xfrm>
          <a:prstGeom prst="rect">
            <a:avLst/>
          </a:prstGeom>
          <a:noFill/>
          <a:ln w="9525">
            <a:noFill/>
            <a:miter lim="800000"/>
            <a:headEnd/>
            <a:tailEnd/>
          </a:ln>
        </p:spPr>
        <p:txBody>
          <a:bodyPr wrap="square">
            <a:spAutoFit/>
          </a:bodyPr>
          <a:lstStyle/>
          <a:p>
            <a:pPr lvl="2" eaLnBrk="0" hangingPunct="0"/>
            <a:r>
              <a:rPr lang="en-US" altLang="zh-CN" sz="3200" dirty="0">
                <a:solidFill>
                  <a:srgbClr val="000000"/>
                </a:solidFill>
              </a:rPr>
              <a:t>3</a:t>
            </a:r>
            <a:r>
              <a:rPr lang="zh-CN" altLang="en-US" sz="3200" dirty="0">
                <a:solidFill>
                  <a:srgbClr val="000000"/>
                </a:solidFill>
              </a:rPr>
              <a:t>）</a:t>
            </a:r>
            <a:r>
              <a:rPr lang="zh-CN" altLang="en-US" sz="3200" dirty="0">
                <a:solidFill>
                  <a:srgbClr val="000000"/>
                </a:solidFill>
                <a:ea typeface="楷体_GB2312" pitchFamily="49" charset="-122"/>
              </a:rPr>
              <a:t>中缀式丢失了括弧信息，致使运算的次序不确定</a:t>
            </a:r>
            <a:r>
              <a:rPr lang="en-US" altLang="zh-CN" sz="3200" dirty="0">
                <a:solidFill>
                  <a:srgbClr val="000000"/>
                </a:solidFill>
                <a:ea typeface="楷体_GB2312" pitchFamily="49" charset="-122"/>
              </a:rPr>
              <a:t>;</a:t>
            </a:r>
          </a:p>
        </p:txBody>
      </p:sp>
      <p:sp>
        <p:nvSpPr>
          <p:cNvPr id="72712" name="Text Box 8"/>
          <p:cNvSpPr txBox="1">
            <a:spLocks noChangeArrowheads="1"/>
          </p:cNvSpPr>
          <p:nvPr/>
        </p:nvSpPr>
        <p:spPr bwMode="auto">
          <a:xfrm>
            <a:off x="3771900" y="2006600"/>
            <a:ext cx="3946914" cy="1791260"/>
          </a:xfrm>
          <a:prstGeom prst="rect">
            <a:avLst/>
          </a:prstGeom>
          <a:noFill/>
          <a:ln w="9525">
            <a:noFill/>
            <a:miter lim="800000"/>
            <a:headEnd/>
            <a:tailEnd/>
          </a:ln>
        </p:spPr>
        <p:txBody>
          <a:bodyPr wrap="none">
            <a:spAutoFit/>
          </a:bodyPr>
          <a:lstStyle/>
          <a:p>
            <a:pPr eaLnBrk="0" hangingPunct="0">
              <a:lnSpc>
                <a:spcPct val="115000"/>
              </a:lnSpc>
            </a:pPr>
            <a:r>
              <a:rPr lang="en-US" altLang="zh-CN" sz="3200" dirty="0">
                <a:ea typeface="楷体_GB2312" pitchFamily="49" charset="-122"/>
              </a:rPr>
              <a:t> </a:t>
            </a:r>
            <a:r>
              <a:rPr lang="en-US" altLang="zh-CN" sz="3200" b="1" dirty="0">
                <a:solidFill>
                  <a:srgbClr val="FF0000"/>
                </a:solidFill>
                <a:ea typeface="楷体_GB2312" pitchFamily="49" charset="-122"/>
              </a:rPr>
              <a:t>+</a:t>
            </a:r>
            <a:r>
              <a:rPr lang="en-US" altLang="zh-CN" sz="3200" dirty="0">
                <a:ea typeface="楷体_GB2312" pitchFamily="49" charset="-122"/>
              </a:rPr>
              <a:t> </a:t>
            </a:r>
            <a:r>
              <a:rPr lang="en-US" altLang="zh-CN" sz="3200" u="sng" dirty="0">
                <a:solidFill>
                  <a:srgbClr val="800000"/>
                </a:solidFill>
                <a:ea typeface="楷体_GB2312" pitchFamily="49" charset="-122"/>
                <a:sym typeface="Symbol" pitchFamily="18" charset="2"/>
              </a:rPr>
              <a:t></a:t>
            </a:r>
            <a:r>
              <a:rPr lang="en-US" altLang="zh-CN" sz="3200" u="sng" dirty="0">
                <a:solidFill>
                  <a:srgbClr val="800000"/>
                </a:solidFill>
                <a:ea typeface="楷体_GB2312" pitchFamily="49" charset="-122"/>
              </a:rPr>
              <a:t> a b</a:t>
            </a:r>
            <a:r>
              <a:rPr lang="en-US" altLang="zh-CN" sz="3200" dirty="0">
                <a:ea typeface="楷体_GB2312" pitchFamily="49" charset="-122"/>
              </a:rPr>
              <a:t>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c / d e f</a:t>
            </a:r>
            <a:endParaRPr lang="en-US" altLang="zh-CN" sz="3200" dirty="0">
              <a:ea typeface="楷体_GB2312" pitchFamily="49" charset="-122"/>
            </a:endParaRPr>
          </a:p>
          <a:p>
            <a:pPr eaLnBrk="0" hangingPunct="0">
              <a:lnSpc>
                <a:spcPct val="115000"/>
              </a:lnSpc>
            </a:pPr>
            <a:r>
              <a:rPr lang="en-US" altLang="zh-CN" sz="3200" dirty="0">
                <a:solidFill>
                  <a:srgbClr val="800000"/>
                </a:solidFill>
                <a:ea typeface="楷体_GB2312" pitchFamily="49" charset="-122"/>
              </a:rPr>
              <a:t> </a:t>
            </a:r>
            <a:r>
              <a:rPr lang="en-US" altLang="zh-CN" sz="3200" u="sng" dirty="0">
                <a:solidFill>
                  <a:srgbClr val="800000"/>
                </a:solidFill>
                <a:ea typeface="楷体_GB2312" pitchFamily="49" charset="-122"/>
              </a:rPr>
              <a:t>a </a:t>
            </a:r>
            <a:r>
              <a:rPr lang="en-US" altLang="zh-CN" sz="3200" u="sng" dirty="0">
                <a:solidFill>
                  <a:srgbClr val="800000"/>
                </a:solidFill>
                <a:ea typeface="楷体_GB2312" pitchFamily="49" charset="-122"/>
                <a:sym typeface="Symbol" pitchFamily="18" charset="2"/>
              </a:rPr>
              <a:t></a:t>
            </a:r>
            <a:r>
              <a:rPr lang="en-US" altLang="zh-CN" sz="3200" u="sng" dirty="0">
                <a:solidFill>
                  <a:srgbClr val="800000"/>
                </a:solidFill>
                <a:ea typeface="楷体_GB2312" pitchFamily="49" charset="-122"/>
              </a:rPr>
              <a:t> b</a:t>
            </a:r>
            <a:r>
              <a:rPr lang="en-US" altLang="zh-CN" sz="3200" dirty="0">
                <a:ea typeface="楷体_GB2312" pitchFamily="49" charset="-122"/>
              </a:rPr>
              <a:t> </a:t>
            </a:r>
            <a:r>
              <a:rPr lang="en-US" altLang="zh-CN" sz="3200" b="1" dirty="0">
                <a:solidFill>
                  <a:srgbClr val="FF0000"/>
                </a:solidFill>
                <a:ea typeface="楷体_GB2312" pitchFamily="49" charset="-122"/>
              </a:rPr>
              <a:t>+</a:t>
            </a:r>
            <a:r>
              <a:rPr lang="en-US" altLang="zh-CN" sz="3200" dirty="0">
                <a:ea typeface="楷体_GB2312" pitchFamily="49" charset="-122"/>
              </a:rPr>
              <a:t> </a:t>
            </a:r>
            <a:r>
              <a:rPr lang="en-US" altLang="zh-CN" sz="3200" u="sng" dirty="0">
                <a:solidFill>
                  <a:srgbClr val="008080"/>
                </a:solidFill>
                <a:ea typeface="楷体_GB2312" pitchFamily="49" charset="-122"/>
              </a:rPr>
              <a:t>c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d / e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f</a:t>
            </a:r>
            <a:endParaRPr lang="en-US" altLang="zh-CN" sz="3200" dirty="0">
              <a:ea typeface="楷体_GB2312" pitchFamily="49" charset="-122"/>
            </a:endParaRPr>
          </a:p>
          <a:p>
            <a:pPr eaLnBrk="0" hangingPunct="0">
              <a:lnSpc>
                <a:spcPct val="115000"/>
              </a:lnSpc>
            </a:pPr>
            <a:r>
              <a:rPr lang="en-US" altLang="zh-CN" sz="3200" dirty="0">
                <a:solidFill>
                  <a:srgbClr val="800000"/>
                </a:solidFill>
                <a:ea typeface="楷体_GB2312" pitchFamily="49" charset="-122"/>
              </a:rPr>
              <a:t> </a:t>
            </a:r>
            <a:r>
              <a:rPr lang="en-US" altLang="zh-CN" sz="3200" u="sng" dirty="0">
                <a:solidFill>
                  <a:srgbClr val="800000"/>
                </a:solidFill>
                <a:ea typeface="楷体_GB2312" pitchFamily="49" charset="-122"/>
              </a:rPr>
              <a:t>a b </a:t>
            </a:r>
            <a:r>
              <a:rPr lang="en-US" altLang="zh-CN" sz="3200" u="sng" dirty="0">
                <a:solidFill>
                  <a:srgbClr val="800000"/>
                </a:solidFill>
                <a:ea typeface="楷体_GB2312" pitchFamily="49" charset="-122"/>
                <a:sym typeface="Symbol" pitchFamily="18" charset="2"/>
              </a:rPr>
              <a:t></a:t>
            </a:r>
            <a:r>
              <a:rPr lang="en-US" altLang="zh-CN" sz="3200" dirty="0">
                <a:ea typeface="楷体_GB2312" pitchFamily="49" charset="-122"/>
              </a:rPr>
              <a:t> </a:t>
            </a:r>
            <a:r>
              <a:rPr lang="en-US" altLang="zh-CN" sz="3200" u="sng" dirty="0">
                <a:solidFill>
                  <a:srgbClr val="008080"/>
                </a:solidFill>
                <a:ea typeface="楷体_GB2312" pitchFamily="49" charset="-122"/>
              </a:rPr>
              <a:t>c d e / </a:t>
            </a:r>
            <a:r>
              <a:rPr lang="en-US" altLang="zh-CN" sz="3200" u="sng" dirty="0">
                <a:solidFill>
                  <a:srgbClr val="008080"/>
                </a:solidFill>
                <a:ea typeface="楷体_GB2312" pitchFamily="49" charset="-122"/>
                <a:sym typeface="Symbol" pitchFamily="18" charset="2"/>
              </a:rPr>
              <a:t></a:t>
            </a:r>
            <a:r>
              <a:rPr lang="en-US" altLang="zh-CN" sz="3200" u="sng" dirty="0">
                <a:solidFill>
                  <a:srgbClr val="008080"/>
                </a:solidFill>
                <a:ea typeface="楷体_GB2312" pitchFamily="49" charset="-122"/>
              </a:rPr>
              <a:t> f </a:t>
            </a:r>
            <a:r>
              <a:rPr lang="en-US" altLang="zh-CN" sz="3200" u="sng" dirty="0">
                <a:solidFill>
                  <a:srgbClr val="008080"/>
                </a:solidFill>
                <a:ea typeface="楷体_GB2312" pitchFamily="49" charset="-122"/>
                <a:sym typeface="Symbol" pitchFamily="18" charset="2"/>
              </a:rPr>
              <a:t></a:t>
            </a:r>
            <a:r>
              <a:rPr lang="en-US" altLang="zh-CN" sz="3200" dirty="0">
                <a:ea typeface="楷体_GB2312" pitchFamily="49" charset="-122"/>
              </a:rPr>
              <a:t> </a:t>
            </a:r>
            <a:r>
              <a:rPr lang="en-US" altLang="zh-CN" sz="3200" b="1" dirty="0">
                <a:solidFill>
                  <a:srgbClr val="FF0000"/>
                </a:solidFill>
                <a:ea typeface="楷体_GB2312" pitchFamily="49" charset="-122"/>
              </a:rPr>
              <a:t>+     </a:t>
            </a:r>
          </a:p>
        </p:txBody>
      </p:sp>
      <p:sp>
        <p:nvSpPr>
          <p:cNvPr id="9" name="Text Box 4">
            <a:hlinkClick r:id="rId3"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41816518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2708"/>
                                        </p:tgtEl>
                                        <p:attrNameLst>
                                          <p:attrName>style.visibility</p:attrName>
                                        </p:attrNameLst>
                                      </p:cBhvr>
                                      <p:to>
                                        <p:strVal val="visible"/>
                                      </p:to>
                                    </p:set>
                                    <p:animEffect transition="in" filter="slide(fromBottom)">
                                      <p:cBhvr>
                                        <p:cTn id="7" dur="500"/>
                                        <p:tgtEl>
                                          <p:spTgt spid="7270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2709"/>
                                        </p:tgtEl>
                                        <p:attrNameLst>
                                          <p:attrName>style.visibility</p:attrName>
                                        </p:attrNameLst>
                                      </p:cBhvr>
                                      <p:to>
                                        <p:strVal val="visible"/>
                                      </p:to>
                                    </p:set>
                                    <p:animEffect transition="in" filter="slide(fromBottom)">
                                      <p:cBhvr>
                                        <p:cTn id="12" dur="500"/>
                                        <p:tgtEl>
                                          <p:spTgt spid="7270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2710"/>
                                        </p:tgtEl>
                                        <p:attrNameLst>
                                          <p:attrName>style.visibility</p:attrName>
                                        </p:attrNameLst>
                                      </p:cBhvr>
                                      <p:to>
                                        <p:strVal val="visible"/>
                                      </p:to>
                                    </p:set>
                                    <p:animEffect transition="in" filter="slide(fromBottom)">
                                      <p:cBhvr>
                                        <p:cTn id="17" dur="500"/>
                                        <p:tgtEl>
                                          <p:spTgt spid="7271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2711"/>
                                        </p:tgtEl>
                                        <p:attrNameLst>
                                          <p:attrName>style.visibility</p:attrName>
                                        </p:attrNameLst>
                                      </p:cBhvr>
                                      <p:to>
                                        <p:strVal val="visible"/>
                                      </p:to>
                                    </p:set>
                                    <p:animEffect transition="in" filter="slide(fromBottom)">
                                      <p:cBhvr>
                                        <p:cTn id="22" dur="500"/>
                                        <p:tgtEl>
                                          <p:spTgt spid="72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p:bldP spid="72709" grpId="0"/>
      <p:bldP spid="72710" grpId="0"/>
      <p:bldP spid="72711" grpId="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p:spPr>
        <p:txBody>
          <a:bodyPr/>
          <a:lstStyle/>
          <a:p>
            <a:fld id="{086C3565-263E-436D-A01B-BAFED7D95EF1}" type="slidenum">
              <a:rPr lang="en-US" altLang="zh-CN"/>
              <a:pPr/>
              <a:t>66</a:t>
            </a:fld>
            <a:endParaRPr lang="en-US" altLang="zh-CN"/>
          </a:p>
        </p:txBody>
      </p:sp>
      <p:sp>
        <p:nvSpPr>
          <p:cNvPr id="73731" name="Text Box 2"/>
          <p:cNvSpPr txBox="1">
            <a:spLocks noChangeArrowheads="1"/>
          </p:cNvSpPr>
          <p:nvPr/>
        </p:nvSpPr>
        <p:spPr bwMode="auto">
          <a:xfrm>
            <a:off x="511175" y="3740150"/>
            <a:ext cx="8632825" cy="2160591"/>
          </a:xfrm>
          <a:prstGeom prst="rect">
            <a:avLst/>
          </a:prstGeom>
          <a:noFill/>
          <a:ln w="9525">
            <a:noFill/>
            <a:miter lim="800000"/>
            <a:headEnd/>
            <a:tailEnd/>
          </a:ln>
        </p:spPr>
        <p:txBody>
          <a:bodyPr>
            <a:spAutoFit/>
          </a:bodyPr>
          <a:lstStyle/>
          <a:p>
            <a:pPr marL="0" lvl="2" eaLnBrk="0" hangingPunct="0"/>
            <a:r>
              <a:rPr lang="en-US" altLang="zh-CN" sz="3200" dirty="0">
                <a:solidFill>
                  <a:srgbClr val="000000"/>
                </a:solidFill>
              </a:rPr>
              <a:t>5)</a:t>
            </a:r>
            <a:r>
              <a:rPr lang="zh-CN" altLang="en-US" sz="3200" dirty="0">
                <a:solidFill>
                  <a:srgbClr val="FF0000"/>
                </a:solidFill>
                <a:ea typeface="楷体_GB2312" pitchFamily="49" charset="-122"/>
              </a:rPr>
              <a:t>后缀式</a:t>
            </a:r>
            <a:r>
              <a:rPr lang="zh-CN" altLang="en-US" sz="3200" dirty="0">
                <a:solidFill>
                  <a:srgbClr val="000000"/>
                </a:solidFill>
                <a:ea typeface="楷体_GB2312" pitchFamily="49" charset="-122"/>
              </a:rPr>
              <a:t>的运算规则为</a:t>
            </a:r>
            <a:r>
              <a:rPr lang="en-US" altLang="zh-CN" sz="3200" dirty="0">
                <a:solidFill>
                  <a:srgbClr val="000000"/>
                </a:solidFill>
                <a:ea typeface="楷体_GB2312" pitchFamily="49" charset="-122"/>
              </a:rPr>
              <a:t>:</a:t>
            </a:r>
          </a:p>
          <a:p>
            <a:pPr eaLnBrk="0" hangingPunct="0">
              <a:spcBef>
                <a:spcPct val="20000"/>
              </a:spcBef>
            </a:pP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每个运算符和在它之前出现 且紧靠它 的两个操作数构成一个最小表达式</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运算符在表达式中出现的顺序恰为表达式的运算顺序。</a:t>
            </a:r>
          </a:p>
        </p:txBody>
      </p:sp>
      <p:sp>
        <p:nvSpPr>
          <p:cNvPr id="73732" name="Text Box 3"/>
          <p:cNvSpPr txBox="1">
            <a:spLocks noChangeArrowheads="1"/>
          </p:cNvSpPr>
          <p:nvPr/>
        </p:nvSpPr>
        <p:spPr bwMode="auto">
          <a:xfrm>
            <a:off x="527050" y="1873250"/>
            <a:ext cx="8686800" cy="1623906"/>
          </a:xfrm>
          <a:prstGeom prst="rect">
            <a:avLst/>
          </a:prstGeom>
          <a:noFill/>
          <a:ln w="9525">
            <a:noFill/>
            <a:miter lim="800000"/>
            <a:headEnd/>
            <a:tailEnd/>
          </a:ln>
        </p:spPr>
        <p:txBody>
          <a:bodyPr>
            <a:spAutoFit/>
          </a:bodyPr>
          <a:lstStyle/>
          <a:p>
            <a:pPr marL="0" lvl="2" eaLnBrk="0" hangingPunct="0"/>
            <a:r>
              <a:rPr lang="en-US" altLang="zh-CN" sz="3200" dirty="0">
                <a:solidFill>
                  <a:srgbClr val="000000"/>
                </a:solidFill>
              </a:rPr>
              <a:t>4)</a:t>
            </a:r>
            <a:r>
              <a:rPr lang="zh-CN" altLang="en-US" sz="3200" dirty="0">
                <a:solidFill>
                  <a:srgbClr val="FF0000"/>
                </a:solidFill>
                <a:ea typeface="楷体_GB2312" pitchFamily="49" charset="-122"/>
              </a:rPr>
              <a:t>前缀式</a:t>
            </a:r>
            <a:r>
              <a:rPr lang="zh-CN" altLang="en-US" sz="3200" dirty="0">
                <a:solidFill>
                  <a:srgbClr val="000000"/>
                </a:solidFill>
                <a:ea typeface="楷体_GB2312" pitchFamily="49" charset="-122"/>
              </a:rPr>
              <a:t>的运算规则为</a:t>
            </a:r>
            <a:r>
              <a:rPr lang="en-US" altLang="zh-CN" sz="3200" dirty="0">
                <a:solidFill>
                  <a:srgbClr val="000000"/>
                </a:solidFill>
                <a:ea typeface="楷体_GB2312" pitchFamily="49" charset="-122"/>
              </a:rPr>
              <a:t>:</a:t>
            </a:r>
          </a:p>
          <a:p>
            <a:pPr marL="0" lvl="2" eaLnBrk="0" hangingPunct="0">
              <a:lnSpc>
                <a:spcPct val="110000"/>
              </a:lnSpc>
            </a:pP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连续出现的两个操作数和在它们之前且紧靠它们的运算符构成一个最小表达式</a:t>
            </a:r>
            <a:r>
              <a:rPr lang="en-US" altLang="zh-CN" sz="3200" dirty="0">
                <a:solidFill>
                  <a:srgbClr val="000000"/>
                </a:solidFill>
                <a:ea typeface="楷体_GB2312" pitchFamily="49" charset="-122"/>
              </a:rPr>
              <a:t>;</a:t>
            </a:r>
            <a:endParaRPr lang="en-US" altLang="zh-CN" sz="3200" dirty="0">
              <a:solidFill>
                <a:srgbClr val="000000"/>
              </a:solidFill>
            </a:endParaRPr>
          </a:p>
        </p:txBody>
      </p:sp>
      <p:sp>
        <p:nvSpPr>
          <p:cNvPr id="5"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28699468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slide(fromBottom)">
                                      <p:cBhvr>
                                        <p:cTn id="7" dur="500"/>
                                        <p:tgtEl>
                                          <p:spTgt spid="73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Lst>
  </p:timing>
</p:sld>
</file>

<file path=ppt/slides/slide6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p:spPr>
        <p:txBody>
          <a:bodyPr/>
          <a:lstStyle/>
          <a:p>
            <a:fld id="{A3BE5B90-EEDE-4210-A4E0-D7391302AF33}" type="slidenum">
              <a:rPr lang="en-US" altLang="zh-CN"/>
              <a:pPr/>
              <a:t>67</a:t>
            </a:fld>
            <a:endParaRPr lang="en-US" altLang="zh-CN"/>
          </a:p>
        </p:txBody>
      </p:sp>
      <p:sp>
        <p:nvSpPr>
          <p:cNvPr id="74755" name="Rectangle 2"/>
          <p:cNvSpPr>
            <a:spLocks noGrp="1" noChangeArrowheads="1"/>
          </p:cNvSpPr>
          <p:nvPr>
            <p:ph type="ctrTitle" idx="4294967295"/>
          </p:nvPr>
        </p:nvSpPr>
        <p:spPr>
          <a:xfrm>
            <a:off x="215900" y="1917700"/>
            <a:ext cx="5149850" cy="698500"/>
          </a:xfrm>
        </p:spPr>
        <p:txBody>
          <a:bodyPr/>
          <a:lstStyle/>
          <a:p>
            <a:pPr algn="l" eaLnBrk="1" hangingPunct="1"/>
            <a:r>
              <a:rPr lang="zh-CN" altLang="en-US" sz="3200" dirty="0">
                <a:solidFill>
                  <a:srgbClr val="000000"/>
                </a:solidFill>
                <a:ea typeface="幼圆" pitchFamily="49" charset="-122"/>
              </a:rPr>
              <a:t>如何从后缀式求值？</a:t>
            </a:r>
            <a:endParaRPr lang="zh-CN" altLang="en-US" sz="3200" dirty="0">
              <a:solidFill>
                <a:srgbClr val="000000"/>
              </a:solidFill>
            </a:endParaRPr>
          </a:p>
        </p:txBody>
      </p:sp>
      <p:sp>
        <p:nvSpPr>
          <p:cNvPr id="74756" name="Rectangle 3"/>
          <p:cNvSpPr>
            <a:spLocks noGrp="1" noChangeArrowheads="1"/>
          </p:cNvSpPr>
          <p:nvPr>
            <p:ph type="subTitle" idx="4294967295"/>
          </p:nvPr>
        </p:nvSpPr>
        <p:spPr>
          <a:xfrm>
            <a:off x="3905250" y="2006600"/>
            <a:ext cx="5238750" cy="596900"/>
          </a:xfrm>
        </p:spPr>
        <p:txBody>
          <a:bodyPr/>
          <a:lstStyle/>
          <a:p>
            <a:pPr eaLnBrk="1" hangingPunct="1">
              <a:buNone/>
            </a:pPr>
            <a:r>
              <a:rPr lang="zh-CN" altLang="en-US" dirty="0">
                <a:solidFill>
                  <a:srgbClr val="000000"/>
                </a:solidFill>
                <a:ea typeface="楷体_GB2312" pitchFamily="49" charset="-122"/>
              </a:rPr>
              <a:t>先找运算符， 再找操作数</a:t>
            </a:r>
            <a:endParaRPr lang="zh-CN" altLang="en-US" dirty="0">
              <a:solidFill>
                <a:srgbClr val="000000"/>
              </a:solidFill>
            </a:endParaRPr>
          </a:p>
        </p:txBody>
      </p:sp>
      <p:sp>
        <p:nvSpPr>
          <p:cNvPr id="74757" name="Text Box 4"/>
          <p:cNvSpPr txBox="1">
            <a:spLocks noChangeArrowheads="1"/>
          </p:cNvSpPr>
          <p:nvPr/>
        </p:nvSpPr>
        <p:spPr bwMode="auto">
          <a:xfrm>
            <a:off x="533400" y="2930525"/>
            <a:ext cx="5868914" cy="1200329"/>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例如：</a:t>
            </a:r>
          </a:p>
          <a:p>
            <a:r>
              <a:rPr lang="zh-CN" altLang="en-US" sz="4000" b="1" dirty="0">
                <a:solidFill>
                  <a:srgbClr val="A50021"/>
                </a:solidFill>
                <a:ea typeface="楷体_GB2312" pitchFamily="49" charset="-122"/>
              </a:rPr>
              <a:t>             </a:t>
            </a:r>
            <a:r>
              <a:rPr lang="en-US" altLang="zh-CN" sz="4000" b="1" dirty="0">
                <a:solidFill>
                  <a:srgbClr val="A50021"/>
                </a:solidFill>
                <a:ea typeface="楷体_GB2312" pitchFamily="49" charset="-122"/>
              </a:rPr>
              <a:t>a b </a:t>
            </a:r>
            <a:r>
              <a:rPr lang="en-US" altLang="zh-CN" sz="4000" b="1" dirty="0">
                <a:solidFill>
                  <a:srgbClr val="A50021"/>
                </a:solidFill>
                <a:ea typeface="楷体_GB2312" pitchFamily="49" charset="-122"/>
                <a:sym typeface="Symbol" pitchFamily="18" charset="2"/>
              </a:rPr>
              <a:t></a:t>
            </a:r>
            <a:r>
              <a:rPr lang="en-US" altLang="zh-CN" sz="4000" b="1" dirty="0">
                <a:solidFill>
                  <a:srgbClr val="A50021"/>
                </a:solidFill>
                <a:ea typeface="楷体_GB2312" pitchFamily="49" charset="-122"/>
              </a:rPr>
              <a:t> c d e / </a:t>
            </a:r>
            <a:r>
              <a:rPr lang="en-US" altLang="zh-CN" sz="4000" b="1" dirty="0">
                <a:solidFill>
                  <a:srgbClr val="A50021"/>
                </a:solidFill>
                <a:ea typeface="楷体_GB2312" pitchFamily="49" charset="-122"/>
                <a:sym typeface="Symbol" pitchFamily="18" charset="2"/>
              </a:rPr>
              <a:t></a:t>
            </a:r>
            <a:r>
              <a:rPr lang="en-US" altLang="zh-CN" sz="4000" b="1" dirty="0">
                <a:solidFill>
                  <a:srgbClr val="A50021"/>
                </a:solidFill>
                <a:ea typeface="楷体_GB2312" pitchFamily="49" charset="-122"/>
              </a:rPr>
              <a:t> f </a:t>
            </a:r>
            <a:r>
              <a:rPr lang="en-US" altLang="zh-CN" sz="4000" b="1" dirty="0">
                <a:solidFill>
                  <a:srgbClr val="A50021"/>
                </a:solidFill>
                <a:ea typeface="楷体_GB2312" pitchFamily="49" charset="-122"/>
                <a:sym typeface="Symbol" pitchFamily="18" charset="2"/>
              </a:rPr>
              <a:t></a:t>
            </a:r>
            <a:r>
              <a:rPr lang="en-US" altLang="zh-CN" sz="4000" b="1" dirty="0">
                <a:solidFill>
                  <a:srgbClr val="A50021"/>
                </a:solidFill>
                <a:ea typeface="楷体_GB2312" pitchFamily="49" charset="-122"/>
              </a:rPr>
              <a:t> +</a:t>
            </a:r>
            <a:endParaRPr lang="en-US" altLang="zh-CN" sz="4000" b="1" dirty="0">
              <a:solidFill>
                <a:srgbClr val="FF0000"/>
              </a:solidFill>
              <a:ea typeface="楷体_GB2312" pitchFamily="49" charset="-122"/>
            </a:endParaRPr>
          </a:p>
        </p:txBody>
      </p:sp>
      <p:sp>
        <p:nvSpPr>
          <p:cNvPr id="74758" name="Line 5"/>
          <p:cNvSpPr>
            <a:spLocks noChangeShapeType="1"/>
          </p:cNvSpPr>
          <p:nvPr/>
        </p:nvSpPr>
        <p:spPr bwMode="auto">
          <a:xfrm>
            <a:off x="2209800" y="4241800"/>
            <a:ext cx="1219200" cy="0"/>
          </a:xfrm>
          <a:prstGeom prst="line">
            <a:avLst/>
          </a:prstGeom>
          <a:noFill/>
          <a:ln w="38100">
            <a:solidFill>
              <a:srgbClr val="003366"/>
            </a:solidFill>
            <a:round/>
            <a:headEnd/>
            <a:tailEnd/>
          </a:ln>
        </p:spPr>
        <p:txBody>
          <a:bodyPr wrap="none" anchor="ctr"/>
          <a:lstStyle/>
          <a:p>
            <a:endParaRPr lang="zh-CN" altLang="en-US"/>
          </a:p>
        </p:txBody>
      </p:sp>
      <p:sp>
        <p:nvSpPr>
          <p:cNvPr id="74759" name="Line 6"/>
          <p:cNvSpPr>
            <a:spLocks noChangeShapeType="1"/>
          </p:cNvSpPr>
          <p:nvPr/>
        </p:nvSpPr>
        <p:spPr bwMode="auto">
          <a:xfrm>
            <a:off x="3810000" y="4470400"/>
            <a:ext cx="914400" cy="0"/>
          </a:xfrm>
          <a:prstGeom prst="line">
            <a:avLst/>
          </a:prstGeom>
          <a:noFill/>
          <a:ln w="38100">
            <a:solidFill>
              <a:srgbClr val="003366"/>
            </a:solidFill>
            <a:round/>
            <a:headEnd/>
            <a:tailEnd/>
          </a:ln>
        </p:spPr>
        <p:txBody>
          <a:bodyPr wrap="none" anchor="ctr"/>
          <a:lstStyle/>
          <a:p>
            <a:endParaRPr lang="zh-CN" altLang="en-US"/>
          </a:p>
        </p:txBody>
      </p:sp>
      <p:sp>
        <p:nvSpPr>
          <p:cNvPr id="74760" name="Line 7"/>
          <p:cNvSpPr>
            <a:spLocks noChangeShapeType="1"/>
          </p:cNvSpPr>
          <p:nvPr/>
        </p:nvSpPr>
        <p:spPr bwMode="auto">
          <a:xfrm>
            <a:off x="3505200" y="4927600"/>
            <a:ext cx="1676400" cy="0"/>
          </a:xfrm>
          <a:prstGeom prst="line">
            <a:avLst/>
          </a:prstGeom>
          <a:noFill/>
          <a:ln w="38100">
            <a:solidFill>
              <a:srgbClr val="003366"/>
            </a:solidFill>
            <a:round/>
            <a:headEnd/>
            <a:tailEnd/>
          </a:ln>
        </p:spPr>
        <p:txBody>
          <a:bodyPr wrap="none" anchor="ctr"/>
          <a:lstStyle/>
          <a:p>
            <a:endParaRPr lang="zh-CN" altLang="en-US"/>
          </a:p>
        </p:txBody>
      </p:sp>
      <p:sp>
        <p:nvSpPr>
          <p:cNvPr id="74761" name="Line 8"/>
          <p:cNvSpPr>
            <a:spLocks noChangeShapeType="1"/>
          </p:cNvSpPr>
          <p:nvPr/>
        </p:nvSpPr>
        <p:spPr bwMode="auto">
          <a:xfrm>
            <a:off x="2209800" y="4089400"/>
            <a:ext cx="0" cy="152400"/>
          </a:xfrm>
          <a:prstGeom prst="line">
            <a:avLst/>
          </a:prstGeom>
          <a:noFill/>
          <a:ln w="38100">
            <a:solidFill>
              <a:srgbClr val="003366"/>
            </a:solidFill>
            <a:round/>
            <a:headEnd/>
            <a:tailEnd/>
          </a:ln>
        </p:spPr>
        <p:txBody>
          <a:bodyPr wrap="none" anchor="ctr"/>
          <a:lstStyle/>
          <a:p>
            <a:endParaRPr lang="zh-CN" altLang="en-US"/>
          </a:p>
        </p:txBody>
      </p:sp>
      <p:sp>
        <p:nvSpPr>
          <p:cNvPr id="74762" name="Line 9"/>
          <p:cNvSpPr>
            <a:spLocks noChangeShapeType="1"/>
          </p:cNvSpPr>
          <p:nvPr/>
        </p:nvSpPr>
        <p:spPr bwMode="auto">
          <a:xfrm>
            <a:off x="3429000" y="4089400"/>
            <a:ext cx="0" cy="152400"/>
          </a:xfrm>
          <a:prstGeom prst="line">
            <a:avLst/>
          </a:prstGeom>
          <a:noFill/>
          <a:ln w="38100">
            <a:solidFill>
              <a:srgbClr val="003366"/>
            </a:solidFill>
            <a:round/>
            <a:headEnd/>
            <a:tailEnd/>
          </a:ln>
        </p:spPr>
        <p:txBody>
          <a:bodyPr wrap="none" anchor="ctr"/>
          <a:lstStyle/>
          <a:p>
            <a:endParaRPr lang="zh-CN" altLang="en-US"/>
          </a:p>
        </p:txBody>
      </p:sp>
      <p:sp>
        <p:nvSpPr>
          <p:cNvPr id="74763" name="Line 10"/>
          <p:cNvSpPr>
            <a:spLocks noChangeShapeType="1"/>
          </p:cNvSpPr>
          <p:nvPr/>
        </p:nvSpPr>
        <p:spPr bwMode="auto">
          <a:xfrm>
            <a:off x="3810000" y="4318000"/>
            <a:ext cx="0" cy="152400"/>
          </a:xfrm>
          <a:prstGeom prst="line">
            <a:avLst/>
          </a:prstGeom>
          <a:noFill/>
          <a:ln w="38100">
            <a:solidFill>
              <a:srgbClr val="003366"/>
            </a:solidFill>
            <a:round/>
            <a:headEnd/>
            <a:tailEnd/>
          </a:ln>
        </p:spPr>
        <p:txBody>
          <a:bodyPr wrap="none" anchor="ctr"/>
          <a:lstStyle/>
          <a:p>
            <a:endParaRPr lang="zh-CN" altLang="en-US"/>
          </a:p>
        </p:txBody>
      </p:sp>
      <p:sp>
        <p:nvSpPr>
          <p:cNvPr id="74764" name="Line 11"/>
          <p:cNvSpPr>
            <a:spLocks noChangeShapeType="1"/>
          </p:cNvSpPr>
          <p:nvPr/>
        </p:nvSpPr>
        <p:spPr bwMode="auto">
          <a:xfrm>
            <a:off x="4724400" y="4318000"/>
            <a:ext cx="0" cy="152400"/>
          </a:xfrm>
          <a:prstGeom prst="line">
            <a:avLst/>
          </a:prstGeom>
          <a:noFill/>
          <a:ln w="38100">
            <a:solidFill>
              <a:srgbClr val="003366"/>
            </a:solidFill>
            <a:round/>
            <a:headEnd/>
            <a:tailEnd/>
          </a:ln>
        </p:spPr>
        <p:txBody>
          <a:bodyPr wrap="none" anchor="ctr"/>
          <a:lstStyle/>
          <a:p>
            <a:endParaRPr lang="zh-CN" altLang="en-US"/>
          </a:p>
        </p:txBody>
      </p:sp>
      <p:sp>
        <p:nvSpPr>
          <p:cNvPr id="74765" name="Line 12"/>
          <p:cNvSpPr>
            <a:spLocks noChangeShapeType="1"/>
          </p:cNvSpPr>
          <p:nvPr/>
        </p:nvSpPr>
        <p:spPr bwMode="auto">
          <a:xfrm>
            <a:off x="3505200" y="4775200"/>
            <a:ext cx="0" cy="152400"/>
          </a:xfrm>
          <a:prstGeom prst="line">
            <a:avLst/>
          </a:prstGeom>
          <a:noFill/>
          <a:ln w="38100">
            <a:solidFill>
              <a:srgbClr val="003366"/>
            </a:solidFill>
            <a:round/>
            <a:headEnd/>
            <a:tailEnd/>
          </a:ln>
        </p:spPr>
        <p:txBody>
          <a:bodyPr wrap="none" anchor="ctr"/>
          <a:lstStyle/>
          <a:p>
            <a:endParaRPr lang="zh-CN" altLang="en-US"/>
          </a:p>
        </p:txBody>
      </p:sp>
      <p:sp>
        <p:nvSpPr>
          <p:cNvPr id="74766" name="Line 13"/>
          <p:cNvSpPr>
            <a:spLocks noChangeShapeType="1"/>
          </p:cNvSpPr>
          <p:nvPr/>
        </p:nvSpPr>
        <p:spPr bwMode="auto">
          <a:xfrm>
            <a:off x="5181600" y="4775200"/>
            <a:ext cx="0" cy="152400"/>
          </a:xfrm>
          <a:prstGeom prst="line">
            <a:avLst/>
          </a:prstGeom>
          <a:noFill/>
          <a:ln w="38100">
            <a:solidFill>
              <a:srgbClr val="003366"/>
            </a:solidFill>
            <a:round/>
            <a:headEnd/>
            <a:tailEnd/>
          </a:ln>
        </p:spPr>
        <p:txBody>
          <a:bodyPr wrap="none" anchor="ctr"/>
          <a:lstStyle/>
          <a:p>
            <a:endParaRPr lang="zh-CN" altLang="en-US"/>
          </a:p>
        </p:txBody>
      </p:sp>
      <p:sp>
        <p:nvSpPr>
          <p:cNvPr id="74767" name="Line 14"/>
          <p:cNvSpPr>
            <a:spLocks noChangeShapeType="1"/>
          </p:cNvSpPr>
          <p:nvPr/>
        </p:nvSpPr>
        <p:spPr bwMode="auto">
          <a:xfrm>
            <a:off x="3505200" y="5384800"/>
            <a:ext cx="2362200" cy="0"/>
          </a:xfrm>
          <a:prstGeom prst="line">
            <a:avLst/>
          </a:prstGeom>
          <a:noFill/>
          <a:ln w="38100">
            <a:solidFill>
              <a:srgbClr val="003366"/>
            </a:solidFill>
            <a:round/>
            <a:headEnd/>
            <a:tailEnd/>
          </a:ln>
        </p:spPr>
        <p:txBody>
          <a:bodyPr wrap="none" anchor="ctr"/>
          <a:lstStyle/>
          <a:p>
            <a:endParaRPr lang="zh-CN" altLang="en-US"/>
          </a:p>
        </p:txBody>
      </p:sp>
      <p:sp>
        <p:nvSpPr>
          <p:cNvPr id="74768" name="Line 15"/>
          <p:cNvSpPr>
            <a:spLocks noChangeShapeType="1"/>
          </p:cNvSpPr>
          <p:nvPr/>
        </p:nvSpPr>
        <p:spPr bwMode="auto">
          <a:xfrm>
            <a:off x="3505200" y="5232400"/>
            <a:ext cx="0" cy="152400"/>
          </a:xfrm>
          <a:prstGeom prst="line">
            <a:avLst/>
          </a:prstGeom>
          <a:noFill/>
          <a:ln w="38100">
            <a:solidFill>
              <a:srgbClr val="003366"/>
            </a:solidFill>
            <a:round/>
            <a:headEnd/>
            <a:tailEnd/>
          </a:ln>
        </p:spPr>
        <p:txBody>
          <a:bodyPr wrap="none" anchor="ctr"/>
          <a:lstStyle/>
          <a:p>
            <a:endParaRPr lang="zh-CN" altLang="en-US"/>
          </a:p>
        </p:txBody>
      </p:sp>
      <p:sp>
        <p:nvSpPr>
          <p:cNvPr id="74769" name="Line 16"/>
          <p:cNvSpPr>
            <a:spLocks noChangeShapeType="1"/>
          </p:cNvSpPr>
          <p:nvPr/>
        </p:nvSpPr>
        <p:spPr bwMode="auto">
          <a:xfrm>
            <a:off x="5867400" y="5232400"/>
            <a:ext cx="0" cy="152400"/>
          </a:xfrm>
          <a:prstGeom prst="line">
            <a:avLst/>
          </a:prstGeom>
          <a:noFill/>
          <a:ln w="38100">
            <a:solidFill>
              <a:srgbClr val="003366"/>
            </a:solidFill>
            <a:round/>
            <a:headEnd/>
            <a:tailEnd/>
          </a:ln>
        </p:spPr>
        <p:txBody>
          <a:bodyPr wrap="none" anchor="ctr"/>
          <a:lstStyle/>
          <a:p>
            <a:endParaRPr lang="zh-CN" altLang="en-US"/>
          </a:p>
        </p:txBody>
      </p:sp>
      <p:sp>
        <p:nvSpPr>
          <p:cNvPr id="74770" name="Line 17"/>
          <p:cNvSpPr>
            <a:spLocks noChangeShapeType="1"/>
          </p:cNvSpPr>
          <p:nvPr/>
        </p:nvSpPr>
        <p:spPr bwMode="auto">
          <a:xfrm>
            <a:off x="2209800" y="5842000"/>
            <a:ext cx="4191000" cy="0"/>
          </a:xfrm>
          <a:prstGeom prst="line">
            <a:avLst/>
          </a:prstGeom>
          <a:noFill/>
          <a:ln w="38100">
            <a:solidFill>
              <a:srgbClr val="003366"/>
            </a:solidFill>
            <a:round/>
            <a:headEnd/>
            <a:tailEnd/>
          </a:ln>
        </p:spPr>
        <p:txBody>
          <a:bodyPr wrap="none" anchor="ctr"/>
          <a:lstStyle/>
          <a:p>
            <a:endParaRPr lang="zh-CN" altLang="en-US"/>
          </a:p>
        </p:txBody>
      </p:sp>
      <p:sp>
        <p:nvSpPr>
          <p:cNvPr id="74771" name="Line 18"/>
          <p:cNvSpPr>
            <a:spLocks noChangeShapeType="1"/>
          </p:cNvSpPr>
          <p:nvPr/>
        </p:nvSpPr>
        <p:spPr bwMode="auto">
          <a:xfrm>
            <a:off x="2209800" y="5689600"/>
            <a:ext cx="0" cy="152400"/>
          </a:xfrm>
          <a:prstGeom prst="line">
            <a:avLst/>
          </a:prstGeom>
          <a:noFill/>
          <a:ln w="38100">
            <a:solidFill>
              <a:srgbClr val="003366"/>
            </a:solidFill>
            <a:round/>
            <a:headEnd/>
            <a:tailEnd/>
          </a:ln>
        </p:spPr>
        <p:txBody>
          <a:bodyPr wrap="none" anchor="ctr"/>
          <a:lstStyle/>
          <a:p>
            <a:endParaRPr lang="zh-CN" altLang="en-US"/>
          </a:p>
        </p:txBody>
      </p:sp>
      <p:sp>
        <p:nvSpPr>
          <p:cNvPr id="74772" name="Line 19"/>
          <p:cNvSpPr>
            <a:spLocks noChangeShapeType="1"/>
          </p:cNvSpPr>
          <p:nvPr/>
        </p:nvSpPr>
        <p:spPr bwMode="auto">
          <a:xfrm>
            <a:off x="6400800" y="5689600"/>
            <a:ext cx="0" cy="152400"/>
          </a:xfrm>
          <a:prstGeom prst="line">
            <a:avLst/>
          </a:prstGeom>
          <a:noFill/>
          <a:ln w="38100">
            <a:solidFill>
              <a:srgbClr val="003366"/>
            </a:solidFill>
            <a:round/>
            <a:headEnd/>
            <a:tailEnd/>
          </a:ln>
        </p:spPr>
        <p:txBody>
          <a:bodyPr wrap="none" anchor="ctr"/>
          <a:lstStyle/>
          <a:p>
            <a:endParaRPr lang="zh-CN" altLang="en-US"/>
          </a:p>
        </p:txBody>
      </p:sp>
      <p:sp>
        <p:nvSpPr>
          <p:cNvPr id="74773" name="AutoShape 20"/>
          <p:cNvSpPr>
            <a:spLocks noChangeArrowheads="1"/>
          </p:cNvSpPr>
          <p:nvPr/>
        </p:nvSpPr>
        <p:spPr bwMode="auto">
          <a:xfrm>
            <a:off x="990600" y="4394200"/>
            <a:ext cx="685800" cy="381000"/>
          </a:xfrm>
          <a:prstGeom prst="wedgeRectCallout">
            <a:avLst>
              <a:gd name="adj1" fmla="val 219676"/>
              <a:gd name="adj2" fmla="val -83333"/>
            </a:avLst>
          </a:prstGeom>
          <a:solidFill>
            <a:srgbClr val="FFFFCC"/>
          </a:solidFill>
          <a:ln w="9525">
            <a:solidFill>
              <a:srgbClr val="CC9900"/>
            </a:solidFill>
            <a:miter lim="800000"/>
            <a:headEnd/>
            <a:tailEnd/>
          </a:ln>
        </p:spPr>
        <p:txBody>
          <a:bodyPr wrap="none" anchor="ctr"/>
          <a:lstStyle/>
          <a:p>
            <a:pPr algn="ctr"/>
            <a:r>
              <a:rPr lang="en-US" altLang="zh-CN" sz="3200">
                <a:solidFill>
                  <a:srgbClr val="CC6600"/>
                </a:solidFill>
              </a:rPr>
              <a:t>a</a:t>
            </a:r>
            <a:r>
              <a:rPr lang="en-US" altLang="zh-CN" sz="3200" b="1">
                <a:solidFill>
                  <a:srgbClr val="006666"/>
                </a:solidFill>
                <a:sym typeface="Symbol" pitchFamily="18" charset="2"/>
              </a:rPr>
              <a:t></a:t>
            </a:r>
            <a:r>
              <a:rPr lang="en-US" altLang="zh-CN" sz="3200">
                <a:solidFill>
                  <a:srgbClr val="CC6600"/>
                </a:solidFill>
                <a:sym typeface="Symbol" pitchFamily="18" charset="2"/>
              </a:rPr>
              <a:t>b</a:t>
            </a:r>
            <a:endParaRPr lang="en-US" altLang="zh-CN" sz="4000"/>
          </a:p>
        </p:txBody>
      </p:sp>
      <p:sp>
        <p:nvSpPr>
          <p:cNvPr id="74774" name="AutoShape 21"/>
          <p:cNvSpPr>
            <a:spLocks noChangeArrowheads="1"/>
          </p:cNvSpPr>
          <p:nvPr/>
        </p:nvSpPr>
        <p:spPr bwMode="auto">
          <a:xfrm>
            <a:off x="5562600" y="4546600"/>
            <a:ext cx="838200" cy="457200"/>
          </a:xfrm>
          <a:prstGeom prst="wedgeRectCallout">
            <a:avLst>
              <a:gd name="adj1" fmla="val -205870"/>
              <a:gd name="adj2" fmla="val -64583"/>
            </a:avLst>
          </a:prstGeom>
          <a:solidFill>
            <a:srgbClr val="FFFFCC"/>
          </a:solidFill>
          <a:ln w="9525">
            <a:solidFill>
              <a:srgbClr val="CC9900"/>
            </a:solidFill>
            <a:miter lim="800000"/>
            <a:headEnd/>
            <a:tailEnd/>
          </a:ln>
        </p:spPr>
        <p:txBody>
          <a:bodyPr wrap="none" anchor="ctr"/>
          <a:lstStyle/>
          <a:p>
            <a:pPr algn="ctr"/>
            <a:r>
              <a:rPr lang="en-US" altLang="zh-CN" sz="3200">
                <a:solidFill>
                  <a:srgbClr val="CC6600"/>
                </a:solidFill>
              </a:rPr>
              <a:t>d</a:t>
            </a:r>
            <a:r>
              <a:rPr lang="en-US" altLang="zh-CN" sz="3200" b="1">
                <a:solidFill>
                  <a:srgbClr val="006666"/>
                </a:solidFill>
              </a:rPr>
              <a:t>/</a:t>
            </a:r>
            <a:r>
              <a:rPr lang="en-US" altLang="zh-CN" sz="3200">
                <a:solidFill>
                  <a:srgbClr val="CC6600"/>
                </a:solidFill>
              </a:rPr>
              <a:t>e</a:t>
            </a:r>
            <a:endParaRPr lang="en-US" altLang="zh-CN" sz="4000"/>
          </a:p>
        </p:txBody>
      </p:sp>
      <p:sp>
        <p:nvSpPr>
          <p:cNvPr id="74775" name="AutoShape 22"/>
          <p:cNvSpPr>
            <a:spLocks noChangeArrowheads="1"/>
          </p:cNvSpPr>
          <p:nvPr/>
        </p:nvSpPr>
        <p:spPr bwMode="auto">
          <a:xfrm>
            <a:off x="2057400" y="5003800"/>
            <a:ext cx="1219200" cy="381000"/>
          </a:xfrm>
          <a:prstGeom prst="wedgeRectCallout">
            <a:avLst>
              <a:gd name="adj1" fmla="val 133722"/>
              <a:gd name="adj2" fmla="val -62500"/>
            </a:avLst>
          </a:prstGeom>
          <a:solidFill>
            <a:srgbClr val="FFFFCC"/>
          </a:solidFill>
          <a:ln w="9525">
            <a:solidFill>
              <a:srgbClr val="CC9900"/>
            </a:solidFill>
            <a:miter lim="800000"/>
            <a:headEnd/>
            <a:tailEnd/>
          </a:ln>
        </p:spPr>
        <p:txBody>
          <a:bodyPr wrap="none" anchor="ctr"/>
          <a:lstStyle/>
          <a:p>
            <a:pPr algn="ctr"/>
            <a:r>
              <a:rPr lang="en-US" altLang="zh-CN" sz="4000">
                <a:solidFill>
                  <a:srgbClr val="CC6600"/>
                </a:solidFill>
              </a:rPr>
              <a:t>c</a:t>
            </a:r>
            <a:r>
              <a:rPr lang="en-US" altLang="zh-CN" sz="4000" b="1">
                <a:solidFill>
                  <a:srgbClr val="006666"/>
                </a:solidFill>
              </a:rPr>
              <a:t>-</a:t>
            </a:r>
            <a:r>
              <a:rPr lang="en-US" altLang="zh-CN" sz="4000">
                <a:solidFill>
                  <a:srgbClr val="CC6600"/>
                </a:solidFill>
              </a:rPr>
              <a:t>d/e</a:t>
            </a:r>
            <a:endParaRPr lang="en-US" altLang="zh-CN" sz="4000"/>
          </a:p>
        </p:txBody>
      </p:sp>
      <p:sp>
        <p:nvSpPr>
          <p:cNvPr id="74776" name="AutoShape 23"/>
          <p:cNvSpPr>
            <a:spLocks noChangeArrowheads="1"/>
          </p:cNvSpPr>
          <p:nvPr/>
        </p:nvSpPr>
        <p:spPr bwMode="auto">
          <a:xfrm>
            <a:off x="6705600" y="5384800"/>
            <a:ext cx="1828800" cy="533400"/>
          </a:xfrm>
          <a:prstGeom prst="wedgeRectCallout">
            <a:avLst>
              <a:gd name="adj1" fmla="val -161546"/>
              <a:gd name="adj2" fmla="val -49106"/>
            </a:avLst>
          </a:prstGeom>
          <a:solidFill>
            <a:srgbClr val="FFFFCC"/>
          </a:solidFill>
          <a:ln w="9525">
            <a:solidFill>
              <a:srgbClr val="CC9900"/>
            </a:solidFill>
            <a:miter lim="800000"/>
            <a:headEnd/>
            <a:tailEnd/>
          </a:ln>
        </p:spPr>
        <p:txBody>
          <a:bodyPr wrap="none" anchor="ctr"/>
          <a:lstStyle/>
          <a:p>
            <a:pPr algn="ctr"/>
            <a:r>
              <a:rPr lang="en-US" altLang="zh-CN" sz="3200">
                <a:solidFill>
                  <a:srgbClr val="CC6600"/>
                </a:solidFill>
              </a:rPr>
              <a:t>(c-d/e)</a:t>
            </a:r>
            <a:r>
              <a:rPr lang="en-US" altLang="zh-CN" sz="3200" b="1">
                <a:solidFill>
                  <a:srgbClr val="006666"/>
                </a:solidFill>
                <a:sym typeface="Symbol" pitchFamily="18" charset="2"/>
              </a:rPr>
              <a:t></a:t>
            </a:r>
            <a:r>
              <a:rPr lang="en-US" altLang="zh-CN" sz="3200">
                <a:solidFill>
                  <a:srgbClr val="CC6600"/>
                </a:solidFill>
                <a:sym typeface="Symbol" pitchFamily="18" charset="2"/>
              </a:rPr>
              <a:t>f</a:t>
            </a:r>
            <a:endParaRPr lang="en-US" altLang="zh-CN" sz="4000"/>
          </a:p>
        </p:txBody>
      </p:sp>
      <p:sp>
        <p:nvSpPr>
          <p:cNvPr id="74777" name="AutoShape 24"/>
          <p:cNvSpPr>
            <a:spLocks noChangeArrowheads="1"/>
          </p:cNvSpPr>
          <p:nvPr/>
        </p:nvSpPr>
        <p:spPr bwMode="auto">
          <a:xfrm>
            <a:off x="3124200" y="3327400"/>
            <a:ext cx="152400" cy="381000"/>
          </a:xfrm>
          <a:prstGeom prst="downArrow">
            <a:avLst>
              <a:gd name="adj1" fmla="val 50000"/>
              <a:gd name="adj2" fmla="val 62500"/>
            </a:avLst>
          </a:prstGeom>
          <a:solidFill>
            <a:srgbClr val="FFCC99"/>
          </a:solidFill>
          <a:ln w="9525">
            <a:solidFill>
              <a:schemeClr val="tx1"/>
            </a:solidFill>
            <a:miter lim="800000"/>
            <a:headEnd/>
            <a:tailEnd/>
          </a:ln>
        </p:spPr>
        <p:txBody>
          <a:bodyPr vert="eaVert" wrap="none" anchor="ctr"/>
          <a:lstStyle/>
          <a:p>
            <a:endParaRPr lang="zh-CN" altLang="en-US"/>
          </a:p>
        </p:txBody>
      </p:sp>
      <p:sp>
        <p:nvSpPr>
          <p:cNvPr id="74778" name="AutoShape 25"/>
          <p:cNvSpPr>
            <a:spLocks noChangeArrowheads="1"/>
          </p:cNvSpPr>
          <p:nvPr/>
        </p:nvSpPr>
        <p:spPr bwMode="auto">
          <a:xfrm>
            <a:off x="4572000" y="3327400"/>
            <a:ext cx="152400" cy="381000"/>
          </a:xfrm>
          <a:prstGeom prst="downArrow">
            <a:avLst>
              <a:gd name="adj1" fmla="val 50000"/>
              <a:gd name="adj2" fmla="val 62500"/>
            </a:avLst>
          </a:prstGeom>
          <a:solidFill>
            <a:srgbClr val="FFCC99"/>
          </a:solidFill>
          <a:ln w="9525">
            <a:solidFill>
              <a:schemeClr val="tx1"/>
            </a:solidFill>
            <a:miter lim="800000"/>
            <a:headEnd/>
            <a:tailEnd/>
          </a:ln>
        </p:spPr>
        <p:txBody>
          <a:bodyPr vert="eaVert" wrap="none" anchor="ctr"/>
          <a:lstStyle/>
          <a:p>
            <a:endParaRPr lang="zh-CN" altLang="en-US"/>
          </a:p>
        </p:txBody>
      </p:sp>
      <p:sp>
        <p:nvSpPr>
          <p:cNvPr id="74779" name="AutoShape 26"/>
          <p:cNvSpPr>
            <a:spLocks noChangeArrowheads="1"/>
          </p:cNvSpPr>
          <p:nvPr/>
        </p:nvSpPr>
        <p:spPr bwMode="auto">
          <a:xfrm>
            <a:off x="4953000" y="3327400"/>
            <a:ext cx="152400" cy="381000"/>
          </a:xfrm>
          <a:prstGeom prst="downArrow">
            <a:avLst>
              <a:gd name="adj1" fmla="val 50000"/>
              <a:gd name="adj2" fmla="val 62500"/>
            </a:avLst>
          </a:prstGeom>
          <a:solidFill>
            <a:srgbClr val="FFCC99"/>
          </a:solidFill>
          <a:ln w="9525">
            <a:solidFill>
              <a:schemeClr val="tx1"/>
            </a:solidFill>
            <a:miter lim="800000"/>
            <a:headEnd/>
            <a:tailEnd/>
          </a:ln>
        </p:spPr>
        <p:txBody>
          <a:bodyPr vert="eaVert" wrap="none" anchor="ctr"/>
          <a:lstStyle/>
          <a:p>
            <a:endParaRPr lang="zh-CN" altLang="en-US"/>
          </a:p>
        </p:txBody>
      </p:sp>
      <p:sp>
        <p:nvSpPr>
          <p:cNvPr id="74780" name="AutoShape 27"/>
          <p:cNvSpPr>
            <a:spLocks noChangeArrowheads="1"/>
          </p:cNvSpPr>
          <p:nvPr/>
        </p:nvSpPr>
        <p:spPr bwMode="auto">
          <a:xfrm>
            <a:off x="5638800" y="3327400"/>
            <a:ext cx="152400" cy="381000"/>
          </a:xfrm>
          <a:prstGeom prst="downArrow">
            <a:avLst>
              <a:gd name="adj1" fmla="val 50000"/>
              <a:gd name="adj2" fmla="val 62500"/>
            </a:avLst>
          </a:prstGeom>
          <a:solidFill>
            <a:srgbClr val="FFCC99"/>
          </a:solidFill>
          <a:ln w="9525">
            <a:solidFill>
              <a:schemeClr val="tx1"/>
            </a:solidFill>
            <a:miter lim="800000"/>
            <a:headEnd/>
            <a:tailEnd/>
          </a:ln>
        </p:spPr>
        <p:txBody>
          <a:bodyPr vert="eaVert" wrap="none" anchor="ctr"/>
          <a:lstStyle/>
          <a:p>
            <a:endParaRPr lang="zh-CN" altLang="en-US"/>
          </a:p>
        </p:txBody>
      </p:sp>
      <p:sp>
        <p:nvSpPr>
          <p:cNvPr id="74781" name="AutoShape 28"/>
          <p:cNvSpPr>
            <a:spLocks noChangeArrowheads="1"/>
          </p:cNvSpPr>
          <p:nvPr/>
        </p:nvSpPr>
        <p:spPr bwMode="auto">
          <a:xfrm>
            <a:off x="6019800" y="3327400"/>
            <a:ext cx="152400" cy="381000"/>
          </a:xfrm>
          <a:prstGeom prst="downArrow">
            <a:avLst>
              <a:gd name="adj1" fmla="val 50000"/>
              <a:gd name="adj2" fmla="val 62500"/>
            </a:avLst>
          </a:prstGeom>
          <a:solidFill>
            <a:srgbClr val="FFCC99"/>
          </a:solidFill>
          <a:ln w="9525">
            <a:solidFill>
              <a:schemeClr val="tx1"/>
            </a:solidFill>
            <a:miter lim="800000"/>
            <a:headEnd/>
            <a:tailEnd/>
          </a:ln>
        </p:spPr>
        <p:txBody>
          <a:bodyPr vert="eaVert" wrap="none" anchor="ctr"/>
          <a:lstStyle/>
          <a:p>
            <a:endParaRPr lang="zh-CN" altLang="en-US"/>
          </a:p>
        </p:txBody>
      </p:sp>
      <p:sp>
        <p:nvSpPr>
          <p:cNvPr id="30"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1718380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4756">
                                            <p:txEl>
                                              <p:pRg st="0" end="0"/>
                                            </p:txEl>
                                          </p:spTgt>
                                        </p:tgtEl>
                                        <p:attrNameLst>
                                          <p:attrName>style.visibility</p:attrName>
                                        </p:attrNameLst>
                                      </p:cBhvr>
                                      <p:to>
                                        <p:strVal val="visible"/>
                                      </p:to>
                                    </p:set>
                                    <p:animEffect transition="in" filter="slide(fromBottom)">
                                      <p:cBhvr>
                                        <p:cTn id="7" dur="500"/>
                                        <p:tgtEl>
                                          <p:spTgt spid="747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noFill/>
        </p:spPr>
        <p:txBody>
          <a:bodyPr/>
          <a:lstStyle/>
          <a:p>
            <a:fld id="{C4A83226-D5A0-419C-928D-B716F87D62F0}" type="slidenum">
              <a:rPr lang="en-US" altLang="zh-CN"/>
              <a:pPr/>
              <a:t>68</a:t>
            </a:fld>
            <a:endParaRPr lang="en-US" altLang="zh-CN"/>
          </a:p>
        </p:txBody>
      </p:sp>
      <p:sp>
        <p:nvSpPr>
          <p:cNvPr id="75779" name="Text Box 2"/>
          <p:cNvSpPr txBox="1">
            <a:spLocks noChangeArrowheads="1"/>
          </p:cNvSpPr>
          <p:nvPr/>
        </p:nvSpPr>
        <p:spPr bwMode="auto">
          <a:xfrm>
            <a:off x="260350" y="1651000"/>
            <a:ext cx="5540299" cy="584775"/>
          </a:xfrm>
          <a:prstGeom prst="rect">
            <a:avLst/>
          </a:prstGeom>
          <a:noFill/>
          <a:ln w="9525">
            <a:noFill/>
            <a:miter lim="800000"/>
            <a:headEnd/>
            <a:tailEnd/>
          </a:ln>
        </p:spPr>
        <p:txBody>
          <a:bodyPr wrap="none">
            <a:spAutoFit/>
          </a:bodyPr>
          <a:lstStyle/>
          <a:p>
            <a:pPr marL="0" lvl="2" eaLnBrk="0" hangingPunct="0"/>
            <a:r>
              <a:rPr lang="zh-CN" altLang="en-US" sz="3200" dirty="0">
                <a:solidFill>
                  <a:srgbClr val="000000"/>
                </a:solidFill>
                <a:ea typeface="楷体_GB2312" pitchFamily="49" charset="-122"/>
              </a:rPr>
              <a:t>如何从原表达式求得后缀式？</a:t>
            </a:r>
          </a:p>
        </p:txBody>
      </p:sp>
      <p:sp>
        <p:nvSpPr>
          <p:cNvPr id="75780" name="Text Box 3"/>
          <p:cNvSpPr txBox="1">
            <a:spLocks noChangeArrowheads="1"/>
          </p:cNvSpPr>
          <p:nvPr/>
        </p:nvSpPr>
        <p:spPr bwMode="auto">
          <a:xfrm>
            <a:off x="260350" y="4362450"/>
            <a:ext cx="8382000" cy="1717393"/>
          </a:xfrm>
          <a:prstGeom prst="rect">
            <a:avLst/>
          </a:prstGeom>
          <a:noFill/>
          <a:ln w="9525">
            <a:noFill/>
            <a:miter lim="800000"/>
            <a:headEnd/>
            <a:tailEnd/>
          </a:ln>
        </p:spPr>
        <p:txBody>
          <a:bodyPr>
            <a:spAutoFit/>
          </a:bodyPr>
          <a:lstStyle/>
          <a:p>
            <a:pPr eaLnBrk="0" hangingPunct="0">
              <a:lnSpc>
                <a:spcPct val="110000"/>
              </a:lnSpc>
            </a:pPr>
            <a:r>
              <a:rPr lang="en-US" altLang="zh-CN" sz="3200" dirty="0">
                <a:solidFill>
                  <a:schemeClr val="bg1">
                    <a:lumMod val="10000"/>
                  </a:schemeClr>
                </a:solidFill>
                <a:ea typeface="楷体_GB2312" pitchFamily="49" charset="-122"/>
              </a:rPr>
              <a:t>        </a:t>
            </a:r>
            <a:r>
              <a:rPr lang="zh-CN" altLang="en-US" sz="3200" dirty="0">
                <a:solidFill>
                  <a:schemeClr val="bg1">
                    <a:lumMod val="10000"/>
                  </a:schemeClr>
                </a:solidFill>
                <a:ea typeface="楷体_GB2312" pitchFamily="49" charset="-122"/>
              </a:rPr>
              <a:t>每个运算符的运算次序要由它之后的一个运算符来定，在后缀式中，优先数高的运算符领先于优先数低的运算符。</a:t>
            </a:r>
          </a:p>
        </p:txBody>
      </p:sp>
      <p:sp>
        <p:nvSpPr>
          <p:cNvPr id="75781" name="Text Box 4"/>
          <p:cNvSpPr txBox="1">
            <a:spLocks noChangeArrowheads="1"/>
          </p:cNvSpPr>
          <p:nvPr/>
        </p:nvSpPr>
        <p:spPr bwMode="auto">
          <a:xfrm>
            <a:off x="304800" y="2406650"/>
            <a:ext cx="8456161" cy="1808572"/>
          </a:xfrm>
          <a:prstGeom prst="rect">
            <a:avLst/>
          </a:prstGeom>
          <a:noFill/>
          <a:ln w="9525">
            <a:noFill/>
            <a:miter lim="800000"/>
            <a:headEnd/>
            <a:tailEnd/>
          </a:ln>
        </p:spPr>
        <p:txBody>
          <a:bodyPr wrap="none">
            <a:spAutoFit/>
          </a:bodyPr>
          <a:lstStyle/>
          <a:p>
            <a:pPr eaLnBrk="0" hangingPunct="0">
              <a:lnSpc>
                <a:spcPct val="120000"/>
              </a:lnSpc>
            </a:pPr>
            <a:r>
              <a:rPr lang="zh-CN" altLang="en-US" sz="3200" dirty="0">
                <a:solidFill>
                  <a:srgbClr val="000000"/>
                </a:solidFill>
                <a:ea typeface="楷体_GB2312" pitchFamily="49" charset="-122"/>
              </a:rPr>
              <a:t>分析 “原表达式” 和 “后缀式”中的运算符</a:t>
            </a:r>
            <a:r>
              <a:rPr lang="en-US" altLang="zh-CN" sz="3200" dirty="0">
                <a:solidFill>
                  <a:srgbClr val="000000"/>
                </a:solidFill>
                <a:ea typeface="楷体_GB2312" pitchFamily="49" charset="-122"/>
              </a:rPr>
              <a:t>:</a:t>
            </a:r>
          </a:p>
          <a:p>
            <a:pPr eaLnBrk="0" hangingPunct="0">
              <a:lnSpc>
                <a:spcPct val="120000"/>
              </a:lnSpc>
            </a:pPr>
            <a:r>
              <a:rPr lang="zh-CN" altLang="en-US" sz="3200" dirty="0">
                <a:solidFill>
                  <a:srgbClr val="000000"/>
                </a:solidFill>
                <a:ea typeface="楷体_GB2312" pitchFamily="49" charset="-122"/>
              </a:rPr>
              <a:t>原表达式</a:t>
            </a:r>
            <a:r>
              <a:rPr lang="en-US" altLang="zh-CN" sz="3200" dirty="0">
                <a:solidFill>
                  <a:srgbClr val="000000"/>
                </a:solidFill>
                <a:ea typeface="楷体_GB2312" pitchFamily="49" charset="-122"/>
              </a:rPr>
              <a:t>:</a:t>
            </a:r>
            <a:r>
              <a:rPr lang="en-US" altLang="zh-CN" sz="3200" dirty="0">
                <a:solidFill>
                  <a:srgbClr val="006666"/>
                </a:solidFill>
                <a:ea typeface="楷体_GB2312" pitchFamily="49" charset="-122"/>
              </a:rPr>
              <a:t>  </a:t>
            </a:r>
            <a:r>
              <a:rPr lang="en-US" altLang="zh-CN" sz="3200" dirty="0">
                <a:solidFill>
                  <a:srgbClr val="FF0000"/>
                </a:solidFill>
                <a:ea typeface="楷体_GB2312" pitchFamily="49" charset="-122"/>
              </a:rPr>
              <a:t>a + b </a:t>
            </a:r>
            <a:r>
              <a:rPr lang="en-US" altLang="zh-CN" sz="3200" dirty="0">
                <a:solidFill>
                  <a:srgbClr val="FF0000"/>
                </a:solidFill>
                <a:ea typeface="楷体_GB2312" pitchFamily="49" charset="-122"/>
                <a:sym typeface="Symbol" pitchFamily="18" charset="2"/>
              </a:rPr>
              <a:t></a:t>
            </a:r>
            <a:r>
              <a:rPr lang="en-US" altLang="zh-CN" sz="3200" dirty="0">
                <a:solidFill>
                  <a:srgbClr val="FF0000"/>
                </a:solidFill>
                <a:ea typeface="楷体_GB2312" pitchFamily="49" charset="-122"/>
              </a:rPr>
              <a:t> c </a:t>
            </a:r>
            <a:r>
              <a:rPr lang="en-US" altLang="zh-CN" sz="3200" dirty="0">
                <a:solidFill>
                  <a:srgbClr val="FF0000"/>
                </a:solidFill>
                <a:ea typeface="楷体_GB2312" pitchFamily="49" charset="-122"/>
                <a:sym typeface="Symbol" pitchFamily="18" charset="2"/>
              </a:rPr>
              <a:t></a:t>
            </a:r>
            <a:r>
              <a:rPr lang="en-US" altLang="zh-CN" sz="3200" dirty="0">
                <a:solidFill>
                  <a:srgbClr val="FF0000"/>
                </a:solidFill>
                <a:ea typeface="楷体_GB2312" pitchFamily="49" charset="-122"/>
              </a:rPr>
              <a:t> d / e </a:t>
            </a:r>
            <a:r>
              <a:rPr lang="en-US" altLang="zh-CN" sz="3200" dirty="0">
                <a:solidFill>
                  <a:srgbClr val="FF0000"/>
                </a:solidFill>
                <a:ea typeface="楷体_GB2312" pitchFamily="49" charset="-122"/>
                <a:sym typeface="Symbol" pitchFamily="18" charset="2"/>
              </a:rPr>
              <a:t></a:t>
            </a:r>
            <a:r>
              <a:rPr lang="en-US" altLang="zh-CN" sz="3200" dirty="0">
                <a:solidFill>
                  <a:srgbClr val="FF0000"/>
                </a:solidFill>
                <a:ea typeface="楷体_GB2312" pitchFamily="49" charset="-122"/>
              </a:rPr>
              <a:t> f</a:t>
            </a:r>
          </a:p>
          <a:p>
            <a:pPr eaLnBrk="0" hangingPunct="0">
              <a:lnSpc>
                <a:spcPct val="120000"/>
              </a:lnSpc>
            </a:pPr>
            <a:r>
              <a:rPr lang="zh-CN" altLang="en-US" sz="3200" dirty="0">
                <a:solidFill>
                  <a:srgbClr val="000000"/>
                </a:solidFill>
                <a:ea typeface="楷体_GB2312" pitchFamily="49" charset="-122"/>
              </a:rPr>
              <a:t>后缀式</a:t>
            </a:r>
            <a:r>
              <a:rPr lang="en-US" altLang="zh-CN" sz="3200" dirty="0">
                <a:solidFill>
                  <a:srgbClr val="000000"/>
                </a:solidFill>
                <a:ea typeface="楷体_GB2312" pitchFamily="49" charset="-122"/>
              </a:rPr>
              <a:t>:      </a:t>
            </a:r>
            <a:r>
              <a:rPr lang="en-US" altLang="zh-CN" sz="3200" dirty="0">
                <a:solidFill>
                  <a:srgbClr val="FF0000"/>
                </a:solidFill>
                <a:ea typeface="楷体_GB2312" pitchFamily="49" charset="-122"/>
              </a:rPr>
              <a:t>a b c </a:t>
            </a:r>
            <a:r>
              <a:rPr lang="en-US" altLang="zh-CN" sz="3200" dirty="0">
                <a:solidFill>
                  <a:srgbClr val="FF0000"/>
                </a:solidFill>
                <a:ea typeface="楷体_GB2312" pitchFamily="49" charset="-122"/>
                <a:sym typeface="Symbol" pitchFamily="18" charset="2"/>
              </a:rPr>
              <a:t></a:t>
            </a:r>
            <a:r>
              <a:rPr lang="en-US" altLang="zh-CN" sz="3200" dirty="0">
                <a:solidFill>
                  <a:srgbClr val="FF0000"/>
                </a:solidFill>
                <a:ea typeface="楷体_GB2312" pitchFamily="49" charset="-122"/>
              </a:rPr>
              <a:t> + d e / f </a:t>
            </a:r>
            <a:r>
              <a:rPr lang="en-US" altLang="zh-CN" sz="3200" dirty="0">
                <a:solidFill>
                  <a:srgbClr val="FF0000"/>
                </a:solidFill>
                <a:ea typeface="楷体_GB2312" pitchFamily="49" charset="-122"/>
                <a:sym typeface="Symbol" pitchFamily="18" charset="2"/>
              </a:rPr>
              <a:t></a:t>
            </a:r>
            <a:r>
              <a:rPr lang="en-US" altLang="zh-CN" sz="3200" dirty="0">
                <a:solidFill>
                  <a:srgbClr val="FF0000"/>
                </a:solidFill>
                <a:ea typeface="楷体_GB2312" pitchFamily="49" charset="-122"/>
              </a:rPr>
              <a:t> </a:t>
            </a:r>
            <a:r>
              <a:rPr lang="en-US" altLang="zh-CN" sz="3200" dirty="0">
                <a:solidFill>
                  <a:srgbClr val="FF0000"/>
                </a:solidFill>
                <a:ea typeface="楷体_GB2312" pitchFamily="49" charset="-122"/>
                <a:sym typeface="Symbol" pitchFamily="18" charset="2"/>
              </a:rPr>
              <a:t></a:t>
            </a:r>
            <a:endParaRPr lang="en-US" altLang="zh-CN" sz="3200" dirty="0">
              <a:solidFill>
                <a:srgbClr val="FF0000"/>
              </a:solidFill>
            </a:endParaRPr>
          </a:p>
        </p:txBody>
      </p:sp>
      <p:sp>
        <p:nvSpPr>
          <p:cNvPr id="6"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1095120972"/>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6802" name="灯片编号占位符 3"/>
          <p:cNvSpPr>
            <a:spLocks noGrp="1"/>
          </p:cNvSpPr>
          <p:nvPr>
            <p:ph type="sldNum" sz="quarter" idx="12"/>
          </p:nvPr>
        </p:nvSpPr>
        <p:spPr>
          <a:noFill/>
        </p:spPr>
        <p:txBody>
          <a:bodyPr/>
          <a:lstStyle/>
          <a:p>
            <a:fld id="{76855E28-E6CA-4034-83B4-A0578313BCB4}" type="slidenum">
              <a:rPr lang="en-US" altLang="zh-CN"/>
              <a:pPr/>
              <a:t>69</a:t>
            </a:fld>
            <a:endParaRPr lang="en-US" altLang="zh-CN"/>
          </a:p>
        </p:txBody>
      </p:sp>
      <p:sp>
        <p:nvSpPr>
          <p:cNvPr id="76803" name="Text Box 2"/>
          <p:cNvSpPr txBox="1">
            <a:spLocks noChangeArrowheads="1"/>
          </p:cNvSpPr>
          <p:nvPr/>
        </p:nvSpPr>
        <p:spPr bwMode="auto">
          <a:xfrm>
            <a:off x="171450" y="1695450"/>
            <a:ext cx="6340197" cy="584775"/>
          </a:xfrm>
          <a:prstGeom prst="rect">
            <a:avLst/>
          </a:prstGeom>
          <a:noFill/>
          <a:ln w="9525">
            <a:noFill/>
            <a:miter lim="800000"/>
            <a:headEnd/>
            <a:tailEnd/>
          </a:ln>
        </p:spPr>
        <p:txBody>
          <a:bodyPr wrap="none">
            <a:spAutoFit/>
          </a:bodyPr>
          <a:lstStyle/>
          <a:p>
            <a:r>
              <a:rPr lang="zh-CN" altLang="en-US" sz="3200" dirty="0">
                <a:solidFill>
                  <a:srgbClr val="000000"/>
                </a:solidFill>
                <a:ea typeface="楷体_GB2312" pitchFamily="49" charset="-122"/>
              </a:rPr>
              <a:t>从原表达式求得后缀式的规律为：</a:t>
            </a:r>
          </a:p>
        </p:txBody>
      </p:sp>
      <p:sp>
        <p:nvSpPr>
          <p:cNvPr id="76804" name="Text Box 3"/>
          <p:cNvSpPr txBox="1">
            <a:spLocks noChangeArrowheads="1"/>
          </p:cNvSpPr>
          <p:nvPr/>
        </p:nvSpPr>
        <p:spPr bwMode="auto">
          <a:xfrm>
            <a:off x="-450850" y="2584450"/>
            <a:ext cx="4527201" cy="584775"/>
          </a:xfrm>
          <a:prstGeom prst="rect">
            <a:avLst/>
          </a:prstGeom>
          <a:noFill/>
          <a:ln w="9525">
            <a:noFill/>
            <a:miter lim="800000"/>
            <a:headEnd/>
            <a:tailEnd/>
          </a:ln>
        </p:spPr>
        <p:txBody>
          <a:bodyPr wrap="none">
            <a:spAutoFit/>
          </a:bodyPr>
          <a:lstStyle/>
          <a:p>
            <a:pPr lvl="2" eaLnBrk="0" hangingPunct="0"/>
            <a:r>
              <a:rPr lang="en-US" altLang="zh-CN" sz="3200" dirty="0">
                <a:solidFill>
                  <a:srgbClr val="000000"/>
                </a:solidFill>
              </a:rPr>
              <a:t>1)  </a:t>
            </a:r>
            <a:r>
              <a:rPr lang="zh-CN" altLang="en-US" sz="3200" dirty="0">
                <a:solidFill>
                  <a:srgbClr val="000000"/>
                </a:solidFill>
                <a:ea typeface="楷体_GB2312" pitchFamily="49" charset="-122"/>
              </a:rPr>
              <a:t>设立运算符栈；</a:t>
            </a:r>
          </a:p>
        </p:txBody>
      </p:sp>
      <p:sp>
        <p:nvSpPr>
          <p:cNvPr id="76805" name="Text Box 4"/>
          <p:cNvSpPr txBox="1">
            <a:spLocks noChangeArrowheads="1"/>
          </p:cNvSpPr>
          <p:nvPr/>
        </p:nvSpPr>
        <p:spPr bwMode="auto">
          <a:xfrm>
            <a:off x="-406749" y="3295650"/>
            <a:ext cx="8305800" cy="1323439"/>
          </a:xfrm>
          <a:prstGeom prst="rect">
            <a:avLst/>
          </a:prstGeom>
          <a:noFill/>
          <a:ln w="9525">
            <a:noFill/>
            <a:miter lim="800000"/>
            <a:headEnd/>
            <a:tailEnd/>
          </a:ln>
        </p:spPr>
        <p:txBody>
          <a:bodyPr>
            <a:spAutoFit/>
          </a:bodyPr>
          <a:lstStyle/>
          <a:p>
            <a:pPr lvl="2" eaLnBrk="0" hangingPunct="0">
              <a:lnSpc>
                <a:spcPct val="125000"/>
              </a:lnSpc>
            </a:pPr>
            <a:r>
              <a:rPr lang="en-US" altLang="zh-CN" sz="3200" dirty="0">
                <a:solidFill>
                  <a:srgbClr val="000000"/>
                </a:solidFill>
              </a:rPr>
              <a:t>2)  </a:t>
            </a:r>
            <a:r>
              <a:rPr lang="zh-CN" altLang="en-US" sz="3200" dirty="0">
                <a:solidFill>
                  <a:srgbClr val="000000"/>
                </a:solidFill>
                <a:ea typeface="楷体_GB2312" pitchFamily="49" charset="-122"/>
              </a:rPr>
              <a:t>设表达式的结束符为“</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    </a:t>
            </a:r>
          </a:p>
          <a:p>
            <a:pPr lvl="2" eaLnBrk="0" hangingPunct="0">
              <a:lnSpc>
                <a:spcPct val="125000"/>
              </a:lnSpc>
            </a:pPr>
            <a:r>
              <a:rPr lang="zh-CN" altLang="en-US" sz="3200" dirty="0">
                <a:solidFill>
                  <a:srgbClr val="000000"/>
                </a:solidFill>
                <a:ea typeface="楷体_GB2312" pitchFamily="49" charset="-122"/>
              </a:rPr>
              <a:t>     预设运算符栈的栈底为“</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a:t>
            </a:r>
          </a:p>
        </p:txBody>
      </p:sp>
      <p:sp>
        <p:nvSpPr>
          <p:cNvPr id="76806" name="Text Box 5"/>
          <p:cNvSpPr txBox="1">
            <a:spLocks noChangeArrowheads="1"/>
          </p:cNvSpPr>
          <p:nvPr/>
        </p:nvSpPr>
        <p:spPr bwMode="auto">
          <a:xfrm>
            <a:off x="342551" y="4629150"/>
            <a:ext cx="9002713" cy="645177"/>
          </a:xfrm>
          <a:prstGeom prst="rect">
            <a:avLst/>
          </a:prstGeom>
          <a:noFill/>
          <a:ln w="9525">
            <a:noFill/>
            <a:miter lim="800000"/>
            <a:headEnd/>
            <a:tailEnd/>
          </a:ln>
        </p:spPr>
        <p:txBody>
          <a:bodyPr wrap="square">
            <a:spAutoFit/>
          </a:bodyPr>
          <a:lstStyle/>
          <a:p>
            <a:pPr marL="177800" lvl="2" eaLnBrk="0" hangingPunct="0">
              <a:lnSpc>
                <a:spcPct val="125000"/>
              </a:lnSpc>
            </a:pPr>
            <a:r>
              <a:rPr lang="en-US" altLang="zh-CN" sz="3200" dirty="0">
                <a:solidFill>
                  <a:srgbClr val="000000"/>
                </a:solidFill>
              </a:rPr>
              <a:t>3) </a:t>
            </a:r>
            <a:r>
              <a:rPr lang="zh-CN" altLang="en-US" sz="3200" dirty="0">
                <a:solidFill>
                  <a:srgbClr val="000000"/>
                </a:solidFill>
                <a:ea typeface="楷体_GB2312" pitchFamily="49" charset="-122"/>
              </a:rPr>
              <a:t>若当前字符是操作数，则直接发送给后缀式。</a:t>
            </a:r>
            <a:endParaRPr lang="zh-CN" altLang="en-US" sz="3200" dirty="0">
              <a:solidFill>
                <a:srgbClr val="000000"/>
              </a:solidFill>
            </a:endParaRPr>
          </a:p>
        </p:txBody>
      </p:sp>
      <p:sp>
        <p:nvSpPr>
          <p:cNvPr id="7"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346864012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p:spPr>
        <p:txBody>
          <a:bodyPr/>
          <a:lstStyle/>
          <a:p>
            <a:fld id="{286A79A0-404D-458E-8D64-D15B73DC8629}" type="slidenum">
              <a:rPr lang="en-US" altLang="zh-CN"/>
              <a:pPr/>
              <a:t>70</a:t>
            </a:fld>
            <a:endParaRPr lang="en-US" altLang="zh-CN"/>
          </a:p>
        </p:txBody>
      </p:sp>
      <p:sp>
        <p:nvSpPr>
          <p:cNvPr id="77827" name="Text Box 2"/>
          <p:cNvSpPr txBox="1">
            <a:spLocks noChangeArrowheads="1"/>
          </p:cNvSpPr>
          <p:nvPr/>
        </p:nvSpPr>
        <p:spPr bwMode="auto">
          <a:xfrm>
            <a:off x="0" y="1962150"/>
            <a:ext cx="8682037" cy="1131464"/>
          </a:xfrm>
          <a:prstGeom prst="rect">
            <a:avLst/>
          </a:prstGeom>
          <a:noFill/>
          <a:ln w="9525">
            <a:noFill/>
            <a:miter lim="800000"/>
            <a:headEnd/>
            <a:tailEnd/>
          </a:ln>
        </p:spPr>
        <p:txBody>
          <a:bodyPr>
            <a:spAutoFit/>
          </a:bodyPr>
          <a:lstStyle/>
          <a:p>
            <a:pPr lvl="1" eaLnBrk="0" hangingPunct="0">
              <a:lnSpc>
                <a:spcPct val="110000"/>
              </a:lnSpc>
            </a:pPr>
            <a:r>
              <a:rPr lang="en-US" altLang="zh-CN" sz="3200" dirty="0">
                <a:solidFill>
                  <a:srgbClr val="000000"/>
                </a:solidFill>
              </a:rPr>
              <a:t>4)  </a:t>
            </a:r>
            <a:r>
              <a:rPr lang="zh-CN" altLang="en-US" sz="3200" dirty="0">
                <a:solidFill>
                  <a:srgbClr val="000000"/>
                </a:solidFill>
                <a:ea typeface="楷体_GB2312" pitchFamily="49" charset="-122"/>
              </a:rPr>
              <a:t>若当前运算符的优先数高于栈顶运算符，则进栈；</a:t>
            </a:r>
          </a:p>
        </p:txBody>
      </p:sp>
      <p:sp>
        <p:nvSpPr>
          <p:cNvPr id="77828" name="Text Box 3"/>
          <p:cNvSpPr txBox="1">
            <a:spLocks noChangeArrowheads="1"/>
          </p:cNvSpPr>
          <p:nvPr/>
        </p:nvSpPr>
        <p:spPr bwMode="auto">
          <a:xfrm>
            <a:off x="14287" y="3248537"/>
            <a:ext cx="9296400" cy="645177"/>
          </a:xfrm>
          <a:prstGeom prst="rect">
            <a:avLst/>
          </a:prstGeom>
          <a:noFill/>
          <a:ln w="9525">
            <a:noFill/>
            <a:miter lim="800000"/>
            <a:headEnd/>
            <a:tailEnd/>
          </a:ln>
        </p:spPr>
        <p:txBody>
          <a:bodyPr>
            <a:spAutoFit/>
          </a:bodyPr>
          <a:lstStyle/>
          <a:p>
            <a:pPr lvl="1" eaLnBrk="0" hangingPunct="0">
              <a:lnSpc>
                <a:spcPct val="125000"/>
              </a:lnSpc>
            </a:pPr>
            <a:r>
              <a:rPr lang="en-US" altLang="zh-CN" sz="3200" dirty="0">
                <a:solidFill>
                  <a:srgbClr val="000000"/>
                </a:solidFill>
              </a:rPr>
              <a:t>5)  </a:t>
            </a:r>
            <a:r>
              <a:rPr lang="zh-CN" altLang="en-US" sz="3200" dirty="0">
                <a:solidFill>
                  <a:srgbClr val="000000"/>
                </a:solidFill>
                <a:ea typeface="楷体_GB2312" pitchFamily="49" charset="-122"/>
              </a:rPr>
              <a:t>否则，退出栈顶运算符发送给后缀式；    </a:t>
            </a:r>
            <a:endParaRPr lang="zh-CN" altLang="en-US" sz="3200" dirty="0">
              <a:solidFill>
                <a:srgbClr val="000000"/>
              </a:solidFill>
            </a:endParaRPr>
          </a:p>
        </p:txBody>
      </p:sp>
      <p:sp>
        <p:nvSpPr>
          <p:cNvPr id="77829" name="Text Box 4"/>
          <p:cNvSpPr txBox="1">
            <a:spLocks noChangeArrowheads="1"/>
          </p:cNvSpPr>
          <p:nvPr/>
        </p:nvSpPr>
        <p:spPr bwMode="auto">
          <a:xfrm>
            <a:off x="458787" y="4027064"/>
            <a:ext cx="8534400" cy="1224951"/>
          </a:xfrm>
          <a:prstGeom prst="rect">
            <a:avLst/>
          </a:prstGeom>
          <a:noFill/>
          <a:ln w="9525">
            <a:noFill/>
            <a:miter lim="800000"/>
            <a:headEnd/>
            <a:tailEnd/>
          </a:ln>
        </p:spPr>
        <p:txBody>
          <a:bodyPr wrap="square">
            <a:spAutoFit/>
          </a:bodyPr>
          <a:lstStyle/>
          <a:p>
            <a:pPr eaLnBrk="0" hangingPunct="0">
              <a:lnSpc>
                <a:spcPct val="115000"/>
              </a:lnSpc>
            </a:pPr>
            <a:r>
              <a:rPr lang="en-US" altLang="zh-CN" sz="3200" dirty="0">
                <a:solidFill>
                  <a:srgbClr val="000000"/>
                </a:solidFill>
                <a:ea typeface="楷体_GB2312" pitchFamily="49" charset="-122"/>
              </a:rPr>
              <a:t>6</a:t>
            </a:r>
            <a:r>
              <a:rPr lang="en-US" altLang="zh-CN" sz="3200" dirty="0">
                <a:solidFill>
                  <a:srgbClr val="000000"/>
                </a:solidFill>
              </a:rPr>
              <a:t>)  </a:t>
            </a:r>
            <a:r>
              <a:rPr lang="en-US" altLang="zh-CN" sz="3200" dirty="0">
                <a:solidFill>
                  <a:srgbClr val="000000"/>
                </a:solidFill>
                <a:ea typeface="楷体_GB2312" pitchFamily="49" charset="-122"/>
              </a:rPr>
              <a:t> “(” </a:t>
            </a:r>
            <a:r>
              <a:rPr lang="zh-CN" altLang="en-US" sz="3200" dirty="0">
                <a:solidFill>
                  <a:srgbClr val="000000"/>
                </a:solidFill>
                <a:ea typeface="楷体_GB2312" pitchFamily="49" charset="-122"/>
              </a:rPr>
              <a:t>对它之前后的运算符起隔离作用，“</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可视为自相应左括弧开始的表达式的结束符。</a:t>
            </a:r>
          </a:p>
        </p:txBody>
      </p:sp>
      <p:sp>
        <p:nvSpPr>
          <p:cNvPr id="7"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2952245494"/>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noFill/>
        </p:spPr>
        <p:txBody>
          <a:bodyPr/>
          <a:lstStyle/>
          <a:p>
            <a:fld id="{E07413B6-A585-4DB7-BE3D-3A8E6CAF989E}" type="slidenum">
              <a:rPr lang="en-US" altLang="zh-CN"/>
              <a:pPr/>
              <a:t>71</a:t>
            </a:fld>
            <a:endParaRPr lang="en-US" altLang="zh-CN"/>
          </a:p>
        </p:txBody>
      </p:sp>
      <p:sp>
        <p:nvSpPr>
          <p:cNvPr id="78851" name="Text Box 2"/>
          <p:cNvSpPr txBox="1">
            <a:spLocks noChangeArrowheads="1"/>
          </p:cNvSpPr>
          <p:nvPr/>
        </p:nvSpPr>
        <p:spPr bwMode="auto">
          <a:xfrm>
            <a:off x="0" y="1318597"/>
            <a:ext cx="9494838" cy="4955203"/>
          </a:xfrm>
          <a:prstGeom prst="rect">
            <a:avLst/>
          </a:prstGeom>
          <a:noFill/>
          <a:ln w="9525">
            <a:noFill/>
            <a:miter lim="800000"/>
            <a:headEnd/>
            <a:tailEnd/>
          </a:ln>
        </p:spPr>
        <p:txBody>
          <a:bodyPr wrap="square">
            <a:spAutoFit/>
          </a:bodyPr>
          <a:lstStyle/>
          <a:p>
            <a:pPr eaLnBrk="0" hangingPunct="0"/>
            <a:r>
              <a:rPr lang="en-US" altLang="zh-CN" sz="3200" b="1" dirty="0">
                <a:solidFill>
                  <a:srgbClr val="000066"/>
                </a:solidFill>
                <a:ea typeface="楷体_GB2312" pitchFamily="49" charset="-122"/>
              </a:rPr>
              <a:t>Void</a:t>
            </a:r>
            <a:r>
              <a:rPr lang="en-US" altLang="zh-CN" sz="3200" dirty="0">
                <a:solidFill>
                  <a:srgbClr val="000066"/>
                </a:solidFill>
                <a:ea typeface="楷体_GB2312" pitchFamily="49" charset="-122"/>
              </a:rPr>
              <a:t> Transform(</a:t>
            </a:r>
            <a:r>
              <a:rPr lang="en-US" altLang="zh-CN" sz="3200" b="1" dirty="0">
                <a:solidFill>
                  <a:srgbClr val="000066"/>
                </a:solidFill>
                <a:ea typeface="楷体_GB2312" pitchFamily="49" charset="-122"/>
              </a:rPr>
              <a:t>Char</a:t>
            </a:r>
            <a:r>
              <a:rPr lang="en-US" altLang="zh-CN" sz="3200" dirty="0">
                <a:solidFill>
                  <a:srgbClr val="000066"/>
                </a:solidFill>
                <a:ea typeface="楷体_GB2312" pitchFamily="49" charset="-122"/>
              </a:rPr>
              <a:t> suffix[ ], </a:t>
            </a:r>
            <a:r>
              <a:rPr lang="en-US" altLang="zh-CN" sz="3200" b="1" dirty="0">
                <a:solidFill>
                  <a:srgbClr val="000066"/>
                </a:solidFill>
                <a:ea typeface="楷体_GB2312" pitchFamily="49" charset="-122"/>
              </a:rPr>
              <a:t>Char</a:t>
            </a:r>
            <a:r>
              <a:rPr lang="en-US" altLang="zh-CN" sz="3200" dirty="0">
                <a:solidFill>
                  <a:srgbClr val="000066"/>
                </a:solidFill>
                <a:ea typeface="楷体_GB2312" pitchFamily="49" charset="-122"/>
              </a:rPr>
              <a:t> exp[ ] )</a:t>
            </a:r>
          </a:p>
          <a:p>
            <a:pPr eaLnBrk="0" hangingPunct="0"/>
            <a:r>
              <a:rPr lang="en-US" altLang="zh-CN" b="1" dirty="0">
                <a:solidFill>
                  <a:schemeClr val="folHlink"/>
                </a:solidFill>
                <a:ea typeface="楷体_GB2312" pitchFamily="49" charset="-122"/>
              </a:rPr>
              <a:t>                        //</a:t>
            </a:r>
            <a:r>
              <a:rPr lang="zh-CN" altLang="en-US" b="1" dirty="0">
                <a:solidFill>
                  <a:schemeClr val="folHlink"/>
                </a:solidFill>
                <a:ea typeface="楷体_GB2312" pitchFamily="49" charset="-122"/>
              </a:rPr>
              <a:t>从原表达式求得后缀式</a:t>
            </a:r>
          </a:p>
          <a:p>
            <a:pPr eaLnBrk="0" hangingPunct="0"/>
            <a:r>
              <a:rPr lang="zh-CN" altLang="en-US" sz="3600" dirty="0">
                <a:solidFill>
                  <a:srgbClr val="000066"/>
                </a:solidFill>
                <a:ea typeface="楷体_GB2312" pitchFamily="49" charset="-122"/>
              </a:rPr>
              <a:t> </a:t>
            </a:r>
            <a:r>
              <a:rPr lang="en-US" altLang="zh-CN" sz="3200" b="1" dirty="0">
                <a:solidFill>
                  <a:srgbClr val="000066"/>
                </a:solidFill>
                <a:ea typeface="楷体_GB2312" pitchFamily="49" charset="-122"/>
              </a:rPr>
              <a:t>{</a:t>
            </a:r>
          </a:p>
          <a:p>
            <a:pPr eaLnBrk="0" hangingPunct="0"/>
            <a:endParaRPr lang="en-US" altLang="zh-CN" sz="3200" b="1" dirty="0">
              <a:solidFill>
                <a:srgbClr val="000066"/>
              </a:solidFill>
              <a:ea typeface="楷体_GB2312" pitchFamily="49" charset="-122"/>
            </a:endParaRPr>
          </a:p>
          <a:p>
            <a:pPr eaLnBrk="0" hangingPunct="0"/>
            <a:endParaRPr lang="en-US" altLang="zh-CN" sz="3200" b="1" dirty="0">
              <a:solidFill>
                <a:srgbClr val="000066"/>
              </a:solidFill>
              <a:ea typeface="楷体_GB2312" pitchFamily="49" charset="-122"/>
            </a:endParaRPr>
          </a:p>
          <a:p>
            <a:pPr eaLnBrk="0" hangingPunct="0"/>
            <a:endParaRPr lang="en-US" altLang="zh-CN" sz="3200" b="1" dirty="0">
              <a:solidFill>
                <a:srgbClr val="000066"/>
              </a:solidFill>
              <a:ea typeface="楷体_GB2312" pitchFamily="49" charset="-122"/>
            </a:endParaRPr>
          </a:p>
          <a:p>
            <a:pPr eaLnBrk="0" hangingPunct="0"/>
            <a:endParaRPr lang="en-US" altLang="zh-CN" sz="3200" b="1" dirty="0">
              <a:solidFill>
                <a:srgbClr val="000066"/>
              </a:solidFill>
              <a:ea typeface="楷体_GB2312" pitchFamily="49" charset="-122"/>
            </a:endParaRPr>
          </a:p>
          <a:p>
            <a:pPr eaLnBrk="0" hangingPunct="0"/>
            <a:endParaRPr lang="en-US" altLang="zh-CN" sz="3200" b="1" dirty="0">
              <a:solidFill>
                <a:srgbClr val="000066"/>
              </a:solidFill>
              <a:ea typeface="楷体_GB2312" pitchFamily="49" charset="-122"/>
            </a:endParaRPr>
          </a:p>
          <a:p>
            <a:pPr eaLnBrk="0" hangingPunct="0"/>
            <a:endParaRPr lang="en-US" altLang="zh-CN" sz="3200" b="1" dirty="0">
              <a:solidFill>
                <a:srgbClr val="000066"/>
              </a:solidFill>
              <a:ea typeface="楷体_GB2312" pitchFamily="49" charset="-122"/>
            </a:endParaRPr>
          </a:p>
          <a:p>
            <a:pPr eaLnBrk="0" hangingPunct="0"/>
            <a:r>
              <a:rPr lang="en-US" altLang="zh-CN" sz="3200" b="1" dirty="0">
                <a:solidFill>
                  <a:srgbClr val="000066"/>
                </a:solidFill>
                <a:ea typeface="楷体_GB2312" pitchFamily="49" charset="-122"/>
              </a:rPr>
              <a:t>}</a:t>
            </a:r>
            <a:r>
              <a:rPr lang="en-US" altLang="zh-CN" sz="3200" dirty="0">
                <a:solidFill>
                  <a:srgbClr val="000066"/>
                </a:solidFill>
                <a:ea typeface="楷体_GB2312" pitchFamily="49" charset="-122"/>
              </a:rPr>
              <a:t> // Transform</a:t>
            </a:r>
          </a:p>
        </p:txBody>
      </p:sp>
      <p:sp>
        <p:nvSpPr>
          <p:cNvPr id="78852" name="Text Box 5"/>
          <p:cNvSpPr txBox="1">
            <a:spLocks noChangeArrowheads="1"/>
          </p:cNvSpPr>
          <p:nvPr/>
        </p:nvSpPr>
        <p:spPr bwMode="auto">
          <a:xfrm>
            <a:off x="260350" y="2228314"/>
            <a:ext cx="9494837" cy="3600986"/>
          </a:xfrm>
          <a:prstGeom prst="rect">
            <a:avLst/>
          </a:prstGeom>
          <a:noFill/>
          <a:ln w="9525">
            <a:noFill/>
            <a:miter lim="800000"/>
            <a:headEnd/>
            <a:tailEnd/>
          </a:ln>
        </p:spPr>
        <p:txBody>
          <a:bodyPr>
            <a:spAutoFit/>
          </a:bodyPr>
          <a:lstStyle/>
          <a:p>
            <a:pPr eaLnBrk="0" hangingPunct="0"/>
            <a:r>
              <a:rPr lang="en-US" altLang="zh-CN" sz="3200" dirty="0">
                <a:solidFill>
                  <a:srgbClr val="000066"/>
                </a:solidFill>
                <a:ea typeface="楷体_GB2312" pitchFamily="49" charset="-122"/>
              </a:rPr>
              <a:t>    </a:t>
            </a:r>
            <a:r>
              <a:rPr lang="en-US" altLang="zh-CN" sz="2800" dirty="0" err="1">
                <a:solidFill>
                  <a:srgbClr val="000066"/>
                </a:solidFill>
                <a:ea typeface="楷体_GB2312" pitchFamily="49" charset="-122"/>
              </a:rPr>
              <a:t>InitStack</a:t>
            </a:r>
            <a:r>
              <a:rPr lang="en-US" altLang="zh-CN" sz="2800" dirty="0">
                <a:solidFill>
                  <a:srgbClr val="000066"/>
                </a:solidFill>
                <a:ea typeface="楷体_GB2312" pitchFamily="49" charset="-122"/>
              </a:rPr>
              <a:t>(S);  Push(S, </a:t>
            </a:r>
            <a:r>
              <a:rPr lang="en-US" altLang="zh-CN" sz="2800" dirty="0">
                <a:solidFill>
                  <a:srgbClr val="000066"/>
                </a:solidFill>
                <a:ea typeface="楷体_GB2312" pitchFamily="49" charset="-122"/>
                <a:sym typeface="Symbol" pitchFamily="18" charset="2"/>
              </a:rPr>
              <a:t></a:t>
            </a:r>
            <a:r>
              <a:rPr lang="en-US" altLang="zh-CN" sz="2800" dirty="0">
                <a:solidFill>
                  <a:srgbClr val="000066"/>
                </a:solidFill>
                <a:ea typeface="楷体_GB2312" pitchFamily="49" charset="-122"/>
              </a:rPr>
              <a:t>#</a:t>
            </a:r>
            <a:r>
              <a:rPr lang="en-US" altLang="zh-CN" sz="2800" dirty="0">
                <a:solidFill>
                  <a:srgbClr val="000066"/>
                </a:solidFill>
                <a:ea typeface="楷体_GB2312" pitchFamily="49" charset="-122"/>
                <a:sym typeface="Symbol" pitchFamily="18" charset="2"/>
              </a:rPr>
              <a:t></a:t>
            </a:r>
            <a:r>
              <a:rPr lang="en-US" altLang="zh-CN" sz="2800" dirty="0">
                <a:solidFill>
                  <a:srgbClr val="000066"/>
                </a:solidFill>
                <a:ea typeface="楷体_GB2312" pitchFamily="49" charset="-122"/>
              </a:rPr>
              <a:t>);     p = exp;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 *p;</a:t>
            </a:r>
          </a:p>
          <a:p>
            <a:pPr eaLnBrk="0" hangingPunct="0"/>
            <a:r>
              <a:rPr lang="en-US" altLang="zh-CN" sz="2800" dirty="0">
                <a:solidFill>
                  <a:srgbClr val="000066"/>
                </a:solidFill>
                <a:ea typeface="楷体_GB2312" pitchFamily="49" charset="-122"/>
              </a:rPr>
              <a:t>     </a:t>
            </a:r>
            <a:r>
              <a:rPr lang="en-US" altLang="zh-CN" sz="2800" b="1" dirty="0">
                <a:solidFill>
                  <a:srgbClr val="A50021"/>
                </a:solidFill>
                <a:ea typeface="楷体_GB2312" pitchFamily="49" charset="-122"/>
              </a:rPr>
              <a:t>While</a:t>
            </a:r>
            <a:r>
              <a:rPr lang="en-US" altLang="zh-CN" sz="2800" dirty="0">
                <a:solidFill>
                  <a:srgbClr val="A50021"/>
                </a:solidFill>
                <a:ea typeface="楷体_GB2312" pitchFamily="49" charset="-122"/>
              </a:rPr>
              <a:t> (</a:t>
            </a:r>
            <a:r>
              <a:rPr lang="en-US" altLang="zh-CN" sz="2800" b="1" dirty="0">
                <a:solidFill>
                  <a:srgbClr val="A50021"/>
                </a:solidFill>
                <a:ea typeface="楷体_GB2312" pitchFamily="49" charset="-122"/>
              </a:rPr>
              <a:t>!</a:t>
            </a:r>
            <a:r>
              <a:rPr lang="en-US" altLang="zh-CN" sz="2800" dirty="0" err="1">
                <a:solidFill>
                  <a:srgbClr val="A50021"/>
                </a:solidFill>
                <a:ea typeface="楷体_GB2312" pitchFamily="49" charset="-122"/>
              </a:rPr>
              <a:t>StackEmpty</a:t>
            </a:r>
            <a:r>
              <a:rPr lang="en-US" altLang="zh-CN" sz="2800" dirty="0">
                <a:solidFill>
                  <a:srgbClr val="A50021"/>
                </a:solidFill>
                <a:ea typeface="楷体_GB2312" pitchFamily="49" charset="-122"/>
              </a:rPr>
              <a:t>(S)) </a:t>
            </a:r>
          </a:p>
          <a:p>
            <a:pPr lvl="1" eaLnBrk="0" hangingPunct="0"/>
            <a:r>
              <a:rPr lang="en-US" altLang="zh-CN" sz="2800" b="1" dirty="0">
                <a:solidFill>
                  <a:srgbClr val="A50021"/>
                </a:solidFill>
                <a:ea typeface="楷体_GB2312" pitchFamily="49" charset="-122"/>
              </a:rPr>
              <a:t>  {</a:t>
            </a:r>
            <a:r>
              <a:rPr lang="en-US" altLang="zh-CN" sz="2800" b="1" dirty="0">
                <a:solidFill>
                  <a:srgbClr val="000066"/>
                </a:solidFill>
                <a:ea typeface="楷体_GB2312" pitchFamily="49" charset="-122"/>
              </a:rPr>
              <a:t> If</a:t>
            </a:r>
            <a:r>
              <a:rPr lang="en-US" altLang="zh-CN" sz="2800" dirty="0">
                <a:solidFill>
                  <a:srgbClr val="000066"/>
                </a:solidFill>
                <a:ea typeface="楷体_GB2312" pitchFamily="49" charset="-122"/>
              </a:rPr>
              <a:t> (</a:t>
            </a:r>
            <a:r>
              <a:rPr lang="en-US" altLang="zh-CN" sz="2800" b="1" dirty="0">
                <a:solidFill>
                  <a:srgbClr val="000066"/>
                </a:solidFill>
                <a:ea typeface="楷体_GB2312" pitchFamily="49" charset="-122"/>
              </a:rPr>
              <a:t>!</a:t>
            </a:r>
            <a:r>
              <a:rPr lang="en-US" altLang="zh-CN" sz="2800" dirty="0">
                <a:solidFill>
                  <a:srgbClr val="000066"/>
                </a:solidFill>
                <a:ea typeface="楷体_GB2312" pitchFamily="49" charset="-122"/>
              </a:rPr>
              <a:t>IN(</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OP))             </a:t>
            </a:r>
            <a:r>
              <a:rPr lang="en-US" altLang="zh-CN" b="1" dirty="0">
                <a:solidFill>
                  <a:schemeClr val="folHlink"/>
                </a:solidFill>
                <a:ea typeface="楷体_GB2312" pitchFamily="49" charset="-122"/>
              </a:rPr>
              <a:t>// </a:t>
            </a:r>
            <a:r>
              <a:rPr lang="zh-CN" altLang="en-US" b="1" dirty="0">
                <a:solidFill>
                  <a:schemeClr val="folHlink"/>
                </a:solidFill>
                <a:ea typeface="楷体_GB2312" pitchFamily="49" charset="-122"/>
              </a:rPr>
              <a:t>若</a:t>
            </a:r>
            <a:r>
              <a:rPr lang="en-US" altLang="zh-CN" b="1" dirty="0" err="1">
                <a:solidFill>
                  <a:schemeClr val="folHlink"/>
                </a:solidFill>
                <a:ea typeface="楷体_GB2312" pitchFamily="49" charset="-122"/>
              </a:rPr>
              <a:t>ch</a:t>
            </a:r>
            <a:r>
              <a:rPr lang="zh-CN" altLang="en-US" b="1" dirty="0">
                <a:solidFill>
                  <a:schemeClr val="folHlink"/>
                </a:solidFill>
                <a:ea typeface="楷体_GB2312" pitchFamily="49" charset="-122"/>
              </a:rPr>
              <a:t>是操作数</a:t>
            </a:r>
          </a:p>
          <a:p>
            <a:pPr lvl="1" eaLnBrk="0" hangingPunct="0"/>
            <a:r>
              <a:rPr lang="zh-CN" altLang="en-US" sz="2800" dirty="0">
                <a:solidFill>
                  <a:srgbClr val="000066"/>
                </a:solidFill>
                <a:ea typeface="楷体_GB2312" pitchFamily="49" charset="-122"/>
              </a:rPr>
              <a:t>         </a:t>
            </a:r>
            <a:r>
              <a:rPr lang="en-US" altLang="zh-CN" sz="2800" dirty="0">
                <a:solidFill>
                  <a:srgbClr val="000066"/>
                </a:solidFill>
                <a:ea typeface="楷体_GB2312" pitchFamily="49" charset="-122"/>
              </a:rPr>
              <a:t>Pass( Suffix,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a:t>
            </a:r>
          </a:p>
          <a:p>
            <a:pPr lvl="1" eaLnBrk="0" hangingPunct="0"/>
            <a:r>
              <a:rPr lang="en-US" altLang="zh-CN" sz="2800" b="1" dirty="0">
                <a:solidFill>
                  <a:srgbClr val="000066"/>
                </a:solidFill>
                <a:ea typeface="楷体_GB2312" pitchFamily="49" charset="-122"/>
              </a:rPr>
              <a:t>      Else {   </a:t>
            </a:r>
            <a:r>
              <a:rPr lang="en-US" altLang="zh-CN" sz="2800" b="1" dirty="0">
                <a:solidFill>
                  <a:schemeClr val="hlink"/>
                </a:solidFill>
                <a:ea typeface="楷体_GB2312" pitchFamily="49" charset="-122"/>
              </a:rPr>
              <a:t>A:</a:t>
            </a:r>
            <a:r>
              <a:rPr lang="en-US" altLang="zh-CN" sz="2800" b="1" dirty="0">
                <a:solidFill>
                  <a:srgbClr val="000066"/>
                </a:solidFill>
                <a:ea typeface="楷体_GB2312" pitchFamily="49" charset="-122"/>
              </a:rPr>
              <a:t>                }  </a:t>
            </a:r>
            <a:r>
              <a:rPr lang="en-US" altLang="zh-CN" b="1" dirty="0">
                <a:solidFill>
                  <a:schemeClr val="folHlink"/>
                </a:solidFill>
                <a:ea typeface="楷体_GB2312" pitchFamily="49" charset="-122"/>
              </a:rPr>
              <a:t>// </a:t>
            </a:r>
            <a:r>
              <a:rPr lang="zh-CN" altLang="en-US" b="1" dirty="0">
                <a:solidFill>
                  <a:schemeClr val="folHlink"/>
                </a:solidFill>
                <a:ea typeface="楷体_GB2312" pitchFamily="49" charset="-122"/>
              </a:rPr>
              <a:t>若</a:t>
            </a:r>
            <a:r>
              <a:rPr lang="en-US" altLang="zh-CN" b="1" dirty="0" err="1">
                <a:solidFill>
                  <a:schemeClr val="folHlink"/>
                </a:solidFill>
                <a:ea typeface="楷体_GB2312" pitchFamily="49" charset="-122"/>
              </a:rPr>
              <a:t>ch</a:t>
            </a:r>
            <a:r>
              <a:rPr lang="zh-CN" altLang="en-US" b="1" dirty="0">
                <a:solidFill>
                  <a:schemeClr val="folHlink"/>
                </a:solidFill>
                <a:ea typeface="楷体_GB2312" pitchFamily="49" charset="-122"/>
              </a:rPr>
              <a:t>是运算符</a:t>
            </a:r>
          </a:p>
          <a:p>
            <a:pPr eaLnBrk="0" hangingPunct="0"/>
            <a:r>
              <a:rPr lang="zh-CN" altLang="en-US" sz="2800" b="1" dirty="0">
                <a:solidFill>
                  <a:srgbClr val="000066"/>
                </a:solidFill>
                <a:ea typeface="楷体_GB2312" pitchFamily="49" charset="-122"/>
              </a:rPr>
              <a:t>   </a:t>
            </a:r>
            <a:r>
              <a:rPr lang="zh-CN" altLang="en-US" sz="2800" dirty="0">
                <a:solidFill>
                  <a:srgbClr val="000066"/>
                </a:solidFill>
                <a:ea typeface="楷体_GB2312" pitchFamily="49" charset="-122"/>
              </a:rPr>
              <a:t>       </a:t>
            </a:r>
            <a:r>
              <a:rPr lang="en-US" altLang="zh-CN" sz="2800" b="1" dirty="0">
                <a:solidFill>
                  <a:srgbClr val="000066"/>
                </a:solidFill>
                <a:ea typeface="楷体_GB2312" pitchFamily="49" charset="-122"/>
              </a:rPr>
              <a:t>If</a:t>
            </a:r>
            <a:r>
              <a:rPr lang="en-US" altLang="zh-CN" sz="2800" dirty="0">
                <a:solidFill>
                  <a:srgbClr val="000066"/>
                </a:solidFill>
                <a:ea typeface="楷体_GB2312" pitchFamily="49" charset="-122"/>
              </a:rPr>
              <a:t> (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a:t>
            </a:r>
            <a:r>
              <a:rPr lang="en-US" altLang="zh-CN" sz="2800" dirty="0">
                <a:solidFill>
                  <a:srgbClr val="000066"/>
                </a:solidFill>
                <a:ea typeface="楷体_GB2312" pitchFamily="49" charset="-122"/>
                <a:sym typeface="Symbol" pitchFamily="18" charset="2"/>
              </a:rPr>
              <a:t></a:t>
            </a:r>
            <a:r>
              <a:rPr lang="en-US" altLang="zh-CN" sz="2800" dirty="0">
                <a:solidFill>
                  <a:srgbClr val="000066"/>
                </a:solidFill>
                <a:ea typeface="楷体_GB2312" pitchFamily="49" charset="-122"/>
              </a:rPr>
              <a:t>#</a:t>
            </a:r>
            <a:r>
              <a:rPr lang="en-US" altLang="zh-CN" sz="2800" dirty="0">
                <a:solidFill>
                  <a:srgbClr val="000066"/>
                </a:solidFill>
                <a:ea typeface="楷体_GB2312" pitchFamily="49" charset="-122"/>
                <a:sym typeface="Symbol" pitchFamily="18" charset="2"/>
              </a:rPr>
              <a:t></a:t>
            </a:r>
            <a:r>
              <a:rPr lang="en-US" altLang="zh-CN" sz="2800" dirty="0">
                <a:solidFill>
                  <a:srgbClr val="000066"/>
                </a:solidFill>
                <a:ea typeface="楷体_GB2312" pitchFamily="49" charset="-122"/>
              </a:rPr>
              <a:t> ) </a:t>
            </a:r>
            <a:r>
              <a:rPr lang="en-US" altLang="zh-CN" sz="2800" b="1" dirty="0">
                <a:solidFill>
                  <a:srgbClr val="000066"/>
                </a:solidFill>
                <a:ea typeface="楷体_GB2312" pitchFamily="49" charset="-122"/>
              </a:rPr>
              <a:t>{</a:t>
            </a:r>
            <a:r>
              <a:rPr lang="en-US" altLang="zh-CN" sz="2800" dirty="0">
                <a:solidFill>
                  <a:srgbClr val="000066"/>
                </a:solidFill>
                <a:ea typeface="楷体_GB2312" pitchFamily="49" charset="-122"/>
              </a:rPr>
              <a:t> p++;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 *p; </a:t>
            </a:r>
            <a:r>
              <a:rPr lang="en-US" altLang="zh-CN" sz="2800" b="1" dirty="0">
                <a:solidFill>
                  <a:srgbClr val="000066"/>
                </a:solidFill>
                <a:ea typeface="楷体_GB2312" pitchFamily="49" charset="-122"/>
              </a:rPr>
              <a:t>}</a:t>
            </a:r>
          </a:p>
          <a:p>
            <a:pPr lvl="1" eaLnBrk="0" hangingPunct="0"/>
            <a:r>
              <a:rPr lang="en-US" altLang="zh-CN" sz="2800" b="1" dirty="0">
                <a:solidFill>
                  <a:srgbClr val="000066"/>
                </a:solidFill>
                <a:ea typeface="楷体_GB2312" pitchFamily="49" charset="-122"/>
              </a:rPr>
              <a:t>         Else </a:t>
            </a:r>
            <a:r>
              <a:rPr lang="en-US" altLang="zh-CN" sz="2800" dirty="0">
                <a:solidFill>
                  <a:srgbClr val="000066"/>
                </a:solidFill>
                <a:ea typeface="楷体_GB2312" pitchFamily="49" charset="-122"/>
              </a:rPr>
              <a:t>{ Pop(S,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Pass(Suffix, </a:t>
            </a:r>
            <a:r>
              <a:rPr lang="en-US" altLang="zh-CN" sz="2800" dirty="0" err="1">
                <a:solidFill>
                  <a:srgbClr val="000066"/>
                </a:solidFill>
                <a:ea typeface="楷体_GB2312" pitchFamily="49" charset="-122"/>
              </a:rPr>
              <a:t>ch</a:t>
            </a:r>
            <a:r>
              <a:rPr lang="en-US" altLang="zh-CN" sz="2800" dirty="0">
                <a:solidFill>
                  <a:srgbClr val="000066"/>
                </a:solidFill>
                <a:ea typeface="楷体_GB2312" pitchFamily="49" charset="-122"/>
              </a:rPr>
              <a:t>); }</a:t>
            </a:r>
          </a:p>
          <a:p>
            <a:pPr lvl="1" eaLnBrk="0" hangingPunct="0"/>
            <a:r>
              <a:rPr lang="en-US" altLang="zh-CN" sz="2800" dirty="0">
                <a:solidFill>
                  <a:srgbClr val="000066"/>
                </a:solidFill>
                <a:ea typeface="楷体_GB2312" pitchFamily="49" charset="-122"/>
              </a:rPr>
              <a:t>  </a:t>
            </a:r>
            <a:r>
              <a:rPr lang="en-US" altLang="zh-CN" sz="2800" b="1" dirty="0">
                <a:solidFill>
                  <a:srgbClr val="A50021"/>
                </a:solidFill>
                <a:ea typeface="楷体_GB2312" pitchFamily="49" charset="-122"/>
              </a:rPr>
              <a:t>}</a:t>
            </a:r>
            <a:r>
              <a:rPr lang="en-US" altLang="zh-CN" sz="2800" dirty="0">
                <a:solidFill>
                  <a:srgbClr val="A50021"/>
                </a:solidFill>
                <a:ea typeface="楷体_GB2312" pitchFamily="49" charset="-122"/>
              </a:rPr>
              <a:t> // While</a:t>
            </a:r>
          </a:p>
        </p:txBody>
      </p:sp>
      <p:sp>
        <p:nvSpPr>
          <p:cNvPr id="78853" name="Text Box 3">
            <a:hlinkClick r:id="" action="ppaction://hlinkshowjump?jump=nextslide"/>
          </p:cNvPr>
          <p:cNvSpPr txBox="1">
            <a:spLocks noChangeArrowheads="1"/>
          </p:cNvSpPr>
          <p:nvPr/>
        </p:nvSpPr>
        <p:spPr bwMode="auto">
          <a:xfrm>
            <a:off x="3176588" y="3654425"/>
            <a:ext cx="1327150" cy="701675"/>
          </a:xfrm>
          <a:prstGeom prst="rect">
            <a:avLst/>
          </a:prstGeom>
          <a:noFill/>
          <a:ln w="9525">
            <a:noFill/>
            <a:miter lim="800000"/>
            <a:headEnd/>
            <a:tailEnd/>
          </a:ln>
        </p:spPr>
        <p:txBody>
          <a:bodyPr wrap="none">
            <a:spAutoFit/>
          </a:bodyPr>
          <a:lstStyle/>
          <a:p>
            <a:r>
              <a:rPr lang="en-US" altLang="zh-CN" sz="4000" b="1">
                <a:solidFill>
                  <a:srgbClr val="FF0000"/>
                </a:solidFill>
              </a:rPr>
              <a:t>… …</a:t>
            </a:r>
            <a:endParaRPr lang="en-US" altLang="zh-CN" sz="4000" b="1"/>
          </a:p>
        </p:txBody>
      </p:sp>
      <p:sp>
        <p:nvSpPr>
          <p:cNvPr id="6"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428150052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9874" name="灯片编号占位符 3"/>
          <p:cNvSpPr>
            <a:spLocks noGrp="1"/>
          </p:cNvSpPr>
          <p:nvPr>
            <p:ph type="sldNum" sz="quarter" idx="12"/>
          </p:nvPr>
        </p:nvSpPr>
        <p:spPr>
          <a:noFill/>
        </p:spPr>
        <p:txBody>
          <a:bodyPr/>
          <a:lstStyle/>
          <a:p>
            <a:fld id="{E26905DC-5880-4AF0-A42C-4BC9EBE9A11A}" type="slidenum">
              <a:rPr lang="en-US" altLang="zh-CN"/>
              <a:pPr/>
              <a:t>72</a:t>
            </a:fld>
            <a:endParaRPr lang="en-US" altLang="zh-CN"/>
          </a:p>
        </p:txBody>
      </p:sp>
      <p:sp>
        <p:nvSpPr>
          <p:cNvPr id="79875" name="Text Box 2"/>
          <p:cNvSpPr txBox="1">
            <a:spLocks noChangeArrowheads="1"/>
          </p:cNvSpPr>
          <p:nvPr/>
        </p:nvSpPr>
        <p:spPr bwMode="auto">
          <a:xfrm>
            <a:off x="393700" y="1473200"/>
            <a:ext cx="8915400" cy="4832092"/>
          </a:xfrm>
          <a:prstGeom prst="rect">
            <a:avLst/>
          </a:prstGeom>
          <a:noFill/>
          <a:ln w="9525">
            <a:noFill/>
            <a:miter lim="800000"/>
            <a:headEnd/>
            <a:tailEnd/>
          </a:ln>
        </p:spPr>
        <p:txBody>
          <a:bodyPr>
            <a:spAutoFit/>
          </a:bodyPr>
          <a:lstStyle/>
          <a:p>
            <a:pPr eaLnBrk="0" hangingPunct="0"/>
            <a:r>
              <a:rPr lang="en-US" altLang="zh-CN" sz="2800" b="1" dirty="0">
                <a:solidFill>
                  <a:schemeClr val="hlink"/>
                </a:solidFill>
                <a:ea typeface="楷体_GB2312" pitchFamily="49" charset="-122"/>
              </a:rPr>
              <a:t>A:</a:t>
            </a:r>
          </a:p>
          <a:p>
            <a:pPr eaLnBrk="0" hangingPunct="0"/>
            <a:r>
              <a:rPr lang="en-US" altLang="zh-CN" sz="2800" dirty="0">
                <a:ea typeface="楷体_GB2312" pitchFamily="49" charset="-122"/>
              </a:rPr>
              <a:t>switch (</a:t>
            </a:r>
            <a:r>
              <a:rPr lang="en-US" altLang="zh-CN" sz="2800" dirty="0" err="1">
                <a:ea typeface="楷体_GB2312" pitchFamily="49" charset="-122"/>
              </a:rPr>
              <a:t>ch</a:t>
            </a:r>
            <a:r>
              <a:rPr lang="en-US" altLang="zh-CN" sz="2800" dirty="0">
                <a:ea typeface="楷体_GB2312" pitchFamily="49" charset="-122"/>
              </a:rPr>
              <a:t>)</a:t>
            </a:r>
          </a:p>
          <a:p>
            <a:pPr eaLnBrk="0" hangingPunct="0"/>
            <a:r>
              <a:rPr lang="en-US" altLang="zh-CN" sz="2800" dirty="0">
                <a:ea typeface="楷体_GB2312" pitchFamily="49" charset="-122"/>
              </a:rPr>
              <a:t>{ </a:t>
            </a:r>
            <a:r>
              <a:rPr lang="en-US" altLang="zh-CN" sz="2800" dirty="0">
                <a:solidFill>
                  <a:srgbClr val="000000"/>
                </a:solidFill>
                <a:ea typeface="楷体_GB2312" pitchFamily="49" charset="-122"/>
              </a:rPr>
              <a:t>case </a:t>
            </a:r>
            <a:r>
              <a:rPr lang="en-US" altLang="zh-CN" sz="2800" dirty="0">
                <a:solidFill>
                  <a:srgbClr val="000000"/>
                </a:solidFill>
                <a:ea typeface="楷体_GB2312" pitchFamily="49" charset="-122"/>
                <a:sym typeface="Symbol" pitchFamily="18" charset="2"/>
              </a:rPr>
              <a:t></a:t>
            </a:r>
            <a:r>
              <a:rPr lang="en-US" altLang="zh-CN" sz="2800" dirty="0">
                <a:solidFill>
                  <a:srgbClr val="FF0000"/>
                </a:solidFill>
                <a:ea typeface="楷体_GB2312" pitchFamily="49" charset="-122"/>
              </a:rPr>
              <a:t>(</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 :  Push(S, </a:t>
            </a:r>
            <a:r>
              <a:rPr lang="en-US" altLang="zh-CN" sz="2800" dirty="0" err="1">
                <a:solidFill>
                  <a:srgbClr val="000000"/>
                </a:solidFill>
                <a:ea typeface="楷体_GB2312" pitchFamily="49" charset="-122"/>
              </a:rPr>
              <a:t>ch</a:t>
            </a:r>
            <a:r>
              <a:rPr lang="en-US" altLang="zh-CN" sz="2800" dirty="0">
                <a:solidFill>
                  <a:srgbClr val="000000"/>
                </a:solidFill>
                <a:ea typeface="楷体_GB2312" pitchFamily="49" charset="-122"/>
              </a:rPr>
              <a:t>); break;</a:t>
            </a:r>
          </a:p>
          <a:p>
            <a:pPr eaLnBrk="0" hangingPunct="0"/>
            <a:r>
              <a:rPr lang="en-US" altLang="zh-CN" sz="2800" dirty="0">
                <a:solidFill>
                  <a:srgbClr val="000000"/>
                </a:solidFill>
                <a:ea typeface="楷体_GB2312" pitchFamily="49" charset="-122"/>
              </a:rPr>
              <a:t>   case </a:t>
            </a:r>
            <a:r>
              <a:rPr lang="en-US" altLang="zh-CN" sz="2800" dirty="0">
                <a:solidFill>
                  <a:srgbClr val="000000"/>
                </a:solidFill>
                <a:ea typeface="楷体_GB2312" pitchFamily="49" charset="-122"/>
                <a:sym typeface="Symbol" pitchFamily="18" charset="2"/>
              </a:rPr>
              <a:t></a:t>
            </a:r>
            <a:r>
              <a:rPr lang="en-US" altLang="zh-CN" sz="2800" dirty="0">
                <a:solidFill>
                  <a:srgbClr val="FF0000"/>
                </a:solidFill>
                <a:ea typeface="楷体_GB2312" pitchFamily="49" charset="-122"/>
              </a:rPr>
              <a:t>)</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 :  Pop(S, c);</a:t>
            </a:r>
          </a:p>
          <a:p>
            <a:pPr eaLnBrk="0" hangingPunct="0"/>
            <a:r>
              <a:rPr lang="en-US" altLang="zh-CN" sz="2800" dirty="0">
                <a:solidFill>
                  <a:srgbClr val="000000"/>
                </a:solidFill>
                <a:ea typeface="楷体_GB2312" pitchFamily="49" charset="-122"/>
              </a:rPr>
              <a:t>                    while (c!= </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 )</a:t>
            </a:r>
          </a:p>
          <a:p>
            <a:pPr eaLnBrk="0" hangingPunct="0"/>
            <a:r>
              <a:rPr lang="en-US" altLang="zh-CN" sz="2800" dirty="0">
                <a:solidFill>
                  <a:srgbClr val="000000"/>
                </a:solidFill>
                <a:ea typeface="楷体_GB2312" pitchFamily="49" charset="-122"/>
              </a:rPr>
              <a:t>                       { Pass( Suffix, c);  Pop(S, c) }</a:t>
            </a:r>
          </a:p>
          <a:p>
            <a:pPr eaLnBrk="0" hangingPunct="0"/>
            <a:r>
              <a:rPr lang="en-US" altLang="zh-CN" sz="2800" dirty="0">
                <a:solidFill>
                  <a:srgbClr val="000000"/>
                </a:solidFill>
                <a:ea typeface="楷体_GB2312" pitchFamily="49" charset="-122"/>
              </a:rPr>
              <a:t>                    break; </a:t>
            </a:r>
          </a:p>
          <a:p>
            <a:pPr eaLnBrk="0" hangingPunct="0"/>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defult</a:t>
            </a:r>
            <a:r>
              <a:rPr lang="en-US" altLang="zh-CN" sz="2800" dirty="0">
                <a:solidFill>
                  <a:srgbClr val="000000"/>
                </a:solidFill>
                <a:ea typeface="楷体_GB2312" pitchFamily="49" charset="-122"/>
              </a:rPr>
              <a:t>  :  while(</a:t>
            </a:r>
            <a:r>
              <a:rPr lang="en-US" altLang="zh-CN" sz="2800" dirty="0" err="1">
                <a:solidFill>
                  <a:srgbClr val="000000"/>
                </a:solidFill>
                <a:ea typeface="楷体_GB2312" pitchFamily="49" charset="-122"/>
              </a:rPr>
              <a:t>Gettop</a:t>
            </a:r>
            <a:r>
              <a:rPr lang="en-US" altLang="zh-CN" sz="2800" dirty="0">
                <a:solidFill>
                  <a:srgbClr val="000000"/>
                </a:solidFill>
                <a:ea typeface="楷体_GB2312" pitchFamily="49" charset="-122"/>
              </a:rPr>
              <a:t>(S, c) &amp;&amp; ( precede(</a:t>
            </a:r>
            <a:r>
              <a:rPr lang="en-US" altLang="zh-CN" sz="2800" dirty="0" err="1">
                <a:solidFill>
                  <a:srgbClr val="000000"/>
                </a:solidFill>
                <a:ea typeface="楷体_GB2312" pitchFamily="49" charset="-122"/>
              </a:rPr>
              <a:t>c,ch</a:t>
            </a:r>
            <a:r>
              <a:rPr lang="en-US" altLang="zh-CN" sz="2800" dirty="0">
                <a:solidFill>
                  <a:srgbClr val="000000"/>
                </a:solidFill>
                <a:ea typeface="楷体_GB2312" pitchFamily="49" charset="-122"/>
              </a:rPr>
              <a:t>)))</a:t>
            </a:r>
          </a:p>
          <a:p>
            <a:pPr eaLnBrk="0" hangingPunct="0"/>
            <a:r>
              <a:rPr lang="en-US" altLang="zh-CN" sz="2800" dirty="0">
                <a:solidFill>
                  <a:srgbClr val="000000"/>
                </a:solidFill>
                <a:ea typeface="楷体_GB2312" pitchFamily="49" charset="-122"/>
              </a:rPr>
              <a:t>          { Pass( Suffix, c);  Pop(S, c); }</a:t>
            </a:r>
          </a:p>
          <a:p>
            <a:pPr eaLnBrk="0" hangingPunct="0"/>
            <a:r>
              <a:rPr lang="en-US" altLang="zh-CN" sz="2800" dirty="0">
                <a:solidFill>
                  <a:srgbClr val="000000"/>
                </a:solidFill>
                <a:ea typeface="楷体_GB2312" pitchFamily="49" charset="-122"/>
              </a:rPr>
              <a:t>            if ( </a:t>
            </a:r>
            <a:r>
              <a:rPr lang="en-US" altLang="zh-CN" sz="2800" dirty="0" err="1">
                <a:solidFill>
                  <a:srgbClr val="000000"/>
                </a:solidFill>
                <a:ea typeface="楷体_GB2312" pitchFamily="49" charset="-122"/>
              </a:rPr>
              <a:t>ch</a:t>
            </a:r>
            <a:r>
              <a:rPr lang="en-US" altLang="zh-CN" sz="2800" dirty="0">
                <a:solidFill>
                  <a:srgbClr val="000000"/>
                </a:solidFill>
                <a:ea typeface="楷体_GB2312" pitchFamily="49" charset="-122"/>
              </a:rPr>
              <a:t>!= </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a:t>
            </a:r>
            <a:r>
              <a:rPr lang="en-US" altLang="zh-CN" sz="28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rPr>
              <a:t> )  Push( S, </a:t>
            </a:r>
            <a:r>
              <a:rPr lang="en-US" altLang="zh-CN" sz="2800" dirty="0" err="1">
                <a:solidFill>
                  <a:srgbClr val="000000"/>
                </a:solidFill>
                <a:ea typeface="楷体_GB2312" pitchFamily="49" charset="-122"/>
              </a:rPr>
              <a:t>ch</a:t>
            </a:r>
            <a:r>
              <a:rPr lang="en-US" altLang="zh-CN" sz="2800" dirty="0">
                <a:solidFill>
                  <a:srgbClr val="000000"/>
                </a:solidFill>
                <a:ea typeface="楷体_GB2312" pitchFamily="49" charset="-122"/>
              </a:rPr>
              <a:t>);   break;  </a:t>
            </a:r>
          </a:p>
          <a:p>
            <a:pPr eaLnBrk="0" hangingPunct="0"/>
            <a:r>
              <a:rPr lang="en-US" altLang="zh-CN" sz="2800" dirty="0">
                <a:ea typeface="楷体_GB2312" pitchFamily="49" charset="-122"/>
              </a:rPr>
              <a:t>} // switch</a:t>
            </a:r>
          </a:p>
        </p:txBody>
      </p:sp>
      <p:sp>
        <p:nvSpPr>
          <p:cNvPr id="4"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1917051001"/>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Sp="0" showMasterPhAnim="0" show="0">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p:spPr>
        <p:txBody>
          <a:bodyPr/>
          <a:lstStyle/>
          <a:p>
            <a:fld id="{9704832E-A71A-435A-90CE-0B0464928A79}" type="slidenum">
              <a:rPr lang="en-US" altLang="zh-CN"/>
              <a:pPr/>
              <a:t>73</a:t>
            </a:fld>
            <a:endParaRPr lang="en-US" altLang="zh-CN"/>
          </a:p>
        </p:txBody>
      </p:sp>
      <p:sp>
        <p:nvSpPr>
          <p:cNvPr id="80902" name="Rectangle 5"/>
          <p:cNvSpPr>
            <a:spLocks noGrp="1" noChangeArrowheads="1"/>
          </p:cNvSpPr>
          <p:nvPr>
            <p:ph type="ctrTitle" idx="4294967295"/>
          </p:nvPr>
        </p:nvSpPr>
        <p:spPr>
          <a:xfrm>
            <a:off x="349250" y="1828800"/>
            <a:ext cx="4267200" cy="1143000"/>
          </a:xfrm>
        </p:spPr>
        <p:txBody>
          <a:bodyPr/>
          <a:lstStyle/>
          <a:p>
            <a:pPr algn="l" eaLnBrk="1" hangingPunct="1"/>
            <a:r>
              <a:rPr lang="zh-CN" altLang="en-US" sz="3200" dirty="0">
                <a:solidFill>
                  <a:srgbClr val="000000"/>
                </a:solidFill>
                <a:ea typeface="楷体_GB2312" pitchFamily="49" charset="-122"/>
              </a:rPr>
              <a:t>求后缀式的值：</a:t>
            </a:r>
          </a:p>
        </p:txBody>
      </p:sp>
      <p:sp>
        <p:nvSpPr>
          <p:cNvPr id="80899" name="Text Box 2"/>
          <p:cNvSpPr txBox="1">
            <a:spLocks noChangeArrowheads="1"/>
          </p:cNvSpPr>
          <p:nvPr/>
        </p:nvSpPr>
        <p:spPr bwMode="auto">
          <a:xfrm>
            <a:off x="260350" y="3073400"/>
            <a:ext cx="4758034" cy="584775"/>
          </a:xfrm>
          <a:prstGeom prst="rect">
            <a:avLst/>
          </a:prstGeom>
          <a:noFill/>
          <a:ln w="9525">
            <a:noFill/>
            <a:miter lim="800000"/>
            <a:headEnd/>
            <a:tailEnd/>
          </a:ln>
        </p:spPr>
        <p:txBody>
          <a:bodyPr wrap="none">
            <a:spAutoFit/>
          </a:bodyPr>
          <a:lstStyle/>
          <a:p>
            <a:pPr lvl="2" eaLnBrk="0" hangingPunct="0"/>
            <a:r>
              <a:rPr lang="en-US" altLang="zh-CN" sz="3200" dirty="0">
                <a:solidFill>
                  <a:srgbClr val="000000"/>
                </a:solidFill>
              </a:rPr>
              <a:t>1)  </a:t>
            </a:r>
            <a:r>
              <a:rPr lang="zh-CN" altLang="en-US" sz="3200" dirty="0">
                <a:solidFill>
                  <a:srgbClr val="000000"/>
                </a:solidFill>
                <a:ea typeface="楷体_GB2312" pitchFamily="49" charset="-122"/>
              </a:rPr>
              <a:t>设立操作数栈</a:t>
            </a:r>
            <a:r>
              <a:rPr lang="en-US" altLang="zh-CN" sz="3200" dirty="0">
                <a:solidFill>
                  <a:srgbClr val="000000"/>
                </a:solidFill>
                <a:ea typeface="楷体_GB2312" pitchFamily="49" charset="-122"/>
              </a:rPr>
              <a:t>S</a:t>
            </a:r>
            <a:r>
              <a:rPr lang="zh-CN" altLang="en-US" sz="3200" dirty="0">
                <a:solidFill>
                  <a:srgbClr val="000000"/>
                </a:solidFill>
                <a:ea typeface="楷体_GB2312" pitchFamily="49" charset="-122"/>
              </a:rPr>
              <a:t>；</a:t>
            </a:r>
          </a:p>
        </p:txBody>
      </p:sp>
      <p:sp>
        <p:nvSpPr>
          <p:cNvPr id="80900" name="Text Box 3"/>
          <p:cNvSpPr txBox="1">
            <a:spLocks noChangeArrowheads="1"/>
          </p:cNvSpPr>
          <p:nvPr/>
        </p:nvSpPr>
        <p:spPr bwMode="auto">
          <a:xfrm>
            <a:off x="304800" y="3829050"/>
            <a:ext cx="8305800" cy="645177"/>
          </a:xfrm>
          <a:prstGeom prst="rect">
            <a:avLst/>
          </a:prstGeom>
          <a:noFill/>
          <a:ln w="9525">
            <a:noFill/>
            <a:miter lim="800000"/>
            <a:headEnd/>
            <a:tailEnd/>
          </a:ln>
        </p:spPr>
        <p:txBody>
          <a:bodyPr>
            <a:spAutoFit/>
          </a:bodyPr>
          <a:lstStyle/>
          <a:p>
            <a:pPr lvl="2" eaLnBrk="0" hangingPunct="0">
              <a:lnSpc>
                <a:spcPct val="125000"/>
              </a:lnSpc>
            </a:pPr>
            <a:r>
              <a:rPr lang="en-US" altLang="zh-CN" sz="3200" dirty="0">
                <a:solidFill>
                  <a:srgbClr val="000000"/>
                </a:solidFill>
              </a:rPr>
              <a:t>2)  </a:t>
            </a:r>
            <a:r>
              <a:rPr lang="zh-CN" altLang="en-US" sz="3200" dirty="0">
                <a:solidFill>
                  <a:srgbClr val="000000"/>
                </a:solidFill>
                <a:ea typeface="楷体_GB2312" pitchFamily="49" charset="-122"/>
              </a:rPr>
              <a:t>设表达式的结束符为“</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a:t>
            </a:r>
          </a:p>
        </p:txBody>
      </p:sp>
      <p:sp>
        <p:nvSpPr>
          <p:cNvPr id="80901" name="Text Box 4"/>
          <p:cNvSpPr txBox="1">
            <a:spLocks noChangeArrowheads="1"/>
          </p:cNvSpPr>
          <p:nvPr/>
        </p:nvSpPr>
        <p:spPr bwMode="auto">
          <a:xfrm>
            <a:off x="295274" y="4703763"/>
            <a:ext cx="8848726" cy="1323439"/>
          </a:xfrm>
          <a:prstGeom prst="rect">
            <a:avLst/>
          </a:prstGeom>
          <a:noFill/>
          <a:ln w="9525">
            <a:noFill/>
            <a:miter lim="800000"/>
            <a:headEnd/>
            <a:tailEnd/>
          </a:ln>
        </p:spPr>
        <p:txBody>
          <a:bodyPr>
            <a:spAutoFit/>
          </a:bodyPr>
          <a:lstStyle/>
          <a:p>
            <a:pPr lvl="2" eaLnBrk="0" hangingPunct="0">
              <a:lnSpc>
                <a:spcPct val="125000"/>
              </a:lnSpc>
            </a:pPr>
            <a:r>
              <a:rPr lang="en-US" altLang="zh-CN" sz="3200" dirty="0">
                <a:solidFill>
                  <a:srgbClr val="000000"/>
                </a:solidFill>
              </a:rPr>
              <a:t>3)  </a:t>
            </a:r>
            <a:r>
              <a:rPr lang="zh-CN" altLang="en-US" sz="3200" dirty="0">
                <a:solidFill>
                  <a:srgbClr val="000000"/>
                </a:solidFill>
                <a:ea typeface="楷体_GB2312" pitchFamily="49" charset="-122"/>
              </a:rPr>
              <a:t>读入表达式一个字符，若当前字符是操作数，则压入栈中</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转</a:t>
            </a:r>
            <a:r>
              <a:rPr lang="en-US" altLang="zh-CN" sz="3200" dirty="0">
                <a:solidFill>
                  <a:srgbClr val="000000"/>
                </a:solidFill>
                <a:ea typeface="楷体_GB2312" pitchFamily="49" charset="-122"/>
              </a:rPr>
              <a:t>4)</a:t>
            </a:r>
            <a:r>
              <a:rPr lang="zh-CN" altLang="en-US" sz="3200" dirty="0">
                <a:solidFill>
                  <a:srgbClr val="000000"/>
                </a:solidFill>
                <a:ea typeface="楷体_GB2312" pitchFamily="49" charset="-122"/>
              </a:rPr>
              <a:t>；</a:t>
            </a:r>
          </a:p>
        </p:txBody>
      </p:sp>
      <p:sp>
        <p:nvSpPr>
          <p:cNvPr id="7"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56006991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p:spPr>
        <p:txBody>
          <a:bodyPr/>
          <a:lstStyle/>
          <a:p>
            <a:fld id="{C6C53715-0AA0-4C81-B350-4D73566CE5EB}" type="slidenum">
              <a:rPr lang="en-US" altLang="zh-CN"/>
              <a:pPr/>
              <a:t>74</a:t>
            </a:fld>
            <a:endParaRPr lang="en-US" altLang="zh-CN"/>
          </a:p>
        </p:txBody>
      </p:sp>
      <p:sp>
        <p:nvSpPr>
          <p:cNvPr id="81923" name="Text Box 2"/>
          <p:cNvSpPr txBox="1">
            <a:spLocks noChangeArrowheads="1"/>
          </p:cNvSpPr>
          <p:nvPr/>
        </p:nvSpPr>
        <p:spPr bwMode="auto">
          <a:xfrm>
            <a:off x="-495300" y="1606550"/>
            <a:ext cx="9144001" cy="2496837"/>
          </a:xfrm>
          <a:prstGeom prst="rect">
            <a:avLst/>
          </a:prstGeom>
          <a:noFill/>
          <a:ln w="9525">
            <a:noFill/>
            <a:miter lim="800000"/>
            <a:headEnd/>
            <a:tailEnd/>
          </a:ln>
        </p:spPr>
        <p:txBody>
          <a:bodyPr>
            <a:spAutoFit/>
          </a:bodyPr>
          <a:lstStyle/>
          <a:p>
            <a:pPr marL="1371600" lvl="2" indent="-457200" eaLnBrk="0" hangingPunct="0">
              <a:lnSpc>
                <a:spcPct val="125000"/>
              </a:lnSpc>
              <a:buFontTx/>
              <a:buAutoNum type="arabicParenR" startAt="4"/>
            </a:pPr>
            <a:r>
              <a:rPr lang="zh-CN" altLang="en-US" sz="3200" dirty="0">
                <a:solidFill>
                  <a:srgbClr val="000000"/>
                </a:solidFill>
                <a:ea typeface="楷体_GB2312" pitchFamily="49" charset="-122"/>
              </a:rPr>
              <a:t>若当前字符是运算符</a:t>
            </a:r>
            <a:r>
              <a:rPr lang="en-US" altLang="zh-CN" sz="3200" dirty="0" err="1">
                <a:solidFill>
                  <a:srgbClr val="000000"/>
                </a:solidFill>
                <a:ea typeface="楷体_GB2312" pitchFamily="49" charset="-122"/>
              </a:rPr>
              <a:t>optr</a:t>
            </a:r>
            <a:r>
              <a:rPr lang="zh-CN" altLang="en-US" sz="3200" dirty="0">
                <a:solidFill>
                  <a:srgbClr val="000000"/>
                </a:solidFill>
                <a:ea typeface="楷体_GB2312" pitchFamily="49" charset="-122"/>
              </a:rPr>
              <a:t>，从栈中弹出</a:t>
            </a:r>
            <a:r>
              <a:rPr lang="en-US" altLang="zh-CN" sz="3200" dirty="0">
                <a:solidFill>
                  <a:srgbClr val="000000"/>
                </a:solidFill>
                <a:ea typeface="楷体_GB2312" pitchFamily="49" charset="-122"/>
              </a:rPr>
              <a:t>2</a:t>
            </a:r>
            <a:r>
              <a:rPr lang="zh-CN" altLang="en-US" sz="3200" dirty="0">
                <a:solidFill>
                  <a:srgbClr val="000000"/>
                </a:solidFill>
                <a:ea typeface="楷体_GB2312" pitchFamily="49" charset="-122"/>
              </a:rPr>
              <a:t>个数</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将运算结果再压入栈</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即</a:t>
            </a:r>
            <a:r>
              <a:rPr lang="en-US" altLang="zh-CN" sz="3200" dirty="0">
                <a:solidFill>
                  <a:srgbClr val="000000"/>
                </a:solidFill>
                <a:ea typeface="楷体_GB2312" pitchFamily="49" charset="-122"/>
              </a:rPr>
              <a:t>:</a:t>
            </a:r>
          </a:p>
          <a:p>
            <a:pPr marL="1371600" lvl="2" indent="-457200" eaLnBrk="0" hangingPunct="0">
              <a:lnSpc>
                <a:spcPct val="125000"/>
              </a:lnSpc>
            </a:pPr>
            <a:r>
              <a:rPr lang="en-US" altLang="zh-CN" sz="3200" dirty="0">
                <a:solidFill>
                  <a:srgbClr val="000000"/>
                </a:solidFill>
                <a:ea typeface="楷体_GB2312" pitchFamily="49" charset="-122"/>
              </a:rPr>
              <a:t>     x2=POP(S)</a:t>
            </a:r>
            <a:r>
              <a:rPr lang="zh-CN" altLang="en-US" sz="3200" dirty="0">
                <a:solidFill>
                  <a:srgbClr val="000000"/>
                </a:solidFill>
                <a:ea typeface="楷体_GB2312" pitchFamily="49" charset="-122"/>
              </a:rPr>
              <a:t>； </a:t>
            </a:r>
            <a:r>
              <a:rPr lang="en-US" altLang="zh-CN" sz="3200" dirty="0">
                <a:solidFill>
                  <a:srgbClr val="000000"/>
                </a:solidFill>
                <a:ea typeface="楷体_GB2312" pitchFamily="49" charset="-122"/>
              </a:rPr>
              <a:t>x1=POP(S)</a:t>
            </a:r>
            <a:r>
              <a:rPr lang="zh-CN" altLang="en-US" sz="3200" dirty="0">
                <a:solidFill>
                  <a:srgbClr val="000000"/>
                </a:solidFill>
                <a:ea typeface="楷体_GB2312" pitchFamily="49" charset="-122"/>
              </a:rPr>
              <a:t>；</a:t>
            </a:r>
          </a:p>
          <a:p>
            <a:pPr marL="1371600" lvl="2" indent="-457200" eaLnBrk="0" hangingPunct="0">
              <a:lnSpc>
                <a:spcPct val="125000"/>
              </a:lnSpc>
            </a:pPr>
            <a:r>
              <a:rPr lang="zh-CN" altLang="en-US" sz="3200" dirty="0">
                <a:solidFill>
                  <a:srgbClr val="000000"/>
                </a:solidFill>
                <a:ea typeface="楷体_GB2312" pitchFamily="49" charset="-122"/>
              </a:rPr>
              <a:t>     </a:t>
            </a:r>
            <a:r>
              <a:rPr lang="en-US" altLang="zh-CN" sz="3200" dirty="0">
                <a:solidFill>
                  <a:srgbClr val="000000"/>
                </a:solidFill>
                <a:ea typeface="楷体_GB2312" pitchFamily="49" charset="-122"/>
              </a:rPr>
              <a:t>PUSH(S,(x1 </a:t>
            </a:r>
            <a:r>
              <a:rPr lang="en-US" altLang="zh-CN" sz="3200" dirty="0" err="1">
                <a:solidFill>
                  <a:srgbClr val="000000"/>
                </a:solidFill>
                <a:ea typeface="楷体_GB2312" pitchFamily="49" charset="-122"/>
              </a:rPr>
              <a:t>optr</a:t>
            </a:r>
            <a:r>
              <a:rPr lang="en-US" altLang="zh-CN" sz="3200" dirty="0">
                <a:solidFill>
                  <a:srgbClr val="000000"/>
                </a:solidFill>
                <a:ea typeface="楷体_GB2312" pitchFamily="49" charset="-122"/>
              </a:rPr>
              <a:t> x2));</a:t>
            </a:r>
          </a:p>
        </p:txBody>
      </p:sp>
      <p:sp>
        <p:nvSpPr>
          <p:cNvPr id="81924" name="Text Box 3"/>
          <p:cNvSpPr txBox="1">
            <a:spLocks noChangeArrowheads="1"/>
          </p:cNvSpPr>
          <p:nvPr/>
        </p:nvSpPr>
        <p:spPr bwMode="auto">
          <a:xfrm>
            <a:off x="-495300" y="4095750"/>
            <a:ext cx="9067800" cy="1260730"/>
          </a:xfrm>
          <a:prstGeom prst="rect">
            <a:avLst/>
          </a:prstGeom>
          <a:noFill/>
          <a:ln w="9525">
            <a:noFill/>
            <a:miter lim="800000"/>
            <a:headEnd/>
            <a:tailEnd/>
          </a:ln>
        </p:spPr>
        <p:txBody>
          <a:bodyPr>
            <a:spAutoFit/>
          </a:bodyPr>
          <a:lstStyle/>
          <a:p>
            <a:pPr marL="1371600" lvl="2" indent="-457200" eaLnBrk="0" hangingPunct="0">
              <a:lnSpc>
                <a:spcPct val="125000"/>
              </a:lnSpc>
              <a:buFontTx/>
              <a:buAutoNum type="arabicParenR" startAt="5"/>
            </a:pPr>
            <a:r>
              <a:rPr lang="zh-CN" altLang="en-US" sz="3200" dirty="0">
                <a:solidFill>
                  <a:srgbClr val="000000"/>
                </a:solidFill>
                <a:ea typeface="楷体_GB2312" pitchFamily="49" charset="-122"/>
              </a:rPr>
              <a:t>读下一字符，重复</a:t>
            </a:r>
            <a:r>
              <a:rPr lang="en-US" altLang="zh-CN" sz="3200" dirty="0">
                <a:solidFill>
                  <a:srgbClr val="000000"/>
                </a:solidFill>
                <a:ea typeface="楷体_GB2312" pitchFamily="49" charset="-122"/>
              </a:rPr>
              <a:t>3</a:t>
            </a:r>
            <a:r>
              <a:rPr lang="zh-CN" altLang="en-US" sz="3200" dirty="0">
                <a:solidFill>
                  <a:srgbClr val="000000"/>
                </a:solidFill>
                <a:ea typeface="楷体_GB2312" pitchFamily="49" charset="-122"/>
              </a:rPr>
              <a:t>）和</a:t>
            </a:r>
            <a:r>
              <a:rPr lang="en-US" altLang="zh-CN" sz="3200" dirty="0">
                <a:solidFill>
                  <a:srgbClr val="000000"/>
                </a:solidFill>
                <a:ea typeface="楷体_GB2312" pitchFamily="49" charset="-122"/>
              </a:rPr>
              <a:t>4</a:t>
            </a:r>
            <a:r>
              <a:rPr lang="zh-CN" altLang="en-US" sz="3200" dirty="0">
                <a:solidFill>
                  <a:srgbClr val="000000"/>
                </a:solidFill>
                <a:ea typeface="楷体_GB2312" pitchFamily="49" charset="-122"/>
              </a:rPr>
              <a:t>）直至读到结束符</a:t>
            </a:r>
            <a:r>
              <a:rPr lang="en-US" altLang="zh-CN" sz="3200" dirty="0">
                <a:solidFill>
                  <a:srgbClr val="000000"/>
                </a:solidFill>
                <a:ea typeface="楷体_GB2312" pitchFamily="49" charset="-122"/>
              </a:rPr>
              <a:t>#</a:t>
            </a:r>
            <a:r>
              <a:rPr lang="zh-CN" altLang="en-US" sz="3200" dirty="0">
                <a:solidFill>
                  <a:srgbClr val="000000"/>
                </a:solidFill>
                <a:ea typeface="楷体_GB2312" pitchFamily="49" charset="-122"/>
              </a:rPr>
              <a:t>；    </a:t>
            </a:r>
            <a:endParaRPr lang="zh-CN" altLang="en-US" sz="3200" dirty="0">
              <a:solidFill>
                <a:srgbClr val="000000"/>
              </a:solidFill>
            </a:endParaRPr>
          </a:p>
        </p:txBody>
      </p:sp>
      <p:sp>
        <p:nvSpPr>
          <p:cNvPr id="81925" name="Text Box 4"/>
          <p:cNvSpPr txBox="1">
            <a:spLocks noChangeArrowheads="1"/>
          </p:cNvSpPr>
          <p:nvPr/>
        </p:nvSpPr>
        <p:spPr bwMode="auto">
          <a:xfrm>
            <a:off x="393700" y="5384800"/>
            <a:ext cx="8924924" cy="707886"/>
          </a:xfrm>
          <a:prstGeom prst="rect">
            <a:avLst/>
          </a:prstGeom>
          <a:noFill/>
          <a:ln w="9525">
            <a:noFill/>
            <a:miter lim="800000"/>
            <a:headEnd/>
            <a:tailEnd/>
          </a:ln>
        </p:spPr>
        <p:txBody>
          <a:bodyPr wrap="square">
            <a:spAutoFit/>
          </a:bodyPr>
          <a:lstStyle/>
          <a:p>
            <a:pPr marL="457200" indent="-457200" eaLnBrk="0" hangingPunct="0">
              <a:lnSpc>
                <a:spcPct val="125000"/>
              </a:lnSpc>
              <a:buFontTx/>
              <a:buAutoNum type="arabicParenR" startAt="6"/>
            </a:pPr>
            <a:r>
              <a:rPr lang="en-US" altLang="zh-CN" sz="3200" dirty="0">
                <a:solidFill>
                  <a:srgbClr val="000000"/>
                </a:solidFill>
                <a:ea typeface="楷体_GB2312" pitchFamily="49" charset="-122"/>
              </a:rPr>
              <a:t> </a:t>
            </a:r>
            <a:r>
              <a:rPr lang="zh-CN" altLang="en-US" sz="3200" dirty="0">
                <a:solidFill>
                  <a:srgbClr val="000000"/>
                </a:solidFill>
                <a:ea typeface="楷体_GB2312" pitchFamily="49" charset="-122"/>
              </a:rPr>
              <a:t>栈顶</a:t>
            </a:r>
            <a:r>
              <a:rPr lang="en-US" altLang="zh-CN" sz="3200" dirty="0">
                <a:solidFill>
                  <a:srgbClr val="000000"/>
                </a:solidFill>
                <a:ea typeface="楷体_GB2312" pitchFamily="49" charset="-122"/>
              </a:rPr>
              <a:t>,x=POP(S)</a:t>
            </a:r>
            <a:r>
              <a:rPr lang="zh-CN" altLang="en-US" sz="3200" dirty="0">
                <a:solidFill>
                  <a:srgbClr val="000000"/>
                </a:solidFill>
                <a:ea typeface="楷体_GB2312" pitchFamily="49" charset="-122"/>
              </a:rPr>
              <a:t>即后缀式相应的表达式的值。</a:t>
            </a:r>
          </a:p>
        </p:txBody>
      </p:sp>
      <p:sp>
        <p:nvSpPr>
          <p:cNvPr id="6"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417614837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94CEA01-997D-43F0-8AA2-E7EA9417EBE4}" type="slidenum">
              <a:rPr lang="en-US" altLang="zh-CN" sz="1400"/>
              <a:pPr/>
              <a:t>75</a:t>
            </a:fld>
            <a:endParaRPr lang="en-US" altLang="zh-CN" sz="1400"/>
          </a:p>
        </p:txBody>
      </p:sp>
      <p:sp>
        <p:nvSpPr>
          <p:cNvPr id="65539" name="Text Box 2"/>
          <p:cNvSpPr txBox="1">
            <a:spLocks noChangeArrowheads="1"/>
          </p:cNvSpPr>
          <p:nvPr/>
        </p:nvSpPr>
        <p:spPr bwMode="auto">
          <a:xfrm>
            <a:off x="609600" y="623888"/>
            <a:ext cx="4451350" cy="823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800" b="1">
                <a:solidFill>
                  <a:srgbClr val="FF5050"/>
                </a:solidFill>
                <a:ea typeface="楷体_GB2312" pitchFamily="49" charset="-122"/>
              </a:rPr>
              <a:t>例六、实现递归</a:t>
            </a:r>
            <a:endParaRPr lang="zh-CN" altLang="en-US" sz="5400" b="1">
              <a:ea typeface="楷体_GB2312" pitchFamily="49" charset="-122"/>
            </a:endParaRPr>
          </a:p>
        </p:txBody>
      </p:sp>
      <p:sp>
        <p:nvSpPr>
          <p:cNvPr id="527363" name="Rectangle 3"/>
          <p:cNvSpPr>
            <a:spLocks noGrp="1" noChangeArrowheads="1"/>
          </p:cNvSpPr>
          <p:nvPr>
            <p:ph type="body" idx="4294967295"/>
          </p:nvPr>
        </p:nvSpPr>
        <p:spPr>
          <a:xfrm>
            <a:off x="609600" y="3962400"/>
            <a:ext cx="7772400" cy="2514600"/>
          </a:xfrm>
        </p:spPr>
        <p:txBody>
          <a:bodyPr/>
          <a:lstStyle/>
          <a:p>
            <a:pPr eaLnBrk="1" hangingPunct="1"/>
            <a:r>
              <a:rPr lang="zh-CN" altLang="en-US" b="1">
                <a:ea typeface="楷体_GB2312" pitchFamily="49" charset="-122"/>
              </a:rPr>
              <a:t>将所有的实在参数、返回地址等</a:t>
            </a:r>
            <a:r>
              <a:rPr lang="zh-CN" altLang="en-US" b="1">
                <a:solidFill>
                  <a:srgbClr val="FF0000"/>
                </a:solidFill>
                <a:ea typeface="楷体_GB2312" pitchFamily="49" charset="-122"/>
              </a:rPr>
              <a:t>信息</a:t>
            </a:r>
            <a:r>
              <a:rPr lang="zh-CN" altLang="en-US" b="1">
                <a:ea typeface="楷体_GB2312" pitchFamily="49" charset="-122"/>
              </a:rPr>
              <a:t>传递给</a:t>
            </a:r>
            <a:r>
              <a:rPr lang="zh-CN" altLang="en-US" b="1">
                <a:solidFill>
                  <a:schemeClr val="folHlink"/>
                </a:solidFill>
                <a:ea typeface="楷体_GB2312" pitchFamily="49" charset="-122"/>
              </a:rPr>
              <a:t>被调用函数</a:t>
            </a:r>
            <a:r>
              <a:rPr lang="zh-CN" altLang="en-US" b="1">
                <a:solidFill>
                  <a:srgbClr val="FF0000"/>
                </a:solidFill>
                <a:ea typeface="楷体_GB2312" pitchFamily="49" charset="-122"/>
              </a:rPr>
              <a:t>保存</a:t>
            </a:r>
            <a:r>
              <a:rPr lang="zh-CN" altLang="en-US" b="1">
                <a:ea typeface="楷体_GB2312" pitchFamily="49" charset="-122"/>
              </a:rPr>
              <a:t>；</a:t>
            </a:r>
          </a:p>
          <a:p>
            <a:pPr eaLnBrk="1" hangingPunct="1"/>
            <a:r>
              <a:rPr lang="zh-CN" altLang="en-US" b="1">
                <a:ea typeface="楷体_GB2312" pitchFamily="49" charset="-122"/>
              </a:rPr>
              <a:t>为</a:t>
            </a:r>
            <a:r>
              <a:rPr lang="zh-CN" altLang="en-US" b="1">
                <a:solidFill>
                  <a:schemeClr val="folHlink"/>
                </a:solidFill>
                <a:ea typeface="楷体_GB2312" pitchFamily="49" charset="-122"/>
              </a:rPr>
              <a:t>被调用函数</a:t>
            </a:r>
            <a:r>
              <a:rPr lang="zh-CN" altLang="en-US" b="1">
                <a:ea typeface="楷体_GB2312" pitchFamily="49" charset="-122"/>
              </a:rPr>
              <a:t>的局部变量</a:t>
            </a:r>
            <a:r>
              <a:rPr lang="zh-CN" altLang="en-US" b="1">
                <a:solidFill>
                  <a:srgbClr val="FF0000"/>
                </a:solidFill>
                <a:ea typeface="楷体_GB2312" pitchFamily="49" charset="-122"/>
              </a:rPr>
              <a:t>分配存储区</a:t>
            </a:r>
            <a:r>
              <a:rPr lang="zh-CN" altLang="en-US" b="1">
                <a:ea typeface="楷体_GB2312" pitchFamily="49" charset="-122"/>
              </a:rPr>
              <a:t>；</a:t>
            </a:r>
          </a:p>
          <a:p>
            <a:pPr eaLnBrk="1" hangingPunct="1"/>
            <a:r>
              <a:rPr lang="zh-CN" altLang="en-US" b="1">
                <a:ea typeface="楷体_GB2312" pitchFamily="49" charset="-122"/>
              </a:rPr>
              <a:t>将</a:t>
            </a:r>
            <a:r>
              <a:rPr lang="zh-CN" altLang="en-US" b="1">
                <a:solidFill>
                  <a:srgbClr val="FF0000"/>
                </a:solidFill>
                <a:ea typeface="楷体_GB2312" pitchFamily="49" charset="-122"/>
              </a:rPr>
              <a:t>控制转移</a:t>
            </a:r>
            <a:r>
              <a:rPr lang="zh-CN" altLang="en-US" b="1">
                <a:ea typeface="楷体_GB2312" pitchFamily="49" charset="-122"/>
              </a:rPr>
              <a:t>到</a:t>
            </a:r>
            <a:r>
              <a:rPr lang="zh-CN" altLang="en-US" b="1">
                <a:solidFill>
                  <a:schemeClr val="folHlink"/>
                </a:solidFill>
                <a:ea typeface="楷体_GB2312" pitchFamily="49" charset="-122"/>
              </a:rPr>
              <a:t>被调用函数</a:t>
            </a:r>
            <a:r>
              <a:rPr lang="zh-CN" altLang="en-US" b="1">
                <a:ea typeface="楷体_GB2312" pitchFamily="49" charset="-122"/>
              </a:rPr>
              <a:t>的入口。</a:t>
            </a:r>
          </a:p>
        </p:txBody>
      </p:sp>
      <p:sp>
        <p:nvSpPr>
          <p:cNvPr id="527364" name="Text Box 4"/>
          <p:cNvSpPr txBox="1">
            <a:spLocks noChangeArrowheads="1"/>
          </p:cNvSpPr>
          <p:nvPr/>
        </p:nvSpPr>
        <p:spPr bwMode="auto">
          <a:xfrm>
            <a:off x="457200" y="1889125"/>
            <a:ext cx="8093075" cy="184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pPr>
            <a:r>
              <a:rPr lang="en-US" altLang="zh-CN" b="1">
                <a:ea typeface="楷体_GB2312" pitchFamily="49" charset="-122"/>
              </a:rPr>
              <a:t>        </a:t>
            </a:r>
            <a:r>
              <a:rPr lang="zh-CN" altLang="en-US" b="1">
                <a:ea typeface="楷体_GB2312" pitchFamily="49" charset="-122"/>
              </a:rPr>
              <a:t>当在一个函数的运行期间</a:t>
            </a:r>
            <a:r>
              <a:rPr lang="zh-CN" altLang="en-US" b="1">
                <a:solidFill>
                  <a:srgbClr val="800000"/>
                </a:solidFill>
                <a:ea typeface="楷体_GB2312" pitchFamily="49" charset="-122"/>
              </a:rPr>
              <a:t>调用另一个函数</a:t>
            </a:r>
            <a:r>
              <a:rPr lang="zh-CN" altLang="en-US" b="1">
                <a:ea typeface="楷体_GB2312" pitchFamily="49" charset="-122"/>
              </a:rPr>
              <a:t>时，在</a:t>
            </a:r>
            <a:r>
              <a:rPr lang="zh-CN" altLang="en-US" b="1">
                <a:solidFill>
                  <a:srgbClr val="800000"/>
                </a:solidFill>
                <a:ea typeface="楷体_GB2312" pitchFamily="49" charset="-122"/>
              </a:rPr>
              <a:t>运行该被</a:t>
            </a:r>
            <a:r>
              <a:rPr lang="zh-CN" altLang="en-US" b="1">
                <a:solidFill>
                  <a:schemeClr val="hlink"/>
                </a:solidFill>
                <a:ea typeface="楷体_GB2312" pitchFamily="49" charset="-122"/>
              </a:rPr>
              <a:t>调用</a:t>
            </a:r>
            <a:r>
              <a:rPr lang="zh-CN" altLang="en-US" b="1">
                <a:solidFill>
                  <a:srgbClr val="800000"/>
                </a:solidFill>
                <a:ea typeface="楷体_GB2312" pitchFamily="49" charset="-122"/>
              </a:rPr>
              <a:t>函数</a:t>
            </a:r>
            <a:r>
              <a:rPr lang="zh-CN" altLang="en-US" b="1">
                <a:solidFill>
                  <a:schemeClr val="hlink"/>
                </a:solidFill>
                <a:ea typeface="楷体_GB2312" pitchFamily="49" charset="-122"/>
              </a:rPr>
              <a:t>之前</a:t>
            </a:r>
            <a:r>
              <a:rPr lang="zh-CN" altLang="en-US" b="1">
                <a:ea typeface="楷体_GB2312" pitchFamily="49" charset="-122"/>
              </a:rPr>
              <a:t>，</a:t>
            </a:r>
            <a:br>
              <a:rPr lang="zh-CN" altLang="en-US" b="1">
                <a:ea typeface="楷体_GB2312" pitchFamily="49" charset="-122"/>
              </a:rPr>
            </a:br>
            <a:r>
              <a:rPr lang="zh-CN" altLang="en-US" b="1">
                <a:ea typeface="楷体_GB2312" pitchFamily="49" charset="-122"/>
              </a:rPr>
              <a:t>需先完成三项任务：</a:t>
            </a:r>
          </a:p>
        </p:txBody>
      </p:sp>
    </p:spTree>
    <p:extLst>
      <p:ext uri="{BB962C8B-B14F-4D97-AF65-F5344CB8AC3E}">
        <p14:creationId xmlns:p14="http://schemas.microsoft.com/office/powerpoint/2010/main" val="199269189"/>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7364"/>
                                        </p:tgtEl>
                                        <p:attrNameLst>
                                          <p:attrName>style.visibility</p:attrName>
                                        </p:attrNameLst>
                                      </p:cBhvr>
                                      <p:to>
                                        <p:strVal val="visible"/>
                                      </p:to>
                                    </p:set>
                                    <p:animEffect transition="in" filter="wipe(down)">
                                      <p:cBhvr>
                                        <p:cTn id="7" dur="500"/>
                                        <p:tgtEl>
                                          <p:spTgt spid="527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27363">
                                            <p:txEl>
                                              <p:pRg st="0" end="0"/>
                                            </p:txEl>
                                          </p:spTgt>
                                        </p:tgtEl>
                                        <p:attrNameLst>
                                          <p:attrName>style.visibility</p:attrName>
                                        </p:attrNameLst>
                                      </p:cBhvr>
                                      <p:to>
                                        <p:strVal val="visible"/>
                                      </p:to>
                                    </p:set>
                                    <p:animEffect transition="in" filter="wipe(down)">
                                      <p:cBhvr>
                                        <p:cTn id="12" dur="500"/>
                                        <p:tgtEl>
                                          <p:spTgt spid="5273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27363">
                                            <p:txEl>
                                              <p:pRg st="1" end="1"/>
                                            </p:txEl>
                                          </p:spTgt>
                                        </p:tgtEl>
                                        <p:attrNameLst>
                                          <p:attrName>style.visibility</p:attrName>
                                        </p:attrNameLst>
                                      </p:cBhvr>
                                      <p:to>
                                        <p:strVal val="visible"/>
                                      </p:to>
                                    </p:set>
                                    <p:animEffect transition="in" filter="wipe(down)">
                                      <p:cBhvr>
                                        <p:cTn id="17" dur="500"/>
                                        <p:tgtEl>
                                          <p:spTgt spid="5273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27363">
                                            <p:txEl>
                                              <p:pRg st="2" end="2"/>
                                            </p:txEl>
                                          </p:spTgt>
                                        </p:tgtEl>
                                        <p:attrNameLst>
                                          <p:attrName>style.visibility</p:attrName>
                                        </p:attrNameLst>
                                      </p:cBhvr>
                                      <p:to>
                                        <p:strVal val="visible"/>
                                      </p:to>
                                    </p:set>
                                    <p:animEffect transition="in" filter="wipe(down)">
                                      <p:cBhvr>
                                        <p:cTn id="22" dur="500"/>
                                        <p:tgtEl>
                                          <p:spTgt spid="527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build="p"/>
      <p:bldP spid="527364" grpId="0"/>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DD90B292-F933-44B8-ABC8-505160AC478C}" type="slidenum">
              <a:rPr lang="en-US" altLang="zh-CN" sz="1400"/>
              <a:pPr/>
              <a:t>76</a:t>
            </a:fld>
            <a:endParaRPr lang="en-US" altLang="zh-CN" sz="1400"/>
          </a:p>
        </p:txBody>
      </p:sp>
      <p:sp>
        <p:nvSpPr>
          <p:cNvPr id="528386" name="Rectangle 2"/>
          <p:cNvSpPr>
            <a:spLocks noGrp="1" noChangeArrowheads="1"/>
          </p:cNvSpPr>
          <p:nvPr>
            <p:ph type="body" idx="4294967295"/>
          </p:nvPr>
        </p:nvSpPr>
        <p:spPr>
          <a:xfrm>
            <a:off x="685800" y="2590800"/>
            <a:ext cx="7772400" cy="3733800"/>
          </a:xfrm>
        </p:spPr>
        <p:txBody>
          <a:bodyPr/>
          <a:lstStyle/>
          <a:p>
            <a:pPr eaLnBrk="1" hangingPunct="1">
              <a:lnSpc>
                <a:spcPct val="120000"/>
              </a:lnSpc>
            </a:pPr>
            <a:r>
              <a:rPr lang="zh-CN" altLang="en-US" sz="3600" b="1">
                <a:solidFill>
                  <a:srgbClr val="FF0000"/>
                </a:solidFill>
                <a:ea typeface="楷体_GB2312" pitchFamily="49" charset="-122"/>
              </a:rPr>
              <a:t>保存</a:t>
            </a:r>
            <a:r>
              <a:rPr lang="zh-CN" altLang="en-US" sz="3600" b="1">
                <a:ea typeface="楷体_GB2312" pitchFamily="49" charset="-122"/>
              </a:rPr>
              <a:t>被调函数的</a:t>
            </a:r>
            <a:r>
              <a:rPr lang="zh-CN" altLang="en-US" sz="3600" b="1">
                <a:solidFill>
                  <a:srgbClr val="FF0000"/>
                </a:solidFill>
                <a:ea typeface="楷体_GB2312" pitchFamily="49" charset="-122"/>
              </a:rPr>
              <a:t>计算结果</a:t>
            </a:r>
            <a:r>
              <a:rPr lang="zh-CN" altLang="en-US" sz="3600" b="1">
                <a:ea typeface="楷体_GB2312" pitchFamily="49" charset="-122"/>
              </a:rPr>
              <a:t>；</a:t>
            </a:r>
          </a:p>
          <a:p>
            <a:pPr eaLnBrk="1" hangingPunct="1">
              <a:lnSpc>
                <a:spcPct val="120000"/>
              </a:lnSpc>
            </a:pPr>
            <a:r>
              <a:rPr lang="zh-CN" altLang="en-US" sz="3600" b="1">
                <a:solidFill>
                  <a:srgbClr val="FF0000"/>
                </a:solidFill>
                <a:ea typeface="楷体_GB2312" pitchFamily="49" charset="-122"/>
              </a:rPr>
              <a:t>释放</a:t>
            </a:r>
            <a:r>
              <a:rPr lang="zh-CN" altLang="en-US" sz="3600" b="1">
                <a:ea typeface="楷体_GB2312" pitchFamily="49" charset="-122"/>
              </a:rPr>
              <a:t>被调函数的</a:t>
            </a:r>
            <a:r>
              <a:rPr lang="zh-CN" altLang="en-US" sz="3600" b="1">
                <a:solidFill>
                  <a:srgbClr val="FF0000"/>
                </a:solidFill>
                <a:ea typeface="楷体_GB2312" pitchFamily="49" charset="-122"/>
              </a:rPr>
              <a:t>数据区</a:t>
            </a:r>
            <a:r>
              <a:rPr lang="zh-CN" altLang="en-US" sz="3600" b="1">
                <a:ea typeface="楷体_GB2312" pitchFamily="49" charset="-122"/>
              </a:rPr>
              <a:t>；</a:t>
            </a:r>
          </a:p>
          <a:p>
            <a:pPr eaLnBrk="1" hangingPunct="1">
              <a:lnSpc>
                <a:spcPct val="120000"/>
              </a:lnSpc>
            </a:pPr>
            <a:r>
              <a:rPr lang="zh-CN" altLang="en-US" sz="3600" b="1">
                <a:ea typeface="楷体_GB2312" pitchFamily="49" charset="-122"/>
              </a:rPr>
              <a:t>依照被调函数保存的返回地址将</a:t>
            </a:r>
            <a:r>
              <a:rPr lang="zh-CN" altLang="en-US" sz="3600" b="1">
                <a:solidFill>
                  <a:srgbClr val="FF0000"/>
                </a:solidFill>
                <a:ea typeface="楷体_GB2312" pitchFamily="49" charset="-122"/>
              </a:rPr>
              <a:t>控制转移</a:t>
            </a:r>
            <a:r>
              <a:rPr lang="zh-CN" altLang="en-US" sz="3600" b="1">
                <a:ea typeface="楷体_GB2312" pitchFamily="49" charset="-122"/>
              </a:rPr>
              <a:t>到调用函数。</a:t>
            </a:r>
          </a:p>
        </p:txBody>
      </p:sp>
      <p:sp>
        <p:nvSpPr>
          <p:cNvPr id="66564" name="Text Box 3"/>
          <p:cNvSpPr txBox="1">
            <a:spLocks noChangeArrowheads="1"/>
          </p:cNvSpPr>
          <p:nvPr/>
        </p:nvSpPr>
        <p:spPr bwMode="auto">
          <a:xfrm>
            <a:off x="593725" y="590550"/>
            <a:ext cx="8245475" cy="146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pPr>
            <a:r>
              <a:rPr lang="zh-CN" altLang="en-US" sz="3600" b="1">
                <a:ea typeface="楷体_GB2312" pitchFamily="49" charset="-122"/>
              </a:rPr>
              <a:t>从被调用函数</a:t>
            </a:r>
            <a:r>
              <a:rPr lang="zh-CN" altLang="en-US" sz="3600" b="1">
                <a:solidFill>
                  <a:schemeClr val="hlink"/>
                </a:solidFill>
                <a:ea typeface="楷体_GB2312" pitchFamily="49" charset="-122"/>
              </a:rPr>
              <a:t>返回</a:t>
            </a:r>
            <a:r>
              <a:rPr lang="zh-CN" altLang="en-US" sz="3600" b="1">
                <a:ea typeface="楷体_GB2312" pitchFamily="49" charset="-122"/>
              </a:rPr>
              <a:t>调用函数</a:t>
            </a:r>
            <a:r>
              <a:rPr lang="zh-CN" altLang="en-US" sz="3600" b="1">
                <a:solidFill>
                  <a:schemeClr val="hlink"/>
                </a:solidFill>
                <a:ea typeface="楷体_GB2312" pitchFamily="49" charset="-122"/>
              </a:rPr>
              <a:t>之前</a:t>
            </a:r>
            <a:r>
              <a:rPr lang="zh-CN" altLang="en-US" sz="3600" b="1">
                <a:ea typeface="楷体_GB2312" pitchFamily="49" charset="-122"/>
              </a:rPr>
              <a:t>，应该完成下列三项任务：</a:t>
            </a:r>
            <a:endParaRPr lang="zh-CN" altLang="en-US" sz="1800" b="1">
              <a:ea typeface="楷体_GB2312" pitchFamily="49" charset="-122"/>
            </a:endParaRPr>
          </a:p>
        </p:txBody>
      </p:sp>
    </p:spTree>
    <p:extLst>
      <p:ext uri="{BB962C8B-B14F-4D97-AF65-F5344CB8AC3E}">
        <p14:creationId xmlns:p14="http://schemas.microsoft.com/office/powerpoint/2010/main" val="2254989851"/>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8386">
                                            <p:txEl>
                                              <p:pRg st="0" end="0"/>
                                            </p:txEl>
                                          </p:spTgt>
                                        </p:tgtEl>
                                        <p:attrNameLst>
                                          <p:attrName>style.visibility</p:attrName>
                                        </p:attrNameLst>
                                      </p:cBhvr>
                                      <p:to>
                                        <p:strVal val="visible"/>
                                      </p:to>
                                    </p:set>
                                    <p:anim calcmode="lin" valueType="num">
                                      <p:cBhvr additive="base">
                                        <p:cTn id="7" dur="500" fill="hold"/>
                                        <p:tgtEl>
                                          <p:spTgt spid="5283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83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8386">
                                            <p:txEl>
                                              <p:pRg st="1" end="1"/>
                                            </p:txEl>
                                          </p:spTgt>
                                        </p:tgtEl>
                                        <p:attrNameLst>
                                          <p:attrName>style.visibility</p:attrName>
                                        </p:attrNameLst>
                                      </p:cBhvr>
                                      <p:to>
                                        <p:strVal val="visible"/>
                                      </p:to>
                                    </p:set>
                                    <p:anim calcmode="lin" valueType="num">
                                      <p:cBhvr additive="base">
                                        <p:cTn id="13" dur="500" fill="hold"/>
                                        <p:tgtEl>
                                          <p:spTgt spid="52838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83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8386">
                                            <p:txEl>
                                              <p:pRg st="2" end="2"/>
                                            </p:txEl>
                                          </p:spTgt>
                                        </p:tgtEl>
                                        <p:attrNameLst>
                                          <p:attrName>style.visibility</p:attrName>
                                        </p:attrNameLst>
                                      </p:cBhvr>
                                      <p:to>
                                        <p:strVal val="visible"/>
                                      </p:to>
                                    </p:set>
                                    <p:anim calcmode="lin" valueType="num">
                                      <p:cBhvr additive="base">
                                        <p:cTn id="19" dur="500" fill="hold"/>
                                        <p:tgtEl>
                                          <p:spTgt spid="52838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838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6"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1511449-F7AF-4855-8B80-519B49C19D6F}" type="slidenum">
              <a:rPr lang="en-US" altLang="zh-CN" sz="1400"/>
              <a:pPr/>
              <a:t>77</a:t>
            </a:fld>
            <a:endParaRPr lang="en-US" altLang="zh-CN" sz="1400"/>
          </a:p>
        </p:txBody>
      </p:sp>
      <p:sp>
        <p:nvSpPr>
          <p:cNvPr id="67587" name="Text Box 2"/>
          <p:cNvSpPr txBox="1">
            <a:spLocks noChangeArrowheads="1"/>
          </p:cNvSpPr>
          <p:nvPr/>
        </p:nvSpPr>
        <p:spPr bwMode="auto">
          <a:xfrm>
            <a:off x="762000" y="392113"/>
            <a:ext cx="6127750" cy="779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5000"/>
              </a:lnSpc>
            </a:pPr>
            <a:r>
              <a:rPr lang="zh-CN" altLang="en-US" sz="3600" b="1">
                <a:ea typeface="楷体_GB2312" pitchFamily="49" charset="-122"/>
              </a:rPr>
              <a:t>多个函数嵌套调用的规则是：</a:t>
            </a:r>
            <a:endParaRPr lang="zh-CN" altLang="en-US" sz="3600" b="1">
              <a:solidFill>
                <a:srgbClr val="800000"/>
              </a:solidFill>
              <a:ea typeface="楷体_GB2312" pitchFamily="49" charset="-122"/>
            </a:endParaRPr>
          </a:p>
        </p:txBody>
      </p:sp>
      <p:sp>
        <p:nvSpPr>
          <p:cNvPr id="529411" name="Text Box 3"/>
          <p:cNvSpPr txBox="1">
            <a:spLocks noChangeArrowheads="1"/>
          </p:cNvSpPr>
          <p:nvPr/>
        </p:nvSpPr>
        <p:spPr bwMode="auto">
          <a:xfrm>
            <a:off x="152400" y="2041525"/>
            <a:ext cx="8534400" cy="779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5000"/>
              </a:lnSpc>
            </a:pPr>
            <a:r>
              <a:rPr lang="zh-CN" altLang="en-US" sz="3600">
                <a:ea typeface="楷体_GB2312" pitchFamily="49" charset="-122"/>
              </a:rPr>
              <a:t>此时的内存管理实行</a:t>
            </a:r>
            <a:r>
              <a:rPr lang="zh-CN" altLang="en-US" sz="3600" b="1">
                <a:solidFill>
                  <a:srgbClr val="0000FF"/>
                </a:solidFill>
                <a:ea typeface="楷体_GB2312" pitchFamily="49" charset="-122"/>
              </a:rPr>
              <a:t>“栈式管理”</a:t>
            </a:r>
            <a:endParaRPr lang="zh-CN" altLang="en-US"/>
          </a:p>
        </p:txBody>
      </p:sp>
      <p:sp>
        <p:nvSpPr>
          <p:cNvPr id="529412" name="Text Box 4"/>
          <p:cNvSpPr txBox="1">
            <a:spLocks noChangeArrowheads="1"/>
          </p:cNvSpPr>
          <p:nvPr/>
        </p:nvSpPr>
        <p:spPr bwMode="auto">
          <a:xfrm>
            <a:off x="1936750" y="1247775"/>
            <a:ext cx="3509963" cy="779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25000"/>
              </a:lnSpc>
            </a:pPr>
            <a:r>
              <a:rPr lang="zh-CN" altLang="en-US" sz="3600" b="1">
                <a:solidFill>
                  <a:schemeClr val="hlink"/>
                </a:solidFill>
                <a:ea typeface="楷体_GB2312" pitchFamily="49" charset="-122"/>
              </a:rPr>
              <a:t>后</a:t>
            </a:r>
            <a:r>
              <a:rPr lang="zh-CN" altLang="en-US" sz="3600" b="1">
                <a:solidFill>
                  <a:srgbClr val="800000"/>
                </a:solidFill>
                <a:ea typeface="楷体_GB2312" pitchFamily="49" charset="-122"/>
              </a:rPr>
              <a:t>调用</a:t>
            </a:r>
            <a:r>
              <a:rPr lang="zh-CN" altLang="en-US" sz="3600" b="1">
                <a:solidFill>
                  <a:schemeClr val="hlink"/>
                </a:solidFill>
                <a:ea typeface="楷体_GB2312" pitchFamily="49" charset="-122"/>
              </a:rPr>
              <a:t>先</a:t>
            </a:r>
            <a:r>
              <a:rPr lang="zh-CN" altLang="en-US" sz="3600" b="1">
                <a:solidFill>
                  <a:srgbClr val="800000"/>
                </a:solidFill>
                <a:ea typeface="楷体_GB2312" pitchFamily="49" charset="-122"/>
              </a:rPr>
              <a:t>返回 ！</a:t>
            </a:r>
            <a:endParaRPr lang="zh-CN" altLang="en-US" b="1"/>
          </a:p>
        </p:txBody>
      </p:sp>
      <p:sp>
        <p:nvSpPr>
          <p:cNvPr id="529413" name="Text Box 5"/>
          <p:cNvSpPr txBox="1">
            <a:spLocks noChangeArrowheads="1"/>
          </p:cNvSpPr>
          <p:nvPr/>
        </p:nvSpPr>
        <p:spPr bwMode="auto">
          <a:xfrm>
            <a:off x="228600" y="2819400"/>
            <a:ext cx="6629400" cy="334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80000"/>
              </a:lnSpc>
              <a:spcBef>
                <a:spcPct val="50000"/>
              </a:spcBef>
            </a:pPr>
            <a:r>
              <a:rPr lang="zh-CN" altLang="en-US" dirty="0"/>
              <a:t>例如：</a:t>
            </a:r>
          </a:p>
          <a:p>
            <a:pPr eaLnBrk="1" hangingPunct="1">
              <a:lnSpc>
                <a:spcPct val="80000"/>
              </a:lnSpc>
              <a:spcBef>
                <a:spcPct val="50000"/>
              </a:spcBef>
            </a:pPr>
            <a:r>
              <a:rPr lang="en-US" altLang="zh-CN" sz="2800" dirty="0"/>
              <a:t>void main( )    void </a:t>
            </a:r>
            <a:r>
              <a:rPr lang="en-US" altLang="zh-CN" sz="2800" b="1" dirty="0">
                <a:solidFill>
                  <a:schemeClr val="hlink"/>
                </a:solidFill>
              </a:rPr>
              <a:t>a( )</a:t>
            </a:r>
            <a:r>
              <a:rPr lang="en-US" altLang="zh-CN" sz="2800" dirty="0"/>
              <a:t>       void </a:t>
            </a:r>
            <a:r>
              <a:rPr lang="en-US" altLang="zh-CN" sz="2800" b="1" dirty="0">
                <a:solidFill>
                  <a:srgbClr val="0000FF"/>
                </a:solidFill>
                <a:ea typeface="楷体_GB2312" pitchFamily="49" charset="-122"/>
              </a:rPr>
              <a:t>b( </a:t>
            </a:r>
            <a:r>
              <a:rPr lang="en-US" altLang="zh-CN" sz="2800" dirty="0"/>
              <a:t>)</a:t>
            </a:r>
          </a:p>
          <a:p>
            <a:pPr eaLnBrk="1" hangingPunct="1">
              <a:lnSpc>
                <a:spcPct val="80000"/>
              </a:lnSpc>
              <a:spcBef>
                <a:spcPct val="50000"/>
              </a:spcBef>
            </a:pPr>
            <a:r>
              <a:rPr lang="en-US" altLang="zh-CN" sz="2800" dirty="0"/>
              <a:t>{  </a:t>
            </a:r>
            <a:r>
              <a:rPr lang="en-US" altLang="zh-CN" sz="2800" b="1" dirty="0"/>
              <a:t>…                </a:t>
            </a:r>
            <a:r>
              <a:rPr lang="en-US" altLang="zh-CN" sz="2800" dirty="0"/>
              <a:t>{</a:t>
            </a:r>
            <a:r>
              <a:rPr lang="en-US" altLang="zh-CN" sz="2800" b="1" dirty="0"/>
              <a:t>     …            </a:t>
            </a:r>
            <a:r>
              <a:rPr lang="en-US" altLang="zh-CN" sz="2800" dirty="0"/>
              <a:t>{</a:t>
            </a:r>
            <a:r>
              <a:rPr lang="en-US" altLang="zh-CN" sz="2800" b="1" dirty="0"/>
              <a:t>   …</a:t>
            </a:r>
            <a:endParaRPr lang="en-US" altLang="zh-CN" sz="2800" dirty="0"/>
          </a:p>
          <a:p>
            <a:pPr eaLnBrk="1" hangingPunct="1">
              <a:lnSpc>
                <a:spcPct val="80000"/>
              </a:lnSpc>
              <a:spcBef>
                <a:spcPct val="50000"/>
              </a:spcBef>
            </a:pPr>
            <a:r>
              <a:rPr lang="en-US" altLang="zh-CN" sz="2800" dirty="0"/>
              <a:t>    </a:t>
            </a:r>
            <a:r>
              <a:rPr lang="en-US" altLang="zh-CN" sz="2800" b="1" dirty="0">
                <a:solidFill>
                  <a:schemeClr val="hlink"/>
                </a:solidFill>
              </a:rPr>
              <a:t>a( )</a:t>
            </a:r>
            <a:r>
              <a:rPr lang="en-US" altLang="zh-CN" sz="2800" dirty="0"/>
              <a:t>;                    </a:t>
            </a:r>
            <a:r>
              <a:rPr lang="en-US" altLang="zh-CN" sz="2800" b="1" dirty="0">
                <a:solidFill>
                  <a:srgbClr val="0000FF"/>
                </a:solidFill>
                <a:ea typeface="楷体_GB2312" pitchFamily="49" charset="-122"/>
              </a:rPr>
              <a:t>b( );</a:t>
            </a:r>
            <a:r>
              <a:rPr lang="en-US" altLang="zh-CN" sz="2800" dirty="0"/>
              <a:t>                  </a:t>
            </a:r>
          </a:p>
          <a:p>
            <a:pPr eaLnBrk="1" hangingPunct="1">
              <a:lnSpc>
                <a:spcPct val="80000"/>
              </a:lnSpc>
              <a:spcBef>
                <a:spcPct val="50000"/>
              </a:spcBef>
            </a:pPr>
            <a:r>
              <a:rPr lang="en-US" altLang="zh-CN" sz="2800" dirty="0"/>
              <a:t>    </a:t>
            </a:r>
            <a:r>
              <a:rPr lang="en-US" altLang="zh-CN" sz="2800" b="1" dirty="0"/>
              <a:t>…                       </a:t>
            </a:r>
            <a:r>
              <a:rPr lang="en-US" altLang="zh-CN" b="1" dirty="0"/>
              <a:t>…</a:t>
            </a:r>
          </a:p>
          <a:p>
            <a:pPr eaLnBrk="1" hangingPunct="1">
              <a:lnSpc>
                <a:spcPct val="80000"/>
              </a:lnSpc>
              <a:spcBef>
                <a:spcPct val="50000"/>
              </a:spcBef>
            </a:pPr>
            <a:r>
              <a:rPr lang="en-US" altLang="zh-CN" sz="2800" dirty="0"/>
              <a:t>}//main              }// a              }// b</a:t>
            </a:r>
          </a:p>
        </p:txBody>
      </p:sp>
      <p:sp>
        <p:nvSpPr>
          <p:cNvPr id="529414" name="Text Box 6"/>
          <p:cNvSpPr txBox="1">
            <a:spLocks noChangeArrowheads="1"/>
          </p:cNvSpPr>
          <p:nvPr/>
        </p:nvSpPr>
        <p:spPr bwMode="auto">
          <a:xfrm>
            <a:off x="6413500" y="5491163"/>
            <a:ext cx="2501900" cy="528637"/>
          </a:xfrm>
          <a:prstGeom prst="rect">
            <a:avLst/>
          </a:prstGeom>
          <a:solidFill>
            <a:srgbClr val="FFCC99"/>
          </a:solidFill>
          <a:ln w="9525">
            <a:solidFill>
              <a:srgbClr val="FF6600"/>
            </a:solidFill>
            <a:miter lim="800000"/>
            <a:headEnd/>
            <a:tailEnd/>
          </a:ln>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a:t>Main</a:t>
            </a:r>
            <a:r>
              <a:rPr lang="zh-CN" altLang="en-US" sz="2800">
                <a:ea typeface="楷体_GB2312" pitchFamily="49" charset="-122"/>
              </a:rPr>
              <a:t>的数据区</a:t>
            </a:r>
            <a:endParaRPr lang="zh-CN" altLang="en-US" sz="2800"/>
          </a:p>
        </p:txBody>
      </p:sp>
      <p:sp>
        <p:nvSpPr>
          <p:cNvPr id="529415" name="Text Box 7"/>
          <p:cNvSpPr txBox="1">
            <a:spLocks noChangeArrowheads="1"/>
          </p:cNvSpPr>
          <p:nvPr/>
        </p:nvSpPr>
        <p:spPr bwMode="auto">
          <a:xfrm>
            <a:off x="6421438" y="4962525"/>
            <a:ext cx="2493962" cy="528638"/>
          </a:xfrm>
          <a:prstGeom prst="rect">
            <a:avLst/>
          </a:prstGeom>
          <a:solidFill>
            <a:srgbClr val="FFCC99"/>
          </a:solidFill>
          <a:ln w="9525">
            <a:solidFill>
              <a:srgbClr val="FF6600"/>
            </a:solidFill>
            <a:miter lim="800000"/>
            <a:headEnd/>
            <a:tailEnd/>
          </a:ln>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2800">
                <a:ea typeface="楷体_GB2312" pitchFamily="49" charset="-122"/>
              </a:rPr>
              <a:t>函数</a:t>
            </a:r>
            <a:r>
              <a:rPr lang="en-US" altLang="zh-CN" sz="2800">
                <a:ea typeface="楷体_GB2312" pitchFamily="49" charset="-122"/>
              </a:rPr>
              <a:t>a</a:t>
            </a:r>
            <a:r>
              <a:rPr lang="zh-CN" altLang="en-US" sz="2800">
                <a:ea typeface="楷体_GB2312" pitchFamily="49" charset="-122"/>
              </a:rPr>
              <a:t>的数据区</a:t>
            </a:r>
            <a:endParaRPr lang="zh-CN" altLang="en-US" sz="4000"/>
          </a:p>
        </p:txBody>
      </p:sp>
      <p:sp>
        <p:nvSpPr>
          <p:cNvPr id="529416" name="Text Box 8"/>
          <p:cNvSpPr txBox="1">
            <a:spLocks noChangeArrowheads="1"/>
          </p:cNvSpPr>
          <p:nvPr/>
        </p:nvSpPr>
        <p:spPr bwMode="auto">
          <a:xfrm>
            <a:off x="6400800" y="4429125"/>
            <a:ext cx="2505075" cy="528638"/>
          </a:xfrm>
          <a:prstGeom prst="rect">
            <a:avLst/>
          </a:prstGeom>
          <a:solidFill>
            <a:srgbClr val="FFCC99"/>
          </a:solidFill>
          <a:ln w="9525">
            <a:solidFill>
              <a:srgbClr val="FF6600"/>
            </a:solidFill>
            <a:miter lim="800000"/>
            <a:headEnd/>
            <a:tailEnd/>
          </a:ln>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2800">
                <a:ea typeface="楷体_GB2312" pitchFamily="49" charset="-122"/>
              </a:rPr>
              <a:t>函数</a:t>
            </a:r>
            <a:r>
              <a:rPr lang="en-US" altLang="zh-CN" sz="2800">
                <a:ea typeface="楷体_GB2312" pitchFamily="49" charset="-122"/>
              </a:rPr>
              <a:t>b</a:t>
            </a:r>
            <a:r>
              <a:rPr lang="zh-CN" altLang="en-US" sz="2800">
                <a:ea typeface="楷体_GB2312" pitchFamily="49" charset="-122"/>
              </a:rPr>
              <a:t>的数据区</a:t>
            </a:r>
            <a:endParaRPr lang="zh-CN" altLang="en-US" sz="4000"/>
          </a:p>
        </p:txBody>
      </p:sp>
      <p:sp>
        <p:nvSpPr>
          <p:cNvPr id="529417" name="Text Box 9"/>
          <p:cNvSpPr txBox="1">
            <a:spLocks noChangeArrowheads="1"/>
          </p:cNvSpPr>
          <p:nvPr/>
        </p:nvSpPr>
        <p:spPr bwMode="auto">
          <a:xfrm>
            <a:off x="6400800" y="4953000"/>
            <a:ext cx="2514600" cy="528638"/>
          </a:xfrm>
          <a:prstGeom prst="rect">
            <a:avLst/>
          </a:prstGeom>
          <a:solidFill>
            <a:srgbClr val="FF9933"/>
          </a:solidFill>
          <a:ln w="9525">
            <a:solidFill>
              <a:schemeClr val="tx2"/>
            </a:solidFill>
            <a:miter lim="800000"/>
            <a:headEnd/>
            <a:tailEnd/>
          </a:ln>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2800">
                <a:ea typeface="楷体_GB2312" pitchFamily="49" charset="-122"/>
              </a:rPr>
              <a:t>函数</a:t>
            </a:r>
            <a:r>
              <a:rPr lang="en-US" altLang="zh-CN" sz="2800">
                <a:ea typeface="楷体_GB2312" pitchFamily="49" charset="-122"/>
              </a:rPr>
              <a:t>a</a:t>
            </a:r>
            <a:r>
              <a:rPr lang="zh-CN" altLang="en-US" sz="2800">
                <a:ea typeface="楷体_GB2312" pitchFamily="49" charset="-122"/>
              </a:rPr>
              <a:t>的数据区</a:t>
            </a:r>
          </a:p>
        </p:txBody>
      </p:sp>
    </p:spTree>
    <p:extLst>
      <p:ext uri="{BB962C8B-B14F-4D97-AF65-F5344CB8AC3E}">
        <p14:creationId xmlns:p14="http://schemas.microsoft.com/office/powerpoint/2010/main" val="1761515629"/>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iterate type="lt">
                                    <p:tmPct val="100000"/>
                                  </p:iterate>
                                  <p:childTnLst>
                                    <p:set>
                                      <p:cBhvr>
                                        <p:cTn id="6" dur="1" fill="hold">
                                          <p:stCondLst>
                                            <p:cond delay="0"/>
                                          </p:stCondLst>
                                        </p:cTn>
                                        <p:tgtEl>
                                          <p:spTgt spid="529412"/>
                                        </p:tgtEl>
                                        <p:attrNameLst>
                                          <p:attrName>style.visibility</p:attrName>
                                        </p:attrNameLst>
                                      </p:cBhvr>
                                      <p:to>
                                        <p:strVal val="visible"/>
                                      </p:to>
                                    </p:set>
                                    <p:animEffect transition="in" filter="strips(downRight)">
                                      <p:cBhvr>
                                        <p:cTn id="7" dur="75"/>
                                        <p:tgtEl>
                                          <p:spTgt spid="529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529411"/>
                                        </p:tgtEl>
                                        <p:attrNameLst>
                                          <p:attrName>style.visibility</p:attrName>
                                        </p:attrNameLst>
                                      </p:cBhvr>
                                      <p:to>
                                        <p:strVal val="visible"/>
                                      </p:to>
                                    </p:set>
                                    <p:anim calcmode="lin" valueType="num">
                                      <p:cBhvr>
                                        <p:cTn id="12" dur="500" fill="hold"/>
                                        <p:tgtEl>
                                          <p:spTgt spid="529411"/>
                                        </p:tgtEl>
                                        <p:attrNameLst>
                                          <p:attrName>ppt_x</p:attrName>
                                        </p:attrNameLst>
                                      </p:cBhvr>
                                      <p:tavLst>
                                        <p:tav tm="0">
                                          <p:val>
                                            <p:strVal val="#ppt_x-#ppt_w/2"/>
                                          </p:val>
                                        </p:tav>
                                        <p:tav tm="100000">
                                          <p:val>
                                            <p:strVal val="#ppt_x"/>
                                          </p:val>
                                        </p:tav>
                                      </p:tavLst>
                                    </p:anim>
                                    <p:anim calcmode="lin" valueType="num">
                                      <p:cBhvr>
                                        <p:cTn id="13" dur="500" fill="hold"/>
                                        <p:tgtEl>
                                          <p:spTgt spid="529411"/>
                                        </p:tgtEl>
                                        <p:attrNameLst>
                                          <p:attrName>ppt_y</p:attrName>
                                        </p:attrNameLst>
                                      </p:cBhvr>
                                      <p:tavLst>
                                        <p:tav tm="0">
                                          <p:val>
                                            <p:strVal val="#ppt_y"/>
                                          </p:val>
                                        </p:tav>
                                        <p:tav tm="100000">
                                          <p:val>
                                            <p:strVal val="#ppt_y"/>
                                          </p:val>
                                        </p:tav>
                                      </p:tavLst>
                                    </p:anim>
                                    <p:anim calcmode="lin" valueType="num">
                                      <p:cBhvr>
                                        <p:cTn id="14" dur="500" fill="hold"/>
                                        <p:tgtEl>
                                          <p:spTgt spid="529411"/>
                                        </p:tgtEl>
                                        <p:attrNameLst>
                                          <p:attrName>ppt_w</p:attrName>
                                        </p:attrNameLst>
                                      </p:cBhvr>
                                      <p:tavLst>
                                        <p:tav tm="0">
                                          <p:val>
                                            <p:fltVal val="0"/>
                                          </p:val>
                                        </p:tav>
                                        <p:tav tm="100000">
                                          <p:val>
                                            <p:strVal val="#ppt_w"/>
                                          </p:val>
                                        </p:tav>
                                      </p:tavLst>
                                    </p:anim>
                                    <p:anim calcmode="lin" valueType="num">
                                      <p:cBhvr>
                                        <p:cTn id="15" dur="500" fill="hold"/>
                                        <p:tgtEl>
                                          <p:spTgt spid="529411"/>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529413"/>
                                        </p:tgtEl>
                                        <p:attrNameLst>
                                          <p:attrName>style.visibility</p:attrName>
                                        </p:attrNameLst>
                                      </p:cBhvr>
                                      <p:to>
                                        <p:strVal val="visible"/>
                                      </p:to>
                                    </p:set>
                                    <p:animEffect transition="in" filter="checkerboard(across)">
                                      <p:cBhvr>
                                        <p:cTn id="20" dur="500"/>
                                        <p:tgtEl>
                                          <p:spTgt spid="5294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529414"/>
                                        </p:tgtEl>
                                        <p:attrNameLst>
                                          <p:attrName>style.visibility</p:attrName>
                                        </p:attrNameLst>
                                      </p:cBhvr>
                                      <p:to>
                                        <p:strVal val="visible"/>
                                      </p:to>
                                    </p:set>
                                    <p:anim calcmode="lin" valueType="num">
                                      <p:cBhvr additive="base">
                                        <p:cTn id="25" dur="500" fill="hold"/>
                                        <p:tgtEl>
                                          <p:spTgt spid="529414"/>
                                        </p:tgtEl>
                                        <p:attrNameLst>
                                          <p:attrName>ppt_x</p:attrName>
                                        </p:attrNameLst>
                                      </p:cBhvr>
                                      <p:tavLst>
                                        <p:tav tm="0">
                                          <p:val>
                                            <p:strVal val="#ppt_x"/>
                                          </p:val>
                                        </p:tav>
                                        <p:tav tm="100000">
                                          <p:val>
                                            <p:strVal val="#ppt_x"/>
                                          </p:val>
                                        </p:tav>
                                      </p:tavLst>
                                    </p:anim>
                                    <p:anim calcmode="lin" valueType="num">
                                      <p:cBhvr additive="base">
                                        <p:cTn id="26" dur="500" fill="hold"/>
                                        <p:tgtEl>
                                          <p:spTgt spid="529414"/>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29415"/>
                                        </p:tgtEl>
                                        <p:attrNameLst>
                                          <p:attrName>style.visibility</p:attrName>
                                        </p:attrNameLst>
                                      </p:cBhvr>
                                      <p:to>
                                        <p:strVal val="visible"/>
                                      </p:to>
                                    </p:set>
                                    <p:anim calcmode="lin" valueType="num">
                                      <p:cBhvr additive="base">
                                        <p:cTn id="31" dur="500" fill="hold"/>
                                        <p:tgtEl>
                                          <p:spTgt spid="529415"/>
                                        </p:tgtEl>
                                        <p:attrNameLst>
                                          <p:attrName>ppt_x</p:attrName>
                                        </p:attrNameLst>
                                      </p:cBhvr>
                                      <p:tavLst>
                                        <p:tav tm="0">
                                          <p:val>
                                            <p:strVal val="#ppt_x"/>
                                          </p:val>
                                        </p:tav>
                                        <p:tav tm="100000">
                                          <p:val>
                                            <p:strVal val="#ppt_x"/>
                                          </p:val>
                                        </p:tav>
                                      </p:tavLst>
                                    </p:anim>
                                    <p:anim calcmode="lin" valueType="num">
                                      <p:cBhvr additive="base">
                                        <p:cTn id="32" dur="500" fill="hold"/>
                                        <p:tgtEl>
                                          <p:spTgt spid="529415"/>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529416"/>
                                        </p:tgtEl>
                                        <p:attrNameLst>
                                          <p:attrName>style.visibility</p:attrName>
                                        </p:attrNameLst>
                                      </p:cBhvr>
                                      <p:to>
                                        <p:strVal val="visible"/>
                                      </p:to>
                                    </p:set>
                                    <p:anim calcmode="lin" valueType="num">
                                      <p:cBhvr additive="base">
                                        <p:cTn id="37" dur="500" fill="hold"/>
                                        <p:tgtEl>
                                          <p:spTgt spid="529416"/>
                                        </p:tgtEl>
                                        <p:attrNameLst>
                                          <p:attrName>ppt_x</p:attrName>
                                        </p:attrNameLst>
                                      </p:cBhvr>
                                      <p:tavLst>
                                        <p:tav tm="0">
                                          <p:val>
                                            <p:strVal val="#ppt_x"/>
                                          </p:val>
                                        </p:tav>
                                        <p:tav tm="100000">
                                          <p:val>
                                            <p:strVal val="#ppt_x"/>
                                          </p:val>
                                        </p:tav>
                                      </p:tavLst>
                                    </p:anim>
                                    <p:anim calcmode="lin" valueType="num">
                                      <p:cBhvr additive="base">
                                        <p:cTn id="38" dur="500" fill="hold"/>
                                        <p:tgtEl>
                                          <p:spTgt spid="529416"/>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529416"/>
                                        </p:tgtEl>
                                        <p:attrNameLst>
                                          <p:attrName>style.visibility</p:attrName>
                                        </p:attrNameLst>
                                      </p:cBhvr>
                                      <p:to>
                                        <p:strVal val="hidden"/>
                                      </p:to>
                                    </p:set>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29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autoUpdateAnimBg="0"/>
      <p:bldP spid="529412" grpId="0" autoUpdateAnimBg="0"/>
      <p:bldP spid="529413" grpId="0" autoUpdateAnimBg="0"/>
      <p:bldP spid="529414" grpId="0" animBg="1" autoUpdateAnimBg="0"/>
      <p:bldP spid="529415" grpId="0" animBg="1" autoUpdateAnimBg="0"/>
      <p:bldP spid="529416" grpId="0" animBg="1" autoUpdateAnimBg="0"/>
      <p:bldP spid="529417"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6C60888-C61B-47CC-B5DA-906AFCCC419C}" type="slidenum">
              <a:rPr lang="en-US" altLang="zh-CN" sz="1400"/>
              <a:pPr/>
              <a:t>78</a:t>
            </a:fld>
            <a:endParaRPr lang="en-US" altLang="zh-CN" sz="1400"/>
          </a:p>
        </p:txBody>
      </p:sp>
      <p:sp>
        <p:nvSpPr>
          <p:cNvPr id="530434" name="Text Box 2"/>
          <p:cNvSpPr txBox="1">
            <a:spLocks noChangeArrowheads="1"/>
          </p:cNvSpPr>
          <p:nvPr/>
        </p:nvSpPr>
        <p:spPr bwMode="auto">
          <a:xfrm>
            <a:off x="431800" y="0"/>
            <a:ext cx="8001000" cy="637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ea typeface="楷体_GB2312" pitchFamily="49" charset="-122"/>
              </a:rPr>
              <a:t>        </a:t>
            </a:r>
            <a:r>
              <a:rPr lang="zh-CN" altLang="en-US" sz="2800" b="1" dirty="0">
                <a:ea typeface="楷体_GB2312" pitchFamily="49" charset="-122"/>
              </a:rPr>
              <a:t>函数之间的</a:t>
            </a:r>
            <a:r>
              <a:rPr lang="zh-CN" altLang="en-US" sz="2800" b="1" dirty="0">
                <a:solidFill>
                  <a:srgbClr val="A50021"/>
                </a:solidFill>
                <a:ea typeface="楷体_GB2312" pitchFamily="49" charset="-122"/>
              </a:rPr>
              <a:t>信息传递</a:t>
            </a:r>
            <a:r>
              <a:rPr lang="zh-CN" altLang="en-US" sz="2800" b="1" dirty="0">
                <a:ea typeface="楷体_GB2312" pitchFamily="49" charset="-122"/>
              </a:rPr>
              <a:t>和</a:t>
            </a:r>
            <a:r>
              <a:rPr lang="zh-CN" altLang="en-US" sz="2800" b="1" dirty="0">
                <a:solidFill>
                  <a:srgbClr val="A50021"/>
                </a:solidFill>
                <a:ea typeface="楷体_GB2312" pitchFamily="49" charset="-122"/>
              </a:rPr>
              <a:t>控制转移</a:t>
            </a:r>
            <a:r>
              <a:rPr lang="zh-CN" altLang="en-US" sz="2800" b="1" dirty="0">
                <a:ea typeface="楷体_GB2312" pitchFamily="49" charset="-122"/>
              </a:rPr>
              <a:t>必须通过“栈”来实现，系统将整个程序运行时所需要的数据空间安排在一个栈内，每当调用一个函数时，就为它在栈顶分配一个存储区，每当从一个函数退出时，就释放它的存储区。所以</a:t>
            </a:r>
            <a:r>
              <a:rPr lang="zh-CN" altLang="en-US" sz="2800" b="1" dirty="0">
                <a:solidFill>
                  <a:schemeClr val="hlink"/>
                </a:solidFill>
                <a:ea typeface="楷体_GB2312" pitchFamily="49" charset="-122"/>
              </a:rPr>
              <a:t>当前运行的函数的数据区必在栈顶。</a:t>
            </a:r>
          </a:p>
          <a:p>
            <a:pPr eaLnBrk="1" hangingPunct="1">
              <a:spcBef>
                <a:spcPct val="50000"/>
              </a:spcBef>
            </a:pPr>
            <a:r>
              <a:rPr lang="zh-CN" altLang="en-US" sz="2800" b="1" dirty="0">
                <a:ea typeface="楷体_GB2312" pitchFamily="49" charset="-122"/>
              </a:rPr>
              <a:t>        一个递归函数的运行过程类似于多个函数的嵌套调用，只是调用函数与被调用函数是同一个函数。注意：递归函数运行的“层次”。主函数是第</a:t>
            </a:r>
            <a:r>
              <a:rPr lang="en-US" altLang="zh-CN" sz="2800" b="1" dirty="0">
                <a:ea typeface="楷体_GB2312" pitchFamily="49" charset="-122"/>
              </a:rPr>
              <a:t>0</a:t>
            </a:r>
            <a:r>
              <a:rPr lang="zh-CN" altLang="en-US" sz="2800" b="1" dirty="0">
                <a:ea typeface="楷体_GB2312" pitchFamily="49" charset="-122"/>
              </a:rPr>
              <a:t>层，从主函数调用递归函数为进入第</a:t>
            </a:r>
            <a:r>
              <a:rPr lang="en-US" altLang="zh-CN" sz="2800" b="1" dirty="0">
                <a:ea typeface="楷体_GB2312" pitchFamily="49" charset="-122"/>
              </a:rPr>
              <a:t>1</a:t>
            </a:r>
            <a:r>
              <a:rPr lang="zh-CN" altLang="en-US" sz="2800" b="1" dirty="0">
                <a:ea typeface="楷体_GB2312" pitchFamily="49" charset="-122"/>
              </a:rPr>
              <a:t>层。</a:t>
            </a:r>
          </a:p>
          <a:p>
            <a:pPr eaLnBrk="1" hangingPunct="1">
              <a:spcBef>
                <a:spcPct val="20000"/>
              </a:spcBef>
            </a:pPr>
            <a:r>
              <a:rPr lang="zh-CN" altLang="en-US" sz="2800" b="1" dirty="0">
                <a:ea typeface="楷体_GB2312" pitchFamily="49" charset="-122"/>
              </a:rPr>
              <a:t>        每进入一层递归，就产生一个新的工作记录（包括上一层的返回地址、实在参数、局部量）压入栈顶。每退出一层递归，就从栈顶弹出一个工作记录。      </a:t>
            </a:r>
          </a:p>
        </p:txBody>
      </p:sp>
    </p:spTree>
    <p:extLst>
      <p:ext uri="{BB962C8B-B14F-4D97-AF65-F5344CB8AC3E}">
        <p14:creationId xmlns:p14="http://schemas.microsoft.com/office/powerpoint/2010/main" val="7885117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30434">
                                            <p:txEl>
                                              <p:pRg st="0" end="0"/>
                                            </p:txEl>
                                          </p:spTgt>
                                        </p:tgtEl>
                                        <p:attrNameLst>
                                          <p:attrName>style.visibility</p:attrName>
                                        </p:attrNameLst>
                                      </p:cBhvr>
                                      <p:to>
                                        <p:strVal val="visible"/>
                                      </p:to>
                                    </p:set>
                                    <p:animEffect transition="in" filter="diamond(in)">
                                      <p:cBhvr>
                                        <p:cTn id="7" dur="1000"/>
                                        <p:tgtEl>
                                          <p:spTgt spid="5304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30434">
                                            <p:txEl>
                                              <p:pRg st="1" end="1"/>
                                            </p:txEl>
                                          </p:spTgt>
                                        </p:tgtEl>
                                        <p:attrNameLst>
                                          <p:attrName>style.visibility</p:attrName>
                                        </p:attrNameLst>
                                      </p:cBhvr>
                                      <p:to>
                                        <p:strVal val="visible"/>
                                      </p:to>
                                    </p:set>
                                    <p:animEffect transition="in" filter="diamond(in)">
                                      <p:cBhvr>
                                        <p:cTn id="12" dur="1000"/>
                                        <p:tgtEl>
                                          <p:spTgt spid="5304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30434">
                                            <p:txEl>
                                              <p:pRg st="2" end="2"/>
                                            </p:txEl>
                                          </p:spTgt>
                                        </p:tgtEl>
                                        <p:attrNameLst>
                                          <p:attrName>style.visibility</p:attrName>
                                        </p:attrNameLst>
                                      </p:cBhvr>
                                      <p:to>
                                        <p:strVal val="visible"/>
                                      </p:to>
                                    </p:set>
                                    <p:animEffect transition="in" filter="diamond(in)">
                                      <p:cBhvr>
                                        <p:cTn id="17" dur="1000"/>
                                        <p:tgtEl>
                                          <p:spTgt spid="5304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4"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8C2502A3-55BB-4D14-9972-F9F2AB04D747}" type="slidenum">
              <a:rPr lang="en-US" altLang="zh-CN" sz="1400"/>
              <a:pPr/>
              <a:t>79</a:t>
            </a:fld>
            <a:endParaRPr lang="en-US" altLang="zh-CN" sz="1400"/>
          </a:p>
        </p:txBody>
      </p:sp>
      <p:sp>
        <p:nvSpPr>
          <p:cNvPr id="69635" name="Text Box 2"/>
          <p:cNvSpPr txBox="1">
            <a:spLocks noChangeArrowheads="1"/>
          </p:cNvSpPr>
          <p:nvPr/>
        </p:nvSpPr>
        <p:spPr bwMode="auto">
          <a:xfrm>
            <a:off x="161925" y="142875"/>
            <a:ext cx="8458200" cy="272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spcBef>
                <a:spcPct val="50000"/>
              </a:spcBef>
            </a:pPr>
            <a:r>
              <a:rPr lang="zh-CN" altLang="en-US" b="1" dirty="0">
                <a:ea typeface="楷体_GB2312" pitchFamily="49" charset="-122"/>
              </a:rPr>
              <a:t>例</a:t>
            </a:r>
            <a:r>
              <a:rPr lang="en-US" altLang="zh-CN" b="1" dirty="0">
                <a:ea typeface="楷体_GB2312" pitchFamily="49" charset="-122"/>
              </a:rPr>
              <a:t>3-2  n</a:t>
            </a:r>
            <a:r>
              <a:rPr lang="zh-CN" altLang="en-US" b="1" dirty="0">
                <a:ea typeface="楷体_GB2312" pitchFamily="49" charset="-122"/>
              </a:rPr>
              <a:t>阶</a:t>
            </a:r>
            <a:r>
              <a:rPr lang="en-US" altLang="zh-CN" b="1" dirty="0">
                <a:ea typeface="楷体_GB2312" pitchFamily="49" charset="-122"/>
              </a:rPr>
              <a:t>Hanoi</a:t>
            </a:r>
            <a:r>
              <a:rPr lang="zh-CN" altLang="en-US" b="1" dirty="0">
                <a:ea typeface="楷体_GB2312" pitchFamily="49" charset="-122"/>
              </a:rPr>
              <a:t>问题。</a:t>
            </a:r>
          </a:p>
          <a:p>
            <a:pPr eaLnBrk="1" hangingPunct="1">
              <a:lnSpc>
                <a:spcPct val="110000"/>
              </a:lnSpc>
              <a:spcBef>
                <a:spcPct val="50000"/>
              </a:spcBef>
            </a:pPr>
            <a:r>
              <a:rPr lang="zh-CN" altLang="en-US" sz="2800" b="1" dirty="0">
                <a:ea typeface="楷体_GB2312" pitchFamily="49" charset="-122"/>
              </a:rPr>
              <a:t>        假设有三个分别命名为</a:t>
            </a:r>
            <a:r>
              <a:rPr lang="en-US" altLang="zh-CN" sz="2800" b="1" dirty="0">
                <a:ea typeface="楷体_GB2312" pitchFamily="49" charset="-122"/>
              </a:rPr>
              <a:t>X</a:t>
            </a:r>
            <a:r>
              <a:rPr lang="zh-CN" altLang="en-US" sz="2800" b="1" dirty="0">
                <a:ea typeface="楷体_GB2312" pitchFamily="49" charset="-122"/>
              </a:rPr>
              <a:t>、</a:t>
            </a:r>
            <a:r>
              <a:rPr lang="en-US" altLang="zh-CN" sz="2800" b="1" dirty="0">
                <a:ea typeface="楷体_GB2312" pitchFamily="49" charset="-122"/>
              </a:rPr>
              <a:t>Y</a:t>
            </a:r>
            <a:r>
              <a:rPr lang="zh-CN" altLang="en-US" sz="2800" b="1" dirty="0">
                <a:ea typeface="楷体_GB2312" pitchFamily="49" charset="-122"/>
              </a:rPr>
              <a:t>和</a:t>
            </a:r>
            <a:r>
              <a:rPr lang="en-US" altLang="zh-CN" sz="2800" b="1" dirty="0">
                <a:ea typeface="楷体_GB2312" pitchFamily="49" charset="-122"/>
              </a:rPr>
              <a:t>Z</a:t>
            </a:r>
            <a:r>
              <a:rPr lang="zh-CN" altLang="en-US" sz="2800" b="1" dirty="0">
                <a:ea typeface="楷体_GB2312" pitchFamily="49" charset="-122"/>
              </a:rPr>
              <a:t>的塔座，在塔座</a:t>
            </a:r>
            <a:r>
              <a:rPr lang="en-US" altLang="zh-CN" sz="2800" b="1" dirty="0">
                <a:ea typeface="楷体_GB2312" pitchFamily="49" charset="-122"/>
              </a:rPr>
              <a:t>X</a:t>
            </a:r>
            <a:r>
              <a:rPr lang="zh-CN" altLang="en-US" sz="2800" b="1" dirty="0">
                <a:ea typeface="楷体_GB2312" pitchFamily="49" charset="-122"/>
              </a:rPr>
              <a:t>上插有</a:t>
            </a:r>
            <a:r>
              <a:rPr lang="en-US" altLang="zh-CN" sz="2800" b="1" dirty="0">
                <a:ea typeface="楷体_GB2312" pitchFamily="49" charset="-122"/>
              </a:rPr>
              <a:t>n</a:t>
            </a:r>
            <a:r>
              <a:rPr lang="zh-CN" altLang="en-US" sz="2800" b="1" dirty="0">
                <a:ea typeface="楷体_GB2312" pitchFamily="49" charset="-122"/>
              </a:rPr>
              <a:t>个直径大小各不相同、依小到大编号为</a:t>
            </a:r>
            <a:r>
              <a:rPr lang="en-US" altLang="zh-CN" sz="2800" b="1" dirty="0">
                <a:ea typeface="楷体_GB2312" pitchFamily="49" charset="-122"/>
              </a:rPr>
              <a:t>1</a:t>
            </a:r>
            <a:r>
              <a:rPr lang="zh-CN" altLang="en-US" sz="2800" b="1" dirty="0">
                <a:ea typeface="楷体_GB2312" pitchFamily="49" charset="-122"/>
              </a:rPr>
              <a:t>，</a:t>
            </a:r>
            <a:r>
              <a:rPr lang="en-US" altLang="zh-CN" sz="2800" b="1" dirty="0">
                <a:ea typeface="楷体_GB2312" pitchFamily="49" charset="-122"/>
              </a:rPr>
              <a:t>2</a:t>
            </a:r>
            <a:r>
              <a:rPr lang="zh-CN" altLang="en-US" sz="2800" b="1" dirty="0">
                <a:ea typeface="楷体_GB2312" pitchFamily="49" charset="-122"/>
              </a:rPr>
              <a:t>，</a:t>
            </a:r>
            <a:r>
              <a:rPr lang="en-US" altLang="zh-CN" sz="2800" b="1" dirty="0">
                <a:ea typeface="楷体_GB2312" pitchFamily="49" charset="-122"/>
              </a:rPr>
              <a:t>…,n</a:t>
            </a:r>
            <a:r>
              <a:rPr lang="zh-CN" altLang="en-US" sz="2800" b="1" dirty="0">
                <a:ea typeface="楷体_GB2312" pitchFamily="49" charset="-122"/>
              </a:rPr>
              <a:t>的圆盘。现要求将</a:t>
            </a:r>
            <a:r>
              <a:rPr lang="en-US" altLang="zh-CN" sz="2800" b="1" dirty="0">
                <a:ea typeface="楷体_GB2312" pitchFamily="49" charset="-122"/>
              </a:rPr>
              <a:t>X</a:t>
            </a:r>
            <a:r>
              <a:rPr lang="zh-CN" altLang="en-US" sz="2800" b="1" dirty="0">
                <a:ea typeface="楷体_GB2312" pitchFamily="49" charset="-122"/>
              </a:rPr>
              <a:t>轴上的</a:t>
            </a:r>
            <a:r>
              <a:rPr lang="en-US" altLang="zh-CN" sz="2800" b="1" dirty="0">
                <a:ea typeface="楷体_GB2312" pitchFamily="49" charset="-122"/>
              </a:rPr>
              <a:t>n</a:t>
            </a:r>
            <a:r>
              <a:rPr lang="zh-CN" altLang="en-US" sz="2800" b="1" dirty="0">
                <a:ea typeface="楷体_GB2312" pitchFamily="49" charset="-122"/>
              </a:rPr>
              <a:t>个圆盘移至塔座</a:t>
            </a:r>
            <a:r>
              <a:rPr lang="en-US" altLang="zh-CN" sz="2800" b="1" dirty="0">
                <a:ea typeface="楷体_GB2312" pitchFamily="49" charset="-122"/>
              </a:rPr>
              <a:t>Z</a:t>
            </a:r>
            <a:r>
              <a:rPr lang="zh-CN" altLang="en-US" sz="2800" b="1" dirty="0">
                <a:ea typeface="楷体_GB2312" pitchFamily="49" charset="-122"/>
              </a:rPr>
              <a:t>上，并仍按同样顺序叠排。</a:t>
            </a:r>
          </a:p>
        </p:txBody>
      </p:sp>
      <p:sp>
        <p:nvSpPr>
          <p:cNvPr id="532536" name="AutoShape 56"/>
          <p:cNvSpPr>
            <a:spLocks noChangeArrowheads="1"/>
          </p:cNvSpPr>
          <p:nvPr/>
        </p:nvSpPr>
        <p:spPr bwMode="auto">
          <a:xfrm rot="5400000">
            <a:off x="4429125" y="2943225"/>
            <a:ext cx="762000" cy="1104900"/>
          </a:xfrm>
          <a:custGeom>
            <a:avLst/>
            <a:gdLst>
              <a:gd name="T0" fmla="*/ 662905639 w 21600"/>
              <a:gd name="T1" fmla="*/ 0 h 21600"/>
              <a:gd name="T2" fmla="*/ 662905639 w 21600"/>
              <a:gd name="T3" fmla="*/ 1627306951 h 21600"/>
              <a:gd name="T4" fmla="*/ 58348139 w 21600"/>
              <a:gd name="T5" fmla="*/ 2147483646 h 21600"/>
              <a:gd name="T6" fmla="*/ 948325475 w 21600"/>
              <a:gd name="T7" fmla="*/ 813654754 h 21600"/>
              <a:gd name="T8" fmla="*/ 17694720 60000 65536"/>
              <a:gd name="T9" fmla="*/ 5898240 60000 65536"/>
              <a:gd name="T10" fmla="*/ 5898240 60000 65536"/>
              <a:gd name="T11" fmla="*/ 0 60000 65536"/>
              <a:gd name="T12" fmla="*/ 12427 w 21600"/>
              <a:gd name="T13" fmla="*/ 4779 h 21600"/>
              <a:gd name="T14" fmla="*/ 20210 w 21600"/>
              <a:gd name="T15" fmla="*/ 7379 h 21600"/>
            </a:gdLst>
            <a:ahLst/>
            <a:cxnLst>
              <a:cxn ang="T8">
                <a:pos x="T0" y="T1"/>
              </a:cxn>
              <a:cxn ang="T9">
                <a:pos x="T2" y="T3"/>
              </a:cxn>
              <a:cxn ang="T10">
                <a:pos x="T4" y="T5"/>
              </a:cxn>
              <a:cxn ang="T11">
                <a:pos x="T6" y="T7"/>
              </a:cxn>
            </a:cxnLst>
            <a:rect l="T12" t="T13" r="T14" b="T15"/>
            <a:pathLst>
              <a:path w="21600" h="21600">
                <a:moveTo>
                  <a:pt x="21600" y="6079"/>
                </a:moveTo>
                <a:lnTo>
                  <a:pt x="15099" y="0"/>
                </a:lnTo>
                <a:lnTo>
                  <a:pt x="15099" y="4779"/>
                </a:lnTo>
                <a:lnTo>
                  <a:pt x="12427" y="4779"/>
                </a:lnTo>
                <a:cubicBezTo>
                  <a:pt x="5564" y="4779"/>
                  <a:pt x="0" y="8083"/>
                  <a:pt x="0" y="12158"/>
                </a:cubicBezTo>
                <a:lnTo>
                  <a:pt x="0" y="21600"/>
                </a:lnTo>
                <a:lnTo>
                  <a:pt x="2658" y="21600"/>
                </a:lnTo>
                <a:lnTo>
                  <a:pt x="2658" y="12158"/>
                </a:lnTo>
                <a:cubicBezTo>
                  <a:pt x="2658" y="9519"/>
                  <a:pt x="7032" y="7379"/>
                  <a:pt x="12427" y="7379"/>
                </a:cubicBezTo>
                <a:lnTo>
                  <a:pt x="15099" y="7379"/>
                </a:lnTo>
                <a:lnTo>
                  <a:pt x="15099" y="12158"/>
                </a:lnTo>
                <a:lnTo>
                  <a:pt x="21600" y="6079"/>
                </a:lnTo>
                <a:close/>
              </a:path>
            </a:pathLst>
          </a:cu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2550" name="Group 70"/>
          <p:cNvGrpSpPr>
            <a:grpSpLocks/>
          </p:cNvGrpSpPr>
          <p:nvPr/>
        </p:nvGrpSpPr>
        <p:grpSpPr bwMode="auto">
          <a:xfrm>
            <a:off x="4929188" y="3968750"/>
            <a:ext cx="4214812" cy="2743200"/>
            <a:chOff x="2965" y="2245"/>
            <a:chExt cx="2655" cy="1728"/>
          </a:xfrm>
        </p:grpSpPr>
        <p:sp>
          <p:nvSpPr>
            <p:cNvPr id="69650" name="Rectangle 43"/>
            <p:cNvSpPr>
              <a:spLocks noChangeArrowheads="1"/>
            </p:cNvSpPr>
            <p:nvPr/>
          </p:nvSpPr>
          <p:spPr bwMode="auto">
            <a:xfrm>
              <a:off x="2965" y="2245"/>
              <a:ext cx="2622" cy="172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nvGrpSpPr>
            <p:cNvPr id="69651" name="Group 69"/>
            <p:cNvGrpSpPr>
              <a:grpSpLocks/>
            </p:cNvGrpSpPr>
            <p:nvPr/>
          </p:nvGrpSpPr>
          <p:grpSpPr bwMode="auto">
            <a:xfrm>
              <a:off x="3163" y="2387"/>
              <a:ext cx="2457" cy="1417"/>
              <a:chOff x="3078" y="1735"/>
              <a:chExt cx="2457" cy="1417"/>
            </a:xfrm>
          </p:grpSpPr>
          <p:sp>
            <p:nvSpPr>
              <p:cNvPr id="69652" name="Rectangle 57"/>
              <p:cNvSpPr>
                <a:spLocks noChangeArrowheads="1"/>
              </p:cNvSpPr>
              <p:nvPr/>
            </p:nvSpPr>
            <p:spPr bwMode="auto">
              <a:xfrm>
                <a:off x="4590" y="2093"/>
                <a:ext cx="49"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3" name="Text Box 58"/>
              <p:cNvSpPr txBox="1">
                <a:spLocks noChangeArrowheads="1"/>
              </p:cNvSpPr>
              <p:nvPr/>
            </p:nvSpPr>
            <p:spPr bwMode="auto">
              <a:xfrm>
                <a:off x="5122" y="2429"/>
                <a:ext cx="291" cy="696"/>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50000"/>
                  </a:lnSpc>
                  <a:spcBef>
                    <a:spcPct val="50000"/>
                  </a:spcBef>
                </a:pPr>
                <a:r>
                  <a:rPr lang="en-US" altLang="zh-CN" sz="1200"/>
                  <a:t>1</a:t>
                </a:r>
                <a:endParaRPr lang="en-US" altLang="zh-CN" sz="1600"/>
              </a:p>
              <a:p>
                <a:pPr eaLnBrk="1" hangingPunct="1">
                  <a:lnSpc>
                    <a:spcPct val="50000"/>
                  </a:lnSpc>
                  <a:spcBef>
                    <a:spcPct val="50000"/>
                  </a:spcBef>
                </a:pPr>
                <a:r>
                  <a:rPr lang="en-US" altLang="zh-CN" sz="1200"/>
                  <a:t>2</a:t>
                </a:r>
              </a:p>
              <a:p>
                <a:pPr eaLnBrk="1" hangingPunct="1">
                  <a:lnSpc>
                    <a:spcPct val="50000"/>
                  </a:lnSpc>
                  <a:spcBef>
                    <a:spcPct val="50000"/>
                  </a:spcBef>
                </a:pPr>
                <a:r>
                  <a:rPr lang="en-US" altLang="zh-CN" sz="1200"/>
                  <a:t>.</a:t>
                </a:r>
              </a:p>
              <a:p>
                <a:pPr eaLnBrk="1" hangingPunct="1">
                  <a:lnSpc>
                    <a:spcPct val="50000"/>
                  </a:lnSpc>
                  <a:spcBef>
                    <a:spcPct val="50000"/>
                  </a:spcBef>
                </a:pPr>
                <a:r>
                  <a:rPr lang="en-US" altLang="zh-CN" sz="1200"/>
                  <a:t>.</a:t>
                </a:r>
              </a:p>
              <a:p>
                <a:pPr eaLnBrk="1" hangingPunct="1">
                  <a:lnSpc>
                    <a:spcPct val="50000"/>
                  </a:lnSpc>
                  <a:spcBef>
                    <a:spcPct val="50000"/>
                  </a:spcBef>
                </a:pPr>
                <a:r>
                  <a:rPr lang="en-US" altLang="zh-CN" sz="1200"/>
                  <a:t>n-1</a:t>
                </a:r>
              </a:p>
              <a:p>
                <a:pPr eaLnBrk="1" hangingPunct="1">
                  <a:lnSpc>
                    <a:spcPct val="50000"/>
                  </a:lnSpc>
                  <a:spcBef>
                    <a:spcPct val="50000"/>
                  </a:spcBef>
                </a:pPr>
                <a:r>
                  <a:rPr lang="en-US" altLang="zh-CN" sz="1200"/>
                  <a:t>n</a:t>
                </a:r>
                <a:endParaRPr lang="en-US" altLang="zh-CN" sz="1600"/>
              </a:p>
            </p:txBody>
          </p:sp>
          <p:sp>
            <p:nvSpPr>
              <p:cNvPr id="69654" name="Rectangle 59"/>
              <p:cNvSpPr>
                <a:spLocks noChangeArrowheads="1"/>
              </p:cNvSpPr>
              <p:nvPr/>
            </p:nvSpPr>
            <p:spPr bwMode="auto">
              <a:xfrm>
                <a:off x="4106" y="2861"/>
                <a:ext cx="968"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5" name="Rectangle 60"/>
              <p:cNvSpPr>
                <a:spLocks noChangeArrowheads="1"/>
              </p:cNvSpPr>
              <p:nvPr/>
            </p:nvSpPr>
            <p:spPr bwMode="auto">
              <a:xfrm>
                <a:off x="4203" y="2717"/>
                <a:ext cx="774"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6" name="Rectangle 61"/>
              <p:cNvSpPr>
                <a:spLocks noChangeArrowheads="1"/>
              </p:cNvSpPr>
              <p:nvPr/>
            </p:nvSpPr>
            <p:spPr bwMode="auto">
              <a:xfrm>
                <a:off x="4251" y="2573"/>
                <a:ext cx="678"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7" name="Rectangle 62"/>
              <p:cNvSpPr>
                <a:spLocks noChangeArrowheads="1"/>
              </p:cNvSpPr>
              <p:nvPr/>
            </p:nvSpPr>
            <p:spPr bwMode="auto">
              <a:xfrm>
                <a:off x="4300" y="2429"/>
                <a:ext cx="581"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8" name="Rectangle 63"/>
              <p:cNvSpPr>
                <a:spLocks noChangeArrowheads="1"/>
              </p:cNvSpPr>
              <p:nvPr/>
            </p:nvSpPr>
            <p:spPr bwMode="auto">
              <a:xfrm>
                <a:off x="4058" y="3005"/>
                <a:ext cx="1064"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59" name="Rectangle 64"/>
              <p:cNvSpPr>
                <a:spLocks noChangeArrowheads="1"/>
              </p:cNvSpPr>
              <p:nvPr/>
            </p:nvSpPr>
            <p:spPr bwMode="auto">
              <a:xfrm>
                <a:off x="3843" y="2096"/>
                <a:ext cx="48"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60" name="Rectangle 65"/>
              <p:cNvSpPr>
                <a:spLocks noChangeArrowheads="1"/>
              </p:cNvSpPr>
              <p:nvPr/>
            </p:nvSpPr>
            <p:spPr bwMode="auto">
              <a:xfrm>
                <a:off x="3248" y="2096"/>
                <a:ext cx="48"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61" name="Line 66"/>
              <p:cNvSpPr>
                <a:spLocks noChangeShapeType="1"/>
              </p:cNvSpPr>
              <p:nvPr/>
            </p:nvSpPr>
            <p:spPr bwMode="auto">
              <a:xfrm>
                <a:off x="3078" y="3152"/>
                <a:ext cx="245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2" name="Text Box 67"/>
              <p:cNvSpPr txBox="1">
                <a:spLocks noChangeArrowheads="1"/>
              </p:cNvSpPr>
              <p:nvPr/>
            </p:nvSpPr>
            <p:spPr bwMode="auto">
              <a:xfrm>
                <a:off x="3163" y="1735"/>
                <a:ext cx="1730" cy="25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000"/>
                  <a:t>X            Y                Z</a:t>
                </a:r>
              </a:p>
            </p:txBody>
          </p:sp>
        </p:grpSp>
      </p:grpSp>
      <p:grpSp>
        <p:nvGrpSpPr>
          <p:cNvPr id="69638" name="Group 82"/>
          <p:cNvGrpSpPr>
            <a:grpSpLocks/>
          </p:cNvGrpSpPr>
          <p:nvPr/>
        </p:nvGrpSpPr>
        <p:grpSpPr bwMode="auto">
          <a:xfrm>
            <a:off x="566738" y="4284663"/>
            <a:ext cx="4038600" cy="2228850"/>
            <a:chOff x="0" y="2467"/>
            <a:chExt cx="2544" cy="1404"/>
          </a:xfrm>
        </p:grpSpPr>
        <p:sp>
          <p:nvSpPr>
            <p:cNvPr id="69639" name="Rectangle 71"/>
            <p:cNvSpPr>
              <a:spLocks noChangeArrowheads="1"/>
            </p:cNvSpPr>
            <p:nvPr/>
          </p:nvSpPr>
          <p:spPr bwMode="auto">
            <a:xfrm>
              <a:off x="768" y="2755"/>
              <a:ext cx="48"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0" name="Line 72"/>
            <p:cNvSpPr>
              <a:spLocks noChangeShapeType="1"/>
            </p:cNvSpPr>
            <p:nvPr/>
          </p:nvSpPr>
          <p:spPr bwMode="auto">
            <a:xfrm>
              <a:off x="144" y="3811"/>
              <a:ext cx="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1" name="Rectangle 73"/>
            <p:cNvSpPr>
              <a:spLocks noChangeArrowheads="1"/>
            </p:cNvSpPr>
            <p:nvPr/>
          </p:nvSpPr>
          <p:spPr bwMode="auto">
            <a:xfrm>
              <a:off x="240" y="3667"/>
              <a:ext cx="105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2" name="Rectangle 74"/>
            <p:cNvSpPr>
              <a:spLocks noChangeArrowheads="1"/>
            </p:cNvSpPr>
            <p:nvPr/>
          </p:nvSpPr>
          <p:spPr bwMode="auto">
            <a:xfrm>
              <a:off x="288" y="3523"/>
              <a:ext cx="960"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3" name="Rectangle 75"/>
            <p:cNvSpPr>
              <a:spLocks noChangeArrowheads="1"/>
            </p:cNvSpPr>
            <p:nvPr/>
          </p:nvSpPr>
          <p:spPr bwMode="auto">
            <a:xfrm>
              <a:off x="384" y="3379"/>
              <a:ext cx="768"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4" name="Rectangle 76"/>
            <p:cNvSpPr>
              <a:spLocks noChangeArrowheads="1"/>
            </p:cNvSpPr>
            <p:nvPr/>
          </p:nvSpPr>
          <p:spPr bwMode="auto">
            <a:xfrm>
              <a:off x="432" y="3235"/>
              <a:ext cx="672"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5" name="Rectangle 77"/>
            <p:cNvSpPr>
              <a:spLocks noChangeArrowheads="1"/>
            </p:cNvSpPr>
            <p:nvPr/>
          </p:nvSpPr>
          <p:spPr bwMode="auto">
            <a:xfrm>
              <a:off x="480" y="3091"/>
              <a:ext cx="57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6" name="Text Box 78"/>
            <p:cNvSpPr txBox="1">
              <a:spLocks noChangeArrowheads="1"/>
            </p:cNvSpPr>
            <p:nvPr/>
          </p:nvSpPr>
          <p:spPr bwMode="auto">
            <a:xfrm>
              <a:off x="0" y="3043"/>
              <a:ext cx="192" cy="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1600">
                  <a:ea typeface="楷体_GB2312" pitchFamily="49" charset="-122"/>
                </a:rPr>
                <a:t>12. .n</a:t>
              </a:r>
              <a:endParaRPr lang="en-US" altLang="zh-CN" sz="2000">
                <a:ea typeface="楷体_GB2312" pitchFamily="49" charset="-122"/>
              </a:endParaRPr>
            </a:p>
          </p:txBody>
        </p:sp>
        <p:sp>
          <p:nvSpPr>
            <p:cNvPr id="69647" name="Rectangle 79"/>
            <p:cNvSpPr>
              <a:spLocks noChangeArrowheads="1"/>
            </p:cNvSpPr>
            <p:nvPr/>
          </p:nvSpPr>
          <p:spPr bwMode="auto">
            <a:xfrm>
              <a:off x="1491" y="2755"/>
              <a:ext cx="48"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8" name="Rectangle 80"/>
            <p:cNvSpPr>
              <a:spLocks noChangeArrowheads="1"/>
            </p:cNvSpPr>
            <p:nvPr/>
          </p:nvSpPr>
          <p:spPr bwMode="auto">
            <a:xfrm>
              <a:off x="2064" y="2755"/>
              <a:ext cx="48"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9649" name="Text Box 81"/>
            <p:cNvSpPr txBox="1">
              <a:spLocks noChangeArrowheads="1"/>
            </p:cNvSpPr>
            <p:nvPr/>
          </p:nvSpPr>
          <p:spPr bwMode="auto">
            <a:xfrm>
              <a:off x="672" y="2467"/>
              <a:ext cx="1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000"/>
                <a:t>X                Y              Z</a:t>
              </a:r>
            </a:p>
          </p:txBody>
        </p:sp>
      </p:grpSp>
    </p:spTree>
    <p:extLst>
      <p:ext uri="{BB962C8B-B14F-4D97-AF65-F5344CB8AC3E}">
        <p14:creationId xmlns:p14="http://schemas.microsoft.com/office/powerpoint/2010/main" val="1210070174"/>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32536"/>
                                        </p:tgtEl>
                                        <p:attrNameLst>
                                          <p:attrName>style.visibility</p:attrName>
                                        </p:attrNameLst>
                                      </p:cBhvr>
                                      <p:to>
                                        <p:strVal val="visible"/>
                                      </p:to>
                                    </p:set>
                                    <p:animEffect transition="in" filter="slide(fromTop)">
                                      <p:cBhvr>
                                        <p:cTn id="7" dur="500"/>
                                        <p:tgtEl>
                                          <p:spTgt spid="532536"/>
                                        </p:tgtEl>
                                      </p:cBhvr>
                                    </p:animEffect>
                                  </p:childTnLst>
                                </p:cTn>
                              </p:par>
                              <p:par>
                                <p:cTn id="8" presetID="12" presetClass="entr" presetSubtype="1" fill="hold" nodeType="withEffect">
                                  <p:stCondLst>
                                    <p:cond delay="0"/>
                                  </p:stCondLst>
                                  <p:childTnLst>
                                    <p:set>
                                      <p:cBhvr>
                                        <p:cTn id="9" dur="1" fill="hold">
                                          <p:stCondLst>
                                            <p:cond delay="0"/>
                                          </p:stCondLst>
                                        </p:cTn>
                                        <p:tgtEl>
                                          <p:spTgt spid="532550"/>
                                        </p:tgtEl>
                                        <p:attrNameLst>
                                          <p:attrName>style.visibility</p:attrName>
                                        </p:attrNameLst>
                                      </p:cBhvr>
                                      <p:to>
                                        <p:strVal val="visible"/>
                                      </p:to>
                                    </p:set>
                                    <p:animEffect transition="in" filter="slide(fromTop)">
                                      <p:cBhvr>
                                        <p:cTn id="10" dur="500"/>
                                        <p:tgtEl>
                                          <p:spTgt spid="532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6" grpId="0" animBg="1"/>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2DC8E45-A8BD-4579-8FF2-CBE49A889634}" type="slidenum">
              <a:rPr lang="en-US" altLang="zh-CN" sz="1400"/>
              <a:pPr/>
              <a:t>80</a:t>
            </a:fld>
            <a:endParaRPr lang="en-US" altLang="zh-CN" sz="1400"/>
          </a:p>
        </p:txBody>
      </p:sp>
      <p:sp>
        <p:nvSpPr>
          <p:cNvPr id="70659" name="Text Box 2"/>
          <p:cNvSpPr txBox="1">
            <a:spLocks noChangeArrowheads="1"/>
          </p:cNvSpPr>
          <p:nvPr/>
        </p:nvSpPr>
        <p:spPr bwMode="auto">
          <a:xfrm>
            <a:off x="296863" y="819150"/>
            <a:ext cx="84582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10000"/>
              </a:lnSpc>
              <a:spcBef>
                <a:spcPct val="50000"/>
              </a:spcBef>
            </a:pPr>
            <a:r>
              <a:rPr lang="zh-CN" altLang="en-US" sz="2800" b="1" dirty="0">
                <a:ea typeface="楷体_GB2312" pitchFamily="49" charset="-122"/>
              </a:rPr>
              <a:t>圆盘移动时必须遵循下列规则：        </a:t>
            </a:r>
          </a:p>
        </p:txBody>
      </p:sp>
      <p:sp>
        <p:nvSpPr>
          <p:cNvPr id="660483" name="Rectangle 3"/>
          <p:cNvSpPr>
            <a:spLocks noChangeArrowheads="1"/>
          </p:cNvSpPr>
          <p:nvPr/>
        </p:nvSpPr>
        <p:spPr bwMode="auto">
          <a:xfrm>
            <a:off x="746125" y="1854200"/>
            <a:ext cx="5257800"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Bef>
                <a:spcPct val="20000"/>
              </a:spcBef>
            </a:pPr>
            <a:r>
              <a:rPr lang="en-US" altLang="zh-CN" sz="2800" b="1" dirty="0">
                <a:ea typeface="楷体_GB2312" pitchFamily="49" charset="-122"/>
              </a:rPr>
              <a:t>   1) </a:t>
            </a:r>
            <a:r>
              <a:rPr lang="zh-CN" altLang="en-US" sz="2800" b="1" dirty="0">
                <a:ea typeface="楷体_GB2312" pitchFamily="49" charset="-122"/>
              </a:rPr>
              <a:t>每次只能移动一个圆盘；</a:t>
            </a:r>
          </a:p>
          <a:p>
            <a:pPr eaLnBrk="1" hangingPunct="1">
              <a:lnSpc>
                <a:spcPct val="110000"/>
              </a:lnSpc>
              <a:spcBef>
                <a:spcPct val="20000"/>
              </a:spcBef>
            </a:pPr>
            <a:r>
              <a:rPr lang="zh-CN" altLang="en-US" sz="2800" b="1" dirty="0">
                <a:ea typeface="楷体_GB2312" pitchFamily="49" charset="-122"/>
              </a:rPr>
              <a:t>   </a:t>
            </a:r>
            <a:r>
              <a:rPr lang="en-US" altLang="zh-CN" sz="2800" b="1" dirty="0">
                <a:ea typeface="楷体_GB2312" pitchFamily="49" charset="-122"/>
              </a:rPr>
              <a:t>2) </a:t>
            </a:r>
            <a:r>
              <a:rPr lang="zh-CN" altLang="en-US" sz="2800" b="1" dirty="0">
                <a:ea typeface="楷体_GB2312" pitchFamily="49" charset="-122"/>
              </a:rPr>
              <a:t>圆盘可以插在</a:t>
            </a:r>
            <a:r>
              <a:rPr lang="en-US" altLang="zh-CN" sz="2800" b="1" dirty="0">
                <a:ea typeface="楷体_GB2312" pitchFamily="49" charset="-122"/>
              </a:rPr>
              <a:t>X</a:t>
            </a:r>
            <a:r>
              <a:rPr lang="zh-CN" altLang="en-US" sz="2800" b="1" dirty="0">
                <a:ea typeface="楷体_GB2312" pitchFamily="49" charset="-122"/>
              </a:rPr>
              <a:t>、</a:t>
            </a:r>
            <a:r>
              <a:rPr lang="en-US" altLang="zh-CN" sz="2800" b="1" dirty="0">
                <a:ea typeface="楷体_GB2312" pitchFamily="49" charset="-122"/>
              </a:rPr>
              <a:t>Y</a:t>
            </a:r>
            <a:r>
              <a:rPr lang="zh-CN" altLang="en-US" sz="2800" b="1" dirty="0">
                <a:ea typeface="楷体_GB2312" pitchFamily="49" charset="-122"/>
              </a:rPr>
              <a:t>和</a:t>
            </a:r>
            <a:r>
              <a:rPr lang="en-US" altLang="zh-CN" sz="2800" b="1" dirty="0">
                <a:ea typeface="楷体_GB2312" pitchFamily="49" charset="-122"/>
              </a:rPr>
              <a:t>Z</a:t>
            </a:r>
            <a:r>
              <a:rPr lang="zh-CN" altLang="en-US" sz="2800" b="1" dirty="0">
                <a:ea typeface="楷体_GB2312" pitchFamily="49" charset="-122"/>
              </a:rPr>
              <a:t>中的任一塔座上；</a:t>
            </a:r>
          </a:p>
          <a:p>
            <a:pPr eaLnBrk="1" hangingPunct="1">
              <a:lnSpc>
                <a:spcPct val="110000"/>
              </a:lnSpc>
              <a:spcBef>
                <a:spcPct val="20000"/>
              </a:spcBef>
            </a:pPr>
            <a:r>
              <a:rPr lang="zh-CN" altLang="en-US" sz="2800" b="1" dirty="0">
                <a:ea typeface="楷体_GB2312" pitchFamily="49" charset="-122"/>
              </a:rPr>
              <a:t>   </a:t>
            </a:r>
            <a:r>
              <a:rPr lang="en-US" altLang="zh-CN" sz="2800" b="1" dirty="0">
                <a:ea typeface="楷体_GB2312" pitchFamily="49" charset="-122"/>
              </a:rPr>
              <a:t>3) </a:t>
            </a:r>
            <a:r>
              <a:rPr lang="zh-CN" altLang="en-US" sz="2800" b="1" dirty="0">
                <a:ea typeface="楷体_GB2312" pitchFamily="49" charset="-122"/>
              </a:rPr>
              <a:t>任何时刻都不能将一个较大的圆盘压在较小的圆盘之上。</a:t>
            </a:r>
          </a:p>
        </p:txBody>
      </p:sp>
      <p:grpSp>
        <p:nvGrpSpPr>
          <p:cNvPr id="70661" name="Group 4"/>
          <p:cNvGrpSpPr>
            <a:grpSpLocks/>
          </p:cNvGrpSpPr>
          <p:nvPr/>
        </p:nvGrpSpPr>
        <p:grpSpPr bwMode="auto">
          <a:xfrm>
            <a:off x="5486400" y="4114800"/>
            <a:ext cx="3657600" cy="2133600"/>
            <a:chOff x="3456" y="2592"/>
            <a:chExt cx="2304" cy="1344"/>
          </a:xfrm>
        </p:grpSpPr>
        <p:sp>
          <p:nvSpPr>
            <p:cNvPr id="70662" name="Line 5"/>
            <p:cNvSpPr>
              <a:spLocks noChangeShapeType="1"/>
            </p:cNvSpPr>
            <p:nvPr/>
          </p:nvSpPr>
          <p:spPr bwMode="auto">
            <a:xfrm>
              <a:off x="3456" y="3936"/>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663" name="Rectangle 6" descr="深色上对角线"/>
            <p:cNvSpPr>
              <a:spLocks noChangeArrowheads="1"/>
            </p:cNvSpPr>
            <p:nvPr/>
          </p:nvSpPr>
          <p:spPr bwMode="auto">
            <a:xfrm>
              <a:off x="5328" y="2976"/>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4" name="Rectangle 7" descr="深色上对角线"/>
            <p:cNvSpPr>
              <a:spLocks noChangeArrowheads="1"/>
            </p:cNvSpPr>
            <p:nvPr/>
          </p:nvSpPr>
          <p:spPr bwMode="auto">
            <a:xfrm>
              <a:off x="4704" y="2976"/>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5" name="Rectangle 8" descr="深色上对角线"/>
            <p:cNvSpPr>
              <a:spLocks noChangeArrowheads="1"/>
            </p:cNvSpPr>
            <p:nvPr/>
          </p:nvSpPr>
          <p:spPr bwMode="auto">
            <a:xfrm>
              <a:off x="3984" y="2976"/>
              <a:ext cx="48" cy="672"/>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6" name="Rectangle 9"/>
            <p:cNvSpPr>
              <a:spLocks noChangeArrowheads="1"/>
            </p:cNvSpPr>
            <p:nvPr/>
          </p:nvSpPr>
          <p:spPr bwMode="auto">
            <a:xfrm>
              <a:off x="3660" y="3840"/>
              <a:ext cx="672"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7" name="Rectangle 10"/>
            <p:cNvSpPr>
              <a:spLocks noChangeArrowheads="1"/>
            </p:cNvSpPr>
            <p:nvPr/>
          </p:nvSpPr>
          <p:spPr bwMode="auto">
            <a:xfrm>
              <a:off x="3756" y="3744"/>
              <a:ext cx="480"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8" name="Rectangle 11"/>
            <p:cNvSpPr>
              <a:spLocks noChangeArrowheads="1"/>
            </p:cNvSpPr>
            <p:nvPr/>
          </p:nvSpPr>
          <p:spPr bwMode="auto">
            <a:xfrm>
              <a:off x="3828" y="3648"/>
              <a:ext cx="336"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0669" name="Rectangle 12"/>
            <p:cNvSpPr>
              <a:spLocks noChangeArrowheads="1"/>
            </p:cNvSpPr>
            <p:nvPr/>
          </p:nvSpPr>
          <p:spPr bwMode="auto">
            <a:xfrm>
              <a:off x="3840" y="259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X</a:t>
              </a:r>
            </a:p>
          </p:txBody>
        </p:sp>
        <p:sp>
          <p:nvSpPr>
            <p:cNvPr id="70670" name="Rectangle 13"/>
            <p:cNvSpPr>
              <a:spLocks noChangeArrowheads="1"/>
            </p:cNvSpPr>
            <p:nvPr/>
          </p:nvSpPr>
          <p:spPr bwMode="auto">
            <a:xfrm>
              <a:off x="4608" y="259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Y</a:t>
              </a:r>
            </a:p>
          </p:txBody>
        </p:sp>
        <p:sp>
          <p:nvSpPr>
            <p:cNvPr id="70671" name="Rectangle 14"/>
            <p:cNvSpPr>
              <a:spLocks noChangeArrowheads="1"/>
            </p:cNvSpPr>
            <p:nvPr/>
          </p:nvSpPr>
          <p:spPr bwMode="auto">
            <a:xfrm>
              <a:off x="5232" y="259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Z</a:t>
              </a:r>
            </a:p>
          </p:txBody>
        </p:sp>
      </p:grpSp>
      <p:pic>
        <p:nvPicPr>
          <p:cNvPr id="1026" name="Picture 2" descr="图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866775" y="1879600"/>
            <a:ext cx="3048000" cy="933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17482"/>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60483">
                                            <p:txEl>
                                              <p:pRg st="0" end="0"/>
                                            </p:txEl>
                                          </p:spTgt>
                                        </p:tgtEl>
                                        <p:attrNameLst>
                                          <p:attrName>style.visibility</p:attrName>
                                        </p:attrNameLst>
                                      </p:cBhvr>
                                      <p:to>
                                        <p:strVal val="visible"/>
                                      </p:to>
                                    </p:set>
                                    <p:anim calcmode="discrete" valueType="clr">
                                      <p:cBhvr override="childStyle">
                                        <p:cTn id="7" dur="80"/>
                                        <p:tgtEl>
                                          <p:spTgt spid="66048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6048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660483">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660483">
                                            <p:txEl>
                                              <p:pRg st="1" end="1"/>
                                            </p:txEl>
                                          </p:spTgt>
                                        </p:tgtEl>
                                        <p:attrNameLst>
                                          <p:attrName>style.visibility</p:attrName>
                                        </p:attrNameLst>
                                      </p:cBhvr>
                                      <p:to>
                                        <p:strVal val="visible"/>
                                      </p:to>
                                    </p:set>
                                    <p:anim calcmode="discrete" valueType="clr">
                                      <p:cBhvr override="childStyle">
                                        <p:cTn id="14" dur="80"/>
                                        <p:tgtEl>
                                          <p:spTgt spid="66048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660483">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660483">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660483">
                                            <p:txEl>
                                              <p:pRg st="2" end="2"/>
                                            </p:txEl>
                                          </p:spTgt>
                                        </p:tgtEl>
                                        <p:attrNameLst>
                                          <p:attrName>style.visibility</p:attrName>
                                        </p:attrNameLst>
                                      </p:cBhvr>
                                      <p:to>
                                        <p:strVal val="visible"/>
                                      </p:to>
                                    </p:set>
                                    <p:anim calcmode="discrete" valueType="clr">
                                      <p:cBhvr override="childStyle">
                                        <p:cTn id="21" dur="80"/>
                                        <p:tgtEl>
                                          <p:spTgt spid="66048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660483">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660483">
                                            <p:txEl>
                                              <p:pRg st="2" end="2"/>
                                            </p:txEl>
                                          </p:spTgt>
                                        </p:tgtEl>
                                        <p:attrNameLst>
                                          <p:attrName>fill.type</p:attrName>
                                        </p:attrNameLst>
                                      </p:cBhvr>
                                      <p:to>
                                        <p:strVal val="solid"/>
                                      </p:to>
                                    </p:set>
                                  </p:childTnLst>
                                </p:cTn>
                              </p:par>
                            </p:childTnLst>
                          </p:cTn>
                        </p:par>
                        <p:par>
                          <p:cTn id="24" fill="hold">
                            <p:stCondLst>
                              <p:cond delay="1120"/>
                            </p:stCondLst>
                            <p:childTnLst>
                              <p:par>
                                <p:cTn id="25" presetID="1" presetClass="entr" presetSubtype="0" fill="hold" nodeType="after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3"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4F4C7BAC-2C22-4964-BA7F-82C74408214F}" type="slidenum">
              <a:rPr lang="en-US" altLang="zh-CN" sz="1400"/>
              <a:pPr/>
              <a:t>81</a:t>
            </a:fld>
            <a:endParaRPr lang="en-US" altLang="zh-CN" sz="1400"/>
          </a:p>
        </p:txBody>
      </p:sp>
      <p:sp>
        <p:nvSpPr>
          <p:cNvPr id="533506" name="Text Box 2"/>
          <p:cNvSpPr txBox="1">
            <a:spLocks noChangeArrowheads="1"/>
          </p:cNvSpPr>
          <p:nvPr/>
        </p:nvSpPr>
        <p:spPr bwMode="auto">
          <a:xfrm>
            <a:off x="0" y="0"/>
            <a:ext cx="7002463" cy="12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pPr>
            <a:r>
              <a:rPr lang="zh-CN" altLang="en-US" sz="4000" b="1">
                <a:ea typeface="楷体_GB2312" pitchFamily="49" charset="-122"/>
              </a:rPr>
              <a:t>如何实现圆盘的移动操作？</a:t>
            </a:r>
          </a:p>
          <a:p>
            <a:pPr eaLnBrk="1" hangingPunct="1">
              <a:lnSpc>
                <a:spcPct val="90000"/>
              </a:lnSpc>
              <a:spcBef>
                <a:spcPct val="50000"/>
              </a:spcBef>
            </a:pPr>
            <a:r>
              <a:rPr lang="zh-CN" altLang="en-US" sz="2800" b="1">
                <a:ea typeface="楷体_GB2312" pitchFamily="49" charset="-122"/>
              </a:rPr>
              <a:t>      当</a:t>
            </a:r>
            <a:r>
              <a:rPr lang="en-US" altLang="zh-CN" sz="2800" b="1">
                <a:ea typeface="楷体_GB2312" pitchFamily="49" charset="-122"/>
              </a:rPr>
              <a:t>n=1</a:t>
            </a:r>
            <a:r>
              <a:rPr lang="zh-CN" altLang="en-US" sz="2800" b="1">
                <a:ea typeface="楷体_GB2312" pitchFamily="49" charset="-122"/>
              </a:rPr>
              <a:t>时，从塔座</a:t>
            </a:r>
            <a:r>
              <a:rPr lang="en-US" altLang="zh-CN" sz="2800" b="1">
                <a:ea typeface="楷体_GB2312" pitchFamily="49" charset="-122"/>
              </a:rPr>
              <a:t>X</a:t>
            </a:r>
            <a:r>
              <a:rPr lang="en-US" altLang="zh-CN" sz="2800" b="1">
                <a:ea typeface="楷体_GB2312" pitchFamily="49" charset="-122"/>
                <a:sym typeface="Wingdings" pitchFamily="2" charset="2"/>
              </a:rPr>
              <a:t></a:t>
            </a:r>
            <a:r>
              <a:rPr lang="en-US" altLang="zh-CN" sz="2800" b="1">
                <a:ea typeface="楷体_GB2312" pitchFamily="49" charset="-122"/>
              </a:rPr>
              <a:t>Z;</a:t>
            </a:r>
          </a:p>
        </p:txBody>
      </p:sp>
      <p:grpSp>
        <p:nvGrpSpPr>
          <p:cNvPr id="71684" name="Group 3"/>
          <p:cNvGrpSpPr>
            <a:grpSpLocks/>
          </p:cNvGrpSpPr>
          <p:nvPr/>
        </p:nvGrpSpPr>
        <p:grpSpPr bwMode="auto">
          <a:xfrm>
            <a:off x="5697538" y="1898650"/>
            <a:ext cx="3657600" cy="2133600"/>
            <a:chOff x="3456" y="2592"/>
            <a:chExt cx="2304" cy="1344"/>
          </a:xfrm>
        </p:grpSpPr>
        <p:sp>
          <p:nvSpPr>
            <p:cNvPr id="71698" name="Line 4"/>
            <p:cNvSpPr>
              <a:spLocks noChangeShapeType="1"/>
            </p:cNvSpPr>
            <p:nvPr/>
          </p:nvSpPr>
          <p:spPr bwMode="auto">
            <a:xfrm>
              <a:off x="3456" y="3936"/>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699" name="Rectangle 5" descr="深色上对角线"/>
            <p:cNvSpPr>
              <a:spLocks noChangeArrowheads="1"/>
            </p:cNvSpPr>
            <p:nvPr/>
          </p:nvSpPr>
          <p:spPr bwMode="auto">
            <a:xfrm>
              <a:off x="5328" y="2976"/>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0" name="Rectangle 6" descr="深色上对角线"/>
            <p:cNvSpPr>
              <a:spLocks noChangeArrowheads="1"/>
            </p:cNvSpPr>
            <p:nvPr/>
          </p:nvSpPr>
          <p:spPr bwMode="auto">
            <a:xfrm>
              <a:off x="4704" y="2976"/>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1" name="Rectangle 7" descr="深色上对角线"/>
            <p:cNvSpPr>
              <a:spLocks noChangeArrowheads="1"/>
            </p:cNvSpPr>
            <p:nvPr/>
          </p:nvSpPr>
          <p:spPr bwMode="auto">
            <a:xfrm>
              <a:off x="3984" y="2976"/>
              <a:ext cx="48" cy="672"/>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2" name="Rectangle 8"/>
            <p:cNvSpPr>
              <a:spLocks noChangeArrowheads="1"/>
            </p:cNvSpPr>
            <p:nvPr/>
          </p:nvSpPr>
          <p:spPr bwMode="auto">
            <a:xfrm>
              <a:off x="3660" y="3840"/>
              <a:ext cx="672"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3" name="Rectangle 9"/>
            <p:cNvSpPr>
              <a:spLocks noChangeArrowheads="1"/>
            </p:cNvSpPr>
            <p:nvPr/>
          </p:nvSpPr>
          <p:spPr bwMode="auto">
            <a:xfrm>
              <a:off x="3756" y="3744"/>
              <a:ext cx="480"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4" name="Rectangle 10"/>
            <p:cNvSpPr>
              <a:spLocks noChangeArrowheads="1"/>
            </p:cNvSpPr>
            <p:nvPr/>
          </p:nvSpPr>
          <p:spPr bwMode="auto">
            <a:xfrm>
              <a:off x="3828" y="3648"/>
              <a:ext cx="336"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5" name="Rectangle 11"/>
            <p:cNvSpPr>
              <a:spLocks noChangeArrowheads="1"/>
            </p:cNvSpPr>
            <p:nvPr/>
          </p:nvSpPr>
          <p:spPr bwMode="auto">
            <a:xfrm>
              <a:off x="3840" y="259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X</a:t>
              </a:r>
            </a:p>
          </p:txBody>
        </p:sp>
        <p:sp>
          <p:nvSpPr>
            <p:cNvPr id="71706" name="Rectangle 12"/>
            <p:cNvSpPr>
              <a:spLocks noChangeArrowheads="1"/>
            </p:cNvSpPr>
            <p:nvPr/>
          </p:nvSpPr>
          <p:spPr bwMode="auto">
            <a:xfrm>
              <a:off x="4608" y="259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Y</a:t>
              </a:r>
            </a:p>
          </p:txBody>
        </p:sp>
        <p:sp>
          <p:nvSpPr>
            <p:cNvPr id="71707" name="Rectangle 13"/>
            <p:cNvSpPr>
              <a:spLocks noChangeArrowheads="1"/>
            </p:cNvSpPr>
            <p:nvPr/>
          </p:nvSpPr>
          <p:spPr bwMode="auto">
            <a:xfrm>
              <a:off x="5232" y="259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Z</a:t>
              </a:r>
            </a:p>
          </p:txBody>
        </p:sp>
      </p:grpSp>
      <p:sp>
        <p:nvSpPr>
          <p:cNvPr id="533518" name="Rectangle 14"/>
          <p:cNvSpPr>
            <a:spLocks noChangeArrowheads="1"/>
          </p:cNvSpPr>
          <p:nvPr/>
        </p:nvSpPr>
        <p:spPr bwMode="auto">
          <a:xfrm>
            <a:off x="0" y="4014788"/>
            <a:ext cx="5356225"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800" b="1">
                <a:ea typeface="楷体_GB2312" pitchFamily="49" charset="-122"/>
              </a:rPr>
              <a:t>      </a:t>
            </a:r>
            <a:r>
              <a:rPr lang="zh-CN" altLang="en-US" sz="2800" b="1">
                <a:ea typeface="楷体_GB2312" pitchFamily="49" charset="-122"/>
              </a:rPr>
              <a:t>而如何将</a:t>
            </a:r>
            <a:r>
              <a:rPr lang="en-US" altLang="zh-CN" sz="2800" b="1">
                <a:ea typeface="楷体_GB2312" pitchFamily="49" charset="-122"/>
              </a:rPr>
              <a:t>n-1</a:t>
            </a:r>
            <a:r>
              <a:rPr lang="zh-CN" altLang="en-US" sz="2800" b="1">
                <a:ea typeface="楷体_GB2312" pitchFamily="49" charset="-122"/>
              </a:rPr>
              <a:t>个圆盘从一个塔座移至另一个塔座的问题是一个和原问题具有相同特征属性的问题，只是问题的规模小</a:t>
            </a:r>
            <a:r>
              <a:rPr lang="en-US" altLang="zh-CN" sz="2800" b="1">
                <a:ea typeface="楷体_GB2312" pitchFamily="49" charset="-122"/>
              </a:rPr>
              <a:t>1</a:t>
            </a:r>
            <a:r>
              <a:rPr lang="zh-CN" altLang="en-US" sz="2800" b="1">
                <a:ea typeface="楷体_GB2312" pitchFamily="49" charset="-122"/>
              </a:rPr>
              <a:t>，因此可以用同样的方法求解。</a:t>
            </a:r>
          </a:p>
        </p:txBody>
      </p:sp>
      <p:grpSp>
        <p:nvGrpSpPr>
          <p:cNvPr id="533559" name="Group 55"/>
          <p:cNvGrpSpPr>
            <a:grpSpLocks/>
          </p:cNvGrpSpPr>
          <p:nvPr/>
        </p:nvGrpSpPr>
        <p:grpSpPr bwMode="auto">
          <a:xfrm>
            <a:off x="5486400" y="4059238"/>
            <a:ext cx="3657600" cy="2133600"/>
            <a:chOff x="2937" y="2976"/>
            <a:chExt cx="2304" cy="1344"/>
          </a:xfrm>
        </p:grpSpPr>
        <p:sp>
          <p:nvSpPr>
            <p:cNvPr id="71688" name="Line 45"/>
            <p:cNvSpPr>
              <a:spLocks noChangeShapeType="1"/>
            </p:cNvSpPr>
            <p:nvPr/>
          </p:nvSpPr>
          <p:spPr bwMode="auto">
            <a:xfrm>
              <a:off x="2937" y="4320"/>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689" name="Rectangle 46" descr="深色上对角线"/>
            <p:cNvSpPr>
              <a:spLocks noChangeArrowheads="1"/>
            </p:cNvSpPr>
            <p:nvPr/>
          </p:nvSpPr>
          <p:spPr bwMode="auto">
            <a:xfrm>
              <a:off x="4809" y="3360"/>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0" name="Rectangle 47" descr="深色上对角线"/>
            <p:cNvSpPr>
              <a:spLocks noChangeArrowheads="1"/>
            </p:cNvSpPr>
            <p:nvPr/>
          </p:nvSpPr>
          <p:spPr bwMode="auto">
            <a:xfrm>
              <a:off x="4185" y="3360"/>
              <a:ext cx="48"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1" name="Rectangle 48" descr="深色上对角线"/>
            <p:cNvSpPr>
              <a:spLocks noChangeArrowheads="1"/>
            </p:cNvSpPr>
            <p:nvPr/>
          </p:nvSpPr>
          <p:spPr bwMode="auto">
            <a:xfrm>
              <a:off x="3465" y="3360"/>
              <a:ext cx="39" cy="960"/>
            </a:xfrm>
            <a:prstGeom prst="rect">
              <a:avLst/>
            </a:prstGeom>
            <a:pattFill prst="dk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2" name="Rectangle 49"/>
            <p:cNvSpPr>
              <a:spLocks noChangeArrowheads="1"/>
            </p:cNvSpPr>
            <p:nvPr/>
          </p:nvSpPr>
          <p:spPr bwMode="auto">
            <a:xfrm>
              <a:off x="3141" y="4224"/>
              <a:ext cx="672"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3" name="Rectangle 50"/>
            <p:cNvSpPr>
              <a:spLocks noChangeArrowheads="1"/>
            </p:cNvSpPr>
            <p:nvPr/>
          </p:nvSpPr>
          <p:spPr bwMode="auto">
            <a:xfrm>
              <a:off x="3986" y="4224"/>
              <a:ext cx="480"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4" name="Rectangle 51"/>
            <p:cNvSpPr>
              <a:spLocks noChangeArrowheads="1"/>
            </p:cNvSpPr>
            <p:nvPr/>
          </p:nvSpPr>
          <p:spPr bwMode="auto">
            <a:xfrm>
              <a:off x="4071" y="4116"/>
              <a:ext cx="336" cy="9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695" name="Rectangle 52"/>
            <p:cNvSpPr>
              <a:spLocks noChangeArrowheads="1"/>
            </p:cNvSpPr>
            <p:nvPr/>
          </p:nvSpPr>
          <p:spPr bwMode="auto">
            <a:xfrm>
              <a:off x="3321" y="297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X</a:t>
              </a:r>
            </a:p>
          </p:txBody>
        </p:sp>
        <p:sp>
          <p:nvSpPr>
            <p:cNvPr id="71696" name="Rectangle 53"/>
            <p:cNvSpPr>
              <a:spLocks noChangeArrowheads="1"/>
            </p:cNvSpPr>
            <p:nvPr/>
          </p:nvSpPr>
          <p:spPr bwMode="auto">
            <a:xfrm>
              <a:off x="4089" y="297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Y</a:t>
              </a:r>
            </a:p>
          </p:txBody>
        </p:sp>
        <p:sp>
          <p:nvSpPr>
            <p:cNvPr id="71697" name="Rectangle 54"/>
            <p:cNvSpPr>
              <a:spLocks noChangeArrowheads="1"/>
            </p:cNvSpPr>
            <p:nvPr/>
          </p:nvSpPr>
          <p:spPr bwMode="auto">
            <a:xfrm>
              <a:off x="4713" y="2976"/>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ea typeface="楷体_GB2312" pitchFamily="49" charset="-122"/>
                </a:rPr>
                <a:t>Z</a:t>
              </a:r>
            </a:p>
          </p:txBody>
        </p:sp>
      </p:grpSp>
      <p:sp>
        <p:nvSpPr>
          <p:cNvPr id="533560" name="Text Box 56"/>
          <p:cNvSpPr txBox="1">
            <a:spLocks noChangeArrowheads="1"/>
          </p:cNvSpPr>
          <p:nvPr/>
        </p:nvSpPr>
        <p:spPr bwMode="auto">
          <a:xfrm>
            <a:off x="0" y="1493838"/>
            <a:ext cx="5741988"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pPr>
            <a:r>
              <a:rPr lang="en-US" altLang="zh-CN" sz="2800" b="1">
                <a:ea typeface="楷体_GB2312" pitchFamily="49" charset="-122"/>
              </a:rPr>
              <a:t>      </a:t>
            </a:r>
            <a:r>
              <a:rPr lang="zh-CN" altLang="en-US" sz="2800" b="1">
                <a:ea typeface="楷体_GB2312" pitchFamily="49" charset="-122"/>
              </a:rPr>
              <a:t>当</a:t>
            </a:r>
            <a:r>
              <a:rPr lang="en-US" altLang="zh-CN" sz="2800" b="1">
                <a:ea typeface="楷体_GB2312" pitchFamily="49" charset="-122"/>
              </a:rPr>
              <a:t>n&gt;1</a:t>
            </a:r>
            <a:r>
              <a:rPr lang="zh-CN" altLang="en-US" sz="2800" b="1">
                <a:ea typeface="楷体_GB2312" pitchFamily="49" charset="-122"/>
              </a:rPr>
              <a:t>时，利用塔座</a:t>
            </a:r>
            <a:r>
              <a:rPr lang="en-US" altLang="zh-CN" sz="2800" b="1">
                <a:ea typeface="楷体_GB2312" pitchFamily="49" charset="-122"/>
              </a:rPr>
              <a:t>Y</a:t>
            </a:r>
            <a:r>
              <a:rPr lang="zh-CN" altLang="en-US" sz="2800" b="1">
                <a:ea typeface="楷体_GB2312" pitchFamily="49" charset="-122"/>
              </a:rPr>
              <a:t>作辅助塔座，若能设法将压在编号为</a:t>
            </a:r>
            <a:r>
              <a:rPr lang="en-US" altLang="zh-CN" sz="2800" b="1">
                <a:ea typeface="楷体_GB2312" pitchFamily="49" charset="-122"/>
              </a:rPr>
              <a:t>n</a:t>
            </a:r>
            <a:r>
              <a:rPr lang="zh-CN" altLang="en-US" sz="2800" b="1">
                <a:ea typeface="楷体_GB2312" pitchFamily="49" charset="-122"/>
              </a:rPr>
              <a:t>的圆盘之上的</a:t>
            </a:r>
            <a:r>
              <a:rPr lang="en-US" altLang="zh-CN" sz="2800" b="1">
                <a:ea typeface="楷体_GB2312" pitchFamily="49" charset="-122"/>
              </a:rPr>
              <a:t>n-1</a:t>
            </a:r>
            <a:r>
              <a:rPr lang="zh-CN" altLang="en-US" sz="2800" b="1">
                <a:ea typeface="楷体_GB2312" pitchFamily="49" charset="-122"/>
              </a:rPr>
              <a:t>个圆盘从塔座</a:t>
            </a:r>
            <a:r>
              <a:rPr lang="en-US" altLang="zh-CN" sz="2800" b="1">
                <a:ea typeface="楷体_GB2312" pitchFamily="49" charset="-122"/>
              </a:rPr>
              <a:t>X </a:t>
            </a:r>
            <a:r>
              <a:rPr lang="en-US" altLang="zh-CN" sz="2800" b="1">
                <a:ea typeface="楷体_GB2312" pitchFamily="49" charset="-122"/>
                <a:sym typeface="Wingdings" pitchFamily="2" charset="2"/>
              </a:rPr>
              <a:t></a:t>
            </a:r>
            <a:r>
              <a:rPr lang="en-US" altLang="zh-CN" sz="2800" b="1">
                <a:ea typeface="楷体_GB2312" pitchFamily="49" charset="-122"/>
              </a:rPr>
              <a:t>Y</a:t>
            </a:r>
            <a:r>
              <a:rPr lang="zh-CN" altLang="en-US" sz="2800" b="1">
                <a:ea typeface="楷体_GB2312" pitchFamily="49" charset="-122"/>
              </a:rPr>
              <a:t>上，则可先将编号为</a:t>
            </a:r>
            <a:r>
              <a:rPr lang="en-US" altLang="zh-CN" sz="2800" b="1">
                <a:ea typeface="楷体_GB2312" pitchFamily="49" charset="-122"/>
              </a:rPr>
              <a:t>n</a:t>
            </a:r>
            <a:r>
              <a:rPr lang="zh-CN" altLang="en-US" sz="2800" b="1">
                <a:ea typeface="楷体_GB2312" pitchFamily="49" charset="-122"/>
              </a:rPr>
              <a:t>的圆盘从塔座</a:t>
            </a:r>
            <a:r>
              <a:rPr lang="en-US" altLang="zh-CN" sz="2800" b="1">
                <a:ea typeface="楷体_GB2312" pitchFamily="49" charset="-122"/>
              </a:rPr>
              <a:t>X</a:t>
            </a:r>
            <a:r>
              <a:rPr lang="en-US" altLang="zh-CN" sz="2800" b="1">
                <a:ea typeface="楷体_GB2312" pitchFamily="49" charset="-122"/>
                <a:sym typeface="Wingdings" pitchFamily="2" charset="2"/>
              </a:rPr>
              <a:t></a:t>
            </a:r>
            <a:r>
              <a:rPr lang="en-US" altLang="zh-CN" sz="2800" b="1">
                <a:ea typeface="楷体_GB2312" pitchFamily="49" charset="-122"/>
              </a:rPr>
              <a:t>Z</a:t>
            </a:r>
            <a:r>
              <a:rPr lang="zh-CN" altLang="en-US" sz="2800" b="1">
                <a:ea typeface="楷体_GB2312" pitchFamily="49" charset="-122"/>
              </a:rPr>
              <a:t>，然后再将塔座</a:t>
            </a:r>
            <a:r>
              <a:rPr lang="en-US" altLang="zh-CN" sz="2800" b="1">
                <a:ea typeface="楷体_GB2312" pitchFamily="49" charset="-122"/>
              </a:rPr>
              <a:t>Y</a:t>
            </a:r>
            <a:r>
              <a:rPr lang="zh-CN" altLang="en-US" sz="2800" b="1">
                <a:ea typeface="楷体_GB2312" pitchFamily="49" charset="-122"/>
              </a:rPr>
              <a:t>上的</a:t>
            </a:r>
            <a:r>
              <a:rPr lang="en-US" altLang="zh-CN" sz="2800" b="1">
                <a:ea typeface="楷体_GB2312" pitchFamily="49" charset="-122"/>
              </a:rPr>
              <a:t>n-1</a:t>
            </a:r>
            <a:r>
              <a:rPr lang="zh-CN" altLang="en-US" sz="2800" b="1">
                <a:ea typeface="楷体_GB2312" pitchFamily="49" charset="-122"/>
              </a:rPr>
              <a:t>个圆盘移至塔座</a:t>
            </a:r>
            <a:r>
              <a:rPr lang="en-US" altLang="zh-CN" sz="2800" b="1">
                <a:ea typeface="楷体_GB2312" pitchFamily="49" charset="-122"/>
              </a:rPr>
              <a:t>Z</a:t>
            </a:r>
            <a:r>
              <a:rPr lang="zh-CN" altLang="en-US" sz="2800" b="1">
                <a:ea typeface="楷体_GB2312" pitchFamily="49" charset="-122"/>
              </a:rPr>
              <a:t>上。        </a:t>
            </a:r>
          </a:p>
        </p:txBody>
      </p:sp>
    </p:spTree>
    <p:extLst>
      <p:ext uri="{BB962C8B-B14F-4D97-AF65-F5344CB8AC3E}">
        <p14:creationId xmlns:p14="http://schemas.microsoft.com/office/powerpoint/2010/main" val="3826598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3506">
                                            <p:txEl>
                                              <p:pRg st="0" end="0"/>
                                            </p:txEl>
                                          </p:spTgt>
                                        </p:tgtEl>
                                        <p:attrNameLst>
                                          <p:attrName>style.visibility</p:attrName>
                                        </p:attrNameLst>
                                      </p:cBhvr>
                                      <p:to>
                                        <p:strVal val="visible"/>
                                      </p:to>
                                    </p:set>
                                    <p:anim calcmode="lin" valueType="num">
                                      <p:cBhvr additive="base">
                                        <p:cTn id="7" dur="500" fill="hold"/>
                                        <p:tgtEl>
                                          <p:spTgt spid="5335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335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3506">
                                            <p:txEl>
                                              <p:pRg st="1" end="1"/>
                                            </p:txEl>
                                          </p:spTgt>
                                        </p:tgtEl>
                                        <p:attrNameLst>
                                          <p:attrName>style.visibility</p:attrName>
                                        </p:attrNameLst>
                                      </p:cBhvr>
                                      <p:to>
                                        <p:strVal val="visible"/>
                                      </p:to>
                                    </p:set>
                                    <p:anim calcmode="lin" valueType="num">
                                      <p:cBhvr additive="base">
                                        <p:cTn id="13" dur="500" fill="hold"/>
                                        <p:tgtEl>
                                          <p:spTgt spid="53350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3350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33560">
                                            <p:txEl>
                                              <p:pRg st="0" end="0"/>
                                            </p:txEl>
                                          </p:spTgt>
                                        </p:tgtEl>
                                        <p:attrNameLst>
                                          <p:attrName>style.visibility</p:attrName>
                                        </p:attrNameLst>
                                      </p:cBhvr>
                                      <p:to>
                                        <p:strVal val="visible"/>
                                      </p:to>
                                    </p:set>
                                    <p:anim calcmode="lin" valueType="num">
                                      <p:cBhvr additive="base">
                                        <p:cTn id="19" dur="500" fill="hold"/>
                                        <p:tgtEl>
                                          <p:spTgt spid="53356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335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33559"/>
                                        </p:tgtEl>
                                        <p:attrNameLst>
                                          <p:attrName>style.visibility</p:attrName>
                                        </p:attrNameLst>
                                      </p:cBhvr>
                                      <p:to>
                                        <p:strVal val="visible"/>
                                      </p:to>
                                    </p:set>
                                    <p:animEffect transition="in" filter="wipe(left)">
                                      <p:cBhvr>
                                        <p:cTn id="25" dur="500"/>
                                        <p:tgtEl>
                                          <p:spTgt spid="5335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33518"/>
                                        </p:tgtEl>
                                        <p:attrNameLst>
                                          <p:attrName>style.visibility</p:attrName>
                                        </p:attrNameLst>
                                      </p:cBhvr>
                                      <p:to>
                                        <p:strVal val="visible"/>
                                      </p:to>
                                    </p:set>
                                    <p:animEffect transition="in" filter="dissolve">
                                      <p:cBhvr>
                                        <p:cTn id="30" dur="500"/>
                                        <p:tgtEl>
                                          <p:spTgt spid="533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build="p"/>
      <p:bldP spid="533518" grpId="0"/>
      <p:bldP spid="533560"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8588BE2-5A37-4014-9C8D-55905CA9F02F}" type="slidenum">
              <a:rPr lang="en-US" altLang="zh-CN" sz="1400"/>
              <a:pPr/>
              <a:t>82</a:t>
            </a:fld>
            <a:endParaRPr lang="en-US" altLang="zh-CN" sz="1400"/>
          </a:p>
        </p:txBody>
      </p:sp>
      <p:sp>
        <p:nvSpPr>
          <p:cNvPr id="534530" name="Text Box 2"/>
          <p:cNvSpPr txBox="1">
            <a:spLocks noChangeArrowheads="1"/>
          </p:cNvSpPr>
          <p:nvPr/>
        </p:nvSpPr>
        <p:spPr bwMode="auto">
          <a:xfrm>
            <a:off x="-242888" y="63500"/>
            <a:ext cx="8678863" cy="679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57200" indent="-457200">
              <a:defRPr kumimoji="1" sz="2400">
                <a:solidFill>
                  <a:schemeClr val="tx1"/>
                </a:solidFill>
                <a:latin typeface="Times New Roman" pitchFamily="18" charset="0"/>
                <a:ea typeface="宋体" charset="-122"/>
              </a:defRPr>
            </a:lvl1pPr>
            <a:lvl2pPr marL="914400" indent="-457200">
              <a:defRPr kumimoji="1" sz="2400">
                <a:solidFill>
                  <a:schemeClr val="tx1"/>
                </a:solidFill>
                <a:latin typeface="Times New Roman" pitchFamily="18" charset="0"/>
                <a:ea typeface="宋体" charset="-122"/>
              </a:defRPr>
            </a:lvl2pPr>
            <a:lvl3pPr marL="1371600" indent="-457200">
              <a:defRPr kumimoji="1" sz="2400">
                <a:solidFill>
                  <a:schemeClr val="tx1"/>
                </a:solidFill>
                <a:latin typeface="Times New Roman" pitchFamily="18" charset="0"/>
                <a:ea typeface="宋体" charset="-122"/>
              </a:defRPr>
            </a:lvl3pPr>
            <a:lvl4pPr marL="1828800" indent="-457200">
              <a:defRPr kumimoji="1" sz="2400">
                <a:solidFill>
                  <a:schemeClr val="tx1"/>
                </a:solidFill>
                <a:latin typeface="Times New Roman" pitchFamily="18" charset="0"/>
                <a:ea typeface="宋体" charset="-122"/>
              </a:defRPr>
            </a:lvl4pPr>
            <a:lvl5pPr marL="2286000" indent="-457200">
              <a:defRPr kumimoji="1" sz="2400">
                <a:solidFill>
                  <a:schemeClr val="tx1"/>
                </a:solidFill>
                <a:latin typeface="Times New Roman" pitchFamily="18" charset="0"/>
                <a:ea typeface="宋体" charset="-122"/>
              </a:defRPr>
            </a:lvl5pPr>
            <a:lvl6pPr marL="2743200" indent="-457200" eaLnBrk="0" fontAlgn="base" hangingPunct="0">
              <a:spcBef>
                <a:spcPct val="0"/>
              </a:spcBef>
              <a:spcAft>
                <a:spcPct val="0"/>
              </a:spcAft>
              <a:defRPr kumimoji="1" sz="2400">
                <a:solidFill>
                  <a:schemeClr val="tx1"/>
                </a:solidFill>
                <a:latin typeface="Times New Roman" pitchFamily="18" charset="0"/>
                <a:ea typeface="宋体" charset="-122"/>
              </a:defRPr>
            </a:lvl6pPr>
            <a:lvl7pPr marL="3200400" indent="-457200" eaLnBrk="0" fontAlgn="base" hangingPunct="0">
              <a:spcBef>
                <a:spcPct val="0"/>
              </a:spcBef>
              <a:spcAft>
                <a:spcPct val="0"/>
              </a:spcAft>
              <a:defRPr kumimoji="1" sz="2400">
                <a:solidFill>
                  <a:schemeClr val="tx1"/>
                </a:solidFill>
                <a:latin typeface="Times New Roman" pitchFamily="18" charset="0"/>
                <a:ea typeface="宋体" charset="-122"/>
              </a:defRPr>
            </a:lvl7pPr>
            <a:lvl8pPr marL="3657600" indent="-457200" eaLnBrk="0" fontAlgn="base" hangingPunct="0">
              <a:spcBef>
                <a:spcPct val="0"/>
              </a:spcBef>
              <a:spcAft>
                <a:spcPct val="0"/>
              </a:spcAft>
              <a:defRPr kumimoji="1" sz="2400">
                <a:solidFill>
                  <a:schemeClr val="tx1"/>
                </a:solidFill>
                <a:latin typeface="Times New Roman" pitchFamily="18" charset="0"/>
                <a:ea typeface="宋体" charset="-122"/>
              </a:defRPr>
            </a:lvl8pPr>
            <a:lvl9pPr marL="4114800" indent="-457200" eaLnBrk="0" fontAlgn="base" hangingPunct="0">
              <a:spcBef>
                <a:spcPct val="0"/>
              </a:spcBef>
              <a:spcAft>
                <a:spcPct val="0"/>
              </a:spcAft>
              <a:defRPr kumimoji="1" sz="2400">
                <a:solidFill>
                  <a:schemeClr val="tx1"/>
                </a:solidFill>
                <a:latin typeface="Times New Roman" pitchFamily="18" charset="0"/>
                <a:ea typeface="宋体" charset="-122"/>
              </a:defRPr>
            </a:lvl9pPr>
          </a:lstStyle>
          <a:p>
            <a:r>
              <a:rPr lang="en-US" altLang="zh-CN" sz="3200" b="1"/>
              <a:t>   void </a:t>
            </a:r>
            <a:r>
              <a:rPr lang="en-US" altLang="zh-CN" sz="3200"/>
              <a:t>hanoi (</a:t>
            </a:r>
            <a:r>
              <a:rPr lang="en-US" altLang="zh-CN" sz="3200" b="1"/>
              <a:t>int</a:t>
            </a:r>
            <a:r>
              <a:rPr lang="en-US" altLang="zh-CN" sz="3200"/>
              <a:t> n, </a:t>
            </a:r>
            <a:r>
              <a:rPr lang="en-US" altLang="zh-CN" sz="3200" b="1"/>
              <a:t>char</a:t>
            </a:r>
            <a:r>
              <a:rPr lang="en-US" altLang="zh-CN" sz="3200"/>
              <a:t> x, </a:t>
            </a:r>
            <a:r>
              <a:rPr lang="en-US" altLang="zh-CN" sz="3200" b="1"/>
              <a:t>char</a:t>
            </a:r>
            <a:r>
              <a:rPr lang="en-US" altLang="zh-CN" sz="3200"/>
              <a:t> y, </a:t>
            </a:r>
            <a:r>
              <a:rPr lang="en-US" altLang="zh-CN" sz="3200" b="1"/>
              <a:t>char</a:t>
            </a:r>
            <a:r>
              <a:rPr lang="en-US" altLang="zh-CN" sz="3200"/>
              <a:t> z)</a:t>
            </a:r>
          </a:p>
          <a:p>
            <a:pPr lvl="1"/>
            <a:r>
              <a:rPr lang="en-US" altLang="zh-CN" sz="2800">
                <a:solidFill>
                  <a:srgbClr val="006600"/>
                </a:solidFill>
              </a:rPr>
              <a:t>         //</a:t>
            </a:r>
            <a:r>
              <a:rPr lang="en-US" altLang="zh-CN" sz="2800"/>
              <a:t> </a:t>
            </a:r>
            <a:r>
              <a:rPr lang="zh-CN" altLang="en-US" b="1">
                <a:solidFill>
                  <a:srgbClr val="006600"/>
                </a:solidFill>
                <a:latin typeface="楷体_GB2312" pitchFamily="49" charset="-122"/>
                <a:ea typeface="楷体_GB2312" pitchFamily="49" charset="-122"/>
              </a:rPr>
              <a:t>将塔座</a:t>
            </a:r>
            <a:r>
              <a:rPr lang="en-US" altLang="zh-CN" b="1">
                <a:solidFill>
                  <a:srgbClr val="006600"/>
                </a:solidFill>
                <a:latin typeface="楷体_GB2312" pitchFamily="49" charset="-122"/>
                <a:ea typeface="楷体_GB2312" pitchFamily="49" charset="-122"/>
              </a:rPr>
              <a:t>x</a:t>
            </a:r>
            <a:r>
              <a:rPr lang="zh-CN" altLang="en-US" b="1">
                <a:solidFill>
                  <a:srgbClr val="006600"/>
                </a:solidFill>
                <a:latin typeface="楷体_GB2312" pitchFamily="49" charset="-122"/>
                <a:ea typeface="楷体_GB2312" pitchFamily="49" charset="-122"/>
              </a:rPr>
              <a:t>上按直径由小到大且至上而下编号为</a:t>
            </a:r>
            <a:r>
              <a:rPr lang="en-US" altLang="zh-CN" b="1">
                <a:solidFill>
                  <a:srgbClr val="006600"/>
                </a:solidFill>
                <a:latin typeface="楷体_GB2312" pitchFamily="49" charset="-122"/>
                <a:ea typeface="楷体_GB2312" pitchFamily="49" charset="-122"/>
              </a:rPr>
              <a:t>1</a:t>
            </a:r>
            <a:r>
              <a:rPr lang="zh-CN" altLang="en-US" b="1">
                <a:solidFill>
                  <a:srgbClr val="006600"/>
                </a:solidFill>
                <a:latin typeface="楷体_GB2312" pitchFamily="49" charset="-122"/>
                <a:ea typeface="楷体_GB2312" pitchFamily="49" charset="-122"/>
              </a:rPr>
              <a:t>至</a:t>
            </a:r>
            <a:r>
              <a:rPr lang="en-US" altLang="zh-CN" b="1">
                <a:solidFill>
                  <a:srgbClr val="006600"/>
                </a:solidFill>
                <a:latin typeface="楷体_GB2312" pitchFamily="49" charset="-122"/>
                <a:ea typeface="楷体_GB2312" pitchFamily="49" charset="-122"/>
              </a:rPr>
              <a:t>n</a:t>
            </a:r>
          </a:p>
          <a:p>
            <a:pPr lvl="1"/>
            <a:r>
              <a:rPr lang="en-US" altLang="zh-CN" sz="2800">
                <a:solidFill>
                  <a:srgbClr val="006600"/>
                </a:solidFill>
              </a:rPr>
              <a:t>        //</a:t>
            </a:r>
            <a:r>
              <a:rPr lang="en-US" altLang="zh-CN" sz="2800"/>
              <a:t> </a:t>
            </a:r>
            <a:r>
              <a:rPr lang="zh-CN" altLang="en-US" b="1">
                <a:solidFill>
                  <a:srgbClr val="006600"/>
                </a:solidFill>
                <a:latin typeface="楷体_GB2312" pitchFamily="49" charset="-122"/>
                <a:ea typeface="楷体_GB2312" pitchFamily="49" charset="-122"/>
              </a:rPr>
              <a:t>的</a:t>
            </a:r>
            <a:r>
              <a:rPr lang="en-US" altLang="zh-CN" b="1">
                <a:solidFill>
                  <a:srgbClr val="006600"/>
                </a:solidFill>
                <a:latin typeface="楷体_GB2312" pitchFamily="49" charset="-122"/>
                <a:ea typeface="楷体_GB2312" pitchFamily="49" charset="-122"/>
              </a:rPr>
              <a:t>n</a:t>
            </a:r>
            <a:r>
              <a:rPr lang="zh-CN" altLang="en-US" b="1">
                <a:solidFill>
                  <a:srgbClr val="006600"/>
                </a:solidFill>
                <a:latin typeface="楷体_GB2312" pitchFamily="49" charset="-122"/>
                <a:ea typeface="楷体_GB2312" pitchFamily="49" charset="-122"/>
              </a:rPr>
              <a:t>个圆盘按规则搬到塔座</a:t>
            </a:r>
            <a:r>
              <a:rPr lang="en-US" altLang="zh-CN" b="1">
                <a:solidFill>
                  <a:srgbClr val="006600"/>
                </a:solidFill>
                <a:latin typeface="楷体_GB2312" pitchFamily="49" charset="-122"/>
                <a:ea typeface="楷体_GB2312" pitchFamily="49" charset="-122"/>
              </a:rPr>
              <a:t>z</a:t>
            </a:r>
            <a:r>
              <a:rPr lang="zh-CN" altLang="en-US" b="1">
                <a:solidFill>
                  <a:srgbClr val="006600"/>
                </a:solidFill>
                <a:latin typeface="楷体_GB2312" pitchFamily="49" charset="-122"/>
                <a:ea typeface="楷体_GB2312" pitchFamily="49" charset="-122"/>
              </a:rPr>
              <a:t>上，</a:t>
            </a:r>
            <a:r>
              <a:rPr lang="en-US" altLang="zh-CN" b="1">
                <a:solidFill>
                  <a:srgbClr val="006600"/>
                </a:solidFill>
                <a:latin typeface="楷体_GB2312" pitchFamily="49" charset="-122"/>
                <a:ea typeface="楷体_GB2312" pitchFamily="49" charset="-122"/>
              </a:rPr>
              <a:t>y</a:t>
            </a:r>
            <a:r>
              <a:rPr lang="zh-CN" altLang="en-US" b="1">
                <a:solidFill>
                  <a:srgbClr val="006600"/>
                </a:solidFill>
                <a:latin typeface="楷体_GB2312" pitchFamily="49" charset="-122"/>
                <a:ea typeface="楷体_GB2312" pitchFamily="49" charset="-122"/>
              </a:rPr>
              <a:t>可用作辅助塔座。</a:t>
            </a:r>
          </a:p>
          <a:p>
            <a:r>
              <a:rPr lang="zh-CN" altLang="en-US" sz="3200" b="1">
                <a:solidFill>
                  <a:srgbClr val="993300"/>
                </a:solidFill>
              </a:rPr>
              <a:t>    </a:t>
            </a:r>
            <a:r>
              <a:rPr lang="en-US" altLang="zh-CN" sz="3200" b="1">
                <a:solidFill>
                  <a:srgbClr val="993300"/>
                </a:solidFill>
              </a:rPr>
              <a:t>1</a:t>
            </a:r>
            <a:r>
              <a:rPr lang="en-US" altLang="zh-CN" sz="3200" b="1"/>
              <a:t> { </a:t>
            </a:r>
          </a:p>
          <a:p>
            <a:pPr lvl="1"/>
            <a:r>
              <a:rPr lang="en-US" altLang="zh-CN" sz="3200" b="1">
                <a:solidFill>
                  <a:srgbClr val="993300"/>
                </a:solidFill>
              </a:rPr>
              <a:t>2</a:t>
            </a:r>
            <a:r>
              <a:rPr lang="en-US" altLang="zh-CN" sz="3200" b="1"/>
              <a:t>  if </a:t>
            </a:r>
            <a:r>
              <a:rPr lang="en-US" altLang="zh-CN" sz="3200"/>
              <a:t>(n</a:t>
            </a:r>
            <a:r>
              <a:rPr lang="en-US" altLang="zh-CN" sz="3200" b="1"/>
              <a:t>==</a:t>
            </a:r>
            <a:r>
              <a:rPr lang="en-US" altLang="zh-CN" sz="3200"/>
              <a:t>1)</a:t>
            </a:r>
          </a:p>
          <a:p>
            <a:pPr lvl="1"/>
            <a:r>
              <a:rPr lang="en-US" altLang="zh-CN" sz="3200" b="1">
                <a:solidFill>
                  <a:srgbClr val="993300"/>
                </a:solidFill>
              </a:rPr>
              <a:t>3</a:t>
            </a:r>
            <a:r>
              <a:rPr lang="en-US" altLang="zh-CN" sz="3200"/>
              <a:t>       move(x, 1, z);        </a:t>
            </a:r>
            <a:r>
              <a:rPr lang="en-US" altLang="zh-CN" sz="3200">
                <a:solidFill>
                  <a:srgbClr val="006600"/>
                </a:solidFill>
              </a:rPr>
              <a:t>//</a:t>
            </a:r>
            <a:r>
              <a:rPr lang="en-US" altLang="zh-CN" sz="3200"/>
              <a:t> </a:t>
            </a:r>
            <a:r>
              <a:rPr lang="zh-CN" altLang="en-US" b="1">
                <a:solidFill>
                  <a:srgbClr val="006600"/>
                </a:solidFill>
                <a:latin typeface="楷体_GB2312" pitchFamily="49" charset="-122"/>
                <a:ea typeface="楷体_GB2312" pitchFamily="49" charset="-122"/>
              </a:rPr>
              <a:t>将编号为１的圆盘从</a:t>
            </a:r>
            <a:r>
              <a:rPr lang="en-US" altLang="zh-CN" b="1">
                <a:solidFill>
                  <a:srgbClr val="006600"/>
                </a:solidFill>
                <a:latin typeface="楷体_GB2312" pitchFamily="49" charset="-122"/>
                <a:ea typeface="楷体_GB2312" pitchFamily="49" charset="-122"/>
              </a:rPr>
              <a:t>x</a:t>
            </a:r>
            <a:r>
              <a:rPr lang="zh-CN" altLang="en-US" b="1">
                <a:solidFill>
                  <a:srgbClr val="006600"/>
                </a:solidFill>
                <a:latin typeface="楷体_GB2312" pitchFamily="49" charset="-122"/>
                <a:ea typeface="楷体_GB2312" pitchFamily="49" charset="-122"/>
              </a:rPr>
              <a:t>移到</a:t>
            </a:r>
            <a:r>
              <a:rPr lang="en-US" altLang="zh-CN" b="1">
                <a:solidFill>
                  <a:srgbClr val="006600"/>
                </a:solidFill>
                <a:latin typeface="楷体_GB2312" pitchFamily="49" charset="-122"/>
                <a:ea typeface="楷体_GB2312" pitchFamily="49" charset="-122"/>
              </a:rPr>
              <a:t>z</a:t>
            </a:r>
          </a:p>
          <a:p>
            <a:r>
              <a:rPr lang="en-US" altLang="zh-CN" sz="3200" b="1">
                <a:solidFill>
                  <a:srgbClr val="993300"/>
                </a:solidFill>
              </a:rPr>
              <a:t>    4</a:t>
            </a:r>
            <a:r>
              <a:rPr lang="en-US" altLang="zh-CN" sz="3200" b="1"/>
              <a:t>  else {</a:t>
            </a:r>
          </a:p>
          <a:p>
            <a:pPr lvl="1"/>
            <a:r>
              <a:rPr lang="en-US" altLang="zh-CN" sz="3200" b="1">
                <a:solidFill>
                  <a:srgbClr val="993300"/>
                </a:solidFill>
              </a:rPr>
              <a:t>5</a:t>
            </a:r>
            <a:r>
              <a:rPr lang="en-US" altLang="zh-CN" sz="3200"/>
              <a:t>       hanoi(n-1, x, z, y);  </a:t>
            </a:r>
            <a:r>
              <a:rPr lang="en-US" altLang="zh-CN" sz="3200">
                <a:solidFill>
                  <a:srgbClr val="006600"/>
                </a:solidFill>
              </a:rPr>
              <a:t>//</a:t>
            </a:r>
            <a:r>
              <a:rPr lang="en-US" altLang="zh-CN" sz="3200"/>
              <a:t> </a:t>
            </a:r>
            <a:r>
              <a:rPr lang="zh-CN" altLang="en-US" b="1">
                <a:solidFill>
                  <a:srgbClr val="006600"/>
                </a:solidFill>
                <a:latin typeface="楷体_GB2312" pitchFamily="49" charset="-122"/>
                <a:ea typeface="楷体_GB2312" pitchFamily="49" charset="-122"/>
              </a:rPr>
              <a:t>将</a:t>
            </a:r>
            <a:r>
              <a:rPr lang="en-US" altLang="zh-CN" b="1">
                <a:solidFill>
                  <a:srgbClr val="006600"/>
                </a:solidFill>
                <a:latin typeface="楷体_GB2312" pitchFamily="49" charset="-122"/>
                <a:ea typeface="楷体_GB2312" pitchFamily="49" charset="-122"/>
              </a:rPr>
              <a:t>x</a:t>
            </a:r>
            <a:r>
              <a:rPr lang="zh-CN" altLang="en-US" b="1">
                <a:solidFill>
                  <a:srgbClr val="006600"/>
                </a:solidFill>
                <a:latin typeface="楷体_GB2312" pitchFamily="49" charset="-122"/>
                <a:ea typeface="楷体_GB2312" pitchFamily="49" charset="-122"/>
              </a:rPr>
              <a:t>上编号为１至</a:t>
            </a:r>
            <a:r>
              <a:rPr lang="en-US" altLang="zh-CN" b="1">
                <a:solidFill>
                  <a:srgbClr val="006600"/>
                </a:solidFill>
                <a:latin typeface="楷体_GB2312" pitchFamily="49" charset="-122"/>
                <a:ea typeface="楷体_GB2312" pitchFamily="49" charset="-122"/>
              </a:rPr>
              <a:t>n-1</a:t>
            </a:r>
            <a:r>
              <a:rPr lang="zh-CN" altLang="en-US" b="1">
                <a:solidFill>
                  <a:srgbClr val="006600"/>
                </a:solidFill>
                <a:latin typeface="楷体_GB2312" pitchFamily="49" charset="-122"/>
                <a:ea typeface="楷体_GB2312" pitchFamily="49" charset="-122"/>
              </a:rPr>
              <a:t>的</a:t>
            </a:r>
          </a:p>
          <a:p>
            <a:pPr lvl="1"/>
            <a:r>
              <a:rPr lang="zh-CN" altLang="en-US" sz="3200"/>
              <a:t>                                        </a:t>
            </a:r>
            <a:r>
              <a:rPr lang="en-US" altLang="zh-CN" sz="3200">
                <a:solidFill>
                  <a:srgbClr val="006600"/>
                </a:solidFill>
              </a:rPr>
              <a:t>// </a:t>
            </a:r>
            <a:r>
              <a:rPr lang="zh-CN" altLang="en-US" b="1">
                <a:solidFill>
                  <a:srgbClr val="006600"/>
                </a:solidFill>
                <a:latin typeface="楷体_GB2312" pitchFamily="49" charset="-122"/>
                <a:ea typeface="楷体_GB2312" pitchFamily="49" charset="-122"/>
              </a:rPr>
              <a:t>圆盘移到</a:t>
            </a:r>
            <a:r>
              <a:rPr lang="en-US" altLang="zh-CN" b="1">
                <a:solidFill>
                  <a:srgbClr val="006600"/>
                </a:solidFill>
                <a:latin typeface="楷体_GB2312" pitchFamily="49" charset="-122"/>
                <a:ea typeface="楷体_GB2312" pitchFamily="49" charset="-122"/>
              </a:rPr>
              <a:t>y, z</a:t>
            </a:r>
            <a:r>
              <a:rPr lang="zh-CN" altLang="en-US" b="1">
                <a:solidFill>
                  <a:srgbClr val="006600"/>
                </a:solidFill>
                <a:latin typeface="楷体_GB2312" pitchFamily="49" charset="-122"/>
                <a:ea typeface="楷体_GB2312" pitchFamily="49" charset="-122"/>
              </a:rPr>
              <a:t>作辅助塔</a:t>
            </a:r>
          </a:p>
          <a:p>
            <a:r>
              <a:rPr lang="zh-CN" altLang="en-US" sz="3200" b="1">
                <a:solidFill>
                  <a:srgbClr val="993300"/>
                </a:solidFill>
              </a:rPr>
              <a:t>    </a:t>
            </a:r>
            <a:r>
              <a:rPr lang="en-US" altLang="zh-CN" sz="3200" b="1">
                <a:solidFill>
                  <a:srgbClr val="993300"/>
                </a:solidFill>
              </a:rPr>
              <a:t>6</a:t>
            </a:r>
            <a:r>
              <a:rPr lang="en-US" altLang="zh-CN" sz="3200"/>
              <a:t>       move(x, n, z);        </a:t>
            </a:r>
            <a:r>
              <a:rPr lang="en-US" altLang="zh-CN" sz="3200">
                <a:solidFill>
                  <a:srgbClr val="006600"/>
                </a:solidFill>
              </a:rPr>
              <a:t>//</a:t>
            </a:r>
            <a:r>
              <a:rPr lang="en-US" altLang="zh-CN" sz="3200"/>
              <a:t> </a:t>
            </a:r>
            <a:r>
              <a:rPr lang="zh-CN" altLang="en-US" b="1">
                <a:solidFill>
                  <a:srgbClr val="006600"/>
                </a:solidFill>
                <a:latin typeface="楷体_GB2312" pitchFamily="49" charset="-122"/>
                <a:ea typeface="楷体_GB2312" pitchFamily="49" charset="-122"/>
              </a:rPr>
              <a:t>将编号为</a:t>
            </a:r>
            <a:r>
              <a:rPr lang="en-US" altLang="zh-CN" b="1">
                <a:solidFill>
                  <a:srgbClr val="006600"/>
                </a:solidFill>
                <a:latin typeface="楷体_GB2312" pitchFamily="49" charset="-122"/>
                <a:ea typeface="楷体_GB2312" pitchFamily="49" charset="-122"/>
              </a:rPr>
              <a:t>n</a:t>
            </a:r>
            <a:r>
              <a:rPr lang="zh-CN" altLang="en-US" b="1">
                <a:solidFill>
                  <a:srgbClr val="006600"/>
                </a:solidFill>
                <a:latin typeface="楷体_GB2312" pitchFamily="49" charset="-122"/>
                <a:ea typeface="楷体_GB2312" pitchFamily="49" charset="-122"/>
              </a:rPr>
              <a:t>的圆盘从</a:t>
            </a:r>
            <a:r>
              <a:rPr lang="en-US" altLang="zh-CN" b="1">
                <a:solidFill>
                  <a:srgbClr val="006600"/>
                </a:solidFill>
                <a:latin typeface="楷体_GB2312" pitchFamily="49" charset="-122"/>
                <a:ea typeface="楷体_GB2312" pitchFamily="49" charset="-122"/>
              </a:rPr>
              <a:t>x</a:t>
            </a:r>
            <a:r>
              <a:rPr lang="zh-CN" altLang="en-US" b="1">
                <a:solidFill>
                  <a:srgbClr val="006600"/>
                </a:solidFill>
                <a:latin typeface="楷体_GB2312" pitchFamily="49" charset="-122"/>
                <a:ea typeface="楷体_GB2312" pitchFamily="49" charset="-122"/>
              </a:rPr>
              <a:t>移到</a:t>
            </a:r>
            <a:r>
              <a:rPr lang="en-US" altLang="zh-CN" b="1">
                <a:solidFill>
                  <a:srgbClr val="006600"/>
                </a:solidFill>
                <a:latin typeface="楷体_GB2312" pitchFamily="49" charset="-122"/>
                <a:ea typeface="楷体_GB2312" pitchFamily="49" charset="-122"/>
              </a:rPr>
              <a:t>z</a:t>
            </a:r>
          </a:p>
          <a:p>
            <a:r>
              <a:rPr lang="en-US" altLang="zh-CN" sz="3200" b="1">
                <a:solidFill>
                  <a:srgbClr val="993300"/>
                </a:solidFill>
              </a:rPr>
              <a:t>    7      </a:t>
            </a:r>
            <a:r>
              <a:rPr lang="en-US" altLang="zh-CN" sz="3200"/>
              <a:t> hanoi(n-1, y, x, z); </a:t>
            </a:r>
            <a:r>
              <a:rPr lang="en-US" altLang="zh-CN" sz="3200">
                <a:solidFill>
                  <a:srgbClr val="006600"/>
                </a:solidFill>
              </a:rPr>
              <a:t>//</a:t>
            </a:r>
            <a:r>
              <a:rPr lang="en-US" altLang="zh-CN" sz="3200"/>
              <a:t> </a:t>
            </a:r>
            <a:r>
              <a:rPr lang="zh-CN" altLang="en-US" b="1">
                <a:solidFill>
                  <a:srgbClr val="006600"/>
                </a:solidFill>
                <a:latin typeface="楷体_GB2312" pitchFamily="49" charset="-122"/>
                <a:ea typeface="楷体_GB2312" pitchFamily="49" charset="-122"/>
              </a:rPr>
              <a:t>将</a:t>
            </a:r>
            <a:r>
              <a:rPr lang="en-US" altLang="zh-CN" b="1">
                <a:solidFill>
                  <a:srgbClr val="006600"/>
                </a:solidFill>
                <a:latin typeface="楷体_GB2312" pitchFamily="49" charset="-122"/>
                <a:ea typeface="楷体_GB2312" pitchFamily="49" charset="-122"/>
              </a:rPr>
              <a:t>y</a:t>
            </a:r>
            <a:r>
              <a:rPr lang="zh-CN" altLang="en-US" b="1">
                <a:solidFill>
                  <a:srgbClr val="006600"/>
                </a:solidFill>
                <a:latin typeface="楷体_GB2312" pitchFamily="49" charset="-122"/>
                <a:ea typeface="楷体_GB2312" pitchFamily="49" charset="-122"/>
              </a:rPr>
              <a:t>上编号为１至</a:t>
            </a:r>
            <a:r>
              <a:rPr lang="en-US" altLang="zh-CN" b="1">
                <a:solidFill>
                  <a:srgbClr val="006600"/>
                </a:solidFill>
                <a:latin typeface="楷体_GB2312" pitchFamily="49" charset="-122"/>
                <a:ea typeface="楷体_GB2312" pitchFamily="49" charset="-122"/>
              </a:rPr>
              <a:t>n-1</a:t>
            </a:r>
            <a:r>
              <a:rPr lang="zh-CN" altLang="en-US" b="1">
                <a:solidFill>
                  <a:srgbClr val="006600"/>
                </a:solidFill>
                <a:latin typeface="楷体_GB2312" pitchFamily="49" charset="-122"/>
                <a:ea typeface="楷体_GB2312" pitchFamily="49" charset="-122"/>
              </a:rPr>
              <a:t>的</a:t>
            </a:r>
            <a:r>
              <a:rPr lang="zh-CN" altLang="en-US" sz="3200"/>
              <a:t> </a:t>
            </a:r>
          </a:p>
          <a:p>
            <a:pPr lvl="1"/>
            <a:r>
              <a:rPr lang="zh-CN" altLang="en-US" sz="3200"/>
              <a:t>                                       </a:t>
            </a:r>
            <a:r>
              <a:rPr lang="en-US" altLang="zh-CN" sz="3200">
                <a:solidFill>
                  <a:srgbClr val="006600"/>
                </a:solidFill>
              </a:rPr>
              <a:t>// </a:t>
            </a:r>
            <a:r>
              <a:rPr lang="zh-CN" altLang="en-US" b="1">
                <a:solidFill>
                  <a:srgbClr val="006600"/>
                </a:solidFill>
                <a:latin typeface="楷体_GB2312" pitchFamily="49" charset="-122"/>
                <a:ea typeface="楷体_GB2312" pitchFamily="49" charset="-122"/>
              </a:rPr>
              <a:t>圆盘移到</a:t>
            </a:r>
            <a:r>
              <a:rPr lang="en-US" altLang="zh-CN" b="1">
                <a:solidFill>
                  <a:srgbClr val="006600"/>
                </a:solidFill>
                <a:latin typeface="楷体_GB2312" pitchFamily="49" charset="-122"/>
                <a:ea typeface="楷体_GB2312" pitchFamily="49" charset="-122"/>
              </a:rPr>
              <a:t>z, x</a:t>
            </a:r>
            <a:r>
              <a:rPr lang="zh-CN" altLang="en-US" b="1">
                <a:solidFill>
                  <a:srgbClr val="006600"/>
                </a:solidFill>
                <a:latin typeface="楷体_GB2312" pitchFamily="49" charset="-122"/>
                <a:ea typeface="楷体_GB2312" pitchFamily="49" charset="-122"/>
              </a:rPr>
              <a:t>作辅助塔</a:t>
            </a:r>
          </a:p>
          <a:p>
            <a:pPr lvl="1"/>
            <a:r>
              <a:rPr lang="en-US" altLang="zh-CN" sz="3200" b="1">
                <a:solidFill>
                  <a:srgbClr val="993300"/>
                </a:solidFill>
              </a:rPr>
              <a:t>8</a:t>
            </a:r>
            <a:r>
              <a:rPr lang="en-US" altLang="zh-CN" sz="3200" b="1"/>
              <a:t>         }</a:t>
            </a:r>
          </a:p>
          <a:p>
            <a:pPr lvl="1"/>
            <a:r>
              <a:rPr lang="en-US" altLang="zh-CN" sz="3200" b="1">
                <a:solidFill>
                  <a:srgbClr val="993300"/>
                </a:solidFill>
              </a:rPr>
              <a:t>9</a:t>
            </a:r>
            <a:r>
              <a:rPr lang="en-US" altLang="zh-CN" sz="3200" b="1"/>
              <a:t>  }</a:t>
            </a:r>
          </a:p>
        </p:txBody>
      </p:sp>
    </p:spTree>
    <p:extLst>
      <p:ext uri="{BB962C8B-B14F-4D97-AF65-F5344CB8AC3E}">
        <p14:creationId xmlns:p14="http://schemas.microsoft.com/office/powerpoint/2010/main" val="3519350438"/>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4530">
                                            <p:txEl>
                                              <p:pRg st="0" end="0"/>
                                            </p:txEl>
                                          </p:spTgt>
                                        </p:tgtEl>
                                        <p:attrNameLst>
                                          <p:attrName>style.visibility</p:attrName>
                                        </p:attrNameLst>
                                      </p:cBhvr>
                                      <p:to>
                                        <p:strVal val="visible"/>
                                      </p:to>
                                    </p:set>
                                    <p:animEffect transition="in" filter="box(in)">
                                      <p:cBhvr>
                                        <p:cTn id="7" dur="500"/>
                                        <p:tgtEl>
                                          <p:spTgt spid="534530">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34530">
                                            <p:txEl>
                                              <p:pRg st="1" end="1"/>
                                            </p:txEl>
                                          </p:spTgt>
                                        </p:tgtEl>
                                        <p:attrNameLst>
                                          <p:attrName>style.visibility</p:attrName>
                                        </p:attrNameLst>
                                      </p:cBhvr>
                                      <p:to>
                                        <p:strVal val="visible"/>
                                      </p:to>
                                    </p:set>
                                    <p:animEffect transition="in" filter="box(in)">
                                      <p:cBhvr>
                                        <p:cTn id="10" dur="500"/>
                                        <p:tgtEl>
                                          <p:spTgt spid="534530">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534530">
                                            <p:txEl>
                                              <p:pRg st="2" end="2"/>
                                            </p:txEl>
                                          </p:spTgt>
                                        </p:tgtEl>
                                        <p:attrNameLst>
                                          <p:attrName>style.visibility</p:attrName>
                                        </p:attrNameLst>
                                      </p:cBhvr>
                                      <p:to>
                                        <p:strVal val="visible"/>
                                      </p:to>
                                    </p:set>
                                    <p:animEffect transition="in" filter="box(in)">
                                      <p:cBhvr>
                                        <p:cTn id="13" dur="500"/>
                                        <p:tgtEl>
                                          <p:spTgt spid="534530">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534530">
                                            <p:txEl>
                                              <p:pRg st="3" end="3"/>
                                            </p:txEl>
                                          </p:spTgt>
                                        </p:tgtEl>
                                        <p:attrNameLst>
                                          <p:attrName>style.visibility</p:attrName>
                                        </p:attrNameLst>
                                      </p:cBhvr>
                                      <p:to>
                                        <p:strVal val="visible"/>
                                      </p:to>
                                    </p:set>
                                    <p:animEffect transition="in" filter="box(in)">
                                      <p:cBhvr>
                                        <p:cTn id="18" dur="500"/>
                                        <p:tgtEl>
                                          <p:spTgt spid="534530">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534530">
                                            <p:txEl>
                                              <p:pRg st="4" end="4"/>
                                            </p:txEl>
                                          </p:spTgt>
                                        </p:tgtEl>
                                        <p:attrNameLst>
                                          <p:attrName>style.visibility</p:attrName>
                                        </p:attrNameLst>
                                      </p:cBhvr>
                                      <p:to>
                                        <p:strVal val="visible"/>
                                      </p:to>
                                    </p:set>
                                    <p:animEffect transition="in" filter="box(in)">
                                      <p:cBhvr>
                                        <p:cTn id="21" dur="500"/>
                                        <p:tgtEl>
                                          <p:spTgt spid="534530">
                                            <p:txEl>
                                              <p:pRg st="4" end="4"/>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534530">
                                            <p:txEl>
                                              <p:pRg st="5" end="5"/>
                                            </p:txEl>
                                          </p:spTgt>
                                        </p:tgtEl>
                                        <p:attrNameLst>
                                          <p:attrName>style.visibility</p:attrName>
                                        </p:attrNameLst>
                                      </p:cBhvr>
                                      <p:to>
                                        <p:strVal val="visible"/>
                                      </p:to>
                                    </p:set>
                                    <p:animEffect transition="in" filter="box(in)">
                                      <p:cBhvr>
                                        <p:cTn id="24" dur="500"/>
                                        <p:tgtEl>
                                          <p:spTgt spid="534530">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534530">
                                            <p:txEl>
                                              <p:pRg st="6" end="6"/>
                                            </p:txEl>
                                          </p:spTgt>
                                        </p:tgtEl>
                                        <p:attrNameLst>
                                          <p:attrName>style.visibility</p:attrName>
                                        </p:attrNameLst>
                                      </p:cBhvr>
                                      <p:to>
                                        <p:strVal val="visible"/>
                                      </p:to>
                                    </p:set>
                                    <p:animEffect transition="in" filter="box(in)">
                                      <p:cBhvr>
                                        <p:cTn id="29" dur="500"/>
                                        <p:tgtEl>
                                          <p:spTgt spid="534530">
                                            <p:txEl>
                                              <p:pRg st="6" end="6"/>
                                            </p:txEl>
                                          </p:spTgt>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534530">
                                            <p:txEl>
                                              <p:pRg st="7" end="7"/>
                                            </p:txEl>
                                          </p:spTgt>
                                        </p:tgtEl>
                                        <p:attrNameLst>
                                          <p:attrName>style.visibility</p:attrName>
                                        </p:attrNameLst>
                                      </p:cBhvr>
                                      <p:to>
                                        <p:strVal val="visible"/>
                                      </p:to>
                                    </p:set>
                                    <p:animEffect transition="in" filter="box(in)">
                                      <p:cBhvr>
                                        <p:cTn id="32" dur="500"/>
                                        <p:tgtEl>
                                          <p:spTgt spid="534530">
                                            <p:txEl>
                                              <p:pRg st="7" end="7"/>
                                            </p:txEl>
                                          </p:spTgt>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534530">
                                            <p:txEl>
                                              <p:pRg st="8" end="8"/>
                                            </p:txEl>
                                          </p:spTgt>
                                        </p:tgtEl>
                                        <p:attrNameLst>
                                          <p:attrName>style.visibility</p:attrName>
                                        </p:attrNameLst>
                                      </p:cBhvr>
                                      <p:to>
                                        <p:strVal val="visible"/>
                                      </p:to>
                                    </p:set>
                                    <p:animEffect transition="in" filter="box(in)">
                                      <p:cBhvr>
                                        <p:cTn id="35" dur="500"/>
                                        <p:tgtEl>
                                          <p:spTgt spid="534530">
                                            <p:txEl>
                                              <p:pRg st="8" end="8"/>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534530">
                                            <p:txEl>
                                              <p:pRg st="9" end="9"/>
                                            </p:txEl>
                                          </p:spTgt>
                                        </p:tgtEl>
                                        <p:attrNameLst>
                                          <p:attrName>style.visibility</p:attrName>
                                        </p:attrNameLst>
                                      </p:cBhvr>
                                      <p:to>
                                        <p:strVal val="visible"/>
                                      </p:to>
                                    </p:set>
                                    <p:animEffect transition="in" filter="box(in)">
                                      <p:cBhvr>
                                        <p:cTn id="40" dur="500"/>
                                        <p:tgtEl>
                                          <p:spTgt spid="534530">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534530">
                                            <p:txEl>
                                              <p:pRg st="10" end="10"/>
                                            </p:txEl>
                                          </p:spTgt>
                                        </p:tgtEl>
                                        <p:attrNameLst>
                                          <p:attrName>style.visibility</p:attrName>
                                        </p:attrNameLst>
                                      </p:cBhvr>
                                      <p:to>
                                        <p:strVal val="visible"/>
                                      </p:to>
                                    </p:set>
                                    <p:animEffect transition="in" filter="box(in)">
                                      <p:cBhvr>
                                        <p:cTn id="45" dur="500"/>
                                        <p:tgtEl>
                                          <p:spTgt spid="534530">
                                            <p:txEl>
                                              <p:pRg st="10" end="10"/>
                                            </p:txEl>
                                          </p:spTgt>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534530">
                                            <p:txEl>
                                              <p:pRg st="11" end="11"/>
                                            </p:txEl>
                                          </p:spTgt>
                                        </p:tgtEl>
                                        <p:attrNameLst>
                                          <p:attrName>style.visibility</p:attrName>
                                        </p:attrNameLst>
                                      </p:cBhvr>
                                      <p:to>
                                        <p:strVal val="visible"/>
                                      </p:to>
                                    </p:set>
                                    <p:animEffect transition="in" filter="box(in)">
                                      <p:cBhvr>
                                        <p:cTn id="48" dur="500"/>
                                        <p:tgtEl>
                                          <p:spTgt spid="534530">
                                            <p:txEl>
                                              <p:pRg st="11" end="11"/>
                                            </p:txEl>
                                          </p:spTgt>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534530">
                                            <p:txEl>
                                              <p:pRg st="12" end="12"/>
                                            </p:txEl>
                                          </p:spTgt>
                                        </p:tgtEl>
                                        <p:attrNameLst>
                                          <p:attrName>style.visibility</p:attrName>
                                        </p:attrNameLst>
                                      </p:cBhvr>
                                      <p:to>
                                        <p:strVal val="visible"/>
                                      </p:to>
                                    </p:set>
                                    <p:animEffect transition="in" filter="box(in)">
                                      <p:cBhvr>
                                        <p:cTn id="51" dur="500"/>
                                        <p:tgtEl>
                                          <p:spTgt spid="534530">
                                            <p:txEl>
                                              <p:pRg st="12" end="12"/>
                                            </p:txEl>
                                          </p:spTgt>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534530">
                                            <p:txEl>
                                              <p:pRg st="13" end="13"/>
                                            </p:txEl>
                                          </p:spTgt>
                                        </p:tgtEl>
                                        <p:attrNameLst>
                                          <p:attrName>style.visibility</p:attrName>
                                        </p:attrNameLst>
                                      </p:cBhvr>
                                      <p:to>
                                        <p:strVal val="visible"/>
                                      </p:to>
                                    </p:set>
                                    <p:animEffect transition="in" filter="box(in)">
                                      <p:cBhvr>
                                        <p:cTn id="54" dur="500"/>
                                        <p:tgtEl>
                                          <p:spTgt spid="534530">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0"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EA3E6141-588C-42AE-92D9-C9AF10E1C542}" type="slidenum">
              <a:rPr lang="en-US" altLang="zh-CN" sz="1400"/>
              <a:pPr/>
              <a:t>83</a:t>
            </a:fld>
            <a:endParaRPr lang="en-US" altLang="zh-CN" sz="1400"/>
          </a:p>
        </p:txBody>
      </p:sp>
      <p:sp>
        <p:nvSpPr>
          <p:cNvPr id="535554" name="Text Box 2"/>
          <p:cNvSpPr txBox="1">
            <a:spLocks noChangeArrowheads="1"/>
          </p:cNvSpPr>
          <p:nvPr/>
        </p:nvSpPr>
        <p:spPr bwMode="auto">
          <a:xfrm>
            <a:off x="4892675" y="4692650"/>
            <a:ext cx="2568575" cy="730250"/>
          </a:xfrm>
          <a:prstGeom prst="rect">
            <a:avLst/>
          </a:prstGeom>
          <a:solidFill>
            <a:srgbClr val="FFCC99"/>
          </a:solidFill>
          <a:ln w="28575">
            <a:solidFill>
              <a:srgbClr val="FF66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800000"/>
                </a:solidFill>
              </a:rPr>
              <a:t>0   3  a  b  c</a:t>
            </a:r>
            <a:endParaRPr lang="en-US" altLang="zh-CN" sz="4000"/>
          </a:p>
        </p:txBody>
      </p:sp>
      <p:sp>
        <p:nvSpPr>
          <p:cNvPr id="73732" name="Text Box 3"/>
          <p:cNvSpPr txBox="1">
            <a:spLocks noChangeArrowheads="1"/>
          </p:cNvSpPr>
          <p:nvPr/>
        </p:nvSpPr>
        <p:spPr bwMode="auto">
          <a:xfrm>
            <a:off x="4572000" y="5375275"/>
            <a:ext cx="284797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a:solidFill>
                  <a:srgbClr val="000066"/>
                </a:solidFill>
                <a:ea typeface="楷体_GB2312" pitchFamily="49" charset="-122"/>
              </a:rPr>
              <a:t>返址 </a:t>
            </a:r>
            <a:r>
              <a:rPr lang="en-US" altLang="zh-CN" sz="4000">
                <a:solidFill>
                  <a:srgbClr val="000066"/>
                </a:solidFill>
              </a:rPr>
              <a:t>n  x  y  z</a:t>
            </a:r>
            <a:endParaRPr lang="en-US" altLang="zh-CN" sz="4000"/>
          </a:p>
        </p:txBody>
      </p:sp>
      <p:sp>
        <p:nvSpPr>
          <p:cNvPr id="535556" name="Text Box 4"/>
          <p:cNvSpPr txBox="1">
            <a:spLocks noChangeArrowheads="1"/>
          </p:cNvSpPr>
          <p:nvPr/>
        </p:nvSpPr>
        <p:spPr bwMode="auto">
          <a:xfrm>
            <a:off x="4892675" y="3962400"/>
            <a:ext cx="2568575" cy="730250"/>
          </a:xfrm>
          <a:prstGeom prst="rect">
            <a:avLst/>
          </a:prstGeom>
          <a:solidFill>
            <a:srgbClr val="FFCC99"/>
          </a:solidFill>
          <a:ln w="28575">
            <a:solidFill>
              <a:srgbClr val="FF66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800000"/>
                </a:solidFill>
              </a:rPr>
              <a:t>5   2  a  c  b</a:t>
            </a:r>
            <a:endParaRPr lang="en-US" altLang="zh-CN" sz="4000"/>
          </a:p>
        </p:txBody>
      </p:sp>
      <p:sp>
        <p:nvSpPr>
          <p:cNvPr id="535557" name="Text Box 5"/>
          <p:cNvSpPr txBox="1">
            <a:spLocks noChangeArrowheads="1"/>
          </p:cNvSpPr>
          <p:nvPr/>
        </p:nvSpPr>
        <p:spPr bwMode="auto">
          <a:xfrm>
            <a:off x="4876800" y="3200400"/>
            <a:ext cx="2568575" cy="730250"/>
          </a:xfrm>
          <a:prstGeom prst="rect">
            <a:avLst/>
          </a:prstGeom>
          <a:solidFill>
            <a:srgbClr val="FFCC99"/>
          </a:solidFill>
          <a:ln w="28575">
            <a:solidFill>
              <a:srgbClr val="FF66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800000"/>
                </a:solidFill>
              </a:rPr>
              <a:t>5   1  a  b  c</a:t>
            </a:r>
            <a:endParaRPr lang="en-US" altLang="zh-CN" sz="4000"/>
          </a:p>
        </p:txBody>
      </p:sp>
      <p:sp>
        <p:nvSpPr>
          <p:cNvPr id="535558" name="Text Box 6"/>
          <p:cNvSpPr txBox="1">
            <a:spLocks noChangeArrowheads="1"/>
          </p:cNvSpPr>
          <p:nvPr/>
        </p:nvSpPr>
        <p:spPr bwMode="auto">
          <a:xfrm>
            <a:off x="4876800" y="3232150"/>
            <a:ext cx="2568575" cy="730250"/>
          </a:xfrm>
          <a:prstGeom prst="rect">
            <a:avLst/>
          </a:prstGeom>
          <a:solidFill>
            <a:srgbClr val="FFCC99"/>
          </a:solidFill>
          <a:ln w="28575">
            <a:solidFill>
              <a:srgbClr val="FF66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800000"/>
                </a:solidFill>
              </a:rPr>
              <a:t>7   1  c  a  b</a:t>
            </a:r>
            <a:endParaRPr lang="en-US" altLang="zh-CN" sz="4000"/>
          </a:p>
        </p:txBody>
      </p:sp>
      <p:sp>
        <p:nvSpPr>
          <p:cNvPr id="73736" name="Text Box 7"/>
          <p:cNvSpPr txBox="1">
            <a:spLocks noChangeArrowheads="1"/>
          </p:cNvSpPr>
          <p:nvPr/>
        </p:nvSpPr>
        <p:spPr bwMode="auto">
          <a:xfrm>
            <a:off x="215900" y="457200"/>
            <a:ext cx="6956425" cy="4965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b="1"/>
              <a:t>void </a:t>
            </a:r>
            <a:r>
              <a:rPr lang="en-US" altLang="zh-CN"/>
              <a:t>hanoi (</a:t>
            </a:r>
            <a:r>
              <a:rPr lang="en-US" altLang="zh-CN" b="1"/>
              <a:t>int</a:t>
            </a:r>
            <a:r>
              <a:rPr lang="en-US" altLang="zh-CN"/>
              <a:t> n, </a:t>
            </a:r>
            <a:r>
              <a:rPr lang="en-US" altLang="zh-CN" b="1"/>
              <a:t>char</a:t>
            </a:r>
            <a:r>
              <a:rPr lang="en-US" altLang="zh-CN"/>
              <a:t> x, </a:t>
            </a:r>
            <a:r>
              <a:rPr lang="en-US" altLang="zh-CN" b="1"/>
              <a:t>char</a:t>
            </a:r>
            <a:r>
              <a:rPr lang="en-US" altLang="zh-CN"/>
              <a:t> y, </a:t>
            </a:r>
            <a:r>
              <a:rPr lang="en-US" altLang="zh-CN" b="1"/>
              <a:t>char</a:t>
            </a:r>
            <a:r>
              <a:rPr lang="en-US" altLang="zh-CN"/>
              <a:t> z)</a:t>
            </a:r>
          </a:p>
          <a:p>
            <a:r>
              <a:rPr lang="en-US" altLang="zh-CN" b="1"/>
              <a:t>  {</a:t>
            </a:r>
          </a:p>
          <a:p>
            <a:r>
              <a:rPr lang="en-US" altLang="zh-CN" b="1"/>
              <a:t>1  if </a:t>
            </a:r>
            <a:r>
              <a:rPr lang="en-US" altLang="zh-CN"/>
              <a:t>(n</a:t>
            </a:r>
            <a:r>
              <a:rPr lang="en-US" altLang="zh-CN" b="1"/>
              <a:t>==</a:t>
            </a:r>
            <a:r>
              <a:rPr lang="en-US" altLang="zh-CN"/>
              <a:t>1)</a:t>
            </a:r>
          </a:p>
          <a:p>
            <a:r>
              <a:rPr lang="en-US" altLang="zh-CN" b="1"/>
              <a:t>2</a:t>
            </a:r>
            <a:r>
              <a:rPr lang="en-US" altLang="zh-CN"/>
              <a:t>   move(x, 1, z);   </a:t>
            </a:r>
          </a:p>
          <a:p>
            <a:r>
              <a:rPr lang="en-US" altLang="zh-CN" b="1"/>
              <a:t>3  else</a:t>
            </a:r>
          </a:p>
          <a:p>
            <a:r>
              <a:rPr lang="en-US" altLang="zh-CN" b="1"/>
              <a:t>4</a:t>
            </a:r>
            <a:r>
              <a:rPr lang="en-US" altLang="zh-CN"/>
              <a:t>  </a:t>
            </a:r>
            <a:r>
              <a:rPr lang="en-US" altLang="zh-CN" b="1"/>
              <a:t> {</a:t>
            </a:r>
            <a:r>
              <a:rPr lang="en-US" altLang="zh-CN"/>
              <a:t>  hanoi(n-1, x, z, y); </a:t>
            </a:r>
            <a:endParaRPr lang="en-US" altLang="zh-CN">
              <a:solidFill>
                <a:srgbClr val="A50021"/>
              </a:solidFill>
              <a:latin typeface="楷体_GB2312" pitchFamily="49" charset="-122"/>
              <a:ea typeface="楷体_GB2312" pitchFamily="49" charset="-122"/>
            </a:endParaRPr>
          </a:p>
          <a:p>
            <a:r>
              <a:rPr lang="en-US" altLang="zh-CN" b="1"/>
              <a:t>5</a:t>
            </a:r>
            <a:r>
              <a:rPr lang="en-US" altLang="zh-CN"/>
              <a:t>       move(x, n, z);     </a:t>
            </a:r>
          </a:p>
          <a:p>
            <a:r>
              <a:rPr lang="en-US" altLang="zh-CN" b="1"/>
              <a:t>6</a:t>
            </a:r>
            <a:r>
              <a:rPr lang="en-US" altLang="zh-CN"/>
              <a:t>       hanoi(n-1, y, x, z); </a:t>
            </a:r>
          </a:p>
          <a:p>
            <a:r>
              <a:rPr lang="en-US" altLang="zh-CN" b="1"/>
              <a:t>7    }</a:t>
            </a:r>
          </a:p>
          <a:p>
            <a:r>
              <a:rPr lang="en-US" altLang="zh-CN" b="1"/>
              <a:t>8 }</a:t>
            </a:r>
          </a:p>
        </p:txBody>
      </p:sp>
      <p:sp>
        <p:nvSpPr>
          <p:cNvPr id="535560" name="Text Box 8"/>
          <p:cNvSpPr txBox="1">
            <a:spLocks noChangeArrowheads="1"/>
          </p:cNvSpPr>
          <p:nvPr/>
        </p:nvSpPr>
        <p:spPr bwMode="auto">
          <a:xfrm>
            <a:off x="4870450" y="3232150"/>
            <a:ext cx="2625725" cy="730250"/>
          </a:xfrm>
          <a:prstGeom prst="rect">
            <a:avLst/>
          </a:prstGeom>
          <a:solidFill>
            <a:srgbClr val="FFCC99"/>
          </a:solidFill>
          <a:ln w="28575">
            <a:solidFill>
              <a:srgbClr val="FF66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chemeClr val="bg1"/>
                </a:solidFill>
              </a:rPr>
              <a:t>                   </a:t>
            </a:r>
            <a:endParaRPr lang="en-US" altLang="zh-CN" sz="4000"/>
          </a:p>
        </p:txBody>
      </p:sp>
      <p:sp>
        <p:nvSpPr>
          <p:cNvPr id="73739" name="AutoShape 10"/>
          <p:cNvSpPr>
            <a:spLocks noChangeArrowheads="1"/>
          </p:cNvSpPr>
          <p:nvPr/>
        </p:nvSpPr>
        <p:spPr bwMode="auto">
          <a:xfrm>
            <a:off x="2514600" y="5486400"/>
            <a:ext cx="1828800" cy="533400"/>
          </a:xfrm>
          <a:prstGeom prst="wedgeRoundRectCallout">
            <a:avLst>
              <a:gd name="adj1" fmla="val 71528"/>
              <a:gd name="adj2" fmla="val 1488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ea typeface="楷体_GB2312" pitchFamily="49" charset="-122"/>
              </a:rPr>
              <a:t>语句标号</a:t>
            </a:r>
          </a:p>
        </p:txBody>
      </p:sp>
    </p:spTree>
    <p:extLst>
      <p:ext uri="{BB962C8B-B14F-4D97-AF65-F5344CB8AC3E}">
        <p14:creationId xmlns:p14="http://schemas.microsoft.com/office/powerpoint/2010/main" val="266976979"/>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35554"/>
                                        </p:tgtEl>
                                        <p:attrNameLst>
                                          <p:attrName>style.visibility</p:attrName>
                                        </p:attrNameLst>
                                      </p:cBhvr>
                                      <p:to>
                                        <p:strVal val="visible"/>
                                      </p:to>
                                    </p:set>
                                    <p:anim calcmode="lin" valueType="num">
                                      <p:cBhvr additive="base">
                                        <p:cTn id="7" dur="500" fill="hold"/>
                                        <p:tgtEl>
                                          <p:spTgt spid="535554"/>
                                        </p:tgtEl>
                                        <p:attrNameLst>
                                          <p:attrName>ppt_x</p:attrName>
                                        </p:attrNameLst>
                                      </p:cBhvr>
                                      <p:tavLst>
                                        <p:tav tm="0">
                                          <p:val>
                                            <p:strVal val="#ppt_x"/>
                                          </p:val>
                                        </p:tav>
                                        <p:tav tm="100000">
                                          <p:val>
                                            <p:strVal val="#ppt_x"/>
                                          </p:val>
                                        </p:tav>
                                      </p:tavLst>
                                    </p:anim>
                                    <p:anim calcmode="lin" valueType="num">
                                      <p:cBhvr additive="base">
                                        <p:cTn id="8" dur="500" fill="hold"/>
                                        <p:tgtEl>
                                          <p:spTgt spid="53555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35556"/>
                                        </p:tgtEl>
                                        <p:attrNameLst>
                                          <p:attrName>style.visibility</p:attrName>
                                        </p:attrNameLst>
                                      </p:cBhvr>
                                      <p:to>
                                        <p:strVal val="visible"/>
                                      </p:to>
                                    </p:set>
                                    <p:anim calcmode="lin" valueType="num">
                                      <p:cBhvr additive="base">
                                        <p:cTn id="13" dur="500" fill="hold"/>
                                        <p:tgtEl>
                                          <p:spTgt spid="535556"/>
                                        </p:tgtEl>
                                        <p:attrNameLst>
                                          <p:attrName>ppt_x</p:attrName>
                                        </p:attrNameLst>
                                      </p:cBhvr>
                                      <p:tavLst>
                                        <p:tav tm="0">
                                          <p:val>
                                            <p:strVal val="#ppt_x"/>
                                          </p:val>
                                        </p:tav>
                                        <p:tav tm="100000">
                                          <p:val>
                                            <p:strVal val="#ppt_x"/>
                                          </p:val>
                                        </p:tav>
                                      </p:tavLst>
                                    </p:anim>
                                    <p:anim calcmode="lin" valueType="num">
                                      <p:cBhvr additive="base">
                                        <p:cTn id="14" dur="500" fill="hold"/>
                                        <p:tgtEl>
                                          <p:spTgt spid="535556"/>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535557"/>
                                        </p:tgtEl>
                                        <p:attrNameLst>
                                          <p:attrName>style.visibility</p:attrName>
                                        </p:attrNameLst>
                                      </p:cBhvr>
                                      <p:to>
                                        <p:strVal val="visible"/>
                                      </p:to>
                                    </p:set>
                                    <p:anim calcmode="lin" valueType="num">
                                      <p:cBhvr additive="base">
                                        <p:cTn id="19" dur="500" fill="hold"/>
                                        <p:tgtEl>
                                          <p:spTgt spid="535557"/>
                                        </p:tgtEl>
                                        <p:attrNameLst>
                                          <p:attrName>ppt_x</p:attrName>
                                        </p:attrNameLst>
                                      </p:cBhvr>
                                      <p:tavLst>
                                        <p:tav tm="0">
                                          <p:val>
                                            <p:strVal val="#ppt_x"/>
                                          </p:val>
                                        </p:tav>
                                        <p:tav tm="100000">
                                          <p:val>
                                            <p:strVal val="#ppt_x"/>
                                          </p:val>
                                        </p:tav>
                                      </p:tavLst>
                                    </p:anim>
                                    <p:anim calcmode="lin" valueType="num">
                                      <p:cBhvr additive="base">
                                        <p:cTn id="20" dur="500" fill="hold"/>
                                        <p:tgtEl>
                                          <p:spTgt spid="53555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535557"/>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535560"/>
                                        </p:tgtEl>
                                        <p:attrNameLst>
                                          <p:attrName>style.visibility</p:attrName>
                                        </p:attrNameLst>
                                      </p:cBhvr>
                                      <p:to>
                                        <p:strVal val="visible"/>
                                      </p:to>
                                    </p:set>
                                    <p:anim calcmode="lin" valueType="num">
                                      <p:cBhvr additive="base">
                                        <p:cTn id="25" dur="500" fill="hold"/>
                                        <p:tgtEl>
                                          <p:spTgt spid="535560"/>
                                        </p:tgtEl>
                                        <p:attrNameLst>
                                          <p:attrName>ppt_x</p:attrName>
                                        </p:attrNameLst>
                                      </p:cBhvr>
                                      <p:tavLst>
                                        <p:tav tm="0">
                                          <p:val>
                                            <p:strVal val="#ppt_x"/>
                                          </p:val>
                                        </p:tav>
                                        <p:tav tm="100000">
                                          <p:val>
                                            <p:strVal val="#ppt_x"/>
                                          </p:val>
                                        </p:tav>
                                      </p:tavLst>
                                    </p:anim>
                                    <p:anim calcmode="lin" valueType="num">
                                      <p:cBhvr additive="base">
                                        <p:cTn id="26" dur="500" fill="hold"/>
                                        <p:tgtEl>
                                          <p:spTgt spid="535560"/>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53556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35558"/>
                                        </p:tgtEl>
                                        <p:attrNameLst>
                                          <p:attrName>style.visibility</p:attrName>
                                        </p:attrNameLst>
                                      </p:cBhvr>
                                      <p:to>
                                        <p:strVal val="visible"/>
                                      </p:to>
                                    </p:set>
                                    <p:anim calcmode="lin" valueType="num">
                                      <p:cBhvr additive="base">
                                        <p:cTn id="31" dur="500" fill="hold"/>
                                        <p:tgtEl>
                                          <p:spTgt spid="535558"/>
                                        </p:tgtEl>
                                        <p:attrNameLst>
                                          <p:attrName>ppt_x</p:attrName>
                                        </p:attrNameLst>
                                      </p:cBhvr>
                                      <p:tavLst>
                                        <p:tav tm="0">
                                          <p:val>
                                            <p:strVal val="#ppt_x"/>
                                          </p:val>
                                        </p:tav>
                                        <p:tav tm="100000">
                                          <p:val>
                                            <p:strVal val="#ppt_x"/>
                                          </p:val>
                                        </p:tav>
                                      </p:tavLst>
                                    </p:anim>
                                    <p:anim calcmode="lin" valueType="num">
                                      <p:cBhvr additive="base">
                                        <p:cTn id="32" dur="500" fill="hold"/>
                                        <p:tgtEl>
                                          <p:spTgt spid="53555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4" grpId="0" animBg="1" autoUpdateAnimBg="0"/>
      <p:bldP spid="535556" grpId="0" animBg="1" autoUpdateAnimBg="0"/>
      <p:bldP spid="535557" grpId="0" animBg="1" autoUpdateAnimBg="0"/>
      <p:bldP spid="535558" grpId="0" animBg="1" autoUpdateAnimBg="0"/>
      <p:bldP spid="535560"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4" name="灯片编号占位符 5"/>
          <p:cNvSpPr>
            <a:spLocks noGrp="1"/>
          </p:cNvSpPr>
          <p:nvPr>
            <p:ph type="sldNum" sz="quarter" idx="12"/>
          </p:nvPr>
        </p:nvSpPr>
        <p:spPr>
          <a:noFill/>
        </p:spPr>
        <p:txBody>
          <a:bodyPr/>
          <a:lstStyle/>
          <a:p>
            <a:fld id="{5DF271D1-9E64-4FA2-8F27-E04754F34C72}" type="slidenum">
              <a:rPr lang="en-US" altLang="zh-CN" smtClean="0"/>
              <a:pPr/>
              <a:t>84</a:t>
            </a:fld>
            <a:endParaRPr lang="en-US" altLang="zh-CN"/>
          </a:p>
        </p:txBody>
      </p:sp>
      <p:sp>
        <p:nvSpPr>
          <p:cNvPr id="125955" name="Rectangle 2"/>
          <p:cNvSpPr>
            <a:spLocks noGrp="1" noChangeArrowheads="1"/>
          </p:cNvSpPr>
          <p:nvPr>
            <p:ph type="body" idx="4294967295"/>
          </p:nvPr>
        </p:nvSpPr>
        <p:spPr>
          <a:xfrm>
            <a:off x="0" y="1073150"/>
            <a:ext cx="7772400" cy="5334000"/>
          </a:xfrm>
        </p:spPr>
        <p:txBody>
          <a:bodyPr/>
          <a:lstStyle/>
          <a:p>
            <a:pPr eaLnBrk="1" hangingPunct="1">
              <a:buFontTx/>
              <a:buNone/>
            </a:pPr>
            <a:r>
              <a:rPr lang="en-US" altLang="zh-CN" sz="2000"/>
              <a:t>void </a:t>
            </a:r>
            <a:r>
              <a:rPr lang="en-US" altLang="zh-CN" sz="2000">
                <a:solidFill>
                  <a:srgbClr val="FF3300"/>
                </a:solidFill>
              </a:rPr>
              <a:t>hanoi(3,a,b,c)</a:t>
            </a:r>
          </a:p>
          <a:p>
            <a:pPr eaLnBrk="1" hangingPunct="1">
              <a:buFontTx/>
              <a:buNone/>
            </a:pPr>
            <a:r>
              <a:rPr lang="en-US" altLang="zh-CN" sz="2000">
                <a:sym typeface="Symbol" pitchFamily="18" charset="2"/>
              </a:rPr>
              <a:t>{  if 3==1</a:t>
            </a:r>
          </a:p>
          <a:p>
            <a:pPr eaLnBrk="1" hangingPunct="1">
              <a:buFontTx/>
              <a:buNone/>
            </a:pPr>
            <a:r>
              <a:rPr lang="en-US" altLang="zh-CN" sz="2000">
                <a:sym typeface="Symbol" pitchFamily="18" charset="2"/>
              </a:rPr>
              <a:t>         move(a,1,c) </a:t>
            </a:r>
          </a:p>
          <a:p>
            <a:pPr eaLnBrk="1" hangingPunct="1">
              <a:buFontTx/>
              <a:buNone/>
            </a:pPr>
            <a:r>
              <a:rPr lang="en-US" altLang="zh-CN" sz="2000">
                <a:sym typeface="Symbol" pitchFamily="18" charset="2"/>
              </a:rPr>
              <a:t>    else</a:t>
            </a:r>
          </a:p>
          <a:p>
            <a:pPr eaLnBrk="1" hangingPunct="1">
              <a:buFontTx/>
              <a:buNone/>
            </a:pPr>
            <a:r>
              <a:rPr lang="en-US" altLang="zh-CN" sz="2000">
                <a:sym typeface="Symbol" pitchFamily="18" charset="2"/>
              </a:rPr>
              <a:t>         {    hanoi(2,a,c,b);</a:t>
            </a:r>
          </a:p>
          <a:p>
            <a:pPr eaLnBrk="1" hangingPunct="1">
              <a:buFontTx/>
              <a:buNone/>
            </a:pPr>
            <a:r>
              <a:rPr lang="en-US" altLang="zh-CN" sz="2000">
                <a:sym typeface="Symbol" pitchFamily="18" charset="2"/>
              </a:rPr>
              <a:t>              </a:t>
            </a:r>
            <a:r>
              <a:rPr lang="en-US" altLang="zh-CN" sz="2000">
                <a:solidFill>
                  <a:schemeClr val="accent2"/>
                </a:solidFill>
                <a:sym typeface="Symbol" pitchFamily="18" charset="2"/>
              </a:rPr>
              <a:t>move(a,3,c);</a:t>
            </a:r>
            <a:r>
              <a:rPr lang="en-US" altLang="zh-CN" sz="2000">
                <a:sym typeface="Symbol" pitchFamily="18" charset="2"/>
              </a:rPr>
              <a:t> </a:t>
            </a:r>
          </a:p>
          <a:p>
            <a:pPr eaLnBrk="1" hangingPunct="1">
              <a:buFontTx/>
              <a:buNone/>
            </a:pPr>
            <a:r>
              <a:rPr lang="en-US" altLang="zh-CN" sz="2000">
                <a:sym typeface="Symbol" pitchFamily="18" charset="2"/>
              </a:rPr>
              <a:t>              hanoi(2,b,a,c); }</a:t>
            </a:r>
          </a:p>
          <a:p>
            <a:pPr eaLnBrk="1" hangingPunct="1">
              <a:buFontTx/>
              <a:buNone/>
            </a:pPr>
            <a:r>
              <a:rPr lang="en-US" altLang="zh-CN" sz="2000">
                <a:sym typeface="Symbol" pitchFamily="18" charset="2"/>
              </a:rPr>
              <a:t> }</a:t>
            </a:r>
          </a:p>
          <a:p>
            <a:pPr eaLnBrk="1" hangingPunct="1">
              <a:buFontTx/>
              <a:buNone/>
            </a:pPr>
            <a:endParaRPr lang="en-US" altLang="zh-CN" sz="2000"/>
          </a:p>
          <a:p>
            <a:pPr eaLnBrk="1" hangingPunct="1">
              <a:buFontTx/>
              <a:buNone/>
            </a:pPr>
            <a:endParaRPr lang="en-US" altLang="zh-CN" sz="2000"/>
          </a:p>
        </p:txBody>
      </p:sp>
      <p:sp>
        <p:nvSpPr>
          <p:cNvPr id="126005" name="Rectangle 52"/>
          <p:cNvSpPr>
            <a:spLocks noGrp="1" noChangeArrowheads="1"/>
          </p:cNvSpPr>
          <p:nvPr>
            <p:ph type="title" idx="4294967295"/>
          </p:nvPr>
        </p:nvSpPr>
        <p:spPr>
          <a:xfrm>
            <a:off x="0" y="711200"/>
            <a:ext cx="3086100" cy="495300"/>
          </a:xfrm>
        </p:spPr>
        <p:txBody>
          <a:bodyPr/>
          <a:lstStyle/>
          <a:p>
            <a:pPr algn="l" eaLnBrk="1" hangingPunct="1"/>
            <a:r>
              <a:rPr lang="zh-CN" altLang="en-US" sz="2400" b="1" dirty="0"/>
              <a:t>递归函数执行过程</a:t>
            </a:r>
          </a:p>
        </p:txBody>
      </p:sp>
      <p:sp>
        <p:nvSpPr>
          <p:cNvPr id="125956" name="Text Box 3"/>
          <p:cNvSpPr txBox="1">
            <a:spLocks noChangeArrowheads="1"/>
          </p:cNvSpPr>
          <p:nvPr/>
        </p:nvSpPr>
        <p:spPr bwMode="auto">
          <a:xfrm>
            <a:off x="3429000" y="757237"/>
            <a:ext cx="2667000" cy="2540000"/>
          </a:xfrm>
          <a:prstGeom prst="rect">
            <a:avLst/>
          </a:prstGeom>
          <a:noFill/>
          <a:ln w="9525">
            <a:solidFill>
              <a:schemeClr val="accent2"/>
            </a:solidFill>
            <a:miter lim="800000"/>
            <a:headEnd/>
            <a:tailEnd/>
          </a:ln>
        </p:spPr>
        <p:txBody>
          <a:bodyPr>
            <a:spAutoFit/>
          </a:bodyPr>
          <a:lstStyle/>
          <a:p>
            <a:r>
              <a:rPr lang="en-US" altLang="zh-CN" sz="2000"/>
              <a:t>void </a:t>
            </a:r>
            <a:r>
              <a:rPr lang="en-US" altLang="zh-CN" sz="2000">
                <a:solidFill>
                  <a:srgbClr val="FF3300"/>
                </a:solidFill>
              </a:rPr>
              <a:t>hanoi(2,a,c,b)</a:t>
            </a:r>
          </a:p>
          <a:p>
            <a:r>
              <a:rPr lang="en-US" altLang="zh-CN" sz="2000">
                <a:sym typeface="Symbol" pitchFamily="18" charset="2"/>
              </a:rPr>
              <a:t>{   if 2==1 </a:t>
            </a:r>
          </a:p>
          <a:p>
            <a:r>
              <a:rPr lang="en-US" altLang="zh-CN" sz="2000">
                <a:sym typeface="Symbol" pitchFamily="18" charset="2"/>
              </a:rPr>
              <a:t>           move(a,1,b) </a:t>
            </a:r>
          </a:p>
          <a:p>
            <a:r>
              <a:rPr lang="en-US" altLang="zh-CN" sz="2000">
                <a:sym typeface="Symbol" pitchFamily="18" charset="2"/>
              </a:rPr>
              <a:t>    else</a:t>
            </a:r>
          </a:p>
          <a:p>
            <a:r>
              <a:rPr lang="en-US" altLang="zh-CN" sz="2000">
                <a:sym typeface="Symbol" pitchFamily="18" charset="2"/>
              </a:rPr>
              <a:t>         {    hanoi(1,a,b,c);</a:t>
            </a:r>
          </a:p>
          <a:p>
            <a:r>
              <a:rPr lang="en-US" altLang="zh-CN" sz="2000">
                <a:sym typeface="Symbol" pitchFamily="18" charset="2"/>
              </a:rPr>
              <a:t>              </a:t>
            </a:r>
            <a:r>
              <a:rPr lang="en-US" altLang="zh-CN" sz="2000">
                <a:solidFill>
                  <a:schemeClr val="accent2"/>
                </a:solidFill>
                <a:sym typeface="Symbol" pitchFamily="18" charset="2"/>
              </a:rPr>
              <a:t>move(a,2,b);</a:t>
            </a:r>
            <a:r>
              <a:rPr lang="en-US" altLang="zh-CN" sz="2000">
                <a:sym typeface="Symbol" pitchFamily="18" charset="2"/>
              </a:rPr>
              <a:t> </a:t>
            </a:r>
          </a:p>
          <a:p>
            <a:r>
              <a:rPr lang="en-US" altLang="zh-CN" sz="2000">
                <a:sym typeface="Symbol" pitchFamily="18" charset="2"/>
              </a:rPr>
              <a:t>              hanoi(1,c,a,b) }</a:t>
            </a:r>
          </a:p>
          <a:p>
            <a:r>
              <a:rPr lang="en-US" altLang="zh-CN" sz="2000">
                <a:sym typeface="Symbol" pitchFamily="18" charset="2"/>
              </a:rPr>
              <a:t> }</a:t>
            </a:r>
            <a:endParaRPr lang="en-US" altLang="zh-CN" sz="2000"/>
          </a:p>
        </p:txBody>
      </p:sp>
      <p:sp>
        <p:nvSpPr>
          <p:cNvPr id="125957" name="Text Box 4"/>
          <p:cNvSpPr txBox="1">
            <a:spLocks noChangeArrowheads="1"/>
          </p:cNvSpPr>
          <p:nvPr/>
        </p:nvSpPr>
        <p:spPr bwMode="auto">
          <a:xfrm>
            <a:off x="6400800" y="727075"/>
            <a:ext cx="2514600" cy="1323975"/>
          </a:xfrm>
          <a:prstGeom prst="rect">
            <a:avLst/>
          </a:prstGeom>
          <a:noFill/>
          <a:ln w="9525">
            <a:solidFill>
              <a:schemeClr val="accent2"/>
            </a:solidFill>
            <a:miter lim="800000"/>
            <a:headEnd/>
            <a:tailEnd/>
          </a:ln>
        </p:spPr>
        <p:txBody>
          <a:bodyPr>
            <a:spAutoFit/>
          </a:bodyPr>
          <a:lstStyle/>
          <a:p>
            <a:pPr>
              <a:lnSpc>
                <a:spcPct val="80000"/>
              </a:lnSpc>
            </a:pPr>
            <a:r>
              <a:rPr lang="en-US" altLang="zh-CN" sz="2000"/>
              <a:t>void </a:t>
            </a:r>
            <a:r>
              <a:rPr lang="en-US" altLang="zh-CN" sz="2000">
                <a:solidFill>
                  <a:srgbClr val="FF3300"/>
                </a:solidFill>
              </a:rPr>
              <a:t>hanoi(1,a,b,c)</a:t>
            </a:r>
          </a:p>
          <a:p>
            <a:pPr>
              <a:lnSpc>
                <a:spcPct val="80000"/>
              </a:lnSpc>
            </a:pPr>
            <a:r>
              <a:rPr lang="en-US" altLang="zh-CN" sz="2000">
                <a:sym typeface="Symbol" pitchFamily="18" charset="2"/>
              </a:rPr>
              <a:t>{   if 1==1</a:t>
            </a:r>
          </a:p>
          <a:p>
            <a:pPr>
              <a:lnSpc>
                <a:spcPct val="80000"/>
              </a:lnSpc>
            </a:pPr>
            <a:r>
              <a:rPr lang="en-US" altLang="zh-CN" sz="2000">
                <a:sym typeface="Symbol" pitchFamily="18" charset="2"/>
              </a:rPr>
              <a:t>            </a:t>
            </a:r>
            <a:r>
              <a:rPr lang="en-US" altLang="zh-CN" sz="2000">
                <a:solidFill>
                  <a:schemeClr val="accent2"/>
                </a:solidFill>
                <a:sym typeface="Symbol" pitchFamily="18" charset="2"/>
              </a:rPr>
              <a:t>move(a,1,c)</a:t>
            </a:r>
            <a:r>
              <a:rPr lang="en-US" altLang="zh-CN" sz="2000">
                <a:sym typeface="Symbol" pitchFamily="18" charset="2"/>
              </a:rPr>
              <a:t> ;</a:t>
            </a:r>
          </a:p>
          <a:p>
            <a:pPr>
              <a:lnSpc>
                <a:spcPct val="80000"/>
              </a:lnSpc>
            </a:pPr>
            <a:r>
              <a:rPr lang="en-US" altLang="zh-CN" sz="2000">
                <a:sym typeface="Symbol" pitchFamily="18" charset="2"/>
              </a:rPr>
              <a:t>    else    {……}</a:t>
            </a:r>
          </a:p>
          <a:p>
            <a:pPr>
              <a:lnSpc>
                <a:spcPct val="80000"/>
              </a:lnSpc>
            </a:pPr>
            <a:r>
              <a:rPr lang="en-US" altLang="zh-CN" sz="2000">
                <a:sym typeface="Symbol" pitchFamily="18" charset="2"/>
              </a:rPr>
              <a:t>}</a:t>
            </a:r>
            <a:endParaRPr lang="en-US" altLang="zh-CN" sz="2000"/>
          </a:p>
        </p:txBody>
      </p:sp>
      <p:sp>
        <p:nvSpPr>
          <p:cNvPr id="661509" name="Line 5"/>
          <p:cNvSpPr>
            <a:spLocks noChangeShapeType="1"/>
          </p:cNvSpPr>
          <p:nvPr/>
        </p:nvSpPr>
        <p:spPr bwMode="auto">
          <a:xfrm flipV="1">
            <a:off x="3124200" y="833437"/>
            <a:ext cx="228600" cy="18288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10" name="Line 6"/>
          <p:cNvSpPr>
            <a:spLocks noChangeShapeType="1"/>
          </p:cNvSpPr>
          <p:nvPr/>
        </p:nvSpPr>
        <p:spPr bwMode="auto">
          <a:xfrm flipH="1" flipV="1">
            <a:off x="3124200" y="2814637"/>
            <a:ext cx="304800" cy="4572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661511" name="Line 7"/>
          <p:cNvSpPr>
            <a:spLocks noChangeShapeType="1"/>
          </p:cNvSpPr>
          <p:nvPr/>
        </p:nvSpPr>
        <p:spPr bwMode="auto">
          <a:xfrm flipV="1">
            <a:off x="5943600" y="757237"/>
            <a:ext cx="457200" cy="14478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12" name="Line 8"/>
          <p:cNvSpPr>
            <a:spLocks noChangeShapeType="1"/>
          </p:cNvSpPr>
          <p:nvPr/>
        </p:nvSpPr>
        <p:spPr bwMode="auto">
          <a:xfrm flipH="1">
            <a:off x="6019800" y="1976437"/>
            <a:ext cx="381000" cy="3048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125962" name="Text Box 9"/>
          <p:cNvSpPr txBox="1">
            <a:spLocks noChangeArrowheads="1"/>
          </p:cNvSpPr>
          <p:nvPr/>
        </p:nvSpPr>
        <p:spPr bwMode="auto">
          <a:xfrm>
            <a:off x="6400800" y="2205037"/>
            <a:ext cx="2514600" cy="1323975"/>
          </a:xfrm>
          <a:prstGeom prst="rect">
            <a:avLst/>
          </a:prstGeom>
          <a:noFill/>
          <a:ln w="9525">
            <a:solidFill>
              <a:schemeClr val="accent2"/>
            </a:solidFill>
            <a:miter lim="800000"/>
            <a:headEnd/>
            <a:tailEnd/>
          </a:ln>
        </p:spPr>
        <p:txBody>
          <a:bodyPr>
            <a:spAutoFit/>
          </a:bodyPr>
          <a:lstStyle/>
          <a:p>
            <a:pPr>
              <a:lnSpc>
                <a:spcPct val="80000"/>
              </a:lnSpc>
            </a:pPr>
            <a:r>
              <a:rPr lang="en-US" altLang="zh-CN" sz="2000"/>
              <a:t>void </a:t>
            </a:r>
            <a:r>
              <a:rPr lang="en-US" altLang="zh-CN" sz="2000">
                <a:solidFill>
                  <a:srgbClr val="FF3300"/>
                </a:solidFill>
              </a:rPr>
              <a:t>hanoi(1,c,a,b)</a:t>
            </a:r>
          </a:p>
          <a:p>
            <a:pPr>
              <a:lnSpc>
                <a:spcPct val="80000"/>
              </a:lnSpc>
            </a:pPr>
            <a:r>
              <a:rPr lang="en-US" altLang="zh-CN" sz="2000">
                <a:sym typeface="Symbol" pitchFamily="18" charset="2"/>
              </a:rPr>
              <a:t>{   if 1==1</a:t>
            </a:r>
          </a:p>
          <a:p>
            <a:pPr>
              <a:lnSpc>
                <a:spcPct val="80000"/>
              </a:lnSpc>
            </a:pPr>
            <a:r>
              <a:rPr lang="en-US" altLang="zh-CN" sz="2000">
                <a:sym typeface="Symbol" pitchFamily="18" charset="2"/>
              </a:rPr>
              <a:t>            </a:t>
            </a:r>
            <a:r>
              <a:rPr lang="en-US" altLang="zh-CN" sz="2000">
                <a:solidFill>
                  <a:schemeClr val="accent2"/>
                </a:solidFill>
                <a:sym typeface="Symbol" pitchFamily="18" charset="2"/>
              </a:rPr>
              <a:t>move(c,1,b)</a:t>
            </a:r>
            <a:r>
              <a:rPr lang="en-US" altLang="zh-CN" sz="2000">
                <a:sym typeface="Symbol" pitchFamily="18" charset="2"/>
              </a:rPr>
              <a:t> ;</a:t>
            </a:r>
          </a:p>
          <a:p>
            <a:pPr>
              <a:lnSpc>
                <a:spcPct val="80000"/>
              </a:lnSpc>
            </a:pPr>
            <a:r>
              <a:rPr lang="en-US" altLang="zh-CN" sz="2000">
                <a:sym typeface="Symbol" pitchFamily="18" charset="2"/>
              </a:rPr>
              <a:t>    else   {…… }</a:t>
            </a:r>
          </a:p>
          <a:p>
            <a:pPr>
              <a:lnSpc>
                <a:spcPct val="80000"/>
              </a:lnSpc>
            </a:pPr>
            <a:r>
              <a:rPr lang="en-US" altLang="zh-CN" sz="2000">
                <a:sym typeface="Symbol" pitchFamily="18" charset="2"/>
              </a:rPr>
              <a:t>}</a:t>
            </a:r>
            <a:endParaRPr lang="en-US" altLang="zh-CN" sz="2000"/>
          </a:p>
        </p:txBody>
      </p:sp>
      <p:sp>
        <p:nvSpPr>
          <p:cNvPr id="661514" name="Line 10"/>
          <p:cNvSpPr>
            <a:spLocks noChangeShapeType="1"/>
          </p:cNvSpPr>
          <p:nvPr/>
        </p:nvSpPr>
        <p:spPr bwMode="auto">
          <a:xfrm flipV="1">
            <a:off x="6019800" y="2205037"/>
            <a:ext cx="381000" cy="6096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15" name="Line 11"/>
          <p:cNvSpPr>
            <a:spLocks noChangeShapeType="1"/>
          </p:cNvSpPr>
          <p:nvPr/>
        </p:nvSpPr>
        <p:spPr bwMode="auto">
          <a:xfrm flipH="1" flipV="1">
            <a:off x="5943600" y="3043237"/>
            <a:ext cx="457200" cy="5334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125965" name="Text Box 12"/>
          <p:cNvSpPr txBox="1">
            <a:spLocks noChangeArrowheads="1"/>
          </p:cNvSpPr>
          <p:nvPr/>
        </p:nvSpPr>
        <p:spPr bwMode="auto">
          <a:xfrm>
            <a:off x="3505200" y="3881437"/>
            <a:ext cx="2667000" cy="2540000"/>
          </a:xfrm>
          <a:prstGeom prst="rect">
            <a:avLst/>
          </a:prstGeom>
          <a:noFill/>
          <a:ln w="9525">
            <a:solidFill>
              <a:schemeClr val="accent2"/>
            </a:solidFill>
            <a:miter lim="800000"/>
            <a:headEnd/>
            <a:tailEnd/>
          </a:ln>
        </p:spPr>
        <p:txBody>
          <a:bodyPr>
            <a:spAutoFit/>
          </a:bodyPr>
          <a:lstStyle/>
          <a:p>
            <a:r>
              <a:rPr lang="en-US" altLang="zh-CN" sz="2000"/>
              <a:t>void </a:t>
            </a:r>
            <a:r>
              <a:rPr lang="en-US" altLang="zh-CN" sz="2000">
                <a:solidFill>
                  <a:srgbClr val="FF3300"/>
                </a:solidFill>
              </a:rPr>
              <a:t>hanoi(2,b,a,c)</a:t>
            </a:r>
          </a:p>
          <a:p>
            <a:r>
              <a:rPr lang="en-US" altLang="zh-CN" sz="2000">
                <a:sym typeface="Symbol" pitchFamily="18" charset="2"/>
              </a:rPr>
              <a:t>{   if 2==1 </a:t>
            </a:r>
          </a:p>
          <a:p>
            <a:r>
              <a:rPr lang="en-US" altLang="zh-CN" sz="2000">
                <a:sym typeface="Symbol" pitchFamily="18" charset="2"/>
              </a:rPr>
              <a:t>          move(b,1,c) </a:t>
            </a:r>
          </a:p>
          <a:p>
            <a:r>
              <a:rPr lang="en-US" altLang="zh-CN" sz="2000">
                <a:sym typeface="Symbol" pitchFamily="18" charset="2"/>
              </a:rPr>
              <a:t>    else</a:t>
            </a:r>
          </a:p>
          <a:p>
            <a:r>
              <a:rPr lang="en-US" altLang="zh-CN" sz="2000">
                <a:sym typeface="Symbol" pitchFamily="18" charset="2"/>
              </a:rPr>
              <a:t>         {   hanoi(1,b,c,a);</a:t>
            </a:r>
          </a:p>
          <a:p>
            <a:r>
              <a:rPr lang="en-US" altLang="zh-CN" sz="2000">
                <a:sym typeface="Symbol" pitchFamily="18" charset="2"/>
              </a:rPr>
              <a:t>              </a:t>
            </a:r>
            <a:r>
              <a:rPr lang="en-US" altLang="zh-CN" sz="2000">
                <a:solidFill>
                  <a:schemeClr val="accent2"/>
                </a:solidFill>
                <a:sym typeface="Symbol" pitchFamily="18" charset="2"/>
              </a:rPr>
              <a:t>move(b,2,c);</a:t>
            </a:r>
            <a:r>
              <a:rPr lang="en-US" altLang="zh-CN" sz="2000">
                <a:sym typeface="Symbol" pitchFamily="18" charset="2"/>
              </a:rPr>
              <a:t> </a:t>
            </a:r>
          </a:p>
          <a:p>
            <a:r>
              <a:rPr lang="en-US" altLang="zh-CN" sz="2000">
                <a:sym typeface="Symbol" pitchFamily="18" charset="2"/>
              </a:rPr>
              <a:t>              hanoi(1,a,b,c); }</a:t>
            </a:r>
          </a:p>
          <a:p>
            <a:r>
              <a:rPr lang="en-US" altLang="zh-CN" sz="2000">
                <a:sym typeface="Symbol" pitchFamily="18" charset="2"/>
              </a:rPr>
              <a:t>}</a:t>
            </a:r>
            <a:endParaRPr lang="en-US" altLang="zh-CN" sz="2000"/>
          </a:p>
        </p:txBody>
      </p:sp>
      <p:sp>
        <p:nvSpPr>
          <p:cNvPr id="661517" name="Line 13"/>
          <p:cNvSpPr>
            <a:spLocks noChangeShapeType="1"/>
          </p:cNvSpPr>
          <p:nvPr/>
        </p:nvSpPr>
        <p:spPr bwMode="auto">
          <a:xfrm>
            <a:off x="3276600" y="3576637"/>
            <a:ext cx="228600" cy="3810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18" name="Line 14"/>
          <p:cNvSpPr>
            <a:spLocks noChangeShapeType="1"/>
          </p:cNvSpPr>
          <p:nvPr/>
        </p:nvSpPr>
        <p:spPr bwMode="auto">
          <a:xfrm flipH="1" flipV="1">
            <a:off x="2971800" y="3729037"/>
            <a:ext cx="533400" cy="26670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125968" name="Text Box 15"/>
          <p:cNvSpPr txBox="1">
            <a:spLocks noChangeArrowheads="1"/>
          </p:cNvSpPr>
          <p:nvPr/>
        </p:nvSpPr>
        <p:spPr bwMode="auto">
          <a:xfrm>
            <a:off x="6400800" y="3729037"/>
            <a:ext cx="2514600" cy="1323975"/>
          </a:xfrm>
          <a:prstGeom prst="rect">
            <a:avLst/>
          </a:prstGeom>
          <a:noFill/>
          <a:ln w="9525">
            <a:solidFill>
              <a:schemeClr val="accent2"/>
            </a:solidFill>
            <a:miter lim="800000"/>
            <a:headEnd/>
            <a:tailEnd/>
          </a:ln>
        </p:spPr>
        <p:txBody>
          <a:bodyPr>
            <a:spAutoFit/>
          </a:bodyPr>
          <a:lstStyle/>
          <a:p>
            <a:pPr>
              <a:lnSpc>
                <a:spcPct val="80000"/>
              </a:lnSpc>
            </a:pPr>
            <a:r>
              <a:rPr lang="en-US" altLang="zh-CN" sz="2000"/>
              <a:t>void  </a:t>
            </a:r>
            <a:r>
              <a:rPr lang="en-US" altLang="zh-CN" sz="2000">
                <a:solidFill>
                  <a:srgbClr val="FF3300"/>
                </a:solidFill>
              </a:rPr>
              <a:t>hanoi(1,b,c,a)</a:t>
            </a:r>
          </a:p>
          <a:p>
            <a:pPr>
              <a:lnSpc>
                <a:spcPct val="80000"/>
              </a:lnSpc>
            </a:pPr>
            <a:r>
              <a:rPr lang="en-US" altLang="zh-CN" sz="2000">
                <a:sym typeface="Symbol" pitchFamily="18" charset="2"/>
              </a:rPr>
              <a:t>{  if 1==1</a:t>
            </a:r>
          </a:p>
          <a:p>
            <a:pPr>
              <a:lnSpc>
                <a:spcPct val="80000"/>
              </a:lnSpc>
            </a:pPr>
            <a:r>
              <a:rPr lang="en-US" altLang="zh-CN" sz="2000">
                <a:sym typeface="Symbol" pitchFamily="18" charset="2"/>
              </a:rPr>
              <a:t>          </a:t>
            </a:r>
            <a:r>
              <a:rPr lang="en-US" altLang="zh-CN" sz="2000">
                <a:solidFill>
                  <a:schemeClr val="accent2"/>
                </a:solidFill>
                <a:sym typeface="Symbol" pitchFamily="18" charset="2"/>
              </a:rPr>
              <a:t>move(b,1,a)</a:t>
            </a:r>
            <a:r>
              <a:rPr lang="en-US" altLang="zh-CN" sz="2000">
                <a:sym typeface="Symbol" pitchFamily="18" charset="2"/>
              </a:rPr>
              <a:t> ;</a:t>
            </a:r>
          </a:p>
          <a:p>
            <a:pPr>
              <a:lnSpc>
                <a:spcPct val="80000"/>
              </a:lnSpc>
            </a:pPr>
            <a:r>
              <a:rPr lang="en-US" altLang="zh-CN" sz="2000">
                <a:sym typeface="Symbol" pitchFamily="18" charset="2"/>
              </a:rPr>
              <a:t>    else    {…… }</a:t>
            </a:r>
          </a:p>
          <a:p>
            <a:pPr>
              <a:lnSpc>
                <a:spcPct val="80000"/>
              </a:lnSpc>
            </a:pPr>
            <a:r>
              <a:rPr lang="en-US" altLang="zh-CN" sz="2000">
                <a:sym typeface="Symbol" pitchFamily="18" charset="2"/>
              </a:rPr>
              <a:t>}</a:t>
            </a:r>
            <a:endParaRPr lang="en-US" altLang="zh-CN" sz="2000"/>
          </a:p>
        </p:txBody>
      </p:sp>
      <p:sp>
        <p:nvSpPr>
          <p:cNvPr id="661520" name="Line 16"/>
          <p:cNvSpPr>
            <a:spLocks noChangeShapeType="1"/>
          </p:cNvSpPr>
          <p:nvPr/>
        </p:nvSpPr>
        <p:spPr bwMode="auto">
          <a:xfrm flipV="1">
            <a:off x="5943600" y="3729037"/>
            <a:ext cx="457200" cy="15240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21" name="Line 17"/>
          <p:cNvSpPr>
            <a:spLocks noChangeShapeType="1"/>
          </p:cNvSpPr>
          <p:nvPr/>
        </p:nvSpPr>
        <p:spPr bwMode="auto">
          <a:xfrm flipH="1">
            <a:off x="6019800" y="5100637"/>
            <a:ext cx="304800" cy="2286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125971" name="Text Box 18"/>
          <p:cNvSpPr txBox="1">
            <a:spLocks noChangeArrowheads="1"/>
          </p:cNvSpPr>
          <p:nvPr/>
        </p:nvSpPr>
        <p:spPr bwMode="auto">
          <a:xfrm>
            <a:off x="6400800" y="5329237"/>
            <a:ext cx="2514600" cy="1323975"/>
          </a:xfrm>
          <a:prstGeom prst="rect">
            <a:avLst/>
          </a:prstGeom>
          <a:noFill/>
          <a:ln w="9525">
            <a:solidFill>
              <a:schemeClr val="accent2"/>
            </a:solidFill>
            <a:miter lim="800000"/>
            <a:headEnd/>
            <a:tailEnd/>
          </a:ln>
        </p:spPr>
        <p:txBody>
          <a:bodyPr>
            <a:spAutoFit/>
          </a:bodyPr>
          <a:lstStyle/>
          <a:p>
            <a:pPr>
              <a:lnSpc>
                <a:spcPct val="80000"/>
              </a:lnSpc>
            </a:pPr>
            <a:r>
              <a:rPr lang="en-US" altLang="zh-CN" sz="2000"/>
              <a:t>void </a:t>
            </a:r>
            <a:r>
              <a:rPr lang="en-US" altLang="zh-CN" sz="2000">
                <a:solidFill>
                  <a:srgbClr val="FF3300"/>
                </a:solidFill>
              </a:rPr>
              <a:t>hanoi(1,a,b,c)</a:t>
            </a:r>
          </a:p>
          <a:p>
            <a:pPr>
              <a:lnSpc>
                <a:spcPct val="80000"/>
              </a:lnSpc>
            </a:pPr>
            <a:r>
              <a:rPr lang="en-US" altLang="zh-CN" sz="2000">
                <a:sym typeface="Symbol" pitchFamily="18" charset="2"/>
              </a:rPr>
              <a:t>{  if 1==1</a:t>
            </a:r>
          </a:p>
          <a:p>
            <a:pPr>
              <a:lnSpc>
                <a:spcPct val="80000"/>
              </a:lnSpc>
            </a:pPr>
            <a:r>
              <a:rPr lang="en-US" altLang="zh-CN" sz="2000">
                <a:sym typeface="Symbol" pitchFamily="18" charset="2"/>
              </a:rPr>
              <a:t>          </a:t>
            </a:r>
            <a:r>
              <a:rPr lang="en-US" altLang="zh-CN" sz="2000">
                <a:solidFill>
                  <a:schemeClr val="accent2"/>
                </a:solidFill>
                <a:sym typeface="Symbol" pitchFamily="18" charset="2"/>
              </a:rPr>
              <a:t>move(a,1,c)</a:t>
            </a:r>
            <a:r>
              <a:rPr lang="en-US" altLang="zh-CN" sz="2000">
                <a:sym typeface="Symbol" pitchFamily="18" charset="2"/>
              </a:rPr>
              <a:t> ;</a:t>
            </a:r>
          </a:p>
          <a:p>
            <a:pPr>
              <a:lnSpc>
                <a:spcPct val="80000"/>
              </a:lnSpc>
            </a:pPr>
            <a:r>
              <a:rPr lang="en-US" altLang="zh-CN" sz="2000">
                <a:sym typeface="Symbol" pitchFamily="18" charset="2"/>
              </a:rPr>
              <a:t>    else    {…… }</a:t>
            </a:r>
          </a:p>
          <a:p>
            <a:pPr>
              <a:lnSpc>
                <a:spcPct val="80000"/>
              </a:lnSpc>
            </a:pPr>
            <a:r>
              <a:rPr lang="en-US" altLang="zh-CN" sz="2000">
                <a:sym typeface="Symbol" pitchFamily="18" charset="2"/>
              </a:rPr>
              <a:t>}</a:t>
            </a:r>
            <a:endParaRPr lang="en-US" altLang="zh-CN" sz="2000"/>
          </a:p>
        </p:txBody>
      </p:sp>
      <p:sp>
        <p:nvSpPr>
          <p:cNvPr id="661523" name="Line 19"/>
          <p:cNvSpPr>
            <a:spLocks noChangeShapeType="1"/>
          </p:cNvSpPr>
          <p:nvPr/>
        </p:nvSpPr>
        <p:spPr bwMode="auto">
          <a:xfrm flipV="1">
            <a:off x="6019800" y="5329237"/>
            <a:ext cx="381000" cy="609600"/>
          </a:xfrm>
          <a:prstGeom prst="line">
            <a:avLst/>
          </a:prstGeom>
          <a:noFill/>
          <a:ln w="57150">
            <a:solidFill>
              <a:srgbClr val="33CC33"/>
            </a:solidFill>
            <a:round/>
            <a:headEnd/>
            <a:tailEnd type="triangle" w="med" len="med"/>
          </a:ln>
        </p:spPr>
        <p:txBody>
          <a:bodyPr wrap="none" anchor="ctr"/>
          <a:lstStyle/>
          <a:p>
            <a:endParaRPr lang="zh-CN" altLang="en-US"/>
          </a:p>
        </p:txBody>
      </p:sp>
      <p:sp>
        <p:nvSpPr>
          <p:cNvPr id="661524" name="Line 20"/>
          <p:cNvSpPr>
            <a:spLocks noChangeShapeType="1"/>
          </p:cNvSpPr>
          <p:nvPr/>
        </p:nvSpPr>
        <p:spPr bwMode="auto">
          <a:xfrm flipH="1" flipV="1">
            <a:off x="6096000" y="6015037"/>
            <a:ext cx="304800" cy="685800"/>
          </a:xfrm>
          <a:prstGeom prst="line">
            <a:avLst/>
          </a:prstGeom>
          <a:noFill/>
          <a:ln w="57150">
            <a:solidFill>
              <a:srgbClr val="A50021"/>
            </a:solidFill>
            <a:round/>
            <a:headEnd/>
            <a:tailEnd type="triangle" w="med" len="med"/>
          </a:ln>
        </p:spPr>
        <p:txBody>
          <a:bodyPr wrap="none" anchor="ctr"/>
          <a:lstStyle/>
          <a:p>
            <a:endParaRPr lang="zh-CN" altLang="en-US"/>
          </a:p>
        </p:txBody>
      </p:sp>
      <p:sp>
        <p:nvSpPr>
          <p:cNvPr id="125974" name="Text Box 21"/>
          <p:cNvSpPr txBox="1">
            <a:spLocks noChangeArrowheads="1"/>
          </p:cNvSpPr>
          <p:nvPr/>
        </p:nvSpPr>
        <p:spPr bwMode="auto">
          <a:xfrm>
            <a:off x="762000" y="6167437"/>
            <a:ext cx="2286000" cy="457200"/>
          </a:xfrm>
          <a:prstGeom prst="rect">
            <a:avLst/>
          </a:prstGeom>
          <a:noFill/>
          <a:ln w="9525">
            <a:noFill/>
            <a:miter lim="800000"/>
            <a:headEnd/>
            <a:tailEnd/>
          </a:ln>
        </p:spPr>
        <p:txBody>
          <a:bodyPr>
            <a:spAutoFit/>
          </a:bodyPr>
          <a:lstStyle/>
          <a:p>
            <a:pPr>
              <a:spcBef>
                <a:spcPct val="50000"/>
              </a:spcBef>
            </a:pPr>
            <a:r>
              <a:rPr lang="en-US" altLang="zh-CN"/>
              <a:t>a         b           c</a:t>
            </a:r>
          </a:p>
        </p:txBody>
      </p:sp>
      <p:sp>
        <p:nvSpPr>
          <p:cNvPr id="125975" name="Line 22"/>
          <p:cNvSpPr>
            <a:spLocks noChangeShapeType="1"/>
          </p:cNvSpPr>
          <p:nvPr/>
        </p:nvSpPr>
        <p:spPr bwMode="auto">
          <a:xfrm>
            <a:off x="304800" y="6243637"/>
            <a:ext cx="2819400" cy="0"/>
          </a:xfrm>
          <a:prstGeom prst="line">
            <a:avLst/>
          </a:prstGeom>
          <a:noFill/>
          <a:ln w="9525">
            <a:solidFill>
              <a:schemeClr val="tx1"/>
            </a:solidFill>
            <a:round/>
            <a:headEnd/>
            <a:tailEnd/>
          </a:ln>
        </p:spPr>
        <p:txBody>
          <a:bodyPr wrap="none" anchor="ctr"/>
          <a:lstStyle/>
          <a:p>
            <a:endParaRPr lang="zh-CN" altLang="en-US"/>
          </a:p>
        </p:txBody>
      </p:sp>
      <p:sp>
        <p:nvSpPr>
          <p:cNvPr id="125976" name="Line 23"/>
          <p:cNvSpPr>
            <a:spLocks noChangeShapeType="1"/>
          </p:cNvSpPr>
          <p:nvPr/>
        </p:nvSpPr>
        <p:spPr bwMode="auto">
          <a:xfrm>
            <a:off x="838200" y="4643437"/>
            <a:ext cx="0" cy="1600200"/>
          </a:xfrm>
          <a:prstGeom prst="line">
            <a:avLst/>
          </a:prstGeom>
          <a:noFill/>
          <a:ln w="9525">
            <a:solidFill>
              <a:schemeClr val="tx1"/>
            </a:solidFill>
            <a:round/>
            <a:headEnd/>
            <a:tailEnd/>
          </a:ln>
        </p:spPr>
        <p:txBody>
          <a:bodyPr wrap="none" anchor="ctr"/>
          <a:lstStyle/>
          <a:p>
            <a:endParaRPr lang="zh-CN" altLang="en-US"/>
          </a:p>
        </p:txBody>
      </p:sp>
      <p:sp>
        <p:nvSpPr>
          <p:cNvPr id="125977" name="Line 24"/>
          <p:cNvSpPr>
            <a:spLocks noChangeShapeType="1"/>
          </p:cNvSpPr>
          <p:nvPr/>
        </p:nvSpPr>
        <p:spPr bwMode="auto">
          <a:xfrm>
            <a:off x="1676400" y="4643437"/>
            <a:ext cx="0" cy="1600200"/>
          </a:xfrm>
          <a:prstGeom prst="line">
            <a:avLst/>
          </a:prstGeom>
          <a:noFill/>
          <a:ln w="9525">
            <a:solidFill>
              <a:schemeClr val="tx1"/>
            </a:solidFill>
            <a:round/>
            <a:headEnd/>
            <a:tailEnd/>
          </a:ln>
        </p:spPr>
        <p:txBody>
          <a:bodyPr wrap="none" anchor="ctr"/>
          <a:lstStyle/>
          <a:p>
            <a:endParaRPr lang="zh-CN" altLang="en-US"/>
          </a:p>
        </p:txBody>
      </p:sp>
      <p:sp>
        <p:nvSpPr>
          <p:cNvPr id="125978" name="Line 25"/>
          <p:cNvSpPr>
            <a:spLocks noChangeShapeType="1"/>
          </p:cNvSpPr>
          <p:nvPr/>
        </p:nvSpPr>
        <p:spPr bwMode="auto">
          <a:xfrm>
            <a:off x="2590800" y="4643437"/>
            <a:ext cx="0" cy="1600200"/>
          </a:xfrm>
          <a:prstGeom prst="line">
            <a:avLst/>
          </a:prstGeom>
          <a:noFill/>
          <a:ln w="9525">
            <a:solidFill>
              <a:schemeClr val="tx1"/>
            </a:solidFill>
            <a:round/>
            <a:headEnd/>
            <a:tailEnd/>
          </a:ln>
        </p:spPr>
        <p:txBody>
          <a:bodyPr wrap="none" anchor="ctr"/>
          <a:lstStyle/>
          <a:p>
            <a:endParaRPr lang="zh-CN" altLang="en-US"/>
          </a:p>
        </p:txBody>
      </p:sp>
      <p:sp>
        <p:nvSpPr>
          <p:cNvPr id="125979" name="Rectangle 26"/>
          <p:cNvSpPr>
            <a:spLocks noChangeArrowheads="1"/>
          </p:cNvSpPr>
          <p:nvPr/>
        </p:nvSpPr>
        <p:spPr bwMode="auto">
          <a:xfrm>
            <a:off x="381000" y="5938837"/>
            <a:ext cx="914400" cy="228600"/>
          </a:xfrm>
          <a:prstGeom prst="rect">
            <a:avLst/>
          </a:prstGeom>
          <a:noFill/>
          <a:ln w="9525">
            <a:solidFill>
              <a:schemeClr val="tx1"/>
            </a:solidFill>
            <a:miter lim="800000"/>
            <a:headEnd/>
            <a:tailEnd/>
          </a:ln>
        </p:spPr>
        <p:txBody>
          <a:bodyPr wrap="none" anchor="ctr"/>
          <a:lstStyle/>
          <a:p>
            <a:endParaRPr lang="zh-CN" altLang="en-US"/>
          </a:p>
        </p:txBody>
      </p:sp>
      <p:sp>
        <p:nvSpPr>
          <p:cNvPr id="125980" name="Rectangle 27"/>
          <p:cNvSpPr>
            <a:spLocks noChangeArrowheads="1"/>
          </p:cNvSpPr>
          <p:nvPr/>
        </p:nvSpPr>
        <p:spPr bwMode="auto">
          <a:xfrm>
            <a:off x="533400" y="5557837"/>
            <a:ext cx="609600" cy="228600"/>
          </a:xfrm>
          <a:prstGeom prst="rect">
            <a:avLst/>
          </a:prstGeom>
          <a:noFill/>
          <a:ln w="9525">
            <a:solidFill>
              <a:schemeClr val="tx1"/>
            </a:solidFill>
            <a:miter lim="800000"/>
            <a:headEnd/>
            <a:tailEnd/>
          </a:ln>
        </p:spPr>
        <p:txBody>
          <a:bodyPr wrap="none" anchor="ctr"/>
          <a:lstStyle/>
          <a:p>
            <a:endParaRPr lang="zh-CN" altLang="en-US"/>
          </a:p>
        </p:txBody>
      </p:sp>
      <p:sp>
        <p:nvSpPr>
          <p:cNvPr id="125981" name="Rectangle 28"/>
          <p:cNvSpPr>
            <a:spLocks noChangeArrowheads="1"/>
          </p:cNvSpPr>
          <p:nvPr/>
        </p:nvSpPr>
        <p:spPr bwMode="auto">
          <a:xfrm>
            <a:off x="609600" y="5176837"/>
            <a:ext cx="457200" cy="228600"/>
          </a:xfrm>
          <a:prstGeom prst="rect">
            <a:avLst/>
          </a:prstGeom>
          <a:noFill/>
          <a:ln w="9525">
            <a:solidFill>
              <a:schemeClr val="tx1"/>
            </a:solidFill>
            <a:miter lim="800000"/>
            <a:headEnd/>
            <a:tailEnd/>
          </a:ln>
        </p:spPr>
        <p:txBody>
          <a:bodyPr wrap="none" anchor="ctr"/>
          <a:lstStyle/>
          <a:p>
            <a:endParaRPr lang="zh-CN" altLang="en-US"/>
          </a:p>
        </p:txBody>
      </p:sp>
      <p:sp>
        <p:nvSpPr>
          <p:cNvPr id="661533" name="Rectangle 29"/>
          <p:cNvSpPr>
            <a:spLocks noChangeArrowheads="1"/>
          </p:cNvSpPr>
          <p:nvPr/>
        </p:nvSpPr>
        <p:spPr bwMode="auto">
          <a:xfrm>
            <a:off x="2362200" y="5329237"/>
            <a:ext cx="457200" cy="228600"/>
          </a:xfrm>
          <a:prstGeom prst="rect">
            <a:avLst/>
          </a:prstGeom>
          <a:noFill/>
          <a:ln w="9525">
            <a:solidFill>
              <a:schemeClr val="tx1"/>
            </a:solidFill>
            <a:miter lim="800000"/>
            <a:headEnd/>
            <a:tailEnd/>
          </a:ln>
        </p:spPr>
        <p:txBody>
          <a:bodyPr wrap="none" anchor="ctr"/>
          <a:lstStyle/>
          <a:p>
            <a:endParaRPr lang="zh-CN" altLang="en-US"/>
          </a:p>
        </p:txBody>
      </p:sp>
      <p:sp>
        <p:nvSpPr>
          <p:cNvPr id="661534" name="Rectangle 30"/>
          <p:cNvSpPr>
            <a:spLocks noChangeArrowheads="1"/>
          </p:cNvSpPr>
          <p:nvPr/>
        </p:nvSpPr>
        <p:spPr bwMode="auto">
          <a:xfrm>
            <a:off x="2286000" y="5634037"/>
            <a:ext cx="609600" cy="228600"/>
          </a:xfrm>
          <a:prstGeom prst="rect">
            <a:avLst/>
          </a:prstGeom>
          <a:noFill/>
          <a:ln w="9525">
            <a:solidFill>
              <a:schemeClr val="tx1"/>
            </a:solidFill>
            <a:miter lim="800000"/>
            <a:headEnd/>
            <a:tailEnd/>
          </a:ln>
        </p:spPr>
        <p:txBody>
          <a:bodyPr wrap="none" anchor="ctr"/>
          <a:lstStyle/>
          <a:p>
            <a:endParaRPr lang="zh-CN" altLang="en-US"/>
          </a:p>
        </p:txBody>
      </p:sp>
      <p:sp>
        <p:nvSpPr>
          <p:cNvPr id="661535" name="Rectangle 31"/>
          <p:cNvSpPr>
            <a:spLocks noChangeArrowheads="1"/>
          </p:cNvSpPr>
          <p:nvPr/>
        </p:nvSpPr>
        <p:spPr bwMode="auto">
          <a:xfrm>
            <a:off x="2141538" y="5919787"/>
            <a:ext cx="914400" cy="228600"/>
          </a:xfrm>
          <a:prstGeom prst="rect">
            <a:avLst/>
          </a:prstGeom>
          <a:noFill/>
          <a:ln w="9525">
            <a:solidFill>
              <a:schemeClr val="tx1"/>
            </a:solidFill>
            <a:miter lim="800000"/>
            <a:headEnd/>
            <a:tailEnd/>
          </a:ln>
        </p:spPr>
        <p:txBody>
          <a:bodyPr wrap="none" anchor="ctr"/>
          <a:lstStyle/>
          <a:p>
            <a:endParaRPr lang="zh-CN" altLang="en-US"/>
          </a:p>
        </p:txBody>
      </p:sp>
      <p:sp>
        <p:nvSpPr>
          <p:cNvPr id="661536" name="Rectangle 32"/>
          <p:cNvSpPr>
            <a:spLocks noChangeArrowheads="1"/>
          </p:cNvSpPr>
          <p:nvPr/>
        </p:nvSpPr>
        <p:spPr bwMode="auto">
          <a:xfrm>
            <a:off x="609600" y="5176837"/>
            <a:ext cx="457200" cy="228600"/>
          </a:xfrm>
          <a:prstGeom prst="rect">
            <a:avLst/>
          </a:prstGeom>
          <a:noFill/>
          <a:ln w="9525">
            <a:solidFill>
              <a:schemeClr val="bg1"/>
            </a:solidFill>
            <a:miter lim="800000"/>
            <a:headEnd/>
            <a:tailEnd/>
          </a:ln>
        </p:spPr>
        <p:txBody>
          <a:bodyPr wrap="none" anchor="ctr"/>
          <a:lstStyle/>
          <a:p>
            <a:endParaRPr lang="zh-CN" altLang="en-US"/>
          </a:p>
        </p:txBody>
      </p:sp>
      <p:sp>
        <p:nvSpPr>
          <p:cNvPr id="661537" name="Rectangle 33"/>
          <p:cNvSpPr>
            <a:spLocks noChangeArrowheads="1"/>
          </p:cNvSpPr>
          <p:nvPr/>
        </p:nvSpPr>
        <p:spPr bwMode="auto">
          <a:xfrm>
            <a:off x="2362200" y="5938837"/>
            <a:ext cx="457200" cy="228600"/>
          </a:xfrm>
          <a:prstGeom prst="rect">
            <a:avLst/>
          </a:prstGeom>
          <a:noFill/>
          <a:ln w="9525">
            <a:solidFill>
              <a:schemeClr val="tx1"/>
            </a:solidFill>
            <a:miter lim="800000"/>
            <a:headEnd/>
            <a:tailEnd/>
          </a:ln>
        </p:spPr>
        <p:txBody>
          <a:bodyPr wrap="none" anchor="ctr"/>
          <a:lstStyle/>
          <a:p>
            <a:endParaRPr lang="zh-CN" altLang="en-US"/>
          </a:p>
        </p:txBody>
      </p:sp>
      <p:sp>
        <p:nvSpPr>
          <p:cNvPr id="661538" name="Rectangle 34"/>
          <p:cNvSpPr>
            <a:spLocks noChangeArrowheads="1"/>
          </p:cNvSpPr>
          <p:nvPr/>
        </p:nvSpPr>
        <p:spPr bwMode="auto">
          <a:xfrm>
            <a:off x="533400" y="5557837"/>
            <a:ext cx="609600" cy="228600"/>
          </a:xfrm>
          <a:prstGeom prst="rect">
            <a:avLst/>
          </a:prstGeom>
          <a:noFill/>
          <a:ln w="9525">
            <a:solidFill>
              <a:schemeClr val="bg1"/>
            </a:solidFill>
            <a:miter lim="800000"/>
            <a:headEnd/>
            <a:tailEnd/>
          </a:ln>
        </p:spPr>
        <p:txBody>
          <a:bodyPr wrap="none" anchor="ctr"/>
          <a:lstStyle/>
          <a:p>
            <a:endParaRPr lang="zh-CN" altLang="en-US"/>
          </a:p>
        </p:txBody>
      </p:sp>
      <p:sp>
        <p:nvSpPr>
          <p:cNvPr id="661539" name="Rectangle 35"/>
          <p:cNvSpPr>
            <a:spLocks noChangeArrowheads="1"/>
          </p:cNvSpPr>
          <p:nvPr/>
        </p:nvSpPr>
        <p:spPr bwMode="auto">
          <a:xfrm>
            <a:off x="1371600" y="5938837"/>
            <a:ext cx="609600" cy="228600"/>
          </a:xfrm>
          <a:prstGeom prst="rect">
            <a:avLst/>
          </a:prstGeom>
          <a:noFill/>
          <a:ln w="9525">
            <a:solidFill>
              <a:schemeClr val="tx1"/>
            </a:solidFill>
            <a:miter lim="800000"/>
            <a:headEnd/>
            <a:tailEnd/>
          </a:ln>
        </p:spPr>
        <p:txBody>
          <a:bodyPr wrap="none" anchor="ctr"/>
          <a:lstStyle/>
          <a:p>
            <a:endParaRPr lang="zh-CN" altLang="en-US"/>
          </a:p>
        </p:txBody>
      </p:sp>
      <p:sp>
        <p:nvSpPr>
          <p:cNvPr id="661540" name="Rectangle 36"/>
          <p:cNvSpPr>
            <a:spLocks noChangeArrowheads="1"/>
          </p:cNvSpPr>
          <p:nvPr/>
        </p:nvSpPr>
        <p:spPr bwMode="auto">
          <a:xfrm>
            <a:off x="2362200" y="5938837"/>
            <a:ext cx="457200" cy="228600"/>
          </a:xfrm>
          <a:prstGeom prst="rect">
            <a:avLst/>
          </a:prstGeom>
          <a:noFill/>
          <a:ln w="9525">
            <a:solidFill>
              <a:schemeClr val="bg1"/>
            </a:solidFill>
            <a:miter lim="800000"/>
            <a:headEnd/>
            <a:tailEnd/>
          </a:ln>
        </p:spPr>
        <p:txBody>
          <a:bodyPr wrap="none" anchor="ctr"/>
          <a:lstStyle/>
          <a:p>
            <a:endParaRPr lang="zh-CN" altLang="en-US"/>
          </a:p>
        </p:txBody>
      </p:sp>
      <p:sp>
        <p:nvSpPr>
          <p:cNvPr id="661541" name="Rectangle 37"/>
          <p:cNvSpPr>
            <a:spLocks noChangeArrowheads="1"/>
          </p:cNvSpPr>
          <p:nvPr/>
        </p:nvSpPr>
        <p:spPr bwMode="auto">
          <a:xfrm>
            <a:off x="1447800" y="5557837"/>
            <a:ext cx="457200" cy="228600"/>
          </a:xfrm>
          <a:prstGeom prst="rect">
            <a:avLst/>
          </a:prstGeom>
          <a:noFill/>
          <a:ln w="9525">
            <a:solidFill>
              <a:schemeClr val="tx1"/>
            </a:solidFill>
            <a:miter lim="800000"/>
            <a:headEnd/>
            <a:tailEnd/>
          </a:ln>
        </p:spPr>
        <p:txBody>
          <a:bodyPr wrap="none" anchor="ctr"/>
          <a:lstStyle/>
          <a:p>
            <a:endParaRPr lang="zh-CN" altLang="en-US"/>
          </a:p>
        </p:txBody>
      </p:sp>
      <p:sp>
        <p:nvSpPr>
          <p:cNvPr id="661542" name="Rectangle 38"/>
          <p:cNvSpPr>
            <a:spLocks noChangeArrowheads="1"/>
          </p:cNvSpPr>
          <p:nvPr/>
        </p:nvSpPr>
        <p:spPr bwMode="auto">
          <a:xfrm>
            <a:off x="381000" y="5938837"/>
            <a:ext cx="914400" cy="228600"/>
          </a:xfrm>
          <a:prstGeom prst="rect">
            <a:avLst/>
          </a:prstGeom>
          <a:noFill/>
          <a:ln w="9525">
            <a:solidFill>
              <a:schemeClr val="bg1"/>
            </a:solidFill>
            <a:miter lim="800000"/>
            <a:headEnd/>
            <a:tailEnd/>
          </a:ln>
        </p:spPr>
        <p:txBody>
          <a:bodyPr wrap="none" anchor="ctr"/>
          <a:lstStyle/>
          <a:p>
            <a:endParaRPr lang="zh-CN" altLang="en-US"/>
          </a:p>
        </p:txBody>
      </p:sp>
      <p:sp>
        <p:nvSpPr>
          <p:cNvPr id="661543" name="Rectangle 39"/>
          <p:cNvSpPr>
            <a:spLocks noChangeArrowheads="1"/>
          </p:cNvSpPr>
          <p:nvPr/>
        </p:nvSpPr>
        <p:spPr bwMode="auto">
          <a:xfrm>
            <a:off x="1447800" y="5557837"/>
            <a:ext cx="457200" cy="228600"/>
          </a:xfrm>
          <a:prstGeom prst="rect">
            <a:avLst/>
          </a:prstGeom>
          <a:noFill/>
          <a:ln w="9525">
            <a:solidFill>
              <a:schemeClr val="bg1"/>
            </a:solidFill>
            <a:miter lim="800000"/>
            <a:headEnd/>
            <a:tailEnd/>
          </a:ln>
        </p:spPr>
        <p:txBody>
          <a:bodyPr wrap="none" anchor="ctr"/>
          <a:lstStyle/>
          <a:p>
            <a:endParaRPr lang="zh-CN" altLang="en-US"/>
          </a:p>
        </p:txBody>
      </p:sp>
      <p:sp>
        <p:nvSpPr>
          <p:cNvPr id="661544" name="Rectangle 40"/>
          <p:cNvSpPr>
            <a:spLocks noChangeArrowheads="1"/>
          </p:cNvSpPr>
          <p:nvPr/>
        </p:nvSpPr>
        <p:spPr bwMode="auto">
          <a:xfrm>
            <a:off x="609600" y="5938837"/>
            <a:ext cx="457200" cy="228600"/>
          </a:xfrm>
          <a:prstGeom prst="rect">
            <a:avLst/>
          </a:prstGeom>
          <a:noFill/>
          <a:ln w="9525">
            <a:solidFill>
              <a:schemeClr val="tx1"/>
            </a:solidFill>
            <a:miter lim="800000"/>
            <a:headEnd/>
            <a:tailEnd/>
          </a:ln>
        </p:spPr>
        <p:txBody>
          <a:bodyPr wrap="none" anchor="ctr"/>
          <a:lstStyle/>
          <a:p>
            <a:endParaRPr lang="zh-CN" altLang="en-US"/>
          </a:p>
        </p:txBody>
      </p:sp>
      <p:sp>
        <p:nvSpPr>
          <p:cNvPr id="661545" name="Rectangle 41"/>
          <p:cNvSpPr>
            <a:spLocks noChangeArrowheads="1"/>
          </p:cNvSpPr>
          <p:nvPr/>
        </p:nvSpPr>
        <p:spPr bwMode="auto">
          <a:xfrm>
            <a:off x="1371600" y="5938837"/>
            <a:ext cx="609600" cy="228600"/>
          </a:xfrm>
          <a:prstGeom prst="rect">
            <a:avLst/>
          </a:prstGeom>
          <a:noFill/>
          <a:ln w="9525">
            <a:solidFill>
              <a:schemeClr val="bg1"/>
            </a:solidFill>
            <a:miter lim="800000"/>
            <a:headEnd/>
            <a:tailEnd/>
          </a:ln>
        </p:spPr>
        <p:txBody>
          <a:bodyPr wrap="none" anchor="ctr"/>
          <a:lstStyle/>
          <a:p>
            <a:endParaRPr lang="zh-CN" altLang="en-US"/>
          </a:p>
        </p:txBody>
      </p:sp>
      <p:sp>
        <p:nvSpPr>
          <p:cNvPr id="661546" name="Rectangle 42"/>
          <p:cNvSpPr>
            <a:spLocks noChangeArrowheads="1"/>
          </p:cNvSpPr>
          <p:nvPr/>
        </p:nvSpPr>
        <p:spPr bwMode="auto">
          <a:xfrm>
            <a:off x="609600" y="5938837"/>
            <a:ext cx="457200" cy="228600"/>
          </a:xfrm>
          <a:prstGeom prst="rect">
            <a:avLst/>
          </a:prstGeom>
          <a:noFill/>
          <a:ln w="9525">
            <a:solidFill>
              <a:schemeClr val="bg1"/>
            </a:solidFill>
            <a:miter lim="800000"/>
            <a:headEnd/>
            <a:tailEnd/>
          </a:ln>
        </p:spPr>
        <p:txBody>
          <a:bodyPr wrap="none" anchor="ctr"/>
          <a:lstStyle/>
          <a:p>
            <a:endParaRPr lang="zh-CN" altLang="en-US"/>
          </a:p>
        </p:txBody>
      </p:sp>
      <p:sp>
        <p:nvSpPr>
          <p:cNvPr id="661548" name="Rectangle 44"/>
          <p:cNvSpPr>
            <a:spLocks noChangeArrowheads="1"/>
          </p:cNvSpPr>
          <p:nvPr/>
        </p:nvSpPr>
        <p:spPr bwMode="auto">
          <a:xfrm>
            <a:off x="7150100" y="1250950"/>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49" name="Rectangle 45"/>
          <p:cNvSpPr>
            <a:spLocks noChangeArrowheads="1"/>
          </p:cNvSpPr>
          <p:nvPr/>
        </p:nvSpPr>
        <p:spPr bwMode="auto">
          <a:xfrm>
            <a:off x="4346575" y="2365375"/>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50" name="Rectangle 46"/>
          <p:cNvSpPr>
            <a:spLocks noChangeArrowheads="1"/>
          </p:cNvSpPr>
          <p:nvPr/>
        </p:nvSpPr>
        <p:spPr bwMode="auto">
          <a:xfrm>
            <a:off x="7227888" y="2725737"/>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51" name="Rectangle 47"/>
          <p:cNvSpPr>
            <a:spLocks noChangeArrowheads="1"/>
          </p:cNvSpPr>
          <p:nvPr/>
        </p:nvSpPr>
        <p:spPr bwMode="auto">
          <a:xfrm>
            <a:off x="971550" y="2984500"/>
            <a:ext cx="1304925" cy="269875"/>
          </a:xfrm>
          <a:prstGeom prst="rect">
            <a:avLst/>
          </a:prstGeom>
          <a:noFill/>
          <a:ln w="28575">
            <a:solidFill>
              <a:schemeClr val="tx1"/>
            </a:solidFill>
            <a:miter lim="800000"/>
            <a:headEnd/>
            <a:tailEnd/>
          </a:ln>
        </p:spPr>
        <p:txBody>
          <a:bodyPr wrap="none" anchor="ctr"/>
          <a:lstStyle/>
          <a:p>
            <a:endParaRPr lang="zh-CN" altLang="en-US"/>
          </a:p>
        </p:txBody>
      </p:sp>
      <p:sp>
        <p:nvSpPr>
          <p:cNvPr id="661552" name="Rectangle 48"/>
          <p:cNvSpPr>
            <a:spLocks noChangeArrowheads="1"/>
          </p:cNvSpPr>
          <p:nvPr/>
        </p:nvSpPr>
        <p:spPr bwMode="auto">
          <a:xfrm>
            <a:off x="7092950" y="4254500"/>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53" name="Rectangle 49"/>
          <p:cNvSpPr>
            <a:spLocks noChangeArrowheads="1"/>
          </p:cNvSpPr>
          <p:nvPr/>
        </p:nvSpPr>
        <p:spPr bwMode="auto">
          <a:xfrm>
            <a:off x="4437063" y="5514975"/>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54" name="Rectangle 50"/>
          <p:cNvSpPr>
            <a:spLocks noChangeArrowheads="1"/>
          </p:cNvSpPr>
          <p:nvPr/>
        </p:nvSpPr>
        <p:spPr bwMode="auto">
          <a:xfrm>
            <a:off x="7046913" y="5875337"/>
            <a:ext cx="1304925" cy="269875"/>
          </a:xfrm>
          <a:prstGeom prst="rect">
            <a:avLst/>
          </a:prstGeom>
          <a:noFill/>
          <a:ln w="28575" algn="ctr">
            <a:solidFill>
              <a:schemeClr val="tx1"/>
            </a:solidFill>
            <a:miter lim="800000"/>
            <a:headEnd/>
            <a:tailEnd/>
          </a:ln>
        </p:spPr>
        <p:txBody>
          <a:bodyPr wrap="none" anchor="ctr"/>
          <a:lstStyle/>
          <a:p>
            <a:endParaRPr lang="zh-CN" altLang="en-US"/>
          </a:p>
        </p:txBody>
      </p:sp>
      <p:sp>
        <p:nvSpPr>
          <p:cNvPr id="661555" name="Text Box 51"/>
          <p:cNvSpPr txBox="1">
            <a:spLocks noChangeArrowheads="1"/>
          </p:cNvSpPr>
          <p:nvPr/>
        </p:nvSpPr>
        <p:spPr bwMode="auto">
          <a:xfrm>
            <a:off x="0" y="4210050"/>
            <a:ext cx="3375025" cy="2647950"/>
          </a:xfrm>
          <a:prstGeom prst="rect">
            <a:avLst/>
          </a:prstGeom>
          <a:solidFill>
            <a:schemeClr val="accent1"/>
          </a:solidFill>
          <a:ln w="9525">
            <a:noFill/>
            <a:miter lim="800000"/>
            <a:headEnd/>
            <a:tailEnd/>
          </a:ln>
        </p:spPr>
        <p:txBody>
          <a:bodyPr>
            <a:spAutoFit/>
          </a:bodyPr>
          <a:lstStyle/>
          <a:p>
            <a:r>
              <a:rPr lang="en-US" altLang="zh-CN"/>
              <a:t>hanoi (n, x, y,z)</a:t>
            </a:r>
          </a:p>
          <a:p>
            <a:r>
              <a:rPr lang="en-US" altLang="zh-CN" b="1"/>
              <a:t>{ if </a:t>
            </a:r>
            <a:r>
              <a:rPr lang="en-US" altLang="zh-CN"/>
              <a:t>(n</a:t>
            </a:r>
            <a:r>
              <a:rPr lang="en-US" altLang="zh-CN" b="1"/>
              <a:t>==</a:t>
            </a:r>
            <a:r>
              <a:rPr lang="en-US" altLang="zh-CN"/>
              <a:t>1)</a:t>
            </a:r>
          </a:p>
          <a:p>
            <a:pPr eaLnBrk="0" hangingPunct="0"/>
            <a:r>
              <a:rPr lang="en-US" altLang="zh-CN"/>
              <a:t>    move(x, 1, z);   </a:t>
            </a:r>
          </a:p>
          <a:p>
            <a:pPr eaLnBrk="0" hangingPunct="0"/>
            <a:r>
              <a:rPr lang="en-US" altLang="zh-CN" b="1"/>
              <a:t>  else</a:t>
            </a:r>
          </a:p>
          <a:p>
            <a:pPr eaLnBrk="0" hangingPunct="0"/>
            <a:r>
              <a:rPr lang="en-US" altLang="zh-CN" b="1"/>
              <a:t>   {</a:t>
            </a:r>
            <a:r>
              <a:rPr lang="en-US" altLang="zh-CN"/>
              <a:t>  hanoi(n-1, x, z, y); </a:t>
            </a:r>
            <a:endParaRPr lang="en-US" altLang="zh-CN">
              <a:solidFill>
                <a:srgbClr val="A50021"/>
              </a:solidFill>
              <a:latin typeface="楷体_GB2312"/>
              <a:ea typeface="楷体_GB2312"/>
              <a:cs typeface="楷体_GB2312"/>
            </a:endParaRPr>
          </a:p>
          <a:p>
            <a:pPr eaLnBrk="0" hangingPunct="0"/>
            <a:r>
              <a:rPr lang="en-US" altLang="zh-CN"/>
              <a:t>      move(x, n, z);     </a:t>
            </a:r>
          </a:p>
          <a:p>
            <a:pPr eaLnBrk="0" hangingPunct="0"/>
            <a:r>
              <a:rPr lang="en-US" altLang="zh-CN"/>
              <a:t>      hanoi(n-1, y, x, z); </a:t>
            </a:r>
            <a:r>
              <a:rPr lang="en-US" altLang="zh-CN" b="1"/>
              <a:t>}}</a:t>
            </a:r>
          </a:p>
        </p:txBody>
      </p:sp>
      <p:sp>
        <p:nvSpPr>
          <p:cNvPr id="661557" name="Text Box 53"/>
          <p:cNvSpPr txBox="1">
            <a:spLocks noChangeArrowheads="1"/>
          </p:cNvSpPr>
          <p:nvPr/>
        </p:nvSpPr>
        <p:spPr bwMode="auto">
          <a:xfrm>
            <a:off x="26988" y="4210050"/>
            <a:ext cx="3375025" cy="2647950"/>
          </a:xfrm>
          <a:prstGeom prst="rect">
            <a:avLst/>
          </a:prstGeom>
          <a:solidFill>
            <a:schemeClr val="accent1"/>
          </a:solidFill>
          <a:ln w="9525">
            <a:noFill/>
            <a:miter lim="800000"/>
            <a:headEnd/>
            <a:tailEnd/>
          </a:ln>
        </p:spPr>
        <p:txBody>
          <a:bodyPr>
            <a:spAutoFit/>
          </a:bodyPr>
          <a:lstStyle/>
          <a:p>
            <a:r>
              <a:rPr lang="en-US" altLang="zh-CN"/>
              <a:t>hanoi (n, x, y,z)</a:t>
            </a:r>
          </a:p>
          <a:p>
            <a:r>
              <a:rPr lang="en-US" altLang="zh-CN" b="1"/>
              <a:t>{ if </a:t>
            </a:r>
            <a:r>
              <a:rPr lang="en-US" altLang="zh-CN"/>
              <a:t>(n</a:t>
            </a:r>
            <a:r>
              <a:rPr lang="en-US" altLang="zh-CN" b="1"/>
              <a:t>==</a:t>
            </a:r>
            <a:r>
              <a:rPr lang="en-US" altLang="zh-CN"/>
              <a:t>1)</a:t>
            </a:r>
          </a:p>
          <a:p>
            <a:pPr eaLnBrk="0" hangingPunct="0"/>
            <a:r>
              <a:rPr lang="en-US" altLang="zh-CN"/>
              <a:t>    move(x, 1, z);   </a:t>
            </a:r>
          </a:p>
          <a:p>
            <a:pPr eaLnBrk="0" hangingPunct="0"/>
            <a:r>
              <a:rPr lang="en-US" altLang="zh-CN" b="1"/>
              <a:t>  else</a:t>
            </a:r>
          </a:p>
          <a:p>
            <a:pPr eaLnBrk="0" hangingPunct="0"/>
            <a:r>
              <a:rPr lang="en-US" altLang="zh-CN" b="1"/>
              <a:t>   {</a:t>
            </a:r>
            <a:r>
              <a:rPr lang="en-US" altLang="zh-CN"/>
              <a:t>  hanoi(n-1, x, z, y); </a:t>
            </a:r>
            <a:endParaRPr lang="en-US" altLang="zh-CN">
              <a:solidFill>
                <a:srgbClr val="A50021"/>
              </a:solidFill>
              <a:latin typeface="楷体_GB2312"/>
              <a:ea typeface="楷体_GB2312"/>
              <a:cs typeface="楷体_GB2312"/>
            </a:endParaRPr>
          </a:p>
          <a:p>
            <a:pPr eaLnBrk="0" hangingPunct="0"/>
            <a:r>
              <a:rPr lang="en-US" altLang="zh-CN"/>
              <a:t>      move(x, n, z);     </a:t>
            </a:r>
          </a:p>
          <a:p>
            <a:pPr eaLnBrk="0" hangingPunct="0"/>
            <a:r>
              <a:rPr lang="en-US" altLang="zh-CN"/>
              <a:t>      hanoi(n-1, y, x, z); </a:t>
            </a:r>
            <a:r>
              <a:rPr lang="en-US" altLang="zh-CN" b="1"/>
              <a:t>}}</a:t>
            </a:r>
          </a:p>
        </p:txBody>
      </p:sp>
    </p:spTree>
    <p:extLst>
      <p:ext uri="{BB962C8B-B14F-4D97-AF65-F5344CB8AC3E}">
        <p14:creationId xmlns:p14="http://schemas.microsoft.com/office/powerpoint/2010/main" val="8539230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1555"/>
                                        </p:tgtEl>
                                        <p:attrNameLst>
                                          <p:attrName>style.visibility</p:attrName>
                                        </p:attrNameLst>
                                      </p:cBhvr>
                                      <p:to>
                                        <p:strVal val="visible"/>
                                      </p:to>
                                    </p:set>
                                  </p:childTnLst>
                                  <p:subTnLst>
                                    <p:set>
                                      <p:cBhvr override="childStyle">
                                        <p:cTn dur="1" fill="hold" display="0" masterRel="nextClick" afterEffect="1"/>
                                        <p:tgtEl>
                                          <p:spTgt spid="66155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661509"/>
                                        </p:tgtEl>
                                        <p:attrNameLst>
                                          <p:attrName>style.visibility</p:attrName>
                                        </p:attrNameLst>
                                      </p:cBhvr>
                                      <p:to>
                                        <p:strVal val="visible"/>
                                      </p:to>
                                    </p:set>
                                    <p:animEffect transition="in" filter="wipe(down)">
                                      <p:cBhvr>
                                        <p:cTn id="11" dur="500"/>
                                        <p:tgtEl>
                                          <p:spTgt spid="6615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61511"/>
                                        </p:tgtEl>
                                        <p:attrNameLst>
                                          <p:attrName>style.visibility</p:attrName>
                                        </p:attrNameLst>
                                      </p:cBhvr>
                                      <p:to>
                                        <p:strVal val="visible"/>
                                      </p:to>
                                    </p:set>
                                    <p:animEffect transition="in" filter="wipe(down)">
                                      <p:cBhvr>
                                        <p:cTn id="16" dur="500"/>
                                        <p:tgtEl>
                                          <p:spTgt spid="661511"/>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661548"/>
                                        </p:tgtEl>
                                        <p:attrNameLst>
                                          <p:attrName>style.visibility</p:attrName>
                                        </p:attrNameLst>
                                      </p:cBhvr>
                                      <p:to>
                                        <p:strVal val="visible"/>
                                      </p:to>
                                    </p:set>
                                    <p:anim calcmode="lin" valueType="num">
                                      <p:cBhvr>
                                        <p:cTn id="21" dur="500" fill="hold"/>
                                        <p:tgtEl>
                                          <p:spTgt spid="661548"/>
                                        </p:tgtEl>
                                        <p:attrNameLst>
                                          <p:attrName>ppt_w</p:attrName>
                                        </p:attrNameLst>
                                      </p:cBhvr>
                                      <p:tavLst>
                                        <p:tav tm="0">
                                          <p:val>
                                            <p:fltVal val="0"/>
                                          </p:val>
                                        </p:tav>
                                        <p:tav tm="100000">
                                          <p:val>
                                            <p:strVal val="#ppt_w"/>
                                          </p:val>
                                        </p:tav>
                                      </p:tavLst>
                                    </p:anim>
                                    <p:anim calcmode="lin" valueType="num">
                                      <p:cBhvr>
                                        <p:cTn id="22" dur="500" fill="hold"/>
                                        <p:tgtEl>
                                          <p:spTgt spid="661548"/>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61536"/>
                                        </p:tgtEl>
                                        <p:attrNameLst>
                                          <p:attrName>style.visibility</p:attrName>
                                        </p:attrNameLst>
                                      </p:cBhvr>
                                      <p:to>
                                        <p:strVal val="visible"/>
                                      </p:to>
                                    </p:set>
                                    <p:anim calcmode="lin" valueType="num">
                                      <p:cBhvr additive="base">
                                        <p:cTn id="27" dur="500" fill="hold"/>
                                        <p:tgtEl>
                                          <p:spTgt spid="661536"/>
                                        </p:tgtEl>
                                        <p:attrNameLst>
                                          <p:attrName>ppt_x</p:attrName>
                                        </p:attrNameLst>
                                      </p:cBhvr>
                                      <p:tavLst>
                                        <p:tav tm="0">
                                          <p:val>
                                            <p:strVal val="0-#ppt_w/2"/>
                                          </p:val>
                                        </p:tav>
                                        <p:tav tm="100000">
                                          <p:val>
                                            <p:strVal val="#ppt_x"/>
                                          </p:val>
                                        </p:tav>
                                      </p:tavLst>
                                    </p:anim>
                                    <p:anim calcmode="lin" valueType="num">
                                      <p:cBhvr additive="base">
                                        <p:cTn id="28" dur="500" fill="hold"/>
                                        <p:tgtEl>
                                          <p:spTgt spid="6615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61537"/>
                                        </p:tgtEl>
                                        <p:attrNameLst>
                                          <p:attrName>style.visibility</p:attrName>
                                        </p:attrNameLst>
                                      </p:cBhvr>
                                      <p:to>
                                        <p:strVal val="visible"/>
                                      </p:to>
                                    </p:set>
                                    <p:anim calcmode="lin" valueType="num">
                                      <p:cBhvr additive="base">
                                        <p:cTn id="33" dur="500" fill="hold"/>
                                        <p:tgtEl>
                                          <p:spTgt spid="661537"/>
                                        </p:tgtEl>
                                        <p:attrNameLst>
                                          <p:attrName>ppt_x</p:attrName>
                                        </p:attrNameLst>
                                      </p:cBhvr>
                                      <p:tavLst>
                                        <p:tav tm="0">
                                          <p:val>
                                            <p:strVal val="0-#ppt_w/2"/>
                                          </p:val>
                                        </p:tav>
                                        <p:tav tm="100000">
                                          <p:val>
                                            <p:strVal val="#ppt_x"/>
                                          </p:val>
                                        </p:tav>
                                      </p:tavLst>
                                    </p:anim>
                                    <p:anim calcmode="lin" valueType="num">
                                      <p:cBhvr additive="base">
                                        <p:cTn id="34" dur="500" fill="hold"/>
                                        <p:tgtEl>
                                          <p:spTgt spid="6615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3" name="WHOOSH.WAV"/>
                                        </p:tgtEl>
                                      </p:cMediaNode>
                                    </p:audio>
                                  </p:sub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661512"/>
                                        </p:tgtEl>
                                        <p:attrNameLst>
                                          <p:attrName>style.visibility</p:attrName>
                                        </p:attrNameLst>
                                      </p:cBhvr>
                                      <p:to>
                                        <p:strVal val="visible"/>
                                      </p:to>
                                    </p:set>
                                    <p:animEffect transition="in" filter="wipe(up)">
                                      <p:cBhvr>
                                        <p:cTn id="39" dur="500"/>
                                        <p:tgtEl>
                                          <p:spTgt spid="661512"/>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661549"/>
                                        </p:tgtEl>
                                        <p:attrNameLst>
                                          <p:attrName>style.visibility</p:attrName>
                                        </p:attrNameLst>
                                      </p:cBhvr>
                                      <p:to>
                                        <p:strVal val="visible"/>
                                      </p:to>
                                    </p:set>
                                    <p:anim calcmode="lin" valueType="num">
                                      <p:cBhvr>
                                        <p:cTn id="44" dur="500" fill="hold"/>
                                        <p:tgtEl>
                                          <p:spTgt spid="661549"/>
                                        </p:tgtEl>
                                        <p:attrNameLst>
                                          <p:attrName>ppt_w</p:attrName>
                                        </p:attrNameLst>
                                      </p:cBhvr>
                                      <p:tavLst>
                                        <p:tav tm="0">
                                          <p:val>
                                            <p:fltVal val="0"/>
                                          </p:val>
                                        </p:tav>
                                        <p:tav tm="100000">
                                          <p:val>
                                            <p:strVal val="#ppt_w"/>
                                          </p:val>
                                        </p:tav>
                                      </p:tavLst>
                                    </p:anim>
                                    <p:anim calcmode="lin" valueType="num">
                                      <p:cBhvr>
                                        <p:cTn id="45" dur="500" fill="hold"/>
                                        <p:tgtEl>
                                          <p:spTgt spid="661549"/>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661538"/>
                                        </p:tgtEl>
                                        <p:attrNameLst>
                                          <p:attrName>style.visibility</p:attrName>
                                        </p:attrNameLst>
                                      </p:cBhvr>
                                      <p:to>
                                        <p:strVal val="visible"/>
                                      </p:to>
                                    </p:set>
                                    <p:anim calcmode="lin" valueType="num">
                                      <p:cBhvr additive="base">
                                        <p:cTn id="50" dur="500" fill="hold"/>
                                        <p:tgtEl>
                                          <p:spTgt spid="661538"/>
                                        </p:tgtEl>
                                        <p:attrNameLst>
                                          <p:attrName>ppt_x</p:attrName>
                                        </p:attrNameLst>
                                      </p:cBhvr>
                                      <p:tavLst>
                                        <p:tav tm="0">
                                          <p:val>
                                            <p:strVal val="0-#ppt_w/2"/>
                                          </p:val>
                                        </p:tav>
                                        <p:tav tm="100000">
                                          <p:val>
                                            <p:strVal val="#ppt_x"/>
                                          </p:val>
                                        </p:tav>
                                      </p:tavLst>
                                    </p:anim>
                                    <p:anim calcmode="lin" valueType="num">
                                      <p:cBhvr additive="base">
                                        <p:cTn id="51" dur="500" fill="hold"/>
                                        <p:tgtEl>
                                          <p:spTgt spid="6615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3" name="WHOOSH.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661539"/>
                                        </p:tgtEl>
                                        <p:attrNameLst>
                                          <p:attrName>style.visibility</p:attrName>
                                        </p:attrNameLst>
                                      </p:cBhvr>
                                      <p:to>
                                        <p:strVal val="visible"/>
                                      </p:to>
                                    </p:set>
                                    <p:anim calcmode="lin" valueType="num">
                                      <p:cBhvr additive="base">
                                        <p:cTn id="56" dur="500" fill="hold"/>
                                        <p:tgtEl>
                                          <p:spTgt spid="661539"/>
                                        </p:tgtEl>
                                        <p:attrNameLst>
                                          <p:attrName>ppt_x</p:attrName>
                                        </p:attrNameLst>
                                      </p:cBhvr>
                                      <p:tavLst>
                                        <p:tav tm="0">
                                          <p:val>
                                            <p:strVal val="0-#ppt_w/2"/>
                                          </p:val>
                                        </p:tav>
                                        <p:tav tm="100000">
                                          <p:val>
                                            <p:strVal val="#ppt_x"/>
                                          </p:val>
                                        </p:tav>
                                      </p:tavLst>
                                    </p:anim>
                                    <p:anim calcmode="lin" valueType="num">
                                      <p:cBhvr additive="base">
                                        <p:cTn id="57" dur="500" fill="hold"/>
                                        <p:tgtEl>
                                          <p:spTgt spid="6615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3" name="WHOOSH.WAV"/>
                                        </p:tgtEl>
                                      </p:cMediaNode>
                                    </p:audio>
                                  </p:sub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61514"/>
                                        </p:tgtEl>
                                        <p:attrNameLst>
                                          <p:attrName>style.visibility</p:attrName>
                                        </p:attrNameLst>
                                      </p:cBhvr>
                                      <p:to>
                                        <p:strVal val="visible"/>
                                      </p:to>
                                    </p:set>
                                    <p:animEffect transition="in" filter="wipe(down)">
                                      <p:cBhvr>
                                        <p:cTn id="62" dur="500"/>
                                        <p:tgtEl>
                                          <p:spTgt spid="661514"/>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661550"/>
                                        </p:tgtEl>
                                        <p:attrNameLst>
                                          <p:attrName>style.visibility</p:attrName>
                                        </p:attrNameLst>
                                      </p:cBhvr>
                                      <p:to>
                                        <p:strVal val="visible"/>
                                      </p:to>
                                    </p:set>
                                    <p:anim calcmode="lin" valueType="num">
                                      <p:cBhvr>
                                        <p:cTn id="67" dur="500" fill="hold"/>
                                        <p:tgtEl>
                                          <p:spTgt spid="661550"/>
                                        </p:tgtEl>
                                        <p:attrNameLst>
                                          <p:attrName>ppt_w</p:attrName>
                                        </p:attrNameLst>
                                      </p:cBhvr>
                                      <p:tavLst>
                                        <p:tav tm="0">
                                          <p:val>
                                            <p:fltVal val="0"/>
                                          </p:val>
                                        </p:tav>
                                        <p:tav tm="100000">
                                          <p:val>
                                            <p:strVal val="#ppt_w"/>
                                          </p:val>
                                        </p:tav>
                                      </p:tavLst>
                                    </p:anim>
                                    <p:anim calcmode="lin" valueType="num">
                                      <p:cBhvr>
                                        <p:cTn id="68" dur="500" fill="hold"/>
                                        <p:tgtEl>
                                          <p:spTgt spid="661550"/>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661540"/>
                                        </p:tgtEl>
                                        <p:attrNameLst>
                                          <p:attrName>style.visibility</p:attrName>
                                        </p:attrNameLst>
                                      </p:cBhvr>
                                      <p:to>
                                        <p:strVal val="visible"/>
                                      </p:to>
                                    </p:set>
                                    <p:anim calcmode="lin" valueType="num">
                                      <p:cBhvr additive="base">
                                        <p:cTn id="73" dur="500" fill="hold"/>
                                        <p:tgtEl>
                                          <p:spTgt spid="661540"/>
                                        </p:tgtEl>
                                        <p:attrNameLst>
                                          <p:attrName>ppt_x</p:attrName>
                                        </p:attrNameLst>
                                      </p:cBhvr>
                                      <p:tavLst>
                                        <p:tav tm="0">
                                          <p:val>
                                            <p:strVal val="0-#ppt_w/2"/>
                                          </p:val>
                                        </p:tav>
                                        <p:tav tm="100000">
                                          <p:val>
                                            <p:strVal val="#ppt_x"/>
                                          </p:val>
                                        </p:tav>
                                      </p:tavLst>
                                    </p:anim>
                                    <p:anim calcmode="lin" valueType="num">
                                      <p:cBhvr additive="base">
                                        <p:cTn id="74" dur="500" fill="hold"/>
                                        <p:tgtEl>
                                          <p:spTgt spid="6615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WHOOSH.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661541"/>
                                        </p:tgtEl>
                                        <p:attrNameLst>
                                          <p:attrName>style.visibility</p:attrName>
                                        </p:attrNameLst>
                                      </p:cBhvr>
                                      <p:to>
                                        <p:strVal val="visible"/>
                                      </p:to>
                                    </p:set>
                                    <p:anim calcmode="lin" valueType="num">
                                      <p:cBhvr additive="base">
                                        <p:cTn id="79" dur="500" fill="hold"/>
                                        <p:tgtEl>
                                          <p:spTgt spid="661541"/>
                                        </p:tgtEl>
                                        <p:attrNameLst>
                                          <p:attrName>ppt_x</p:attrName>
                                        </p:attrNameLst>
                                      </p:cBhvr>
                                      <p:tavLst>
                                        <p:tav tm="0">
                                          <p:val>
                                            <p:strVal val="0-#ppt_w/2"/>
                                          </p:val>
                                        </p:tav>
                                        <p:tav tm="100000">
                                          <p:val>
                                            <p:strVal val="#ppt_x"/>
                                          </p:val>
                                        </p:tav>
                                      </p:tavLst>
                                    </p:anim>
                                    <p:anim calcmode="lin" valueType="num">
                                      <p:cBhvr additive="base">
                                        <p:cTn id="80" dur="500" fill="hold"/>
                                        <p:tgtEl>
                                          <p:spTgt spid="6615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3" name="WHOOSH.WAV"/>
                                        </p:tgtEl>
                                      </p:cMediaNode>
                                    </p:audio>
                                  </p:sub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661515"/>
                                        </p:tgtEl>
                                        <p:attrNameLst>
                                          <p:attrName>style.visibility</p:attrName>
                                        </p:attrNameLst>
                                      </p:cBhvr>
                                      <p:to>
                                        <p:strVal val="visible"/>
                                      </p:to>
                                    </p:set>
                                    <p:animEffect transition="in" filter="wipe(down)">
                                      <p:cBhvr>
                                        <p:cTn id="85" dur="500"/>
                                        <p:tgtEl>
                                          <p:spTgt spid="66151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661510"/>
                                        </p:tgtEl>
                                        <p:attrNameLst>
                                          <p:attrName>style.visibility</p:attrName>
                                        </p:attrNameLst>
                                      </p:cBhvr>
                                      <p:to>
                                        <p:strVal val="visible"/>
                                      </p:to>
                                    </p:set>
                                    <p:animEffect transition="in" filter="wipe(down)">
                                      <p:cBhvr>
                                        <p:cTn id="90" dur="500"/>
                                        <p:tgtEl>
                                          <p:spTgt spid="661510"/>
                                        </p:tgtEl>
                                      </p:cBhvr>
                                    </p:animEffect>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661551"/>
                                        </p:tgtEl>
                                        <p:attrNameLst>
                                          <p:attrName>style.visibility</p:attrName>
                                        </p:attrNameLst>
                                      </p:cBhvr>
                                      <p:to>
                                        <p:strVal val="visible"/>
                                      </p:to>
                                    </p:set>
                                    <p:anim calcmode="lin" valueType="num">
                                      <p:cBhvr>
                                        <p:cTn id="95" dur="500" fill="hold"/>
                                        <p:tgtEl>
                                          <p:spTgt spid="661551"/>
                                        </p:tgtEl>
                                        <p:attrNameLst>
                                          <p:attrName>ppt_w</p:attrName>
                                        </p:attrNameLst>
                                      </p:cBhvr>
                                      <p:tavLst>
                                        <p:tav tm="0">
                                          <p:val>
                                            <p:fltVal val="0"/>
                                          </p:val>
                                        </p:tav>
                                        <p:tav tm="100000">
                                          <p:val>
                                            <p:strVal val="#ppt_w"/>
                                          </p:val>
                                        </p:tav>
                                      </p:tavLst>
                                    </p:anim>
                                    <p:anim calcmode="lin" valueType="num">
                                      <p:cBhvr>
                                        <p:cTn id="96" dur="500" fill="hold"/>
                                        <p:tgtEl>
                                          <p:spTgt spid="661551"/>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8" fill="hold" grpId="0" nodeType="clickEffect">
                                  <p:stCondLst>
                                    <p:cond delay="0"/>
                                  </p:stCondLst>
                                  <p:childTnLst>
                                    <p:set>
                                      <p:cBhvr>
                                        <p:cTn id="100" dur="1" fill="hold">
                                          <p:stCondLst>
                                            <p:cond delay="0"/>
                                          </p:stCondLst>
                                        </p:cTn>
                                        <p:tgtEl>
                                          <p:spTgt spid="661542"/>
                                        </p:tgtEl>
                                        <p:attrNameLst>
                                          <p:attrName>style.visibility</p:attrName>
                                        </p:attrNameLst>
                                      </p:cBhvr>
                                      <p:to>
                                        <p:strVal val="visible"/>
                                      </p:to>
                                    </p:set>
                                    <p:anim calcmode="lin" valueType="num">
                                      <p:cBhvr additive="base">
                                        <p:cTn id="101" dur="500" fill="hold"/>
                                        <p:tgtEl>
                                          <p:spTgt spid="661542"/>
                                        </p:tgtEl>
                                        <p:attrNameLst>
                                          <p:attrName>ppt_x</p:attrName>
                                        </p:attrNameLst>
                                      </p:cBhvr>
                                      <p:tavLst>
                                        <p:tav tm="0">
                                          <p:val>
                                            <p:strVal val="0-#ppt_w/2"/>
                                          </p:val>
                                        </p:tav>
                                        <p:tav tm="100000">
                                          <p:val>
                                            <p:strVal val="#ppt_x"/>
                                          </p:val>
                                        </p:tav>
                                      </p:tavLst>
                                    </p:anim>
                                    <p:anim calcmode="lin" valueType="num">
                                      <p:cBhvr additive="base">
                                        <p:cTn id="102" dur="500" fill="hold"/>
                                        <p:tgtEl>
                                          <p:spTgt spid="6615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WHOOSH.WAV"/>
                                        </p:tgtEl>
                                      </p:cMediaNode>
                                    </p:audio>
                                  </p:subTnLst>
                                </p:cTn>
                              </p:par>
                            </p:childTnLst>
                          </p:cTn>
                        </p:par>
                      </p:childTnLst>
                    </p:cTn>
                  </p:par>
                  <p:par>
                    <p:cTn id="103" fill="hold">
                      <p:stCondLst>
                        <p:cond delay="indefinite"/>
                      </p:stCondLst>
                      <p:childTnLst>
                        <p:par>
                          <p:cTn id="104" fill="hold">
                            <p:stCondLst>
                              <p:cond delay="0"/>
                            </p:stCondLst>
                            <p:childTnLst>
                              <p:par>
                                <p:cTn id="105" presetID="2" presetClass="entr" presetSubtype="8" fill="hold" grpId="0" nodeType="clickEffect">
                                  <p:stCondLst>
                                    <p:cond delay="0"/>
                                  </p:stCondLst>
                                  <p:childTnLst>
                                    <p:set>
                                      <p:cBhvr>
                                        <p:cTn id="106" dur="1" fill="hold">
                                          <p:stCondLst>
                                            <p:cond delay="0"/>
                                          </p:stCondLst>
                                        </p:cTn>
                                        <p:tgtEl>
                                          <p:spTgt spid="661535"/>
                                        </p:tgtEl>
                                        <p:attrNameLst>
                                          <p:attrName>style.visibility</p:attrName>
                                        </p:attrNameLst>
                                      </p:cBhvr>
                                      <p:to>
                                        <p:strVal val="visible"/>
                                      </p:to>
                                    </p:set>
                                    <p:anim calcmode="lin" valueType="num">
                                      <p:cBhvr additive="base">
                                        <p:cTn id="107" dur="500" fill="hold"/>
                                        <p:tgtEl>
                                          <p:spTgt spid="661535"/>
                                        </p:tgtEl>
                                        <p:attrNameLst>
                                          <p:attrName>ppt_x</p:attrName>
                                        </p:attrNameLst>
                                      </p:cBhvr>
                                      <p:tavLst>
                                        <p:tav tm="0">
                                          <p:val>
                                            <p:strVal val="0-#ppt_w/2"/>
                                          </p:val>
                                        </p:tav>
                                        <p:tav tm="100000">
                                          <p:val>
                                            <p:strVal val="#ppt_x"/>
                                          </p:val>
                                        </p:tav>
                                      </p:tavLst>
                                    </p:anim>
                                    <p:anim calcmode="lin" valueType="num">
                                      <p:cBhvr additive="base">
                                        <p:cTn id="108" dur="500" fill="hold"/>
                                        <p:tgtEl>
                                          <p:spTgt spid="6615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5"/>
                                            </p:cond>
                                          </p:stCondLst>
                                          <p:endCondLst>
                                            <p:cond evt="onStopAudio" delay="0">
                                              <p:tgtEl>
                                                <p:sldTgt/>
                                              </p:tgtEl>
                                            </p:cond>
                                          </p:endCondLst>
                                        </p:cTn>
                                        <p:tgtEl>
                                          <p:sndTgt r:embed="rId3" name="WHOOSH.WAV"/>
                                        </p:tgtEl>
                                      </p:cMediaNode>
                                    </p:audio>
                                  </p:sub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661517"/>
                                        </p:tgtEl>
                                        <p:attrNameLst>
                                          <p:attrName>style.visibility</p:attrName>
                                        </p:attrNameLst>
                                      </p:cBhvr>
                                      <p:to>
                                        <p:strVal val="visible"/>
                                      </p:to>
                                    </p:set>
                                    <p:animEffect transition="in" filter="wipe(up)">
                                      <p:cBhvr>
                                        <p:cTn id="113" dur="500"/>
                                        <p:tgtEl>
                                          <p:spTgt spid="66151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661520"/>
                                        </p:tgtEl>
                                        <p:attrNameLst>
                                          <p:attrName>style.visibility</p:attrName>
                                        </p:attrNameLst>
                                      </p:cBhvr>
                                      <p:to>
                                        <p:strVal val="visible"/>
                                      </p:to>
                                    </p:set>
                                    <p:animEffect transition="in" filter="wipe(down)">
                                      <p:cBhvr>
                                        <p:cTn id="118" dur="500"/>
                                        <p:tgtEl>
                                          <p:spTgt spid="661520"/>
                                        </p:tgtEl>
                                      </p:cBhvr>
                                    </p:animEffect>
                                  </p:childTnLst>
                                </p:cTn>
                              </p:par>
                            </p:childTnLst>
                          </p:cTn>
                        </p:par>
                      </p:childTnLst>
                    </p:cTn>
                  </p:par>
                  <p:par>
                    <p:cTn id="119" fill="hold">
                      <p:stCondLst>
                        <p:cond delay="indefinite"/>
                      </p:stCondLst>
                      <p:childTnLst>
                        <p:par>
                          <p:cTn id="120" fill="hold">
                            <p:stCondLst>
                              <p:cond delay="0"/>
                            </p:stCondLst>
                            <p:childTnLst>
                              <p:par>
                                <p:cTn id="121" presetID="23" presetClass="entr" presetSubtype="16" fill="hold" grpId="0" nodeType="clickEffect">
                                  <p:stCondLst>
                                    <p:cond delay="0"/>
                                  </p:stCondLst>
                                  <p:childTnLst>
                                    <p:set>
                                      <p:cBhvr>
                                        <p:cTn id="122" dur="1" fill="hold">
                                          <p:stCondLst>
                                            <p:cond delay="0"/>
                                          </p:stCondLst>
                                        </p:cTn>
                                        <p:tgtEl>
                                          <p:spTgt spid="661552"/>
                                        </p:tgtEl>
                                        <p:attrNameLst>
                                          <p:attrName>style.visibility</p:attrName>
                                        </p:attrNameLst>
                                      </p:cBhvr>
                                      <p:to>
                                        <p:strVal val="visible"/>
                                      </p:to>
                                    </p:set>
                                    <p:anim calcmode="lin" valueType="num">
                                      <p:cBhvr>
                                        <p:cTn id="123" dur="500" fill="hold"/>
                                        <p:tgtEl>
                                          <p:spTgt spid="661552"/>
                                        </p:tgtEl>
                                        <p:attrNameLst>
                                          <p:attrName>ppt_w</p:attrName>
                                        </p:attrNameLst>
                                      </p:cBhvr>
                                      <p:tavLst>
                                        <p:tav tm="0">
                                          <p:val>
                                            <p:fltVal val="0"/>
                                          </p:val>
                                        </p:tav>
                                        <p:tav tm="100000">
                                          <p:val>
                                            <p:strVal val="#ppt_w"/>
                                          </p:val>
                                        </p:tav>
                                      </p:tavLst>
                                    </p:anim>
                                    <p:anim calcmode="lin" valueType="num">
                                      <p:cBhvr>
                                        <p:cTn id="124" dur="500" fill="hold"/>
                                        <p:tgtEl>
                                          <p:spTgt spid="661552"/>
                                        </p:tgtEl>
                                        <p:attrNameLst>
                                          <p:attrName>ppt_h</p:attrName>
                                        </p:attrNameLst>
                                      </p:cBhvr>
                                      <p:tavLst>
                                        <p:tav tm="0">
                                          <p:val>
                                            <p:fltVal val="0"/>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8" fill="hold" grpId="0" nodeType="clickEffect">
                                  <p:stCondLst>
                                    <p:cond delay="0"/>
                                  </p:stCondLst>
                                  <p:childTnLst>
                                    <p:set>
                                      <p:cBhvr>
                                        <p:cTn id="128" dur="1" fill="hold">
                                          <p:stCondLst>
                                            <p:cond delay="0"/>
                                          </p:stCondLst>
                                        </p:cTn>
                                        <p:tgtEl>
                                          <p:spTgt spid="661543"/>
                                        </p:tgtEl>
                                        <p:attrNameLst>
                                          <p:attrName>style.visibility</p:attrName>
                                        </p:attrNameLst>
                                      </p:cBhvr>
                                      <p:to>
                                        <p:strVal val="visible"/>
                                      </p:to>
                                    </p:set>
                                    <p:anim calcmode="lin" valueType="num">
                                      <p:cBhvr additive="base">
                                        <p:cTn id="129" dur="500" fill="hold"/>
                                        <p:tgtEl>
                                          <p:spTgt spid="661543"/>
                                        </p:tgtEl>
                                        <p:attrNameLst>
                                          <p:attrName>ppt_x</p:attrName>
                                        </p:attrNameLst>
                                      </p:cBhvr>
                                      <p:tavLst>
                                        <p:tav tm="0">
                                          <p:val>
                                            <p:strVal val="0-#ppt_w/2"/>
                                          </p:val>
                                        </p:tav>
                                        <p:tav tm="100000">
                                          <p:val>
                                            <p:strVal val="#ppt_x"/>
                                          </p:val>
                                        </p:tav>
                                      </p:tavLst>
                                    </p:anim>
                                    <p:anim calcmode="lin" valueType="num">
                                      <p:cBhvr additive="base">
                                        <p:cTn id="130" dur="500" fill="hold"/>
                                        <p:tgtEl>
                                          <p:spTgt spid="6615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7"/>
                                            </p:cond>
                                          </p:stCondLst>
                                          <p:endCondLst>
                                            <p:cond evt="onStopAudio" delay="0">
                                              <p:tgtEl>
                                                <p:sldTgt/>
                                              </p:tgtEl>
                                            </p:cond>
                                          </p:endCondLst>
                                        </p:cTn>
                                        <p:tgtEl>
                                          <p:sndTgt r:embed="rId3" name="WHOOSH.WAV"/>
                                        </p:tgtEl>
                                      </p:cMediaNode>
                                    </p:audio>
                                  </p:subTnLst>
                                </p:cTn>
                              </p:par>
                            </p:childTnLst>
                          </p:cTn>
                        </p:par>
                      </p:childTnLst>
                    </p:cTn>
                  </p:par>
                  <p:par>
                    <p:cTn id="131" fill="hold">
                      <p:stCondLst>
                        <p:cond delay="indefinite"/>
                      </p:stCondLst>
                      <p:childTnLst>
                        <p:par>
                          <p:cTn id="132" fill="hold">
                            <p:stCondLst>
                              <p:cond delay="0"/>
                            </p:stCondLst>
                            <p:childTnLst>
                              <p:par>
                                <p:cTn id="133" presetID="2" presetClass="entr" presetSubtype="8" fill="hold" grpId="0" nodeType="clickEffect">
                                  <p:stCondLst>
                                    <p:cond delay="0"/>
                                  </p:stCondLst>
                                  <p:childTnLst>
                                    <p:set>
                                      <p:cBhvr>
                                        <p:cTn id="134" dur="1" fill="hold">
                                          <p:stCondLst>
                                            <p:cond delay="0"/>
                                          </p:stCondLst>
                                        </p:cTn>
                                        <p:tgtEl>
                                          <p:spTgt spid="661544"/>
                                        </p:tgtEl>
                                        <p:attrNameLst>
                                          <p:attrName>style.visibility</p:attrName>
                                        </p:attrNameLst>
                                      </p:cBhvr>
                                      <p:to>
                                        <p:strVal val="visible"/>
                                      </p:to>
                                    </p:set>
                                    <p:anim calcmode="lin" valueType="num">
                                      <p:cBhvr additive="base">
                                        <p:cTn id="135" dur="500" fill="hold"/>
                                        <p:tgtEl>
                                          <p:spTgt spid="661544"/>
                                        </p:tgtEl>
                                        <p:attrNameLst>
                                          <p:attrName>ppt_x</p:attrName>
                                        </p:attrNameLst>
                                      </p:cBhvr>
                                      <p:tavLst>
                                        <p:tav tm="0">
                                          <p:val>
                                            <p:strVal val="0-#ppt_w/2"/>
                                          </p:val>
                                        </p:tav>
                                        <p:tav tm="100000">
                                          <p:val>
                                            <p:strVal val="#ppt_x"/>
                                          </p:val>
                                        </p:tav>
                                      </p:tavLst>
                                    </p:anim>
                                    <p:anim calcmode="lin" valueType="num">
                                      <p:cBhvr additive="base">
                                        <p:cTn id="136" dur="500" fill="hold"/>
                                        <p:tgtEl>
                                          <p:spTgt spid="6615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3"/>
                                            </p:cond>
                                          </p:stCondLst>
                                          <p:endCondLst>
                                            <p:cond evt="onStopAudio" delay="0">
                                              <p:tgtEl>
                                                <p:sldTgt/>
                                              </p:tgtEl>
                                            </p:cond>
                                          </p:endCondLst>
                                        </p:cTn>
                                        <p:tgtEl>
                                          <p:sndTgt r:embed="rId3" name="WHOOSH.WAV"/>
                                        </p:tgtEl>
                                      </p:cMediaNode>
                                    </p:audio>
                                  </p:sub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661521"/>
                                        </p:tgtEl>
                                        <p:attrNameLst>
                                          <p:attrName>style.visibility</p:attrName>
                                        </p:attrNameLst>
                                      </p:cBhvr>
                                      <p:to>
                                        <p:strVal val="visible"/>
                                      </p:to>
                                    </p:set>
                                    <p:animEffect transition="in" filter="wipe(up)">
                                      <p:cBhvr>
                                        <p:cTn id="141" dur="500"/>
                                        <p:tgtEl>
                                          <p:spTgt spid="661521"/>
                                        </p:tgtEl>
                                      </p:cBhvr>
                                    </p:animEffect>
                                  </p:childTnLst>
                                </p:cTn>
                              </p:par>
                            </p:childTnLst>
                          </p:cTn>
                        </p:par>
                      </p:childTnLst>
                    </p:cTn>
                  </p:par>
                  <p:par>
                    <p:cTn id="142" fill="hold">
                      <p:stCondLst>
                        <p:cond delay="indefinite"/>
                      </p:stCondLst>
                      <p:childTnLst>
                        <p:par>
                          <p:cTn id="143" fill="hold">
                            <p:stCondLst>
                              <p:cond delay="0"/>
                            </p:stCondLst>
                            <p:childTnLst>
                              <p:par>
                                <p:cTn id="144" presetID="23" presetClass="entr" presetSubtype="16" fill="hold" grpId="0" nodeType="clickEffect">
                                  <p:stCondLst>
                                    <p:cond delay="0"/>
                                  </p:stCondLst>
                                  <p:childTnLst>
                                    <p:set>
                                      <p:cBhvr>
                                        <p:cTn id="145" dur="1" fill="hold">
                                          <p:stCondLst>
                                            <p:cond delay="0"/>
                                          </p:stCondLst>
                                        </p:cTn>
                                        <p:tgtEl>
                                          <p:spTgt spid="661553"/>
                                        </p:tgtEl>
                                        <p:attrNameLst>
                                          <p:attrName>style.visibility</p:attrName>
                                        </p:attrNameLst>
                                      </p:cBhvr>
                                      <p:to>
                                        <p:strVal val="visible"/>
                                      </p:to>
                                    </p:set>
                                    <p:anim calcmode="lin" valueType="num">
                                      <p:cBhvr>
                                        <p:cTn id="146" dur="500" fill="hold"/>
                                        <p:tgtEl>
                                          <p:spTgt spid="661553"/>
                                        </p:tgtEl>
                                        <p:attrNameLst>
                                          <p:attrName>ppt_w</p:attrName>
                                        </p:attrNameLst>
                                      </p:cBhvr>
                                      <p:tavLst>
                                        <p:tav tm="0">
                                          <p:val>
                                            <p:fltVal val="0"/>
                                          </p:val>
                                        </p:tav>
                                        <p:tav tm="100000">
                                          <p:val>
                                            <p:strVal val="#ppt_w"/>
                                          </p:val>
                                        </p:tav>
                                      </p:tavLst>
                                    </p:anim>
                                    <p:anim calcmode="lin" valueType="num">
                                      <p:cBhvr>
                                        <p:cTn id="147" dur="500" fill="hold"/>
                                        <p:tgtEl>
                                          <p:spTgt spid="661553"/>
                                        </p:tgtEl>
                                        <p:attrNameLst>
                                          <p:attrName>ppt_h</p:attrName>
                                        </p:attrNameLst>
                                      </p:cBhvr>
                                      <p:tavLst>
                                        <p:tav tm="0">
                                          <p:val>
                                            <p:fltVal val="0"/>
                                          </p:val>
                                        </p:tav>
                                        <p:tav tm="100000">
                                          <p:val>
                                            <p:strVal val="#ppt_h"/>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8" fill="hold" grpId="0" nodeType="clickEffect">
                                  <p:stCondLst>
                                    <p:cond delay="0"/>
                                  </p:stCondLst>
                                  <p:childTnLst>
                                    <p:set>
                                      <p:cBhvr>
                                        <p:cTn id="151" dur="1" fill="hold">
                                          <p:stCondLst>
                                            <p:cond delay="0"/>
                                          </p:stCondLst>
                                        </p:cTn>
                                        <p:tgtEl>
                                          <p:spTgt spid="661545"/>
                                        </p:tgtEl>
                                        <p:attrNameLst>
                                          <p:attrName>style.visibility</p:attrName>
                                        </p:attrNameLst>
                                      </p:cBhvr>
                                      <p:to>
                                        <p:strVal val="visible"/>
                                      </p:to>
                                    </p:set>
                                    <p:anim calcmode="lin" valueType="num">
                                      <p:cBhvr additive="base">
                                        <p:cTn id="152" dur="500" fill="hold"/>
                                        <p:tgtEl>
                                          <p:spTgt spid="661545"/>
                                        </p:tgtEl>
                                        <p:attrNameLst>
                                          <p:attrName>ppt_x</p:attrName>
                                        </p:attrNameLst>
                                      </p:cBhvr>
                                      <p:tavLst>
                                        <p:tav tm="0">
                                          <p:val>
                                            <p:strVal val="0-#ppt_w/2"/>
                                          </p:val>
                                        </p:tav>
                                        <p:tav tm="100000">
                                          <p:val>
                                            <p:strVal val="#ppt_x"/>
                                          </p:val>
                                        </p:tav>
                                      </p:tavLst>
                                    </p:anim>
                                    <p:anim calcmode="lin" valueType="num">
                                      <p:cBhvr additive="base">
                                        <p:cTn id="153" dur="500" fill="hold"/>
                                        <p:tgtEl>
                                          <p:spTgt spid="6615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0"/>
                                            </p:cond>
                                          </p:stCondLst>
                                          <p:endCondLst>
                                            <p:cond evt="onStopAudio" delay="0">
                                              <p:tgtEl>
                                                <p:sldTgt/>
                                              </p:tgtEl>
                                            </p:cond>
                                          </p:endCondLst>
                                        </p:cTn>
                                        <p:tgtEl>
                                          <p:sndTgt r:embed="rId3" name="WHOOSH.WAV"/>
                                        </p:tgtEl>
                                      </p:cMediaNode>
                                    </p:audio>
                                  </p:subTnLst>
                                </p:cTn>
                              </p:par>
                            </p:childTnLst>
                          </p:cTn>
                        </p:par>
                      </p:childTnLst>
                    </p:cTn>
                  </p:par>
                  <p:par>
                    <p:cTn id="154" fill="hold">
                      <p:stCondLst>
                        <p:cond delay="indefinite"/>
                      </p:stCondLst>
                      <p:childTnLst>
                        <p:par>
                          <p:cTn id="155" fill="hold">
                            <p:stCondLst>
                              <p:cond delay="0"/>
                            </p:stCondLst>
                            <p:childTnLst>
                              <p:par>
                                <p:cTn id="156" presetID="2" presetClass="entr" presetSubtype="8" fill="hold" grpId="0" nodeType="clickEffect">
                                  <p:stCondLst>
                                    <p:cond delay="0"/>
                                  </p:stCondLst>
                                  <p:childTnLst>
                                    <p:set>
                                      <p:cBhvr>
                                        <p:cTn id="157" dur="1" fill="hold">
                                          <p:stCondLst>
                                            <p:cond delay="0"/>
                                          </p:stCondLst>
                                        </p:cTn>
                                        <p:tgtEl>
                                          <p:spTgt spid="661534"/>
                                        </p:tgtEl>
                                        <p:attrNameLst>
                                          <p:attrName>style.visibility</p:attrName>
                                        </p:attrNameLst>
                                      </p:cBhvr>
                                      <p:to>
                                        <p:strVal val="visible"/>
                                      </p:to>
                                    </p:set>
                                    <p:anim calcmode="lin" valueType="num">
                                      <p:cBhvr additive="base">
                                        <p:cTn id="158" dur="500" fill="hold"/>
                                        <p:tgtEl>
                                          <p:spTgt spid="661534"/>
                                        </p:tgtEl>
                                        <p:attrNameLst>
                                          <p:attrName>ppt_x</p:attrName>
                                        </p:attrNameLst>
                                      </p:cBhvr>
                                      <p:tavLst>
                                        <p:tav tm="0">
                                          <p:val>
                                            <p:strVal val="0-#ppt_w/2"/>
                                          </p:val>
                                        </p:tav>
                                        <p:tav tm="100000">
                                          <p:val>
                                            <p:strVal val="#ppt_x"/>
                                          </p:val>
                                        </p:tav>
                                      </p:tavLst>
                                    </p:anim>
                                    <p:anim calcmode="lin" valueType="num">
                                      <p:cBhvr additive="base">
                                        <p:cTn id="159" dur="500" fill="hold"/>
                                        <p:tgtEl>
                                          <p:spTgt spid="6615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6"/>
                                            </p:cond>
                                          </p:stCondLst>
                                          <p:endCondLst>
                                            <p:cond evt="onStopAudio" delay="0">
                                              <p:tgtEl>
                                                <p:sldTgt/>
                                              </p:tgtEl>
                                            </p:cond>
                                          </p:endCondLst>
                                        </p:cTn>
                                        <p:tgtEl>
                                          <p:sndTgt r:embed="rId3" name="WHOOSH.WAV"/>
                                        </p:tgtEl>
                                      </p:cMediaNode>
                                    </p:audio>
                                  </p:sub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grpId="0" nodeType="clickEffect">
                                  <p:stCondLst>
                                    <p:cond delay="0"/>
                                  </p:stCondLst>
                                  <p:childTnLst>
                                    <p:set>
                                      <p:cBhvr>
                                        <p:cTn id="163" dur="1" fill="hold">
                                          <p:stCondLst>
                                            <p:cond delay="0"/>
                                          </p:stCondLst>
                                        </p:cTn>
                                        <p:tgtEl>
                                          <p:spTgt spid="661523"/>
                                        </p:tgtEl>
                                        <p:attrNameLst>
                                          <p:attrName>style.visibility</p:attrName>
                                        </p:attrNameLst>
                                      </p:cBhvr>
                                      <p:to>
                                        <p:strVal val="visible"/>
                                      </p:to>
                                    </p:set>
                                    <p:animEffect transition="in" filter="wipe(down)">
                                      <p:cBhvr>
                                        <p:cTn id="164" dur="500"/>
                                        <p:tgtEl>
                                          <p:spTgt spid="661523"/>
                                        </p:tgtEl>
                                      </p:cBhvr>
                                    </p:animEffect>
                                  </p:childTnLst>
                                </p:cTn>
                              </p:par>
                            </p:childTnLst>
                          </p:cTn>
                        </p:par>
                      </p:childTnLst>
                    </p:cTn>
                  </p:par>
                  <p:par>
                    <p:cTn id="165" fill="hold">
                      <p:stCondLst>
                        <p:cond delay="indefinite"/>
                      </p:stCondLst>
                      <p:childTnLst>
                        <p:par>
                          <p:cTn id="166" fill="hold">
                            <p:stCondLst>
                              <p:cond delay="0"/>
                            </p:stCondLst>
                            <p:childTnLst>
                              <p:par>
                                <p:cTn id="167" presetID="23" presetClass="entr" presetSubtype="16" fill="hold" grpId="0" nodeType="clickEffect">
                                  <p:stCondLst>
                                    <p:cond delay="0"/>
                                  </p:stCondLst>
                                  <p:childTnLst>
                                    <p:set>
                                      <p:cBhvr>
                                        <p:cTn id="168" dur="1" fill="hold">
                                          <p:stCondLst>
                                            <p:cond delay="0"/>
                                          </p:stCondLst>
                                        </p:cTn>
                                        <p:tgtEl>
                                          <p:spTgt spid="661554"/>
                                        </p:tgtEl>
                                        <p:attrNameLst>
                                          <p:attrName>style.visibility</p:attrName>
                                        </p:attrNameLst>
                                      </p:cBhvr>
                                      <p:to>
                                        <p:strVal val="visible"/>
                                      </p:to>
                                    </p:set>
                                    <p:anim calcmode="lin" valueType="num">
                                      <p:cBhvr>
                                        <p:cTn id="169" dur="500" fill="hold"/>
                                        <p:tgtEl>
                                          <p:spTgt spid="661554"/>
                                        </p:tgtEl>
                                        <p:attrNameLst>
                                          <p:attrName>ppt_w</p:attrName>
                                        </p:attrNameLst>
                                      </p:cBhvr>
                                      <p:tavLst>
                                        <p:tav tm="0">
                                          <p:val>
                                            <p:fltVal val="0"/>
                                          </p:val>
                                        </p:tav>
                                        <p:tav tm="100000">
                                          <p:val>
                                            <p:strVal val="#ppt_w"/>
                                          </p:val>
                                        </p:tav>
                                      </p:tavLst>
                                    </p:anim>
                                    <p:anim calcmode="lin" valueType="num">
                                      <p:cBhvr>
                                        <p:cTn id="170" dur="500" fill="hold"/>
                                        <p:tgtEl>
                                          <p:spTgt spid="661554"/>
                                        </p:tgtEl>
                                        <p:attrNameLst>
                                          <p:attrName>ppt_h</p:attrName>
                                        </p:attrNameLst>
                                      </p:cBhvr>
                                      <p:tavLst>
                                        <p:tav tm="0">
                                          <p:val>
                                            <p:fltVal val="0"/>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661546"/>
                                        </p:tgtEl>
                                        <p:attrNameLst>
                                          <p:attrName>style.visibility</p:attrName>
                                        </p:attrNameLst>
                                      </p:cBhvr>
                                      <p:to>
                                        <p:strVal val="visible"/>
                                      </p:to>
                                    </p:set>
                                    <p:anim calcmode="lin" valueType="num">
                                      <p:cBhvr additive="base">
                                        <p:cTn id="175" dur="500" fill="hold"/>
                                        <p:tgtEl>
                                          <p:spTgt spid="661546"/>
                                        </p:tgtEl>
                                        <p:attrNameLst>
                                          <p:attrName>ppt_x</p:attrName>
                                        </p:attrNameLst>
                                      </p:cBhvr>
                                      <p:tavLst>
                                        <p:tav tm="0">
                                          <p:val>
                                            <p:strVal val="0-#ppt_w/2"/>
                                          </p:val>
                                        </p:tav>
                                        <p:tav tm="100000">
                                          <p:val>
                                            <p:strVal val="#ppt_x"/>
                                          </p:val>
                                        </p:tav>
                                      </p:tavLst>
                                    </p:anim>
                                    <p:anim calcmode="lin" valueType="num">
                                      <p:cBhvr additive="base">
                                        <p:cTn id="176" dur="500" fill="hold"/>
                                        <p:tgtEl>
                                          <p:spTgt spid="6615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3"/>
                                            </p:cond>
                                          </p:stCondLst>
                                          <p:endCondLst>
                                            <p:cond evt="onStopAudio" delay="0">
                                              <p:tgtEl>
                                                <p:sldTgt/>
                                              </p:tgtEl>
                                            </p:cond>
                                          </p:endCondLst>
                                        </p:cTn>
                                        <p:tgtEl>
                                          <p:sndTgt r:embed="rId3" name="WHOOSH.WAV"/>
                                        </p:tgtEl>
                                      </p:cMediaNode>
                                    </p:audio>
                                  </p:subTnLst>
                                </p:cTn>
                              </p:par>
                            </p:childTnLst>
                          </p:cTn>
                        </p:par>
                      </p:childTnLst>
                    </p:cTn>
                  </p:par>
                  <p:par>
                    <p:cTn id="177" fill="hold">
                      <p:stCondLst>
                        <p:cond delay="indefinite"/>
                      </p:stCondLst>
                      <p:childTnLst>
                        <p:par>
                          <p:cTn id="178" fill="hold">
                            <p:stCondLst>
                              <p:cond delay="0"/>
                            </p:stCondLst>
                            <p:childTnLst>
                              <p:par>
                                <p:cTn id="179" presetID="2" presetClass="entr" presetSubtype="8" fill="hold" grpId="0" nodeType="clickEffect">
                                  <p:stCondLst>
                                    <p:cond delay="0"/>
                                  </p:stCondLst>
                                  <p:childTnLst>
                                    <p:set>
                                      <p:cBhvr>
                                        <p:cTn id="180" dur="1" fill="hold">
                                          <p:stCondLst>
                                            <p:cond delay="0"/>
                                          </p:stCondLst>
                                        </p:cTn>
                                        <p:tgtEl>
                                          <p:spTgt spid="661533"/>
                                        </p:tgtEl>
                                        <p:attrNameLst>
                                          <p:attrName>style.visibility</p:attrName>
                                        </p:attrNameLst>
                                      </p:cBhvr>
                                      <p:to>
                                        <p:strVal val="visible"/>
                                      </p:to>
                                    </p:set>
                                    <p:anim calcmode="lin" valueType="num">
                                      <p:cBhvr additive="base">
                                        <p:cTn id="181" dur="500" fill="hold"/>
                                        <p:tgtEl>
                                          <p:spTgt spid="661533"/>
                                        </p:tgtEl>
                                        <p:attrNameLst>
                                          <p:attrName>ppt_x</p:attrName>
                                        </p:attrNameLst>
                                      </p:cBhvr>
                                      <p:tavLst>
                                        <p:tav tm="0">
                                          <p:val>
                                            <p:strVal val="0-#ppt_w/2"/>
                                          </p:val>
                                        </p:tav>
                                        <p:tav tm="100000">
                                          <p:val>
                                            <p:strVal val="#ppt_x"/>
                                          </p:val>
                                        </p:tav>
                                      </p:tavLst>
                                    </p:anim>
                                    <p:anim calcmode="lin" valueType="num">
                                      <p:cBhvr additive="base">
                                        <p:cTn id="182" dur="500" fill="hold"/>
                                        <p:tgtEl>
                                          <p:spTgt spid="6615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9"/>
                                            </p:cond>
                                          </p:stCondLst>
                                          <p:endCondLst>
                                            <p:cond evt="onStopAudio" delay="0">
                                              <p:tgtEl>
                                                <p:sldTgt/>
                                              </p:tgtEl>
                                            </p:cond>
                                          </p:endCondLst>
                                        </p:cTn>
                                        <p:tgtEl>
                                          <p:sndTgt r:embed="rId3" name="WHOOSH.WAV"/>
                                        </p:tgtEl>
                                      </p:cMediaNode>
                                    </p:audio>
                                  </p:subTnLst>
                                </p:cTn>
                              </p:par>
                            </p:childTnLst>
                          </p:cTn>
                        </p:par>
                      </p:childTnLst>
                    </p:cTn>
                  </p:par>
                  <p:par>
                    <p:cTn id="183" fill="hold">
                      <p:stCondLst>
                        <p:cond delay="indefinite"/>
                      </p:stCondLst>
                      <p:childTnLst>
                        <p:par>
                          <p:cTn id="184" fill="hold">
                            <p:stCondLst>
                              <p:cond delay="0"/>
                            </p:stCondLst>
                            <p:childTnLst>
                              <p:par>
                                <p:cTn id="185" presetID="22" presetClass="entr" presetSubtype="4" fill="hold" grpId="0" nodeType="clickEffect">
                                  <p:stCondLst>
                                    <p:cond delay="0"/>
                                  </p:stCondLst>
                                  <p:childTnLst>
                                    <p:set>
                                      <p:cBhvr>
                                        <p:cTn id="186" dur="1" fill="hold">
                                          <p:stCondLst>
                                            <p:cond delay="0"/>
                                          </p:stCondLst>
                                        </p:cTn>
                                        <p:tgtEl>
                                          <p:spTgt spid="661524"/>
                                        </p:tgtEl>
                                        <p:attrNameLst>
                                          <p:attrName>style.visibility</p:attrName>
                                        </p:attrNameLst>
                                      </p:cBhvr>
                                      <p:to>
                                        <p:strVal val="visible"/>
                                      </p:to>
                                    </p:set>
                                    <p:animEffect transition="in" filter="wipe(down)">
                                      <p:cBhvr>
                                        <p:cTn id="187" dur="500"/>
                                        <p:tgtEl>
                                          <p:spTgt spid="661524"/>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4" fill="hold" grpId="0" nodeType="clickEffect">
                                  <p:stCondLst>
                                    <p:cond delay="0"/>
                                  </p:stCondLst>
                                  <p:childTnLst>
                                    <p:set>
                                      <p:cBhvr>
                                        <p:cTn id="191" dur="1" fill="hold">
                                          <p:stCondLst>
                                            <p:cond delay="0"/>
                                          </p:stCondLst>
                                        </p:cTn>
                                        <p:tgtEl>
                                          <p:spTgt spid="661518"/>
                                        </p:tgtEl>
                                        <p:attrNameLst>
                                          <p:attrName>style.visibility</p:attrName>
                                        </p:attrNameLst>
                                      </p:cBhvr>
                                      <p:to>
                                        <p:strVal val="visible"/>
                                      </p:to>
                                    </p:set>
                                    <p:animEffect transition="in" filter="wipe(down)">
                                      <p:cBhvr>
                                        <p:cTn id="192" dur="500"/>
                                        <p:tgtEl>
                                          <p:spTgt spid="661518"/>
                                        </p:tgtEl>
                                      </p:cBhvr>
                                    </p:animEffec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661557"/>
                                        </p:tgtEl>
                                        <p:attrNameLst>
                                          <p:attrName>style.visibility</p:attrName>
                                        </p:attrNameLst>
                                      </p:cBhvr>
                                      <p:to>
                                        <p:strVal val="visible"/>
                                      </p:to>
                                    </p:set>
                                  </p:childTnLst>
                                  <p:subTnLst>
                                    <p:set>
                                      <p:cBhvr override="childStyle">
                                        <p:cTn dur="1" fill="hold" display="0" masterRel="nextClick" afterEffect="1"/>
                                        <p:tgtEl>
                                          <p:spTgt spid="66155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9" grpId="0" animBg="1"/>
      <p:bldP spid="661510" grpId="0" animBg="1"/>
      <p:bldP spid="661511" grpId="0" animBg="1"/>
      <p:bldP spid="661512" grpId="0" animBg="1"/>
      <p:bldP spid="661514" grpId="0" animBg="1"/>
      <p:bldP spid="661515" grpId="0" animBg="1"/>
      <p:bldP spid="661517" grpId="0" animBg="1"/>
      <p:bldP spid="661518" grpId="0" animBg="1"/>
      <p:bldP spid="661520" grpId="0" animBg="1"/>
      <p:bldP spid="661521" grpId="0" animBg="1"/>
      <p:bldP spid="661523" grpId="0" animBg="1"/>
      <p:bldP spid="661524" grpId="0" animBg="1"/>
      <p:bldP spid="661533" grpId="0" animBg="1"/>
      <p:bldP spid="661534" grpId="0" animBg="1"/>
      <p:bldP spid="661535" grpId="0" animBg="1"/>
      <p:bldP spid="661536" grpId="0" animBg="1"/>
      <p:bldP spid="661537" grpId="0" animBg="1"/>
      <p:bldP spid="661538" grpId="0" animBg="1"/>
      <p:bldP spid="661539" grpId="0" animBg="1"/>
      <p:bldP spid="661540" grpId="0" animBg="1"/>
      <p:bldP spid="661541" grpId="0" animBg="1"/>
      <p:bldP spid="661542" grpId="0" animBg="1"/>
      <p:bldP spid="661543" grpId="0" animBg="1"/>
      <p:bldP spid="661544" grpId="0" animBg="1"/>
      <p:bldP spid="661545" grpId="0" animBg="1"/>
      <p:bldP spid="661546" grpId="0" animBg="1"/>
      <p:bldP spid="661548" grpId="0" animBg="1"/>
      <p:bldP spid="661549" grpId="0" animBg="1"/>
      <p:bldP spid="661550" grpId="0" animBg="1"/>
      <p:bldP spid="661551" grpId="0" animBg="1"/>
      <p:bldP spid="661552" grpId="0" animBg="1"/>
      <p:bldP spid="661553" grpId="0" animBg="1"/>
      <p:bldP spid="661554" grpId="0" animBg="1"/>
      <p:bldP spid="661555" grpId="0" animBg="1"/>
      <p:bldP spid="661557"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BA1237C-E46E-4B50-B688-A62266DDF59B}" type="slidenum">
              <a:rPr lang="en-US" altLang="zh-CN" sz="1400"/>
              <a:pPr/>
              <a:t>85</a:t>
            </a:fld>
            <a:endParaRPr lang="en-US" altLang="zh-CN" sz="1400"/>
          </a:p>
        </p:txBody>
      </p:sp>
      <p:sp>
        <p:nvSpPr>
          <p:cNvPr id="74755" name="Rectangle 2"/>
          <p:cNvSpPr>
            <a:spLocks noChangeArrowheads="1"/>
          </p:cNvSpPr>
          <p:nvPr/>
        </p:nvSpPr>
        <p:spPr bwMode="auto">
          <a:xfrm>
            <a:off x="642938" y="1063625"/>
            <a:ext cx="8501062" cy="417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742950" lvl="1" indent="-285750" eaLnBrk="1" hangingPunct="1">
              <a:spcBef>
                <a:spcPct val="20000"/>
              </a:spcBef>
            </a:pPr>
            <a:r>
              <a:rPr lang="zh-CN" altLang="en-US" sz="2800"/>
              <a:t>过程的嵌套调用</a:t>
            </a:r>
          </a:p>
        </p:txBody>
      </p:sp>
      <p:grpSp>
        <p:nvGrpSpPr>
          <p:cNvPr id="536579" name="Group 3"/>
          <p:cNvGrpSpPr>
            <a:grpSpLocks/>
          </p:cNvGrpSpPr>
          <p:nvPr/>
        </p:nvGrpSpPr>
        <p:grpSpPr bwMode="auto">
          <a:xfrm>
            <a:off x="2209800" y="2743200"/>
            <a:ext cx="1905000" cy="762000"/>
            <a:chOff x="912" y="1632"/>
            <a:chExt cx="1200" cy="480"/>
          </a:xfrm>
        </p:grpSpPr>
        <p:sp>
          <p:nvSpPr>
            <p:cNvPr id="74811" name="Line 4"/>
            <p:cNvSpPr>
              <a:spLocks noChangeShapeType="1"/>
            </p:cNvSpPr>
            <p:nvPr/>
          </p:nvSpPr>
          <p:spPr bwMode="auto">
            <a:xfrm>
              <a:off x="2112" y="1632"/>
              <a:ext cx="0" cy="4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812" name="AutoShape 5"/>
            <p:cNvCxnSpPr>
              <a:cxnSpLocks noChangeShapeType="1"/>
              <a:stCxn id="536595" idx="1"/>
              <a:endCxn id="74811" idx="0"/>
            </p:cNvCxnSpPr>
            <p:nvPr/>
          </p:nvCxnSpPr>
          <p:spPr bwMode="auto">
            <a:xfrm flipV="1">
              <a:off x="912" y="1632"/>
              <a:ext cx="1200" cy="48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6582" name="Group 6"/>
          <p:cNvGrpSpPr>
            <a:grpSpLocks/>
          </p:cNvGrpSpPr>
          <p:nvPr/>
        </p:nvGrpSpPr>
        <p:grpSpPr bwMode="auto">
          <a:xfrm>
            <a:off x="4114800" y="2743200"/>
            <a:ext cx="1981200" cy="762000"/>
            <a:chOff x="2112" y="1632"/>
            <a:chExt cx="1248" cy="480"/>
          </a:xfrm>
        </p:grpSpPr>
        <p:sp>
          <p:nvSpPr>
            <p:cNvPr id="74809" name="Line 7"/>
            <p:cNvSpPr>
              <a:spLocks noChangeShapeType="1"/>
            </p:cNvSpPr>
            <p:nvPr/>
          </p:nvSpPr>
          <p:spPr bwMode="auto">
            <a:xfrm>
              <a:off x="3360" y="1632"/>
              <a:ext cx="0" cy="4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810" name="AutoShape 8"/>
            <p:cNvCxnSpPr>
              <a:cxnSpLocks noChangeShapeType="1"/>
              <a:stCxn id="74811" idx="1"/>
              <a:endCxn id="74809" idx="0"/>
            </p:cNvCxnSpPr>
            <p:nvPr/>
          </p:nvCxnSpPr>
          <p:spPr bwMode="auto">
            <a:xfrm flipV="1">
              <a:off x="2112" y="1632"/>
              <a:ext cx="1248" cy="48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6585" name="Group 9"/>
          <p:cNvGrpSpPr>
            <a:grpSpLocks/>
          </p:cNvGrpSpPr>
          <p:nvPr/>
        </p:nvGrpSpPr>
        <p:grpSpPr bwMode="auto">
          <a:xfrm>
            <a:off x="6096000" y="2971800"/>
            <a:ext cx="2057400" cy="1752600"/>
            <a:chOff x="3360" y="1776"/>
            <a:chExt cx="1296" cy="1104"/>
          </a:xfrm>
        </p:grpSpPr>
        <p:sp>
          <p:nvSpPr>
            <p:cNvPr id="74806" name="Line 10"/>
            <p:cNvSpPr>
              <a:spLocks noChangeShapeType="1"/>
            </p:cNvSpPr>
            <p:nvPr/>
          </p:nvSpPr>
          <p:spPr bwMode="auto">
            <a:xfrm>
              <a:off x="4656" y="1776"/>
              <a:ext cx="0" cy="110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807" name="AutoShape 11"/>
            <p:cNvCxnSpPr>
              <a:cxnSpLocks noChangeShapeType="1"/>
              <a:stCxn id="74809" idx="1"/>
              <a:endCxn id="74806" idx="0"/>
            </p:cNvCxnSpPr>
            <p:nvPr/>
          </p:nvCxnSpPr>
          <p:spPr bwMode="auto">
            <a:xfrm flipV="1">
              <a:off x="3360" y="1776"/>
              <a:ext cx="1296" cy="336"/>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8" name="AutoShape 12"/>
            <p:cNvCxnSpPr>
              <a:cxnSpLocks noChangeShapeType="1"/>
              <a:stCxn id="74806" idx="1"/>
              <a:endCxn id="74804" idx="0"/>
            </p:cNvCxnSpPr>
            <p:nvPr/>
          </p:nvCxnSpPr>
          <p:spPr bwMode="auto">
            <a:xfrm flipH="1" flipV="1">
              <a:off x="3360" y="2544"/>
              <a:ext cx="1296" cy="336"/>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6589" name="Group 13"/>
          <p:cNvGrpSpPr>
            <a:grpSpLocks/>
          </p:cNvGrpSpPr>
          <p:nvPr/>
        </p:nvGrpSpPr>
        <p:grpSpPr bwMode="auto">
          <a:xfrm>
            <a:off x="4114800" y="4191000"/>
            <a:ext cx="1981200" cy="762000"/>
            <a:chOff x="2112" y="2544"/>
            <a:chExt cx="1248" cy="480"/>
          </a:xfrm>
        </p:grpSpPr>
        <p:sp>
          <p:nvSpPr>
            <p:cNvPr id="74804" name="Line 14"/>
            <p:cNvSpPr>
              <a:spLocks noChangeShapeType="1"/>
            </p:cNvSpPr>
            <p:nvPr/>
          </p:nvSpPr>
          <p:spPr bwMode="auto">
            <a:xfrm>
              <a:off x="3360" y="2544"/>
              <a:ext cx="0" cy="4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805" name="AutoShape 15"/>
            <p:cNvCxnSpPr>
              <a:cxnSpLocks noChangeShapeType="1"/>
              <a:stCxn id="74804" idx="1"/>
              <a:endCxn id="74802" idx="0"/>
            </p:cNvCxnSpPr>
            <p:nvPr/>
          </p:nvCxnSpPr>
          <p:spPr bwMode="auto">
            <a:xfrm flipH="1" flipV="1">
              <a:off x="2112" y="2544"/>
              <a:ext cx="1248" cy="48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6592" name="Group 16"/>
          <p:cNvGrpSpPr>
            <a:grpSpLocks/>
          </p:cNvGrpSpPr>
          <p:nvPr/>
        </p:nvGrpSpPr>
        <p:grpSpPr bwMode="auto">
          <a:xfrm>
            <a:off x="2209800" y="4191000"/>
            <a:ext cx="1905000" cy="762000"/>
            <a:chOff x="912" y="2544"/>
            <a:chExt cx="1200" cy="480"/>
          </a:xfrm>
        </p:grpSpPr>
        <p:sp>
          <p:nvSpPr>
            <p:cNvPr id="74802" name="Line 17"/>
            <p:cNvSpPr>
              <a:spLocks noChangeShapeType="1"/>
            </p:cNvSpPr>
            <p:nvPr/>
          </p:nvSpPr>
          <p:spPr bwMode="auto">
            <a:xfrm>
              <a:off x="2112" y="2544"/>
              <a:ext cx="0" cy="48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803" name="AutoShape 18"/>
            <p:cNvCxnSpPr>
              <a:cxnSpLocks noChangeShapeType="1"/>
              <a:stCxn id="74802" idx="1"/>
              <a:endCxn id="74788" idx="0"/>
            </p:cNvCxnSpPr>
            <p:nvPr/>
          </p:nvCxnSpPr>
          <p:spPr bwMode="auto">
            <a:xfrm flipH="1" flipV="1">
              <a:off x="912" y="2544"/>
              <a:ext cx="1200" cy="48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36595" name="Line 19"/>
          <p:cNvSpPr>
            <a:spLocks noChangeShapeType="1"/>
          </p:cNvSpPr>
          <p:nvPr/>
        </p:nvSpPr>
        <p:spPr bwMode="auto">
          <a:xfrm>
            <a:off x="2209800" y="2743200"/>
            <a:ext cx="0" cy="762000"/>
          </a:xfrm>
          <a:prstGeom prst="line">
            <a:avLst/>
          </a:prstGeom>
          <a:noFill/>
          <a:ln w="2857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36596" name="Group 20"/>
          <p:cNvGrpSpPr>
            <a:grpSpLocks/>
          </p:cNvGrpSpPr>
          <p:nvPr/>
        </p:nvGrpSpPr>
        <p:grpSpPr bwMode="auto">
          <a:xfrm>
            <a:off x="1828800" y="2362200"/>
            <a:ext cx="930275" cy="1219200"/>
            <a:chOff x="1152" y="1488"/>
            <a:chExt cx="586" cy="768"/>
          </a:xfrm>
        </p:grpSpPr>
        <p:sp>
          <p:nvSpPr>
            <p:cNvPr id="74800" name="Text Box 21"/>
            <p:cNvSpPr txBox="1">
              <a:spLocks noChangeArrowheads="1"/>
            </p:cNvSpPr>
            <p:nvPr/>
          </p:nvSpPr>
          <p:spPr bwMode="auto">
            <a:xfrm>
              <a:off x="1152" y="196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2400" b="1"/>
                <a:t>r</a:t>
              </a:r>
            </a:p>
          </p:txBody>
        </p:sp>
        <p:sp>
          <p:nvSpPr>
            <p:cNvPr id="74801" name="Text Box 22"/>
            <p:cNvSpPr txBox="1">
              <a:spLocks noChangeArrowheads="1"/>
            </p:cNvSpPr>
            <p:nvPr/>
          </p:nvSpPr>
          <p:spPr bwMode="auto">
            <a:xfrm>
              <a:off x="1392" y="1488"/>
              <a:ext cx="34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2400" b="1"/>
                <a:t>主程序</a:t>
              </a:r>
            </a:p>
          </p:txBody>
        </p:sp>
      </p:grpSp>
      <p:grpSp>
        <p:nvGrpSpPr>
          <p:cNvPr id="536599" name="Group 23"/>
          <p:cNvGrpSpPr>
            <a:grpSpLocks/>
          </p:cNvGrpSpPr>
          <p:nvPr/>
        </p:nvGrpSpPr>
        <p:grpSpPr bwMode="auto">
          <a:xfrm>
            <a:off x="5562600" y="5105400"/>
            <a:ext cx="457200" cy="1143000"/>
            <a:chOff x="3504" y="3216"/>
            <a:chExt cx="288" cy="720"/>
          </a:xfrm>
        </p:grpSpPr>
        <p:sp>
          <p:nvSpPr>
            <p:cNvPr id="74796" name="Rectangle 24"/>
            <p:cNvSpPr>
              <a:spLocks noChangeArrowheads="1"/>
            </p:cNvSpPr>
            <p:nvPr/>
          </p:nvSpPr>
          <p:spPr bwMode="auto">
            <a:xfrm>
              <a:off x="3504" y="3552"/>
              <a:ext cx="288" cy="192"/>
            </a:xfrm>
            <a:prstGeom prst="rect">
              <a:avLst/>
            </a:prstGeom>
            <a:solidFill>
              <a:srgbClr val="FF9933"/>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s</a:t>
              </a:r>
            </a:p>
          </p:txBody>
        </p:sp>
        <p:sp>
          <p:nvSpPr>
            <p:cNvPr id="74797" name="Line 25"/>
            <p:cNvSpPr>
              <a:spLocks noChangeShapeType="1"/>
            </p:cNvSpPr>
            <p:nvPr/>
          </p:nvSpPr>
          <p:spPr bwMode="auto">
            <a:xfrm flipV="1">
              <a:off x="3792" y="3216"/>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98" name="Line 26"/>
            <p:cNvSpPr>
              <a:spLocks noChangeShapeType="1"/>
            </p:cNvSpPr>
            <p:nvPr/>
          </p:nvSpPr>
          <p:spPr bwMode="auto">
            <a:xfrm flipV="1">
              <a:off x="3504" y="3216"/>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99" name="Rectangle 27"/>
            <p:cNvSpPr>
              <a:spLocks noChangeArrowheads="1"/>
            </p:cNvSpPr>
            <p:nvPr/>
          </p:nvSpPr>
          <p:spPr bwMode="auto">
            <a:xfrm>
              <a:off x="3504" y="3744"/>
              <a:ext cx="288" cy="192"/>
            </a:xfrm>
            <a:prstGeom prst="rect">
              <a:avLst/>
            </a:prstGeom>
            <a:solidFill>
              <a:schemeClr val="accent1"/>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r</a:t>
              </a:r>
            </a:p>
          </p:txBody>
        </p:sp>
      </p:grpSp>
      <p:grpSp>
        <p:nvGrpSpPr>
          <p:cNvPr id="536604" name="Group 28"/>
          <p:cNvGrpSpPr>
            <a:grpSpLocks/>
          </p:cNvGrpSpPr>
          <p:nvPr/>
        </p:nvGrpSpPr>
        <p:grpSpPr bwMode="auto">
          <a:xfrm>
            <a:off x="3505200" y="5029200"/>
            <a:ext cx="457200" cy="1143000"/>
            <a:chOff x="3744" y="2544"/>
            <a:chExt cx="288" cy="720"/>
          </a:xfrm>
        </p:grpSpPr>
        <p:sp>
          <p:nvSpPr>
            <p:cNvPr id="74793" name="Line 29"/>
            <p:cNvSpPr>
              <a:spLocks noChangeShapeType="1"/>
            </p:cNvSpPr>
            <p:nvPr/>
          </p:nvSpPr>
          <p:spPr bwMode="auto">
            <a:xfrm flipV="1">
              <a:off x="3744" y="2544"/>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94" name="Line 30"/>
            <p:cNvSpPr>
              <a:spLocks noChangeShapeType="1"/>
            </p:cNvSpPr>
            <p:nvPr/>
          </p:nvSpPr>
          <p:spPr bwMode="auto">
            <a:xfrm flipV="1">
              <a:off x="4032" y="2544"/>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95" name="Rectangle 31"/>
            <p:cNvSpPr>
              <a:spLocks noChangeArrowheads="1"/>
            </p:cNvSpPr>
            <p:nvPr/>
          </p:nvSpPr>
          <p:spPr bwMode="auto">
            <a:xfrm>
              <a:off x="3744" y="3072"/>
              <a:ext cx="288" cy="192"/>
            </a:xfrm>
            <a:prstGeom prst="rect">
              <a:avLst/>
            </a:prstGeom>
            <a:solidFill>
              <a:schemeClr val="accent1"/>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r</a:t>
              </a:r>
            </a:p>
          </p:txBody>
        </p:sp>
      </p:grpSp>
      <p:grpSp>
        <p:nvGrpSpPr>
          <p:cNvPr id="536608" name="Group 32"/>
          <p:cNvGrpSpPr>
            <a:grpSpLocks/>
          </p:cNvGrpSpPr>
          <p:nvPr/>
        </p:nvGrpSpPr>
        <p:grpSpPr bwMode="auto">
          <a:xfrm>
            <a:off x="1524000" y="4191000"/>
            <a:ext cx="685800" cy="1143000"/>
            <a:chOff x="960" y="2640"/>
            <a:chExt cx="432" cy="720"/>
          </a:xfrm>
        </p:grpSpPr>
        <p:sp>
          <p:nvSpPr>
            <p:cNvPr id="74788" name="Line 33"/>
            <p:cNvSpPr>
              <a:spLocks noChangeShapeType="1"/>
            </p:cNvSpPr>
            <p:nvPr/>
          </p:nvSpPr>
          <p:spPr bwMode="auto">
            <a:xfrm>
              <a:off x="1392" y="2640"/>
              <a:ext cx="0" cy="480"/>
            </a:xfrm>
            <a:prstGeom prst="line">
              <a:avLst/>
            </a:prstGeom>
            <a:noFill/>
            <a:ln w="2857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789" name="Group 34"/>
            <p:cNvGrpSpPr>
              <a:grpSpLocks/>
            </p:cNvGrpSpPr>
            <p:nvPr/>
          </p:nvGrpSpPr>
          <p:grpSpPr bwMode="auto">
            <a:xfrm>
              <a:off x="960" y="2640"/>
              <a:ext cx="288" cy="720"/>
              <a:chOff x="2784" y="3408"/>
              <a:chExt cx="288" cy="720"/>
            </a:xfrm>
          </p:grpSpPr>
          <p:sp>
            <p:nvSpPr>
              <p:cNvPr id="74790" name="Line 35"/>
              <p:cNvSpPr>
                <a:spLocks noChangeShapeType="1"/>
              </p:cNvSpPr>
              <p:nvPr/>
            </p:nvSpPr>
            <p:spPr bwMode="auto">
              <a:xfrm flipV="1">
                <a:off x="2784" y="3408"/>
                <a:ext cx="0" cy="72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91" name="Line 36"/>
              <p:cNvSpPr>
                <a:spLocks noChangeShapeType="1"/>
              </p:cNvSpPr>
              <p:nvPr/>
            </p:nvSpPr>
            <p:spPr bwMode="auto">
              <a:xfrm flipV="1">
                <a:off x="3072" y="3408"/>
                <a:ext cx="0" cy="72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792" name="AutoShape 37"/>
              <p:cNvCxnSpPr>
                <a:cxnSpLocks noChangeShapeType="1"/>
                <a:stCxn id="74790" idx="0"/>
                <a:endCxn id="74791" idx="0"/>
              </p:cNvCxnSpPr>
              <p:nvPr/>
            </p:nvCxnSpPr>
            <p:spPr bwMode="auto">
              <a:xfrm>
                <a:off x="2784" y="4128"/>
                <a:ext cx="288" cy="0"/>
              </a:xfrm>
              <a:prstGeom prst="straightConnector1">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536614" name="Group 38"/>
          <p:cNvGrpSpPr>
            <a:grpSpLocks/>
          </p:cNvGrpSpPr>
          <p:nvPr/>
        </p:nvGrpSpPr>
        <p:grpSpPr bwMode="auto">
          <a:xfrm>
            <a:off x="3505200" y="1524000"/>
            <a:ext cx="1098550" cy="2133600"/>
            <a:chOff x="2208" y="960"/>
            <a:chExt cx="692" cy="1344"/>
          </a:xfrm>
        </p:grpSpPr>
        <p:grpSp>
          <p:nvGrpSpPr>
            <p:cNvPr id="74782" name="Group 39"/>
            <p:cNvGrpSpPr>
              <a:grpSpLocks/>
            </p:cNvGrpSpPr>
            <p:nvPr/>
          </p:nvGrpSpPr>
          <p:grpSpPr bwMode="auto">
            <a:xfrm>
              <a:off x="2256" y="960"/>
              <a:ext cx="288" cy="720"/>
              <a:chOff x="912" y="2976"/>
              <a:chExt cx="288" cy="720"/>
            </a:xfrm>
          </p:grpSpPr>
          <p:sp>
            <p:nvSpPr>
              <p:cNvPr id="74785" name="Rectangle 40"/>
              <p:cNvSpPr>
                <a:spLocks noChangeArrowheads="1"/>
              </p:cNvSpPr>
              <p:nvPr/>
            </p:nvSpPr>
            <p:spPr bwMode="auto">
              <a:xfrm>
                <a:off x="912" y="3504"/>
                <a:ext cx="288" cy="192"/>
              </a:xfrm>
              <a:prstGeom prst="rect">
                <a:avLst/>
              </a:prstGeom>
              <a:solidFill>
                <a:schemeClr val="accent1"/>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r</a:t>
                </a:r>
              </a:p>
            </p:txBody>
          </p:sp>
          <p:sp>
            <p:nvSpPr>
              <p:cNvPr id="74786" name="Line 41"/>
              <p:cNvSpPr>
                <a:spLocks noChangeShapeType="1"/>
              </p:cNvSpPr>
              <p:nvPr/>
            </p:nvSpPr>
            <p:spPr bwMode="auto">
              <a:xfrm flipV="1">
                <a:off x="1200" y="2976"/>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7" name="Line 42"/>
              <p:cNvSpPr>
                <a:spLocks noChangeShapeType="1"/>
              </p:cNvSpPr>
              <p:nvPr/>
            </p:nvSpPr>
            <p:spPr bwMode="auto">
              <a:xfrm flipV="1">
                <a:off x="912" y="2976"/>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783" name="Text Box 43" descr="花岗岩"/>
            <p:cNvSpPr txBox="1">
              <a:spLocks noChangeArrowheads="1"/>
            </p:cNvSpPr>
            <p:nvPr/>
          </p:nvSpPr>
          <p:spPr bwMode="auto">
            <a:xfrm>
              <a:off x="2208" y="2016"/>
              <a:ext cx="336" cy="288"/>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50000"/>
                </a:spcBef>
              </a:pPr>
              <a:r>
                <a:rPr lang="en-US" altLang="zh-CN" sz="2400" b="1"/>
                <a:t>s</a:t>
              </a:r>
            </a:p>
          </p:txBody>
        </p:sp>
        <p:sp>
          <p:nvSpPr>
            <p:cNvPr id="74784" name="Text Box 44" descr="花岗岩"/>
            <p:cNvSpPr txBox="1">
              <a:spLocks noChangeArrowheads="1"/>
            </p:cNvSpPr>
            <p:nvPr/>
          </p:nvSpPr>
          <p:spPr bwMode="auto">
            <a:xfrm>
              <a:off x="2554" y="960"/>
              <a:ext cx="346" cy="864"/>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50000"/>
                </a:spcBef>
              </a:pPr>
              <a:r>
                <a:rPr lang="zh-CN" altLang="en-US" sz="2400" b="1"/>
                <a:t>子过程</a:t>
              </a:r>
              <a:r>
                <a:rPr lang="en-US" altLang="zh-CN" sz="2400" b="1"/>
                <a:t>1</a:t>
              </a:r>
            </a:p>
          </p:txBody>
        </p:sp>
      </p:grpSp>
      <p:grpSp>
        <p:nvGrpSpPr>
          <p:cNvPr id="536621" name="Group 45"/>
          <p:cNvGrpSpPr>
            <a:grpSpLocks/>
          </p:cNvGrpSpPr>
          <p:nvPr/>
        </p:nvGrpSpPr>
        <p:grpSpPr bwMode="auto">
          <a:xfrm>
            <a:off x="5562600" y="1447800"/>
            <a:ext cx="1098550" cy="2209800"/>
            <a:chOff x="3504" y="912"/>
            <a:chExt cx="692" cy="1392"/>
          </a:xfrm>
        </p:grpSpPr>
        <p:sp>
          <p:nvSpPr>
            <p:cNvPr id="74776" name="Rectangle 46"/>
            <p:cNvSpPr>
              <a:spLocks noChangeArrowheads="1"/>
            </p:cNvSpPr>
            <p:nvPr/>
          </p:nvSpPr>
          <p:spPr bwMode="auto">
            <a:xfrm>
              <a:off x="3504" y="1488"/>
              <a:ext cx="288" cy="192"/>
            </a:xfrm>
            <a:prstGeom prst="rect">
              <a:avLst/>
            </a:prstGeom>
            <a:solidFill>
              <a:schemeClr val="accent1"/>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r</a:t>
              </a:r>
            </a:p>
          </p:txBody>
        </p:sp>
        <p:sp>
          <p:nvSpPr>
            <p:cNvPr id="74777" name="Rectangle 47"/>
            <p:cNvSpPr>
              <a:spLocks noChangeArrowheads="1"/>
            </p:cNvSpPr>
            <p:nvPr/>
          </p:nvSpPr>
          <p:spPr bwMode="auto">
            <a:xfrm>
              <a:off x="3504" y="1296"/>
              <a:ext cx="288" cy="192"/>
            </a:xfrm>
            <a:prstGeom prst="rect">
              <a:avLst/>
            </a:prstGeom>
            <a:solidFill>
              <a:srgbClr val="FF9933"/>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s</a:t>
              </a:r>
            </a:p>
          </p:txBody>
        </p:sp>
        <p:sp>
          <p:nvSpPr>
            <p:cNvPr id="74778" name="Line 48"/>
            <p:cNvSpPr>
              <a:spLocks noChangeShapeType="1"/>
            </p:cNvSpPr>
            <p:nvPr/>
          </p:nvSpPr>
          <p:spPr bwMode="auto">
            <a:xfrm flipV="1">
              <a:off x="3504" y="960"/>
              <a:ext cx="0" cy="336"/>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9" name="Line 49"/>
            <p:cNvSpPr>
              <a:spLocks noChangeShapeType="1"/>
            </p:cNvSpPr>
            <p:nvPr/>
          </p:nvSpPr>
          <p:spPr bwMode="auto">
            <a:xfrm flipV="1">
              <a:off x="3792" y="960"/>
              <a:ext cx="0" cy="336"/>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0" name="Text Box 50" descr="花岗岩"/>
            <p:cNvSpPr txBox="1">
              <a:spLocks noChangeArrowheads="1"/>
            </p:cNvSpPr>
            <p:nvPr/>
          </p:nvSpPr>
          <p:spPr bwMode="auto">
            <a:xfrm>
              <a:off x="3504" y="2016"/>
              <a:ext cx="288" cy="288"/>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50000"/>
                </a:spcBef>
              </a:pPr>
              <a:r>
                <a:rPr lang="en-US" altLang="zh-CN" sz="2400" b="1"/>
                <a:t>t</a:t>
              </a:r>
            </a:p>
          </p:txBody>
        </p:sp>
        <p:sp>
          <p:nvSpPr>
            <p:cNvPr id="74781" name="Text Box 51" descr="花岗岩"/>
            <p:cNvSpPr txBox="1">
              <a:spLocks noChangeArrowheads="1"/>
            </p:cNvSpPr>
            <p:nvPr/>
          </p:nvSpPr>
          <p:spPr bwMode="auto">
            <a:xfrm>
              <a:off x="3850" y="912"/>
              <a:ext cx="346" cy="864"/>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50000"/>
                </a:spcBef>
              </a:pPr>
              <a:r>
                <a:rPr lang="zh-CN" altLang="en-US" sz="2400" b="1"/>
                <a:t>子过程</a:t>
              </a:r>
              <a:r>
                <a:rPr lang="en-US" altLang="zh-CN" sz="2400" b="1"/>
                <a:t>2</a:t>
              </a:r>
            </a:p>
          </p:txBody>
        </p:sp>
      </p:grpSp>
      <p:grpSp>
        <p:nvGrpSpPr>
          <p:cNvPr id="536628" name="Group 52"/>
          <p:cNvGrpSpPr>
            <a:grpSpLocks/>
          </p:cNvGrpSpPr>
          <p:nvPr/>
        </p:nvGrpSpPr>
        <p:grpSpPr bwMode="auto">
          <a:xfrm>
            <a:off x="7620000" y="1676400"/>
            <a:ext cx="1098550" cy="1371600"/>
            <a:chOff x="4800" y="1056"/>
            <a:chExt cx="692" cy="864"/>
          </a:xfrm>
        </p:grpSpPr>
        <p:sp>
          <p:nvSpPr>
            <p:cNvPr id="74770" name="Line 53"/>
            <p:cNvSpPr>
              <a:spLocks noChangeShapeType="1"/>
            </p:cNvSpPr>
            <p:nvPr/>
          </p:nvSpPr>
          <p:spPr bwMode="auto">
            <a:xfrm flipV="1">
              <a:off x="4800" y="1104"/>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1" name="Line 54"/>
            <p:cNvSpPr>
              <a:spLocks noChangeShapeType="1"/>
            </p:cNvSpPr>
            <p:nvPr/>
          </p:nvSpPr>
          <p:spPr bwMode="auto">
            <a:xfrm flipV="1">
              <a:off x="5088" y="1104"/>
              <a:ext cx="0" cy="72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2" name="Rectangle 55"/>
            <p:cNvSpPr>
              <a:spLocks noChangeArrowheads="1"/>
            </p:cNvSpPr>
            <p:nvPr/>
          </p:nvSpPr>
          <p:spPr bwMode="auto">
            <a:xfrm>
              <a:off x="4800" y="1632"/>
              <a:ext cx="288" cy="192"/>
            </a:xfrm>
            <a:prstGeom prst="rect">
              <a:avLst/>
            </a:prstGeom>
            <a:solidFill>
              <a:schemeClr val="accent1"/>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r</a:t>
              </a:r>
            </a:p>
          </p:txBody>
        </p:sp>
        <p:sp>
          <p:nvSpPr>
            <p:cNvPr id="74773" name="Rectangle 56"/>
            <p:cNvSpPr>
              <a:spLocks noChangeArrowheads="1"/>
            </p:cNvSpPr>
            <p:nvPr/>
          </p:nvSpPr>
          <p:spPr bwMode="auto">
            <a:xfrm>
              <a:off x="4800" y="1440"/>
              <a:ext cx="288" cy="192"/>
            </a:xfrm>
            <a:prstGeom prst="rect">
              <a:avLst/>
            </a:prstGeom>
            <a:solidFill>
              <a:srgbClr val="FF9933"/>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s</a:t>
              </a:r>
            </a:p>
          </p:txBody>
        </p:sp>
        <p:sp>
          <p:nvSpPr>
            <p:cNvPr id="74774" name="Rectangle 57"/>
            <p:cNvSpPr>
              <a:spLocks noChangeArrowheads="1"/>
            </p:cNvSpPr>
            <p:nvPr/>
          </p:nvSpPr>
          <p:spPr bwMode="auto">
            <a:xfrm>
              <a:off x="4800" y="1248"/>
              <a:ext cx="288" cy="192"/>
            </a:xfrm>
            <a:prstGeom prst="rect">
              <a:avLst/>
            </a:prstGeom>
            <a:solidFill>
              <a:srgbClr val="FF6699"/>
            </a:solidFill>
            <a:ln w="190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t</a:t>
              </a:r>
            </a:p>
          </p:txBody>
        </p:sp>
        <p:sp>
          <p:nvSpPr>
            <p:cNvPr id="74775" name="Text Box 58" descr="花岗岩"/>
            <p:cNvSpPr txBox="1">
              <a:spLocks noChangeArrowheads="1"/>
            </p:cNvSpPr>
            <p:nvPr/>
          </p:nvSpPr>
          <p:spPr bwMode="auto">
            <a:xfrm>
              <a:off x="5146" y="1056"/>
              <a:ext cx="346" cy="864"/>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a:spcBef>
                  <a:spcPct val="50000"/>
                </a:spcBef>
              </a:pPr>
              <a:r>
                <a:rPr lang="zh-CN" altLang="en-US" sz="2400" b="1"/>
                <a:t>子过程</a:t>
              </a:r>
              <a:r>
                <a:rPr lang="en-US" altLang="zh-CN" sz="2400" b="1"/>
                <a:t>3</a:t>
              </a:r>
            </a:p>
          </p:txBody>
        </p:sp>
      </p:grpSp>
      <p:sp>
        <p:nvSpPr>
          <p:cNvPr id="74769" name="Rectangle 59"/>
          <p:cNvSpPr>
            <a:spLocks noGrp="1" noChangeArrowheads="1"/>
          </p:cNvSpPr>
          <p:nvPr>
            <p:ph type="title"/>
          </p:nvPr>
        </p:nvSpPr>
        <p:spPr>
          <a:xfrm>
            <a:off x="731838" y="192088"/>
            <a:ext cx="3124200" cy="825500"/>
          </a:xfrm>
        </p:spPr>
        <p:txBody>
          <a:bodyPr/>
          <a:lstStyle/>
          <a:p>
            <a:pPr eaLnBrk="1" hangingPunct="1"/>
            <a:r>
              <a:rPr lang="zh-CN" altLang="en-US">
                <a:solidFill>
                  <a:srgbClr val="000000"/>
                </a:solidFill>
              </a:rPr>
              <a:t>栈的应用</a:t>
            </a:r>
          </a:p>
        </p:txBody>
      </p:sp>
    </p:spTree>
    <p:extLst>
      <p:ext uri="{BB962C8B-B14F-4D97-AF65-F5344CB8AC3E}">
        <p14:creationId xmlns:p14="http://schemas.microsoft.com/office/powerpoint/2010/main" val="25884423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536579"/>
                                        </p:tgtEl>
                                        <p:attrNameLst>
                                          <p:attrName>style.visibility</p:attrName>
                                        </p:attrNameLst>
                                      </p:cBhvr>
                                      <p:to>
                                        <p:strVal val="visible"/>
                                      </p:to>
                                    </p:set>
                                    <p:anim calcmode="lin" valueType="num">
                                      <p:cBhvr>
                                        <p:cTn id="7" dur="500" fill="hold"/>
                                        <p:tgtEl>
                                          <p:spTgt spid="536579"/>
                                        </p:tgtEl>
                                        <p:attrNameLst>
                                          <p:attrName>ppt_x</p:attrName>
                                        </p:attrNameLst>
                                      </p:cBhvr>
                                      <p:tavLst>
                                        <p:tav tm="0">
                                          <p:val>
                                            <p:strVal val="#ppt_x-#ppt_w/2"/>
                                          </p:val>
                                        </p:tav>
                                        <p:tav tm="100000">
                                          <p:val>
                                            <p:strVal val="#ppt_x"/>
                                          </p:val>
                                        </p:tav>
                                      </p:tavLst>
                                    </p:anim>
                                    <p:anim calcmode="lin" valueType="num">
                                      <p:cBhvr>
                                        <p:cTn id="8" dur="500" fill="hold"/>
                                        <p:tgtEl>
                                          <p:spTgt spid="536579"/>
                                        </p:tgtEl>
                                        <p:attrNameLst>
                                          <p:attrName>ppt_y</p:attrName>
                                        </p:attrNameLst>
                                      </p:cBhvr>
                                      <p:tavLst>
                                        <p:tav tm="0">
                                          <p:val>
                                            <p:strVal val="#ppt_y"/>
                                          </p:val>
                                        </p:tav>
                                        <p:tav tm="100000">
                                          <p:val>
                                            <p:strVal val="#ppt_y"/>
                                          </p:val>
                                        </p:tav>
                                      </p:tavLst>
                                    </p:anim>
                                    <p:anim calcmode="lin" valueType="num">
                                      <p:cBhvr>
                                        <p:cTn id="9" dur="500" fill="hold"/>
                                        <p:tgtEl>
                                          <p:spTgt spid="536579"/>
                                        </p:tgtEl>
                                        <p:attrNameLst>
                                          <p:attrName>ppt_w</p:attrName>
                                        </p:attrNameLst>
                                      </p:cBhvr>
                                      <p:tavLst>
                                        <p:tav tm="0">
                                          <p:val>
                                            <p:fltVal val="0"/>
                                          </p:val>
                                        </p:tav>
                                        <p:tav tm="100000">
                                          <p:val>
                                            <p:strVal val="#ppt_w"/>
                                          </p:val>
                                        </p:tav>
                                      </p:tavLst>
                                    </p:anim>
                                    <p:anim calcmode="lin" valueType="num">
                                      <p:cBhvr>
                                        <p:cTn id="10" dur="500" fill="hold"/>
                                        <p:tgtEl>
                                          <p:spTgt spid="536579"/>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36579"/>
                                        </p:tgtEl>
                                        <p:attrNameLst>
                                          <p:attrName>ppt_c</p:attrName>
                                        </p:attrNameLst>
                                      </p:cBhvr>
                                      <p:to>
                                        <a:srgbClr val="FF5050"/>
                                      </p:to>
                                    </p:animClr>
                                  </p:subTnLst>
                                </p:cTn>
                              </p:par>
                            </p:childTnLst>
                          </p:cTn>
                        </p:par>
                        <p:par>
                          <p:cTn id="11" fill="hold" nodeType="afterGroup">
                            <p:stCondLst>
                              <p:cond delay="500"/>
                            </p:stCondLst>
                            <p:childTnLst>
                              <p:par>
                                <p:cTn id="12" presetID="2" presetClass="entr" presetSubtype="8" fill="hold" grpId="0" nodeType="afterEffect">
                                  <p:stCondLst>
                                    <p:cond delay="0"/>
                                  </p:stCondLst>
                                  <p:childTnLst>
                                    <p:set>
                                      <p:cBhvr>
                                        <p:cTn id="13" dur="1" fill="hold">
                                          <p:stCondLst>
                                            <p:cond delay="0"/>
                                          </p:stCondLst>
                                        </p:cTn>
                                        <p:tgtEl>
                                          <p:spTgt spid="536595"/>
                                        </p:tgtEl>
                                        <p:attrNameLst>
                                          <p:attrName>style.visibility</p:attrName>
                                        </p:attrNameLst>
                                      </p:cBhvr>
                                      <p:to>
                                        <p:strVal val="visible"/>
                                      </p:to>
                                    </p:set>
                                    <p:anim calcmode="lin" valueType="num">
                                      <p:cBhvr additive="base">
                                        <p:cTn id="14" dur="500" fill="hold"/>
                                        <p:tgtEl>
                                          <p:spTgt spid="536595"/>
                                        </p:tgtEl>
                                        <p:attrNameLst>
                                          <p:attrName>ppt_x</p:attrName>
                                        </p:attrNameLst>
                                      </p:cBhvr>
                                      <p:tavLst>
                                        <p:tav tm="0">
                                          <p:val>
                                            <p:strVal val="0-#ppt_w/2"/>
                                          </p:val>
                                        </p:tav>
                                        <p:tav tm="100000">
                                          <p:val>
                                            <p:strVal val="#ppt_x"/>
                                          </p:val>
                                        </p:tav>
                                      </p:tavLst>
                                    </p:anim>
                                    <p:anim calcmode="lin" valueType="num">
                                      <p:cBhvr additive="base">
                                        <p:cTn id="15" dur="500" fill="hold"/>
                                        <p:tgtEl>
                                          <p:spTgt spid="536595"/>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nodeType="clickEffect">
                                  <p:stCondLst>
                                    <p:cond delay="0"/>
                                  </p:stCondLst>
                                  <p:childTnLst>
                                    <p:set>
                                      <p:cBhvr>
                                        <p:cTn id="19" dur="1" fill="hold">
                                          <p:stCondLst>
                                            <p:cond delay="0"/>
                                          </p:stCondLst>
                                        </p:cTn>
                                        <p:tgtEl>
                                          <p:spTgt spid="536596"/>
                                        </p:tgtEl>
                                        <p:attrNameLst>
                                          <p:attrName>style.visibility</p:attrName>
                                        </p:attrNameLst>
                                      </p:cBhvr>
                                      <p:to>
                                        <p:strVal val="visible"/>
                                      </p:to>
                                    </p:set>
                                    <p:animEffect transition="in" filter="box(out)">
                                      <p:cBhvr>
                                        <p:cTn id="20" dur="500"/>
                                        <p:tgtEl>
                                          <p:spTgt spid="536596"/>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WAV"/>
                                        </p:tgtEl>
                                      </p:cMediaNode>
                                    </p:audio>
                                  </p:subTnLst>
                                </p:cTn>
                              </p:par>
                            </p:childTnLst>
                          </p:cTn>
                        </p:par>
                        <p:par>
                          <p:cTn id="21" fill="hold" nodeType="afterGroup">
                            <p:stCondLst>
                              <p:cond delay="500"/>
                            </p:stCondLst>
                            <p:childTnLst>
                              <p:par>
                                <p:cTn id="22" presetID="3" presetClass="entr" presetSubtype="5" fill="hold" nodeType="afterEffect">
                                  <p:stCondLst>
                                    <p:cond delay="0"/>
                                  </p:stCondLst>
                                  <p:childTnLst>
                                    <p:set>
                                      <p:cBhvr>
                                        <p:cTn id="23" dur="1" fill="hold">
                                          <p:stCondLst>
                                            <p:cond delay="0"/>
                                          </p:stCondLst>
                                        </p:cTn>
                                        <p:tgtEl>
                                          <p:spTgt spid="536614"/>
                                        </p:tgtEl>
                                        <p:attrNameLst>
                                          <p:attrName>style.visibility</p:attrName>
                                        </p:attrNameLst>
                                      </p:cBhvr>
                                      <p:to>
                                        <p:strVal val="visible"/>
                                      </p:to>
                                    </p:set>
                                    <p:animEffect transition="in" filter="blinds(vertical)">
                                      <p:cBhvr>
                                        <p:cTn id="24" dur="500"/>
                                        <p:tgtEl>
                                          <p:spTgt spid="53661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nodeType="clickEffect">
                                  <p:stCondLst>
                                    <p:cond delay="0"/>
                                  </p:stCondLst>
                                  <p:childTnLst>
                                    <p:set>
                                      <p:cBhvr>
                                        <p:cTn id="28" dur="1" fill="hold">
                                          <p:stCondLst>
                                            <p:cond delay="0"/>
                                          </p:stCondLst>
                                        </p:cTn>
                                        <p:tgtEl>
                                          <p:spTgt spid="536582"/>
                                        </p:tgtEl>
                                        <p:attrNameLst>
                                          <p:attrName>style.visibility</p:attrName>
                                        </p:attrNameLst>
                                      </p:cBhvr>
                                      <p:to>
                                        <p:strVal val="visible"/>
                                      </p:to>
                                    </p:set>
                                    <p:anim calcmode="lin" valueType="num">
                                      <p:cBhvr>
                                        <p:cTn id="29" dur="500" fill="hold"/>
                                        <p:tgtEl>
                                          <p:spTgt spid="536582"/>
                                        </p:tgtEl>
                                        <p:attrNameLst>
                                          <p:attrName>ppt_x</p:attrName>
                                        </p:attrNameLst>
                                      </p:cBhvr>
                                      <p:tavLst>
                                        <p:tav tm="0">
                                          <p:val>
                                            <p:strVal val="#ppt_x-#ppt_w/2"/>
                                          </p:val>
                                        </p:tav>
                                        <p:tav tm="100000">
                                          <p:val>
                                            <p:strVal val="#ppt_x"/>
                                          </p:val>
                                        </p:tav>
                                      </p:tavLst>
                                    </p:anim>
                                    <p:anim calcmode="lin" valueType="num">
                                      <p:cBhvr>
                                        <p:cTn id="30" dur="500" fill="hold"/>
                                        <p:tgtEl>
                                          <p:spTgt spid="536582"/>
                                        </p:tgtEl>
                                        <p:attrNameLst>
                                          <p:attrName>ppt_y</p:attrName>
                                        </p:attrNameLst>
                                      </p:cBhvr>
                                      <p:tavLst>
                                        <p:tav tm="0">
                                          <p:val>
                                            <p:strVal val="#ppt_y"/>
                                          </p:val>
                                        </p:tav>
                                        <p:tav tm="100000">
                                          <p:val>
                                            <p:strVal val="#ppt_y"/>
                                          </p:val>
                                        </p:tav>
                                      </p:tavLst>
                                    </p:anim>
                                    <p:anim calcmode="lin" valueType="num">
                                      <p:cBhvr>
                                        <p:cTn id="31" dur="500" fill="hold"/>
                                        <p:tgtEl>
                                          <p:spTgt spid="536582"/>
                                        </p:tgtEl>
                                        <p:attrNameLst>
                                          <p:attrName>ppt_w</p:attrName>
                                        </p:attrNameLst>
                                      </p:cBhvr>
                                      <p:tavLst>
                                        <p:tav tm="0">
                                          <p:val>
                                            <p:fltVal val="0"/>
                                          </p:val>
                                        </p:tav>
                                        <p:tav tm="100000">
                                          <p:val>
                                            <p:strVal val="#ppt_w"/>
                                          </p:val>
                                        </p:tav>
                                      </p:tavLst>
                                    </p:anim>
                                    <p:anim calcmode="lin" valueType="num">
                                      <p:cBhvr>
                                        <p:cTn id="32" dur="500" fill="hold"/>
                                        <p:tgtEl>
                                          <p:spTgt spid="536582"/>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36582"/>
                                        </p:tgtEl>
                                        <p:attrNameLst>
                                          <p:attrName>ppt_c</p:attrName>
                                        </p:attrNameLst>
                                      </p:cBhvr>
                                      <p:to>
                                        <a:srgbClr val="FF5050"/>
                                      </p:to>
                                    </p:animClr>
                                  </p:subTnLst>
                                </p:cTn>
                              </p:par>
                            </p:childTnLst>
                          </p:cTn>
                        </p:par>
                        <p:par>
                          <p:cTn id="33" fill="hold" nodeType="afterGroup">
                            <p:stCondLst>
                              <p:cond delay="500"/>
                            </p:stCondLst>
                            <p:childTnLst>
                              <p:par>
                                <p:cTn id="34" presetID="3" presetClass="entr" presetSubtype="5" fill="hold" nodeType="afterEffect">
                                  <p:stCondLst>
                                    <p:cond delay="0"/>
                                  </p:stCondLst>
                                  <p:childTnLst>
                                    <p:set>
                                      <p:cBhvr>
                                        <p:cTn id="35" dur="1" fill="hold">
                                          <p:stCondLst>
                                            <p:cond delay="0"/>
                                          </p:stCondLst>
                                        </p:cTn>
                                        <p:tgtEl>
                                          <p:spTgt spid="536621"/>
                                        </p:tgtEl>
                                        <p:attrNameLst>
                                          <p:attrName>style.visibility</p:attrName>
                                        </p:attrNameLst>
                                      </p:cBhvr>
                                      <p:to>
                                        <p:strVal val="visible"/>
                                      </p:to>
                                    </p:set>
                                    <p:animEffect transition="in" filter="blinds(vertical)">
                                      <p:cBhvr>
                                        <p:cTn id="36" dur="500"/>
                                        <p:tgtEl>
                                          <p:spTgt spid="53662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536585"/>
                                        </p:tgtEl>
                                        <p:attrNameLst>
                                          <p:attrName>style.visibility</p:attrName>
                                        </p:attrNameLst>
                                      </p:cBhvr>
                                      <p:to>
                                        <p:strVal val="visible"/>
                                      </p:to>
                                    </p:set>
                                    <p:anim calcmode="lin" valueType="num">
                                      <p:cBhvr>
                                        <p:cTn id="41" dur="500" fill="hold"/>
                                        <p:tgtEl>
                                          <p:spTgt spid="536585"/>
                                        </p:tgtEl>
                                        <p:attrNameLst>
                                          <p:attrName>ppt_x</p:attrName>
                                        </p:attrNameLst>
                                      </p:cBhvr>
                                      <p:tavLst>
                                        <p:tav tm="0">
                                          <p:val>
                                            <p:strVal val="#ppt_x-#ppt_w/2"/>
                                          </p:val>
                                        </p:tav>
                                        <p:tav tm="100000">
                                          <p:val>
                                            <p:strVal val="#ppt_x"/>
                                          </p:val>
                                        </p:tav>
                                      </p:tavLst>
                                    </p:anim>
                                    <p:anim calcmode="lin" valueType="num">
                                      <p:cBhvr>
                                        <p:cTn id="42" dur="500" fill="hold"/>
                                        <p:tgtEl>
                                          <p:spTgt spid="536585"/>
                                        </p:tgtEl>
                                        <p:attrNameLst>
                                          <p:attrName>ppt_y</p:attrName>
                                        </p:attrNameLst>
                                      </p:cBhvr>
                                      <p:tavLst>
                                        <p:tav tm="0">
                                          <p:val>
                                            <p:strVal val="#ppt_y"/>
                                          </p:val>
                                        </p:tav>
                                        <p:tav tm="100000">
                                          <p:val>
                                            <p:strVal val="#ppt_y"/>
                                          </p:val>
                                        </p:tav>
                                      </p:tavLst>
                                    </p:anim>
                                    <p:anim calcmode="lin" valueType="num">
                                      <p:cBhvr>
                                        <p:cTn id="43" dur="500" fill="hold"/>
                                        <p:tgtEl>
                                          <p:spTgt spid="536585"/>
                                        </p:tgtEl>
                                        <p:attrNameLst>
                                          <p:attrName>ppt_w</p:attrName>
                                        </p:attrNameLst>
                                      </p:cBhvr>
                                      <p:tavLst>
                                        <p:tav tm="0">
                                          <p:val>
                                            <p:fltVal val="0"/>
                                          </p:val>
                                        </p:tav>
                                        <p:tav tm="100000">
                                          <p:val>
                                            <p:strVal val="#ppt_w"/>
                                          </p:val>
                                        </p:tav>
                                      </p:tavLst>
                                    </p:anim>
                                    <p:anim calcmode="lin" valueType="num">
                                      <p:cBhvr>
                                        <p:cTn id="44" dur="500" fill="hold"/>
                                        <p:tgtEl>
                                          <p:spTgt spid="536585"/>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36585"/>
                                        </p:tgtEl>
                                        <p:attrNameLst>
                                          <p:attrName>ppt_c</p:attrName>
                                        </p:attrNameLst>
                                      </p:cBhvr>
                                      <p:to>
                                        <a:srgbClr val="FF5050"/>
                                      </p:to>
                                    </p:animClr>
                                  </p:subTnLst>
                                </p:cTn>
                              </p:par>
                            </p:childTnLst>
                          </p:cTn>
                        </p:par>
                        <p:par>
                          <p:cTn id="45" fill="hold" nodeType="afterGroup">
                            <p:stCondLst>
                              <p:cond delay="500"/>
                            </p:stCondLst>
                            <p:childTnLst>
                              <p:par>
                                <p:cTn id="46" presetID="3" presetClass="entr" presetSubtype="5" fill="hold" nodeType="afterEffect">
                                  <p:stCondLst>
                                    <p:cond delay="0"/>
                                  </p:stCondLst>
                                  <p:childTnLst>
                                    <p:set>
                                      <p:cBhvr>
                                        <p:cTn id="47" dur="1" fill="hold">
                                          <p:stCondLst>
                                            <p:cond delay="0"/>
                                          </p:stCondLst>
                                        </p:cTn>
                                        <p:tgtEl>
                                          <p:spTgt spid="536628"/>
                                        </p:tgtEl>
                                        <p:attrNameLst>
                                          <p:attrName>style.visibility</p:attrName>
                                        </p:attrNameLst>
                                      </p:cBhvr>
                                      <p:to>
                                        <p:strVal val="visible"/>
                                      </p:to>
                                    </p:set>
                                    <p:animEffect transition="in" filter="blinds(vertical)">
                                      <p:cBhvr>
                                        <p:cTn id="48" dur="500"/>
                                        <p:tgtEl>
                                          <p:spTgt spid="53662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2" fill="hold" nodeType="clickEffect">
                                  <p:stCondLst>
                                    <p:cond delay="0"/>
                                  </p:stCondLst>
                                  <p:childTnLst>
                                    <p:set>
                                      <p:cBhvr>
                                        <p:cTn id="52" dur="1" fill="hold">
                                          <p:stCondLst>
                                            <p:cond delay="0"/>
                                          </p:stCondLst>
                                        </p:cTn>
                                        <p:tgtEl>
                                          <p:spTgt spid="536589"/>
                                        </p:tgtEl>
                                        <p:attrNameLst>
                                          <p:attrName>style.visibility</p:attrName>
                                        </p:attrNameLst>
                                      </p:cBhvr>
                                      <p:to>
                                        <p:strVal val="visible"/>
                                      </p:to>
                                    </p:set>
                                    <p:anim calcmode="lin" valueType="num">
                                      <p:cBhvr>
                                        <p:cTn id="53" dur="500" fill="hold"/>
                                        <p:tgtEl>
                                          <p:spTgt spid="536589"/>
                                        </p:tgtEl>
                                        <p:attrNameLst>
                                          <p:attrName>ppt_x</p:attrName>
                                        </p:attrNameLst>
                                      </p:cBhvr>
                                      <p:tavLst>
                                        <p:tav tm="0">
                                          <p:val>
                                            <p:strVal val="#ppt_x+#ppt_w/2"/>
                                          </p:val>
                                        </p:tav>
                                        <p:tav tm="100000">
                                          <p:val>
                                            <p:strVal val="#ppt_x"/>
                                          </p:val>
                                        </p:tav>
                                      </p:tavLst>
                                    </p:anim>
                                    <p:anim calcmode="lin" valueType="num">
                                      <p:cBhvr>
                                        <p:cTn id="54" dur="500" fill="hold"/>
                                        <p:tgtEl>
                                          <p:spTgt spid="536589"/>
                                        </p:tgtEl>
                                        <p:attrNameLst>
                                          <p:attrName>ppt_y</p:attrName>
                                        </p:attrNameLst>
                                      </p:cBhvr>
                                      <p:tavLst>
                                        <p:tav tm="0">
                                          <p:val>
                                            <p:strVal val="#ppt_y"/>
                                          </p:val>
                                        </p:tav>
                                        <p:tav tm="100000">
                                          <p:val>
                                            <p:strVal val="#ppt_y"/>
                                          </p:val>
                                        </p:tav>
                                      </p:tavLst>
                                    </p:anim>
                                    <p:anim calcmode="lin" valueType="num">
                                      <p:cBhvr>
                                        <p:cTn id="55" dur="500" fill="hold"/>
                                        <p:tgtEl>
                                          <p:spTgt spid="536589"/>
                                        </p:tgtEl>
                                        <p:attrNameLst>
                                          <p:attrName>ppt_w</p:attrName>
                                        </p:attrNameLst>
                                      </p:cBhvr>
                                      <p:tavLst>
                                        <p:tav tm="0">
                                          <p:val>
                                            <p:fltVal val="0"/>
                                          </p:val>
                                        </p:tav>
                                        <p:tav tm="100000">
                                          <p:val>
                                            <p:strVal val="#ppt_w"/>
                                          </p:val>
                                        </p:tav>
                                      </p:tavLst>
                                    </p:anim>
                                    <p:anim calcmode="lin" valueType="num">
                                      <p:cBhvr>
                                        <p:cTn id="56" dur="500" fill="hold"/>
                                        <p:tgtEl>
                                          <p:spTgt spid="536589"/>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36589"/>
                                        </p:tgtEl>
                                        <p:attrNameLst>
                                          <p:attrName>ppt_c</p:attrName>
                                        </p:attrNameLst>
                                      </p:cBhvr>
                                      <p:to>
                                        <a:srgbClr val="FF5050"/>
                                      </p:to>
                                    </p:animClr>
                                  </p:subTnLst>
                                </p:cTn>
                              </p:par>
                            </p:childTnLst>
                          </p:cTn>
                        </p:par>
                        <p:par>
                          <p:cTn id="57" fill="hold" nodeType="afterGroup">
                            <p:stCondLst>
                              <p:cond delay="500"/>
                            </p:stCondLst>
                            <p:childTnLst>
                              <p:par>
                                <p:cTn id="58" presetID="9" presetClass="entr" presetSubtype="0" fill="hold" nodeType="afterEffect">
                                  <p:stCondLst>
                                    <p:cond delay="0"/>
                                  </p:stCondLst>
                                  <p:childTnLst>
                                    <p:set>
                                      <p:cBhvr>
                                        <p:cTn id="59" dur="1" fill="hold">
                                          <p:stCondLst>
                                            <p:cond delay="0"/>
                                          </p:stCondLst>
                                        </p:cTn>
                                        <p:tgtEl>
                                          <p:spTgt spid="536599"/>
                                        </p:tgtEl>
                                        <p:attrNameLst>
                                          <p:attrName>style.visibility</p:attrName>
                                        </p:attrNameLst>
                                      </p:cBhvr>
                                      <p:to>
                                        <p:strVal val="visible"/>
                                      </p:to>
                                    </p:set>
                                    <p:animEffect transition="in" filter="dissolve">
                                      <p:cBhvr>
                                        <p:cTn id="60" dur="500"/>
                                        <p:tgtEl>
                                          <p:spTgt spid="53659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2" fill="hold" nodeType="clickEffect">
                                  <p:stCondLst>
                                    <p:cond delay="0"/>
                                  </p:stCondLst>
                                  <p:childTnLst>
                                    <p:set>
                                      <p:cBhvr>
                                        <p:cTn id="64" dur="1" fill="hold">
                                          <p:stCondLst>
                                            <p:cond delay="0"/>
                                          </p:stCondLst>
                                        </p:cTn>
                                        <p:tgtEl>
                                          <p:spTgt spid="536592"/>
                                        </p:tgtEl>
                                        <p:attrNameLst>
                                          <p:attrName>style.visibility</p:attrName>
                                        </p:attrNameLst>
                                      </p:cBhvr>
                                      <p:to>
                                        <p:strVal val="visible"/>
                                      </p:to>
                                    </p:set>
                                    <p:anim calcmode="lin" valueType="num">
                                      <p:cBhvr>
                                        <p:cTn id="65" dur="500" fill="hold"/>
                                        <p:tgtEl>
                                          <p:spTgt spid="536592"/>
                                        </p:tgtEl>
                                        <p:attrNameLst>
                                          <p:attrName>ppt_x</p:attrName>
                                        </p:attrNameLst>
                                      </p:cBhvr>
                                      <p:tavLst>
                                        <p:tav tm="0">
                                          <p:val>
                                            <p:strVal val="#ppt_x+#ppt_w/2"/>
                                          </p:val>
                                        </p:tav>
                                        <p:tav tm="100000">
                                          <p:val>
                                            <p:strVal val="#ppt_x"/>
                                          </p:val>
                                        </p:tav>
                                      </p:tavLst>
                                    </p:anim>
                                    <p:anim calcmode="lin" valueType="num">
                                      <p:cBhvr>
                                        <p:cTn id="66" dur="500" fill="hold"/>
                                        <p:tgtEl>
                                          <p:spTgt spid="536592"/>
                                        </p:tgtEl>
                                        <p:attrNameLst>
                                          <p:attrName>ppt_y</p:attrName>
                                        </p:attrNameLst>
                                      </p:cBhvr>
                                      <p:tavLst>
                                        <p:tav tm="0">
                                          <p:val>
                                            <p:strVal val="#ppt_y"/>
                                          </p:val>
                                        </p:tav>
                                        <p:tav tm="100000">
                                          <p:val>
                                            <p:strVal val="#ppt_y"/>
                                          </p:val>
                                        </p:tav>
                                      </p:tavLst>
                                    </p:anim>
                                    <p:anim calcmode="lin" valueType="num">
                                      <p:cBhvr>
                                        <p:cTn id="67" dur="500" fill="hold"/>
                                        <p:tgtEl>
                                          <p:spTgt spid="536592"/>
                                        </p:tgtEl>
                                        <p:attrNameLst>
                                          <p:attrName>ppt_w</p:attrName>
                                        </p:attrNameLst>
                                      </p:cBhvr>
                                      <p:tavLst>
                                        <p:tav tm="0">
                                          <p:val>
                                            <p:fltVal val="0"/>
                                          </p:val>
                                        </p:tav>
                                        <p:tav tm="100000">
                                          <p:val>
                                            <p:strVal val="#ppt_w"/>
                                          </p:val>
                                        </p:tav>
                                      </p:tavLst>
                                    </p:anim>
                                    <p:anim calcmode="lin" valueType="num">
                                      <p:cBhvr>
                                        <p:cTn id="68" dur="500" fill="hold"/>
                                        <p:tgtEl>
                                          <p:spTgt spid="536592"/>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536592"/>
                                        </p:tgtEl>
                                        <p:attrNameLst>
                                          <p:attrName>ppt_c</p:attrName>
                                        </p:attrNameLst>
                                      </p:cBhvr>
                                      <p:to>
                                        <a:srgbClr val="FF5050"/>
                                      </p:to>
                                    </p:animClr>
                                  </p:subTnLst>
                                </p:cTn>
                              </p:par>
                            </p:childTnLst>
                          </p:cTn>
                        </p:par>
                        <p:par>
                          <p:cTn id="69" fill="hold" nodeType="afterGroup">
                            <p:stCondLst>
                              <p:cond delay="500"/>
                            </p:stCondLst>
                            <p:childTnLst>
                              <p:par>
                                <p:cTn id="70" presetID="9" presetClass="entr" presetSubtype="0" fill="hold" nodeType="afterEffect">
                                  <p:stCondLst>
                                    <p:cond delay="0"/>
                                  </p:stCondLst>
                                  <p:childTnLst>
                                    <p:set>
                                      <p:cBhvr>
                                        <p:cTn id="71" dur="1" fill="hold">
                                          <p:stCondLst>
                                            <p:cond delay="0"/>
                                          </p:stCondLst>
                                        </p:cTn>
                                        <p:tgtEl>
                                          <p:spTgt spid="536604"/>
                                        </p:tgtEl>
                                        <p:attrNameLst>
                                          <p:attrName>style.visibility</p:attrName>
                                        </p:attrNameLst>
                                      </p:cBhvr>
                                      <p:to>
                                        <p:strVal val="visible"/>
                                      </p:to>
                                    </p:set>
                                    <p:animEffect transition="in" filter="dissolve">
                                      <p:cBhvr>
                                        <p:cTn id="72" dur="500"/>
                                        <p:tgtEl>
                                          <p:spTgt spid="53660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1" fill="hold" nodeType="clickEffect">
                                  <p:stCondLst>
                                    <p:cond delay="0"/>
                                  </p:stCondLst>
                                  <p:childTnLst>
                                    <p:set>
                                      <p:cBhvr>
                                        <p:cTn id="76" dur="1" fill="hold">
                                          <p:stCondLst>
                                            <p:cond delay="0"/>
                                          </p:stCondLst>
                                        </p:cTn>
                                        <p:tgtEl>
                                          <p:spTgt spid="536608"/>
                                        </p:tgtEl>
                                        <p:attrNameLst>
                                          <p:attrName>style.visibility</p:attrName>
                                        </p:attrNameLst>
                                      </p:cBhvr>
                                      <p:to>
                                        <p:strVal val="visible"/>
                                      </p:to>
                                    </p:set>
                                    <p:anim calcmode="lin" valueType="num">
                                      <p:cBhvr>
                                        <p:cTn id="77" dur="500" fill="hold"/>
                                        <p:tgtEl>
                                          <p:spTgt spid="536608"/>
                                        </p:tgtEl>
                                        <p:attrNameLst>
                                          <p:attrName>ppt_x</p:attrName>
                                        </p:attrNameLst>
                                      </p:cBhvr>
                                      <p:tavLst>
                                        <p:tav tm="0">
                                          <p:val>
                                            <p:strVal val="#ppt_x"/>
                                          </p:val>
                                        </p:tav>
                                        <p:tav tm="100000">
                                          <p:val>
                                            <p:strVal val="#ppt_x"/>
                                          </p:val>
                                        </p:tav>
                                      </p:tavLst>
                                    </p:anim>
                                    <p:anim calcmode="lin" valueType="num">
                                      <p:cBhvr>
                                        <p:cTn id="78" dur="500" fill="hold"/>
                                        <p:tgtEl>
                                          <p:spTgt spid="536608"/>
                                        </p:tgtEl>
                                        <p:attrNameLst>
                                          <p:attrName>ppt_y</p:attrName>
                                        </p:attrNameLst>
                                      </p:cBhvr>
                                      <p:tavLst>
                                        <p:tav tm="0">
                                          <p:val>
                                            <p:strVal val="#ppt_y-#ppt_h/2"/>
                                          </p:val>
                                        </p:tav>
                                        <p:tav tm="100000">
                                          <p:val>
                                            <p:strVal val="#ppt_y"/>
                                          </p:val>
                                        </p:tav>
                                      </p:tavLst>
                                    </p:anim>
                                    <p:anim calcmode="lin" valueType="num">
                                      <p:cBhvr>
                                        <p:cTn id="79" dur="500" fill="hold"/>
                                        <p:tgtEl>
                                          <p:spTgt spid="536608"/>
                                        </p:tgtEl>
                                        <p:attrNameLst>
                                          <p:attrName>ppt_w</p:attrName>
                                        </p:attrNameLst>
                                      </p:cBhvr>
                                      <p:tavLst>
                                        <p:tav tm="0">
                                          <p:val>
                                            <p:strVal val="#ppt_w"/>
                                          </p:val>
                                        </p:tav>
                                        <p:tav tm="100000">
                                          <p:val>
                                            <p:strVal val="#ppt_w"/>
                                          </p:val>
                                        </p:tav>
                                      </p:tavLst>
                                    </p:anim>
                                    <p:anim calcmode="lin" valueType="num">
                                      <p:cBhvr>
                                        <p:cTn id="80" dur="500" fill="hold"/>
                                        <p:tgtEl>
                                          <p:spTgt spid="5366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95"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灯片编号占位符 5"/>
          <p:cNvSpPr>
            <a:spLocks noGrp="1"/>
          </p:cNvSpPr>
          <p:nvPr>
            <p:ph type="sldNum" sz="quarter" idx="12"/>
          </p:nvPr>
        </p:nvSpPr>
        <p:spPr>
          <a:noFill/>
        </p:spPr>
        <p:txBody>
          <a:bodyPr/>
          <a:lstStyle/>
          <a:p>
            <a:fld id="{427D733F-6C08-49C1-B628-24ADB1560527}" type="slidenum">
              <a:rPr lang="en-US" altLang="zh-CN"/>
              <a:pPr/>
              <a:t>86</a:t>
            </a:fld>
            <a:endParaRPr lang="en-US" altLang="zh-CN"/>
          </a:p>
        </p:txBody>
      </p:sp>
      <p:sp>
        <p:nvSpPr>
          <p:cNvPr id="94213" name="Rectangle 4"/>
          <p:cNvSpPr>
            <a:spLocks noGrp="1" noChangeArrowheads="1"/>
          </p:cNvSpPr>
          <p:nvPr>
            <p:ph type="ctrTitle" idx="4294967295"/>
          </p:nvPr>
        </p:nvSpPr>
        <p:spPr>
          <a:xfrm>
            <a:off x="171450" y="1117600"/>
            <a:ext cx="4572000" cy="990600"/>
          </a:xfrm>
        </p:spPr>
        <p:txBody>
          <a:bodyPr/>
          <a:lstStyle/>
          <a:p>
            <a:pPr algn="l" eaLnBrk="1" hangingPunct="1"/>
            <a:r>
              <a:rPr lang="en-US" altLang="zh-CN" sz="3200" dirty="0">
                <a:solidFill>
                  <a:srgbClr val="000000"/>
                </a:solidFill>
                <a:ea typeface="楷体_GB2312" pitchFamily="49" charset="-122"/>
              </a:rPr>
              <a:t>N</a:t>
            </a:r>
            <a:r>
              <a:rPr lang="zh-CN" altLang="en-US" sz="3200" dirty="0">
                <a:solidFill>
                  <a:srgbClr val="000000"/>
                </a:solidFill>
                <a:ea typeface="楷体_GB2312" pitchFamily="49" charset="-122"/>
              </a:rPr>
              <a:t>皇后问题求解</a:t>
            </a:r>
          </a:p>
        </p:txBody>
      </p:sp>
      <p:sp>
        <p:nvSpPr>
          <p:cNvPr id="94211" name="Text Box 2"/>
          <p:cNvSpPr txBox="1">
            <a:spLocks noChangeArrowheads="1"/>
          </p:cNvSpPr>
          <p:nvPr/>
        </p:nvSpPr>
        <p:spPr bwMode="auto">
          <a:xfrm>
            <a:off x="381000" y="1962150"/>
            <a:ext cx="8763000" cy="1740861"/>
          </a:xfrm>
          <a:prstGeom prst="rect">
            <a:avLst/>
          </a:prstGeom>
          <a:noFill/>
          <a:ln w="9525">
            <a:noFill/>
            <a:miter lim="800000"/>
            <a:headEnd/>
            <a:tailEnd/>
          </a:ln>
        </p:spPr>
        <p:txBody>
          <a:bodyPr>
            <a:spAutoFit/>
          </a:bodyPr>
          <a:lstStyle/>
          <a:p>
            <a:pPr>
              <a:lnSpc>
                <a:spcPct val="110000"/>
              </a:lnSpc>
            </a:pPr>
            <a:r>
              <a:rPr lang="en-US" altLang="zh-CN" sz="3600" dirty="0">
                <a:solidFill>
                  <a:srgbClr val="000000"/>
                </a:solidFill>
                <a:ea typeface="楷体_GB2312" pitchFamily="49" charset="-122"/>
              </a:rPr>
              <a:t>    </a:t>
            </a:r>
            <a:r>
              <a:rPr lang="zh-CN" altLang="en-US" sz="3200" dirty="0">
                <a:solidFill>
                  <a:srgbClr val="000000"/>
                </a:solidFill>
                <a:ea typeface="楷体_GB2312" pitchFamily="49" charset="-122"/>
              </a:rPr>
              <a:t>设</a:t>
            </a:r>
            <a:r>
              <a:rPr lang="en-US" altLang="zh-CN" sz="3200" dirty="0">
                <a:solidFill>
                  <a:srgbClr val="000000"/>
                </a:solidFill>
                <a:ea typeface="楷体_GB2312" pitchFamily="49" charset="-122"/>
              </a:rPr>
              <a:t>n</a:t>
            </a:r>
            <a:r>
              <a:rPr lang="zh-CN" altLang="en-US" sz="3200" dirty="0">
                <a:solidFill>
                  <a:srgbClr val="000000"/>
                </a:solidFill>
                <a:ea typeface="楷体_GB2312" pitchFamily="49" charset="-122"/>
              </a:rPr>
              <a:t>皇后问题的解为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1</a:t>
            </a:r>
            <a:r>
              <a:rPr lang="en-US" altLang="zh-CN" sz="3200" dirty="0">
                <a:solidFill>
                  <a:srgbClr val="000000"/>
                </a:solidFill>
                <a:ea typeface="楷体_GB2312" pitchFamily="49" charset="-122"/>
              </a:rPr>
              <a:t>, x</a:t>
            </a:r>
            <a:r>
              <a:rPr lang="en-US" altLang="zh-CN" sz="3200" baseline="-25000" dirty="0">
                <a:solidFill>
                  <a:srgbClr val="000000"/>
                </a:solidFill>
                <a:ea typeface="楷体_GB2312" pitchFamily="49" charset="-122"/>
              </a:rPr>
              <a:t>2</a:t>
            </a:r>
            <a:r>
              <a:rPr lang="en-US" altLang="zh-CN" sz="3200" dirty="0">
                <a:solidFill>
                  <a:srgbClr val="000000"/>
                </a:solidFill>
                <a:ea typeface="楷体_GB2312" pitchFamily="49" charset="-122"/>
              </a:rPr>
              <a:t>, x</a:t>
            </a:r>
            <a:r>
              <a:rPr lang="en-US" altLang="zh-CN" sz="3200" baseline="-25000" dirty="0">
                <a:solidFill>
                  <a:srgbClr val="000000"/>
                </a:solidFill>
                <a:ea typeface="楷体_GB2312" pitchFamily="49" charset="-122"/>
              </a:rPr>
              <a:t>3</a:t>
            </a:r>
            <a:r>
              <a:rPr lang="en-US" altLang="zh-CN" sz="3200" dirty="0">
                <a:solidFill>
                  <a:srgbClr val="000000"/>
                </a:solidFill>
                <a:ea typeface="楷体_GB2312" pitchFamily="49" charset="-122"/>
              </a:rPr>
              <a:t>, …,</a:t>
            </a:r>
            <a:r>
              <a:rPr lang="en-US" altLang="zh-CN" sz="3200" dirty="0" err="1">
                <a:solidFill>
                  <a:srgbClr val="000000"/>
                </a:solidFill>
                <a:ea typeface="楷体_GB2312" pitchFamily="49" charset="-122"/>
              </a:rPr>
              <a:t>x</a:t>
            </a:r>
            <a:r>
              <a:rPr lang="en-US" altLang="zh-CN" sz="3200" baseline="-25000" dirty="0" err="1">
                <a:solidFill>
                  <a:srgbClr val="000000"/>
                </a:solidFill>
                <a:ea typeface="楷体_GB2312" pitchFamily="49" charset="-122"/>
              </a:rPr>
              <a:t>n</a:t>
            </a:r>
            <a:r>
              <a:rPr lang="en-US" altLang="zh-CN" sz="3200" dirty="0">
                <a:solidFill>
                  <a:srgbClr val="000000"/>
                </a:solidFill>
                <a:ea typeface="楷体_GB2312" pitchFamily="49" charset="-122"/>
              </a:rPr>
              <a:t>), </a:t>
            </a:r>
          </a:p>
          <a:p>
            <a:pPr>
              <a:lnSpc>
                <a:spcPct val="110000"/>
              </a:lnSpc>
            </a:pPr>
            <a:r>
              <a:rPr lang="zh-CN" altLang="en-US" sz="3200" dirty="0">
                <a:solidFill>
                  <a:srgbClr val="000000"/>
                </a:solidFill>
                <a:ea typeface="楷体_GB2312" pitchFamily="49" charset="-122"/>
                <a:sym typeface="Symbol" pitchFamily="18" charset="2"/>
              </a:rPr>
              <a:t>约束条件为：其中任意两个</a:t>
            </a:r>
            <a:r>
              <a:rPr lang="en-US" altLang="zh-CN" sz="3200" dirty="0">
                <a:solidFill>
                  <a:srgbClr val="000000"/>
                </a:solidFill>
                <a:ea typeface="楷体_GB2312" pitchFamily="49" charset="-122"/>
                <a:sym typeface="Symbol" pitchFamily="18" charset="2"/>
              </a:rPr>
              <a:t>x</a:t>
            </a:r>
            <a:r>
              <a:rPr lang="en-US" altLang="zh-CN" sz="3200" baseline="-25000" dirty="0">
                <a:solidFill>
                  <a:srgbClr val="000000"/>
                </a:solidFill>
                <a:ea typeface="楷体_GB2312" pitchFamily="49" charset="-122"/>
                <a:sym typeface="Symbol" pitchFamily="18" charset="2"/>
              </a:rPr>
              <a:t>i</a:t>
            </a:r>
            <a:r>
              <a:rPr lang="en-US" altLang="zh-CN" sz="3200" dirty="0">
                <a:solidFill>
                  <a:srgbClr val="000000"/>
                </a:solidFill>
                <a:ea typeface="楷体_GB2312" pitchFamily="49" charset="-122"/>
                <a:sym typeface="Symbol" pitchFamily="18" charset="2"/>
              </a:rPr>
              <a:t> </a:t>
            </a:r>
            <a:r>
              <a:rPr lang="zh-CN" altLang="en-US" sz="3200" dirty="0">
                <a:solidFill>
                  <a:srgbClr val="000000"/>
                </a:solidFill>
                <a:ea typeface="楷体_GB2312" pitchFamily="49" charset="-122"/>
                <a:sym typeface="Symbol" pitchFamily="18" charset="2"/>
              </a:rPr>
              <a:t>和</a:t>
            </a:r>
            <a:r>
              <a:rPr lang="en-US" altLang="zh-CN" sz="3200" dirty="0" err="1">
                <a:solidFill>
                  <a:srgbClr val="000000"/>
                </a:solidFill>
                <a:ea typeface="楷体_GB2312" pitchFamily="49" charset="-122"/>
                <a:sym typeface="Symbol" pitchFamily="18" charset="2"/>
              </a:rPr>
              <a:t>x</a:t>
            </a:r>
            <a:r>
              <a:rPr lang="en-US" altLang="zh-CN" sz="3200" baseline="-25000" dirty="0" err="1">
                <a:solidFill>
                  <a:srgbClr val="000000"/>
                </a:solidFill>
                <a:ea typeface="楷体_GB2312" pitchFamily="49" charset="-122"/>
                <a:sym typeface="Symbol" pitchFamily="18" charset="2"/>
              </a:rPr>
              <a:t>j</a:t>
            </a:r>
            <a:r>
              <a:rPr lang="zh-CN" altLang="en-US" sz="3200" dirty="0">
                <a:solidFill>
                  <a:srgbClr val="000000"/>
                </a:solidFill>
                <a:ea typeface="楷体_GB2312" pitchFamily="49" charset="-122"/>
                <a:sym typeface="Symbol" pitchFamily="18" charset="2"/>
              </a:rPr>
              <a:t>不能位于棋盘的同行、同列及同对角线。</a:t>
            </a:r>
            <a:endParaRPr lang="zh-CN" altLang="en-US" sz="3600" dirty="0">
              <a:solidFill>
                <a:srgbClr val="000000"/>
              </a:solidFill>
              <a:ea typeface="楷体_GB2312" pitchFamily="49" charset="-122"/>
            </a:endParaRPr>
          </a:p>
        </p:txBody>
      </p:sp>
      <p:sp>
        <p:nvSpPr>
          <p:cNvPr id="94212" name="Text Box 3"/>
          <p:cNvSpPr txBox="1">
            <a:spLocks noChangeArrowheads="1"/>
          </p:cNvSpPr>
          <p:nvPr/>
        </p:nvSpPr>
        <p:spPr bwMode="auto">
          <a:xfrm>
            <a:off x="215900" y="3784600"/>
            <a:ext cx="8766590" cy="2357568"/>
          </a:xfrm>
          <a:prstGeom prst="rect">
            <a:avLst/>
          </a:prstGeom>
          <a:noFill/>
          <a:ln w="9525">
            <a:noFill/>
            <a:miter lim="800000"/>
            <a:headEnd/>
            <a:tailEnd/>
          </a:ln>
        </p:spPr>
        <p:txBody>
          <a:bodyPr wrap="square">
            <a:spAutoFit/>
          </a:bodyPr>
          <a:lstStyle/>
          <a:p>
            <a:pPr>
              <a:lnSpc>
                <a:spcPct val="115000"/>
              </a:lnSpc>
            </a:pPr>
            <a:r>
              <a:rPr lang="zh-CN" altLang="en-US" sz="3200" b="1" dirty="0">
                <a:solidFill>
                  <a:srgbClr val="800000"/>
                </a:solidFill>
                <a:ea typeface="楷体_GB2312" pitchFamily="49" charset="-122"/>
              </a:rPr>
              <a:t>如何表示棋盘中放置的棋子</a:t>
            </a:r>
            <a:r>
              <a:rPr lang="zh-CN" altLang="en-US" sz="3200" dirty="0">
                <a:solidFill>
                  <a:srgbClr val="800000"/>
                </a:solidFill>
                <a:ea typeface="楷体_GB2312" pitchFamily="49" charset="-122"/>
              </a:rPr>
              <a:t>？</a:t>
            </a:r>
          </a:p>
          <a:p>
            <a:pPr>
              <a:lnSpc>
                <a:spcPct val="115000"/>
              </a:lnSpc>
            </a:pPr>
            <a:r>
              <a:rPr lang="zh-CN" altLang="en-US" sz="3200" b="1" dirty="0">
                <a:solidFill>
                  <a:srgbClr val="800000"/>
                </a:solidFill>
                <a:ea typeface="楷体_GB2312" pitchFamily="49" charset="-122"/>
              </a:rPr>
              <a:t>       </a:t>
            </a:r>
            <a:r>
              <a:rPr lang="zh-CN" altLang="en-US" sz="3200" dirty="0">
                <a:solidFill>
                  <a:srgbClr val="000000"/>
                </a:solidFill>
                <a:ea typeface="楷体_GB2312" pitchFamily="49" charset="-122"/>
              </a:rPr>
              <a:t>由于每行、列</a:t>
            </a:r>
            <a:r>
              <a:rPr lang="zh-CN" altLang="en-US" sz="3200" dirty="0">
                <a:solidFill>
                  <a:srgbClr val="000000"/>
                </a:solidFill>
                <a:ea typeface="楷体_GB2312" pitchFamily="49" charset="-122"/>
                <a:sym typeface="Symbol" pitchFamily="18" charset="2"/>
              </a:rPr>
              <a:t>及对角线上只能有一个棋子，因而对</a:t>
            </a:r>
            <a:r>
              <a:rPr lang="zh-CN" altLang="en-US" sz="3200" dirty="0">
                <a:solidFill>
                  <a:srgbClr val="000000"/>
                </a:solidFill>
                <a:ea typeface="楷体_GB2312" pitchFamily="49" charset="-122"/>
              </a:rPr>
              <a:t>每列来说，只需记录该列中棋子所在的行号，故用一维数组即可。</a:t>
            </a:r>
          </a:p>
        </p:txBody>
      </p:sp>
      <p:sp>
        <p:nvSpPr>
          <p:cNvPr id="6"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40702327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12">
                                            <p:txEl>
                                              <p:pRg st="0" end="0"/>
                                            </p:txEl>
                                          </p:spTgt>
                                        </p:tgtEl>
                                        <p:attrNameLst>
                                          <p:attrName>style.visibility</p:attrName>
                                        </p:attrNameLst>
                                      </p:cBhvr>
                                      <p:to>
                                        <p:strVal val="visible"/>
                                      </p:to>
                                    </p:set>
                                    <p:animEffect transition="in" filter="dissolve">
                                      <p:cBhvr>
                                        <p:cTn id="7" dur="500"/>
                                        <p:tgtEl>
                                          <p:spTgt spid="94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212">
                                            <p:txEl>
                                              <p:pRg st="1" end="1"/>
                                            </p:txEl>
                                          </p:spTgt>
                                        </p:tgtEl>
                                        <p:attrNameLst>
                                          <p:attrName>style.visibility</p:attrName>
                                        </p:attrNameLst>
                                      </p:cBhvr>
                                      <p:to>
                                        <p:strVal val="visible"/>
                                      </p:to>
                                    </p:set>
                                    <p:animEffect transition="in" filter="dissolve">
                                      <p:cBhvr>
                                        <p:cTn id="12" dur="500"/>
                                        <p:tgtEl>
                                          <p:spTgt spid="942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build="p"/>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灯片编号占位符 3"/>
          <p:cNvSpPr>
            <a:spLocks noGrp="1"/>
          </p:cNvSpPr>
          <p:nvPr>
            <p:ph type="sldNum" sz="quarter" idx="12"/>
          </p:nvPr>
        </p:nvSpPr>
        <p:spPr>
          <a:noFill/>
        </p:spPr>
        <p:txBody>
          <a:bodyPr/>
          <a:lstStyle/>
          <a:p>
            <a:fld id="{43280325-3EC2-4302-BE40-738C46C07AF3}" type="slidenum">
              <a:rPr lang="en-US" altLang="zh-CN"/>
              <a:pPr/>
              <a:t>87</a:t>
            </a:fld>
            <a:endParaRPr lang="en-US" altLang="zh-CN"/>
          </a:p>
        </p:txBody>
      </p:sp>
      <p:sp>
        <p:nvSpPr>
          <p:cNvPr id="95235" name="Text Box 2"/>
          <p:cNvSpPr txBox="1">
            <a:spLocks noChangeArrowheads="1"/>
          </p:cNvSpPr>
          <p:nvPr/>
        </p:nvSpPr>
        <p:spPr bwMode="auto">
          <a:xfrm>
            <a:off x="0" y="1428750"/>
            <a:ext cx="8763000" cy="2062103"/>
          </a:xfrm>
          <a:prstGeom prst="rect">
            <a:avLst/>
          </a:prstGeom>
          <a:noFill/>
          <a:ln w="9525">
            <a:noFill/>
            <a:miter lim="800000"/>
            <a:headEnd/>
            <a:tailEnd/>
          </a:ln>
        </p:spPr>
        <p:txBody>
          <a:bodyPr>
            <a:spAutoFit/>
          </a:bodyPr>
          <a:lstStyle/>
          <a:p>
            <a:pPr indent="803275"/>
            <a:r>
              <a:rPr lang="zh-CN" altLang="en-US" sz="3200" dirty="0">
                <a:solidFill>
                  <a:srgbClr val="000000"/>
                </a:solidFill>
                <a:ea typeface="楷体_GB2312" pitchFamily="49" charset="-122"/>
              </a:rPr>
              <a:t>设四皇后问题的解为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1</a:t>
            </a:r>
            <a:r>
              <a:rPr lang="en-US" altLang="zh-CN" sz="3200" dirty="0">
                <a:solidFill>
                  <a:srgbClr val="000000"/>
                </a:solidFill>
                <a:ea typeface="楷体_GB2312" pitchFamily="49" charset="-122"/>
              </a:rPr>
              <a:t>, x</a:t>
            </a:r>
            <a:r>
              <a:rPr lang="en-US" altLang="zh-CN" sz="3200" baseline="-25000" dirty="0">
                <a:solidFill>
                  <a:srgbClr val="000000"/>
                </a:solidFill>
                <a:ea typeface="楷体_GB2312" pitchFamily="49" charset="-122"/>
              </a:rPr>
              <a:t>2</a:t>
            </a:r>
            <a:r>
              <a:rPr lang="en-US" altLang="zh-CN" sz="3200" dirty="0">
                <a:solidFill>
                  <a:srgbClr val="000000"/>
                </a:solidFill>
                <a:ea typeface="楷体_GB2312" pitchFamily="49" charset="-122"/>
              </a:rPr>
              <a:t>, x</a:t>
            </a:r>
            <a:r>
              <a:rPr lang="en-US" altLang="zh-CN" sz="3200" baseline="-25000" dirty="0">
                <a:solidFill>
                  <a:srgbClr val="000000"/>
                </a:solidFill>
                <a:ea typeface="楷体_GB2312" pitchFamily="49" charset="-122"/>
              </a:rPr>
              <a:t>3</a:t>
            </a:r>
            <a:r>
              <a:rPr lang="en-US" altLang="zh-CN" sz="3200" dirty="0">
                <a:solidFill>
                  <a:srgbClr val="000000"/>
                </a:solidFill>
                <a:ea typeface="楷体_GB2312" pitchFamily="49" charset="-122"/>
              </a:rPr>
              <a:t>, x</a:t>
            </a:r>
            <a:r>
              <a:rPr lang="en-US" altLang="zh-CN" sz="3200" baseline="-25000" dirty="0">
                <a:solidFill>
                  <a:srgbClr val="000000"/>
                </a:solidFill>
                <a:ea typeface="楷体_GB2312" pitchFamily="49" charset="-122"/>
              </a:rPr>
              <a:t>4</a:t>
            </a:r>
            <a:r>
              <a:rPr lang="en-US" altLang="zh-CN" sz="3200" dirty="0">
                <a:solidFill>
                  <a:srgbClr val="000000"/>
                </a:solidFill>
                <a:ea typeface="楷体_GB2312" pitchFamily="49" charset="-122"/>
              </a:rPr>
              <a:t>), </a:t>
            </a:r>
          </a:p>
          <a:p>
            <a:r>
              <a:rPr lang="zh-CN" altLang="en-US" sz="3200" dirty="0">
                <a:solidFill>
                  <a:srgbClr val="000000"/>
                </a:solidFill>
                <a:ea typeface="楷体_GB2312" pitchFamily="49" charset="-122"/>
              </a:rPr>
              <a:t>其中：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i </a:t>
            </a:r>
            <a:r>
              <a:rPr lang="en-US" altLang="zh-CN" sz="3200" dirty="0">
                <a:solidFill>
                  <a:srgbClr val="000000"/>
                </a:solidFill>
                <a:ea typeface="楷体_GB2312" pitchFamily="49" charset="-122"/>
              </a:rPr>
              <a:t>(</a:t>
            </a:r>
            <a:r>
              <a:rPr lang="en-US" altLang="zh-CN" sz="3200" dirty="0" err="1">
                <a:solidFill>
                  <a:srgbClr val="000000"/>
                </a:solidFill>
                <a:ea typeface="楷体_GB2312" pitchFamily="49" charset="-122"/>
              </a:rPr>
              <a:t>i</a:t>
            </a:r>
            <a:r>
              <a:rPr lang="en-US" altLang="zh-CN" sz="3200" dirty="0">
                <a:solidFill>
                  <a:srgbClr val="000000"/>
                </a:solidFill>
                <a:ea typeface="楷体_GB2312" pitchFamily="49" charset="-122"/>
              </a:rPr>
              <a:t>=1,2,3,4) </a:t>
            </a:r>
            <a:r>
              <a:rPr lang="en-US" altLang="zh-CN" sz="3200" dirty="0">
                <a:solidFill>
                  <a:srgbClr val="000000"/>
                </a:solidFill>
                <a:ea typeface="楷体_GB2312" pitchFamily="49" charset="-122"/>
                <a:sym typeface="Symbol" pitchFamily="18" charset="2"/>
              </a:rPr>
              <a:t> S</a:t>
            </a:r>
            <a:r>
              <a:rPr lang="en-US" altLang="zh-CN" sz="3200" baseline="-25000" dirty="0">
                <a:solidFill>
                  <a:srgbClr val="000000"/>
                </a:solidFill>
                <a:ea typeface="楷体_GB2312" pitchFamily="49" charset="-122"/>
                <a:sym typeface="Symbol" pitchFamily="18" charset="2"/>
              </a:rPr>
              <a:t>i</a:t>
            </a:r>
            <a:r>
              <a:rPr lang="en-US" altLang="zh-CN" sz="3200" dirty="0">
                <a:solidFill>
                  <a:srgbClr val="000000"/>
                </a:solidFill>
                <a:ea typeface="楷体_GB2312" pitchFamily="49" charset="-122"/>
                <a:sym typeface="Symbol" pitchFamily="18" charset="2"/>
              </a:rPr>
              <a:t>={1, 2, 3, 4}</a:t>
            </a:r>
          </a:p>
          <a:p>
            <a:r>
              <a:rPr lang="zh-CN" altLang="en-US" sz="3200" dirty="0">
                <a:solidFill>
                  <a:srgbClr val="000000"/>
                </a:solidFill>
                <a:ea typeface="楷体_GB2312" pitchFamily="49" charset="-122"/>
                <a:sym typeface="Symbol" pitchFamily="18" charset="2"/>
              </a:rPr>
              <a:t>约束条件为：其中任意两个</a:t>
            </a:r>
            <a:r>
              <a:rPr lang="en-US" altLang="zh-CN" sz="3200" dirty="0">
                <a:solidFill>
                  <a:srgbClr val="000000"/>
                </a:solidFill>
                <a:ea typeface="楷体_GB2312" pitchFamily="49" charset="-122"/>
                <a:sym typeface="Symbol" pitchFamily="18" charset="2"/>
              </a:rPr>
              <a:t>x</a:t>
            </a:r>
            <a:r>
              <a:rPr lang="en-US" altLang="zh-CN" sz="3200" baseline="-25000" dirty="0">
                <a:solidFill>
                  <a:srgbClr val="000000"/>
                </a:solidFill>
                <a:ea typeface="楷体_GB2312" pitchFamily="49" charset="-122"/>
                <a:sym typeface="Symbol" pitchFamily="18" charset="2"/>
              </a:rPr>
              <a:t>i</a:t>
            </a:r>
            <a:r>
              <a:rPr lang="en-US" altLang="zh-CN" sz="3200" dirty="0">
                <a:solidFill>
                  <a:srgbClr val="000000"/>
                </a:solidFill>
                <a:ea typeface="楷体_GB2312" pitchFamily="49" charset="-122"/>
                <a:sym typeface="Symbol" pitchFamily="18" charset="2"/>
              </a:rPr>
              <a:t> </a:t>
            </a:r>
            <a:r>
              <a:rPr lang="zh-CN" altLang="en-US" sz="3200" dirty="0">
                <a:solidFill>
                  <a:srgbClr val="000000"/>
                </a:solidFill>
                <a:ea typeface="楷体_GB2312" pitchFamily="49" charset="-122"/>
                <a:sym typeface="Symbol" pitchFamily="18" charset="2"/>
              </a:rPr>
              <a:t>和</a:t>
            </a:r>
            <a:r>
              <a:rPr lang="en-US" altLang="zh-CN" sz="3200" dirty="0" err="1">
                <a:solidFill>
                  <a:srgbClr val="000000"/>
                </a:solidFill>
                <a:ea typeface="楷体_GB2312" pitchFamily="49" charset="-122"/>
                <a:sym typeface="Symbol" pitchFamily="18" charset="2"/>
              </a:rPr>
              <a:t>x</a:t>
            </a:r>
            <a:r>
              <a:rPr lang="en-US" altLang="zh-CN" sz="3200" baseline="-25000" dirty="0" err="1">
                <a:solidFill>
                  <a:srgbClr val="000000"/>
                </a:solidFill>
                <a:ea typeface="楷体_GB2312" pitchFamily="49" charset="-122"/>
                <a:sym typeface="Symbol" pitchFamily="18" charset="2"/>
              </a:rPr>
              <a:t>j</a:t>
            </a:r>
            <a:r>
              <a:rPr lang="zh-CN" altLang="en-US" sz="3200" dirty="0">
                <a:solidFill>
                  <a:srgbClr val="000000"/>
                </a:solidFill>
                <a:ea typeface="楷体_GB2312" pitchFamily="49" charset="-122"/>
                <a:sym typeface="Symbol" pitchFamily="18" charset="2"/>
              </a:rPr>
              <a:t>不能位于棋盘的同行、同列及同对角线。</a:t>
            </a:r>
            <a:endParaRPr lang="zh-CN" altLang="en-US" sz="3200" dirty="0">
              <a:solidFill>
                <a:srgbClr val="000000"/>
              </a:solidFill>
              <a:ea typeface="楷体_GB2312" pitchFamily="49" charset="-122"/>
            </a:endParaRPr>
          </a:p>
        </p:txBody>
      </p:sp>
      <p:sp>
        <p:nvSpPr>
          <p:cNvPr id="95236" name="Text Box 3"/>
          <p:cNvSpPr txBox="1">
            <a:spLocks noChangeArrowheads="1"/>
          </p:cNvSpPr>
          <p:nvPr/>
        </p:nvSpPr>
        <p:spPr bwMode="auto">
          <a:xfrm>
            <a:off x="76200" y="3606800"/>
            <a:ext cx="9067800" cy="2554545"/>
          </a:xfrm>
          <a:prstGeom prst="rect">
            <a:avLst/>
          </a:prstGeom>
          <a:noFill/>
          <a:ln w="9525">
            <a:noFill/>
            <a:miter lim="800000"/>
            <a:headEnd/>
            <a:tailEnd/>
          </a:ln>
        </p:spPr>
        <p:txBody>
          <a:bodyPr>
            <a:spAutoFit/>
          </a:bodyPr>
          <a:lstStyle/>
          <a:p>
            <a:pPr indent="803275"/>
            <a:r>
              <a:rPr lang="zh-CN" altLang="en-US" sz="3200" dirty="0">
                <a:solidFill>
                  <a:srgbClr val="000000"/>
                </a:solidFill>
                <a:ea typeface="楷体_GB2312" pitchFamily="49" charset="-122"/>
              </a:rPr>
              <a:t>皇后问题求解过程为：解的初始值为空；首先添加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1</a:t>
            </a:r>
            <a:r>
              <a:rPr lang="en-US" altLang="zh-CN" sz="3200" dirty="0">
                <a:solidFill>
                  <a:srgbClr val="000000"/>
                </a:solidFill>
                <a:ea typeface="楷体_GB2312" pitchFamily="49" charset="-122"/>
              </a:rPr>
              <a:t>=1,  </a:t>
            </a:r>
            <a:r>
              <a:rPr lang="zh-CN" altLang="en-US" sz="3200" dirty="0">
                <a:solidFill>
                  <a:srgbClr val="000000"/>
                </a:solidFill>
                <a:ea typeface="楷体_GB2312" pitchFamily="49" charset="-122"/>
              </a:rPr>
              <a:t>之后添加满足条件的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2</a:t>
            </a:r>
            <a:r>
              <a:rPr lang="en-US" altLang="zh-CN" sz="3200" dirty="0">
                <a:solidFill>
                  <a:srgbClr val="000000"/>
                </a:solidFill>
                <a:ea typeface="楷体_GB2312" pitchFamily="49" charset="-122"/>
              </a:rPr>
              <a:t>=3</a:t>
            </a:r>
            <a:r>
              <a:rPr lang="zh-CN" altLang="en-US" sz="3200" dirty="0">
                <a:solidFill>
                  <a:srgbClr val="000000"/>
                </a:solidFill>
                <a:ea typeface="楷体_GB2312" pitchFamily="49" charset="-122"/>
              </a:rPr>
              <a:t>，由于对所有的 </a:t>
            </a:r>
            <a:r>
              <a:rPr lang="en-US" altLang="zh-CN" sz="3200" dirty="0">
                <a:solidFill>
                  <a:srgbClr val="000000"/>
                </a:solidFill>
                <a:ea typeface="楷体_GB2312" pitchFamily="49" charset="-122"/>
              </a:rPr>
              <a:t>x</a:t>
            </a:r>
            <a:r>
              <a:rPr lang="en-US" altLang="zh-CN" sz="3200" baseline="-25000" dirty="0">
                <a:solidFill>
                  <a:srgbClr val="000000"/>
                </a:solidFill>
                <a:ea typeface="楷体_GB2312" pitchFamily="49" charset="-122"/>
              </a:rPr>
              <a:t>3</a:t>
            </a:r>
            <a:r>
              <a:rPr lang="en-US" altLang="zh-CN" sz="3200" dirty="0">
                <a:solidFill>
                  <a:srgbClr val="000000"/>
                </a:solidFill>
                <a:ea typeface="楷体_GB2312" pitchFamily="49" charset="-122"/>
                <a:sym typeface="Symbol" pitchFamily="18" charset="2"/>
              </a:rPr>
              <a:t></a:t>
            </a:r>
            <a:r>
              <a:rPr lang="en-US" altLang="zh-CN" sz="2800" dirty="0">
                <a:solidFill>
                  <a:srgbClr val="000000"/>
                </a:solidFill>
                <a:ea typeface="楷体_GB2312" pitchFamily="49" charset="-122"/>
                <a:sym typeface="Symbol" pitchFamily="18" charset="2"/>
              </a:rPr>
              <a:t>{1,2, 3, 4}</a:t>
            </a:r>
            <a:r>
              <a:rPr lang="zh-CN" altLang="en-US" sz="3200" dirty="0">
                <a:solidFill>
                  <a:srgbClr val="000000"/>
                </a:solidFill>
                <a:ea typeface="楷体_GB2312" pitchFamily="49" charset="-122"/>
                <a:sym typeface="Symbol" pitchFamily="18" charset="2"/>
              </a:rPr>
              <a:t>都不能找到满足约束条件的部分解</a:t>
            </a:r>
            <a:r>
              <a:rPr lang="en-US" altLang="zh-CN" sz="3200" dirty="0">
                <a:solidFill>
                  <a:srgbClr val="000000"/>
                </a:solidFill>
                <a:ea typeface="楷体_GB2312" pitchFamily="49" charset="-122"/>
                <a:sym typeface="Symbol" pitchFamily="18" charset="2"/>
              </a:rPr>
              <a:t>(x</a:t>
            </a:r>
            <a:r>
              <a:rPr lang="en-US" altLang="zh-CN" sz="3200" baseline="-25000" dirty="0">
                <a:solidFill>
                  <a:srgbClr val="000000"/>
                </a:solidFill>
                <a:ea typeface="楷体_GB2312" pitchFamily="49" charset="-122"/>
                <a:sym typeface="Symbol" pitchFamily="18" charset="2"/>
              </a:rPr>
              <a:t>1</a:t>
            </a:r>
            <a:r>
              <a:rPr lang="en-US" altLang="zh-CN" sz="3200" dirty="0">
                <a:solidFill>
                  <a:srgbClr val="000000"/>
                </a:solidFill>
                <a:ea typeface="楷体_GB2312" pitchFamily="49" charset="-122"/>
                <a:sym typeface="Symbol" pitchFamily="18" charset="2"/>
              </a:rPr>
              <a:t>, x</a:t>
            </a:r>
            <a:r>
              <a:rPr lang="en-US" altLang="zh-CN" sz="3200" baseline="-25000" dirty="0">
                <a:solidFill>
                  <a:srgbClr val="000000"/>
                </a:solidFill>
                <a:ea typeface="楷体_GB2312" pitchFamily="49" charset="-122"/>
                <a:sym typeface="Symbol" pitchFamily="18" charset="2"/>
              </a:rPr>
              <a:t>2</a:t>
            </a:r>
            <a:r>
              <a:rPr lang="en-US" altLang="zh-CN" sz="3200" dirty="0">
                <a:solidFill>
                  <a:srgbClr val="000000"/>
                </a:solidFill>
                <a:ea typeface="楷体_GB2312" pitchFamily="49" charset="-122"/>
                <a:sym typeface="Symbol" pitchFamily="18" charset="2"/>
              </a:rPr>
              <a:t>, x</a:t>
            </a:r>
            <a:r>
              <a:rPr lang="en-US" altLang="zh-CN" sz="3200" baseline="-25000" dirty="0">
                <a:solidFill>
                  <a:srgbClr val="000000"/>
                </a:solidFill>
                <a:ea typeface="楷体_GB2312" pitchFamily="49" charset="-122"/>
                <a:sym typeface="Symbol" pitchFamily="18" charset="2"/>
              </a:rPr>
              <a:t>3</a:t>
            </a:r>
            <a:r>
              <a:rPr lang="en-US" altLang="zh-CN" sz="3200" dirty="0">
                <a:solidFill>
                  <a:srgbClr val="000000"/>
                </a:solidFill>
                <a:ea typeface="楷体_GB2312" pitchFamily="49" charset="-122"/>
                <a:sym typeface="Symbol" pitchFamily="18" charset="2"/>
              </a:rPr>
              <a:t>), </a:t>
            </a:r>
            <a:r>
              <a:rPr lang="zh-CN" altLang="en-US" sz="3200" dirty="0">
                <a:solidFill>
                  <a:srgbClr val="000000"/>
                </a:solidFill>
                <a:ea typeface="楷体_GB2312" pitchFamily="49" charset="-122"/>
                <a:sym typeface="Symbol" pitchFamily="18" charset="2"/>
              </a:rPr>
              <a:t>则</a:t>
            </a:r>
            <a:r>
              <a:rPr lang="zh-CN" altLang="en-US" sz="3200" dirty="0">
                <a:solidFill>
                  <a:srgbClr val="FF0000"/>
                </a:solidFill>
                <a:ea typeface="楷体_GB2312" pitchFamily="49" charset="-122"/>
                <a:sym typeface="Symbol" pitchFamily="18" charset="2"/>
              </a:rPr>
              <a:t>回溯</a:t>
            </a:r>
            <a:r>
              <a:rPr lang="zh-CN" altLang="en-US" sz="3200" dirty="0">
                <a:solidFill>
                  <a:srgbClr val="000000"/>
                </a:solidFill>
                <a:ea typeface="楷体_GB2312" pitchFamily="49" charset="-122"/>
                <a:sym typeface="Symbol" pitchFamily="18" charset="2"/>
              </a:rPr>
              <a:t>到部分解</a:t>
            </a:r>
            <a:r>
              <a:rPr lang="en-US" altLang="zh-CN" sz="3200" dirty="0">
                <a:solidFill>
                  <a:srgbClr val="000000"/>
                </a:solidFill>
                <a:ea typeface="楷体_GB2312" pitchFamily="49" charset="-122"/>
                <a:sym typeface="Symbol" pitchFamily="18" charset="2"/>
              </a:rPr>
              <a:t>(x</a:t>
            </a:r>
            <a:r>
              <a:rPr lang="en-US" altLang="zh-CN" sz="3200" baseline="-25000" dirty="0">
                <a:solidFill>
                  <a:srgbClr val="000000"/>
                </a:solidFill>
                <a:ea typeface="楷体_GB2312" pitchFamily="49" charset="-122"/>
                <a:sym typeface="Symbol" pitchFamily="18" charset="2"/>
              </a:rPr>
              <a:t>1</a:t>
            </a:r>
            <a:r>
              <a:rPr lang="en-US" altLang="zh-CN" sz="3200" dirty="0">
                <a:solidFill>
                  <a:srgbClr val="000000"/>
                </a:solidFill>
                <a:ea typeface="楷体_GB2312" pitchFamily="49" charset="-122"/>
                <a:sym typeface="Symbol" pitchFamily="18" charset="2"/>
              </a:rPr>
              <a:t>), </a:t>
            </a:r>
            <a:r>
              <a:rPr lang="zh-CN" altLang="en-US" sz="3200" dirty="0">
                <a:solidFill>
                  <a:srgbClr val="000000"/>
                </a:solidFill>
                <a:ea typeface="楷体_GB2312" pitchFamily="49" charset="-122"/>
                <a:sym typeface="Symbol" pitchFamily="18" charset="2"/>
              </a:rPr>
              <a:t>重新添加满足约束条件的</a:t>
            </a:r>
            <a:r>
              <a:rPr lang="en-US" altLang="zh-CN" sz="3200" dirty="0">
                <a:solidFill>
                  <a:srgbClr val="000000"/>
                </a:solidFill>
                <a:ea typeface="楷体_GB2312" pitchFamily="49" charset="-122"/>
                <a:sym typeface="Symbol" pitchFamily="18" charset="2"/>
              </a:rPr>
              <a:t>x</a:t>
            </a:r>
            <a:r>
              <a:rPr lang="en-US" altLang="zh-CN" sz="3200" baseline="-25000" dirty="0">
                <a:solidFill>
                  <a:srgbClr val="000000"/>
                </a:solidFill>
                <a:ea typeface="楷体_GB2312" pitchFamily="49" charset="-122"/>
                <a:sym typeface="Symbol" pitchFamily="18" charset="2"/>
              </a:rPr>
              <a:t>2</a:t>
            </a:r>
            <a:r>
              <a:rPr lang="en-US" altLang="zh-CN" sz="3200" dirty="0">
                <a:solidFill>
                  <a:srgbClr val="000000"/>
                </a:solidFill>
                <a:ea typeface="楷体_GB2312" pitchFamily="49" charset="-122"/>
                <a:sym typeface="Symbol" pitchFamily="18" charset="2"/>
              </a:rPr>
              <a:t>=4, </a:t>
            </a:r>
            <a:r>
              <a:rPr lang="zh-CN" altLang="en-US" sz="3200" dirty="0">
                <a:solidFill>
                  <a:srgbClr val="000000"/>
                </a:solidFill>
                <a:ea typeface="楷体_GB2312" pitchFamily="49" charset="-122"/>
                <a:sym typeface="Symbol" pitchFamily="18" charset="2"/>
              </a:rPr>
              <a:t>依次类推。</a:t>
            </a:r>
            <a:endParaRPr lang="zh-CN" altLang="en-US" sz="3200" dirty="0">
              <a:solidFill>
                <a:srgbClr val="000000"/>
              </a:solidFill>
              <a:ea typeface="楷体_GB2312" pitchFamily="49" charset="-122"/>
            </a:endParaRPr>
          </a:p>
        </p:txBody>
      </p:sp>
      <p:sp>
        <p:nvSpPr>
          <p:cNvPr id="5"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18216644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灯片编号占位符 3"/>
          <p:cNvSpPr>
            <a:spLocks noGrp="1"/>
          </p:cNvSpPr>
          <p:nvPr>
            <p:ph type="sldNum" sz="quarter" idx="12"/>
          </p:nvPr>
        </p:nvSpPr>
        <p:spPr>
          <a:noFill/>
        </p:spPr>
        <p:txBody>
          <a:bodyPr/>
          <a:lstStyle/>
          <a:p>
            <a:fld id="{CF622D15-76B0-4BD8-A6BA-AB2C798FFF98}" type="slidenum">
              <a:rPr lang="en-US" altLang="zh-CN"/>
              <a:pPr/>
              <a:t>88</a:t>
            </a:fld>
            <a:endParaRPr lang="en-US" altLang="zh-CN"/>
          </a:p>
        </p:txBody>
      </p:sp>
      <p:graphicFrame>
        <p:nvGraphicFramePr>
          <p:cNvPr id="557058" name="Group 2"/>
          <p:cNvGraphicFramePr>
            <a:graphicFrameLocks noGrp="1"/>
          </p:cNvGraphicFramePr>
          <p:nvPr/>
        </p:nvGraphicFramePr>
        <p:xfrm>
          <a:off x="16764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085" name="Group 29"/>
          <p:cNvGraphicFramePr>
            <a:graphicFrameLocks noGrp="1"/>
          </p:cNvGraphicFramePr>
          <p:nvPr/>
        </p:nvGraphicFramePr>
        <p:xfrm>
          <a:off x="6096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112" name="Group 56"/>
          <p:cNvGraphicFramePr>
            <a:graphicFrameLocks noGrp="1"/>
          </p:cNvGraphicFramePr>
          <p:nvPr/>
        </p:nvGraphicFramePr>
        <p:xfrm>
          <a:off x="2286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139" name="Group 83"/>
          <p:cNvGraphicFramePr>
            <a:graphicFrameLocks noGrp="1"/>
          </p:cNvGraphicFramePr>
          <p:nvPr/>
        </p:nvGraphicFramePr>
        <p:xfrm>
          <a:off x="12954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166" name="Group 110"/>
          <p:cNvGraphicFramePr>
            <a:graphicFrameLocks noGrp="1"/>
          </p:cNvGraphicFramePr>
          <p:nvPr/>
        </p:nvGraphicFramePr>
        <p:xfrm>
          <a:off x="23622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193" name="Group 137"/>
          <p:cNvGraphicFramePr>
            <a:graphicFrameLocks noGrp="1"/>
          </p:cNvGraphicFramePr>
          <p:nvPr/>
        </p:nvGraphicFramePr>
        <p:xfrm>
          <a:off x="34290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888" name="Group 832"/>
          <p:cNvGraphicFramePr>
            <a:graphicFrameLocks noGrp="1"/>
          </p:cNvGraphicFramePr>
          <p:nvPr/>
        </p:nvGraphicFramePr>
        <p:xfrm>
          <a:off x="6642100" y="5724525"/>
          <a:ext cx="901700" cy="853440"/>
        </p:xfrm>
        <a:graphic>
          <a:graphicData uri="http://schemas.openxmlformats.org/drawingml/2006/table">
            <a:tbl>
              <a:tblPr/>
              <a:tblGrid>
                <a:gridCol w="2159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68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0C0C0"/>
                    </a:solid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rgbClr val="993300"/>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0C0C0"/>
                    </a:solidFill>
                  </a:tcPr>
                </a:tc>
                <a:extLst>
                  <a:ext uri="{0D108BD9-81ED-4DB2-BD59-A6C34878D82A}">
                    <a16:rowId xmlns="" xmlns:a16="http://schemas.microsoft.com/office/drawing/2014/main" val="10003"/>
                  </a:ext>
                </a:extLst>
              </a:tr>
            </a:tbl>
          </a:graphicData>
        </a:graphic>
      </p:graphicFrame>
      <p:graphicFrame>
        <p:nvGraphicFramePr>
          <p:cNvPr id="557247" name="Group 191"/>
          <p:cNvGraphicFramePr>
            <a:graphicFrameLocks noGrp="1"/>
          </p:cNvGraphicFramePr>
          <p:nvPr/>
        </p:nvGraphicFramePr>
        <p:xfrm>
          <a:off x="55626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274" name="Group 218"/>
          <p:cNvGraphicFramePr>
            <a:graphicFrameLocks noGrp="1"/>
          </p:cNvGraphicFramePr>
          <p:nvPr/>
        </p:nvGraphicFramePr>
        <p:xfrm>
          <a:off x="44958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301" name="Group 245"/>
          <p:cNvGraphicFramePr>
            <a:graphicFrameLocks noGrp="1"/>
          </p:cNvGraphicFramePr>
          <p:nvPr/>
        </p:nvGraphicFramePr>
        <p:xfrm>
          <a:off x="7696200" y="57023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328" name="Group 272"/>
          <p:cNvGraphicFramePr>
            <a:graphicFrameLocks noGrp="1"/>
          </p:cNvGraphicFramePr>
          <p:nvPr/>
        </p:nvGraphicFramePr>
        <p:xfrm>
          <a:off x="2590800" y="28829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355" name="Group 299"/>
          <p:cNvGraphicFramePr>
            <a:graphicFrameLocks noGrp="1"/>
          </p:cNvGraphicFramePr>
          <p:nvPr/>
        </p:nvGraphicFramePr>
        <p:xfrm>
          <a:off x="2743200" y="44958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382" name="Group 326"/>
          <p:cNvGraphicFramePr>
            <a:graphicFrameLocks noGrp="1"/>
          </p:cNvGraphicFramePr>
          <p:nvPr/>
        </p:nvGraphicFramePr>
        <p:xfrm>
          <a:off x="38100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409" name="Group 353"/>
          <p:cNvGraphicFramePr>
            <a:graphicFrameLocks noGrp="1"/>
          </p:cNvGraphicFramePr>
          <p:nvPr/>
        </p:nvGraphicFramePr>
        <p:xfrm>
          <a:off x="48768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436" name="Group 380"/>
          <p:cNvGraphicFramePr>
            <a:graphicFrameLocks noGrp="1"/>
          </p:cNvGraphicFramePr>
          <p:nvPr/>
        </p:nvGraphicFramePr>
        <p:xfrm>
          <a:off x="59436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463" name="Group 407"/>
          <p:cNvGraphicFramePr>
            <a:graphicFrameLocks noGrp="1"/>
          </p:cNvGraphicFramePr>
          <p:nvPr/>
        </p:nvGraphicFramePr>
        <p:xfrm>
          <a:off x="70104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490" name="Group 434"/>
          <p:cNvGraphicFramePr>
            <a:graphicFrameLocks noGrp="1"/>
          </p:cNvGraphicFramePr>
          <p:nvPr/>
        </p:nvGraphicFramePr>
        <p:xfrm>
          <a:off x="8077200" y="4483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517" name="Group 461"/>
          <p:cNvGraphicFramePr>
            <a:graphicFrameLocks noGrp="1"/>
          </p:cNvGraphicFramePr>
          <p:nvPr/>
        </p:nvGraphicFramePr>
        <p:xfrm>
          <a:off x="5257800" y="28829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544" name="Group 488"/>
          <p:cNvGraphicFramePr>
            <a:graphicFrameLocks noGrp="1"/>
          </p:cNvGraphicFramePr>
          <p:nvPr/>
        </p:nvGraphicFramePr>
        <p:xfrm>
          <a:off x="4114800" y="28956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571" name="Group 515"/>
          <p:cNvGraphicFramePr>
            <a:graphicFrameLocks noGrp="1"/>
          </p:cNvGraphicFramePr>
          <p:nvPr/>
        </p:nvGraphicFramePr>
        <p:xfrm>
          <a:off x="7924800" y="15240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598" name="Group 542"/>
          <p:cNvGraphicFramePr>
            <a:graphicFrameLocks noGrp="1"/>
          </p:cNvGraphicFramePr>
          <p:nvPr/>
        </p:nvGraphicFramePr>
        <p:xfrm>
          <a:off x="6858000" y="15240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625" name="Group 569"/>
          <p:cNvGraphicFramePr>
            <a:graphicFrameLocks noGrp="1"/>
          </p:cNvGraphicFramePr>
          <p:nvPr/>
        </p:nvGraphicFramePr>
        <p:xfrm>
          <a:off x="5149850" y="15621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652" name="Group 596"/>
          <p:cNvGraphicFramePr>
            <a:graphicFrameLocks noGrp="1"/>
          </p:cNvGraphicFramePr>
          <p:nvPr/>
        </p:nvGraphicFramePr>
        <p:xfrm>
          <a:off x="2286000" y="15240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679" name="Group 623"/>
          <p:cNvGraphicFramePr>
            <a:graphicFrameLocks noGrp="1"/>
          </p:cNvGraphicFramePr>
          <p:nvPr/>
        </p:nvGraphicFramePr>
        <p:xfrm>
          <a:off x="3816350" y="7620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706" name="Group 650"/>
          <p:cNvGraphicFramePr>
            <a:graphicFrameLocks noGrp="1"/>
          </p:cNvGraphicFramePr>
          <p:nvPr/>
        </p:nvGraphicFramePr>
        <p:xfrm>
          <a:off x="6400800" y="28956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733" name="Group 677"/>
          <p:cNvGraphicFramePr>
            <a:graphicFrameLocks noGrp="1"/>
          </p:cNvGraphicFramePr>
          <p:nvPr/>
        </p:nvGraphicFramePr>
        <p:xfrm>
          <a:off x="7543800" y="28956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graphicFrame>
        <p:nvGraphicFramePr>
          <p:cNvPr id="557760" name="Group 704"/>
          <p:cNvGraphicFramePr>
            <a:graphicFrameLocks noGrp="1"/>
          </p:cNvGraphicFramePr>
          <p:nvPr/>
        </p:nvGraphicFramePr>
        <p:xfrm>
          <a:off x="1295400" y="2882900"/>
          <a:ext cx="914400" cy="853440"/>
        </p:xfrm>
        <a:graphic>
          <a:graphicData uri="http://schemas.openxmlformats.org/drawingml/2006/table">
            <a:tbl>
              <a:tblPr/>
              <a:tblGrid>
                <a:gridCol w="228600">
                  <a:extLst>
                    <a:ext uri="{9D8B030D-6E8A-4147-A177-3AD203B41FA5}">
                      <a16:colId xmlns="" xmlns:a16="http://schemas.microsoft.com/office/drawing/2014/main" val="20000"/>
                    </a:ext>
                  </a:extLst>
                </a:gridCol>
                <a:gridCol w="228600">
                  <a:extLst>
                    <a:ext uri="{9D8B030D-6E8A-4147-A177-3AD203B41FA5}">
                      <a16:colId xmlns="" xmlns:a16="http://schemas.microsoft.com/office/drawing/2014/main" val="20001"/>
                    </a:ext>
                  </a:extLst>
                </a:gridCol>
                <a:gridCol w="228600">
                  <a:extLst>
                    <a:ext uri="{9D8B030D-6E8A-4147-A177-3AD203B41FA5}">
                      <a16:colId xmlns="" xmlns:a16="http://schemas.microsoft.com/office/drawing/2014/main" val="20002"/>
                    </a:ext>
                  </a:extLst>
                </a:gridCol>
                <a:gridCol w="228600">
                  <a:extLst>
                    <a:ext uri="{9D8B030D-6E8A-4147-A177-3AD203B41FA5}">
                      <a16:colId xmlns="" xmlns:a16="http://schemas.microsoft.com/office/drawing/2014/main" val="20003"/>
                    </a:ext>
                  </a:extLst>
                </a:gridCol>
              </a:tblGrid>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90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bl>
          </a:graphicData>
        </a:graphic>
      </p:graphicFrame>
      <p:sp>
        <p:nvSpPr>
          <p:cNvPr id="96988" name="Text Box 731"/>
          <p:cNvSpPr txBox="1">
            <a:spLocks noChangeArrowheads="1"/>
          </p:cNvSpPr>
          <p:nvPr/>
        </p:nvSpPr>
        <p:spPr bwMode="auto">
          <a:xfrm>
            <a:off x="2241030" y="1386590"/>
            <a:ext cx="320675" cy="457200"/>
          </a:xfrm>
          <a:prstGeom prst="rect">
            <a:avLst/>
          </a:prstGeom>
          <a:noFill/>
          <a:ln w="9525">
            <a:noFill/>
            <a:miter lim="800000"/>
            <a:headEnd/>
            <a:tailEnd/>
          </a:ln>
        </p:spPr>
        <p:txBody>
          <a:bodyPr>
            <a:spAutoFit/>
          </a:bodyPr>
          <a:lstStyle/>
          <a:p>
            <a:r>
              <a:rPr lang="en-US" altLang="zh-CN" dirty="0">
                <a:cs typeface="Times New Roman" pitchFamily="18" charset="0"/>
              </a:rPr>
              <a:t>•</a:t>
            </a:r>
            <a:endParaRPr lang="en-US" altLang="zh-CN" dirty="0"/>
          </a:p>
        </p:txBody>
      </p:sp>
      <p:sp>
        <p:nvSpPr>
          <p:cNvPr id="96989" name="Text Box 732"/>
          <p:cNvSpPr txBox="1">
            <a:spLocks noChangeArrowheads="1"/>
          </p:cNvSpPr>
          <p:nvPr/>
        </p:nvSpPr>
        <p:spPr bwMode="auto">
          <a:xfrm>
            <a:off x="5342119" y="143104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0" name="Text Box 733"/>
          <p:cNvSpPr txBox="1">
            <a:spLocks noChangeArrowheads="1"/>
          </p:cNvSpPr>
          <p:nvPr/>
        </p:nvSpPr>
        <p:spPr bwMode="auto">
          <a:xfrm>
            <a:off x="7299325" y="1371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1" name="Text Box 734"/>
          <p:cNvSpPr txBox="1">
            <a:spLocks noChangeArrowheads="1"/>
          </p:cNvSpPr>
          <p:nvPr/>
        </p:nvSpPr>
        <p:spPr bwMode="auto">
          <a:xfrm>
            <a:off x="8594725" y="1371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2" name="Text Box 735"/>
          <p:cNvSpPr txBox="1">
            <a:spLocks noChangeArrowheads="1"/>
          </p:cNvSpPr>
          <p:nvPr/>
        </p:nvSpPr>
        <p:spPr bwMode="auto">
          <a:xfrm>
            <a:off x="4098925"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3" name="Text Box 736"/>
          <p:cNvSpPr txBox="1">
            <a:spLocks noChangeArrowheads="1"/>
          </p:cNvSpPr>
          <p:nvPr/>
        </p:nvSpPr>
        <p:spPr bwMode="auto">
          <a:xfrm>
            <a:off x="4327525"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4" name="Text Box 737"/>
          <p:cNvSpPr txBox="1">
            <a:spLocks noChangeArrowheads="1"/>
          </p:cNvSpPr>
          <p:nvPr/>
        </p:nvSpPr>
        <p:spPr bwMode="auto">
          <a:xfrm>
            <a:off x="3260725"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5" name="Text Box 738"/>
          <p:cNvSpPr txBox="1">
            <a:spLocks noChangeArrowheads="1"/>
          </p:cNvSpPr>
          <p:nvPr/>
        </p:nvSpPr>
        <p:spPr bwMode="auto">
          <a:xfrm>
            <a:off x="2590800"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6" name="Text Box 739"/>
          <p:cNvSpPr txBox="1">
            <a:spLocks noChangeArrowheads="1"/>
          </p:cNvSpPr>
          <p:nvPr/>
        </p:nvSpPr>
        <p:spPr bwMode="auto">
          <a:xfrm>
            <a:off x="1676400"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7" name="Text Box 740"/>
          <p:cNvSpPr txBox="1">
            <a:spLocks noChangeArrowheads="1"/>
          </p:cNvSpPr>
          <p:nvPr/>
        </p:nvSpPr>
        <p:spPr bwMode="auto">
          <a:xfrm>
            <a:off x="1295400"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8" name="Text Box 741"/>
          <p:cNvSpPr txBox="1">
            <a:spLocks noChangeArrowheads="1"/>
          </p:cNvSpPr>
          <p:nvPr/>
        </p:nvSpPr>
        <p:spPr bwMode="auto">
          <a:xfrm>
            <a:off x="7756525"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6999" name="Text Box 742"/>
          <p:cNvSpPr txBox="1">
            <a:spLocks noChangeArrowheads="1"/>
          </p:cNvSpPr>
          <p:nvPr/>
        </p:nvSpPr>
        <p:spPr bwMode="auto">
          <a:xfrm>
            <a:off x="6842125"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0" name="Text Box 743"/>
          <p:cNvSpPr txBox="1">
            <a:spLocks noChangeArrowheads="1"/>
          </p:cNvSpPr>
          <p:nvPr/>
        </p:nvSpPr>
        <p:spPr bwMode="auto">
          <a:xfrm>
            <a:off x="6613525"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1" name="Text Box 744"/>
          <p:cNvSpPr txBox="1">
            <a:spLocks noChangeArrowheads="1"/>
          </p:cNvSpPr>
          <p:nvPr/>
        </p:nvSpPr>
        <p:spPr bwMode="auto">
          <a:xfrm>
            <a:off x="5486400"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2" name="Text Box 745"/>
          <p:cNvSpPr txBox="1">
            <a:spLocks noChangeArrowheads="1"/>
          </p:cNvSpPr>
          <p:nvPr/>
        </p:nvSpPr>
        <p:spPr bwMode="auto">
          <a:xfrm>
            <a:off x="5470525" y="2743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3" name="Text Box 746"/>
          <p:cNvSpPr txBox="1">
            <a:spLocks noChangeArrowheads="1"/>
          </p:cNvSpPr>
          <p:nvPr/>
        </p:nvSpPr>
        <p:spPr bwMode="auto">
          <a:xfrm>
            <a:off x="2346325"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4" name="Text Box 747"/>
          <p:cNvSpPr txBox="1">
            <a:spLocks noChangeArrowheads="1"/>
          </p:cNvSpPr>
          <p:nvPr/>
        </p:nvSpPr>
        <p:spPr bwMode="auto">
          <a:xfrm>
            <a:off x="1279525"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5" name="Text Box 748"/>
          <p:cNvSpPr txBox="1">
            <a:spLocks noChangeArrowheads="1"/>
          </p:cNvSpPr>
          <p:nvPr/>
        </p:nvSpPr>
        <p:spPr bwMode="auto">
          <a:xfrm>
            <a:off x="37941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6" name="Text Box 749"/>
          <p:cNvSpPr txBox="1">
            <a:spLocks noChangeArrowheads="1"/>
          </p:cNvSpPr>
          <p:nvPr/>
        </p:nvSpPr>
        <p:spPr bwMode="auto">
          <a:xfrm>
            <a:off x="16605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7" name="Text Box 750"/>
          <p:cNvSpPr txBox="1">
            <a:spLocks noChangeArrowheads="1"/>
          </p:cNvSpPr>
          <p:nvPr/>
        </p:nvSpPr>
        <p:spPr bwMode="auto">
          <a:xfrm>
            <a:off x="27273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8" name="Text Box 751"/>
          <p:cNvSpPr txBox="1">
            <a:spLocks noChangeArrowheads="1"/>
          </p:cNvSpPr>
          <p:nvPr/>
        </p:nvSpPr>
        <p:spPr bwMode="auto">
          <a:xfrm>
            <a:off x="533400"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09" name="Text Box 752"/>
          <p:cNvSpPr txBox="1">
            <a:spLocks noChangeArrowheads="1"/>
          </p:cNvSpPr>
          <p:nvPr/>
        </p:nvSpPr>
        <p:spPr bwMode="auto">
          <a:xfrm>
            <a:off x="8229600" y="2971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0" name="Text Box 753"/>
          <p:cNvSpPr txBox="1">
            <a:spLocks noChangeArrowheads="1"/>
          </p:cNvSpPr>
          <p:nvPr/>
        </p:nvSpPr>
        <p:spPr bwMode="auto">
          <a:xfrm>
            <a:off x="61563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1" name="Text Box 754"/>
          <p:cNvSpPr txBox="1">
            <a:spLocks noChangeArrowheads="1"/>
          </p:cNvSpPr>
          <p:nvPr/>
        </p:nvSpPr>
        <p:spPr bwMode="auto">
          <a:xfrm>
            <a:off x="50895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2" name="Text Box 755"/>
          <p:cNvSpPr txBox="1">
            <a:spLocks noChangeArrowheads="1"/>
          </p:cNvSpPr>
          <p:nvPr/>
        </p:nvSpPr>
        <p:spPr bwMode="auto">
          <a:xfrm>
            <a:off x="1905000"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3" name="Text Box 756"/>
          <p:cNvSpPr txBox="1">
            <a:spLocks noChangeArrowheads="1"/>
          </p:cNvSpPr>
          <p:nvPr/>
        </p:nvSpPr>
        <p:spPr bwMode="auto">
          <a:xfrm>
            <a:off x="533400"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4" name="Text Box 757"/>
          <p:cNvSpPr txBox="1">
            <a:spLocks noChangeArrowheads="1"/>
          </p:cNvSpPr>
          <p:nvPr/>
        </p:nvSpPr>
        <p:spPr bwMode="auto">
          <a:xfrm>
            <a:off x="4479925"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5" name="Text Box 758"/>
          <p:cNvSpPr txBox="1">
            <a:spLocks noChangeArrowheads="1"/>
          </p:cNvSpPr>
          <p:nvPr/>
        </p:nvSpPr>
        <p:spPr bwMode="auto">
          <a:xfrm>
            <a:off x="3200400"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6" name="Text Box 759"/>
          <p:cNvSpPr txBox="1">
            <a:spLocks noChangeArrowheads="1"/>
          </p:cNvSpPr>
          <p:nvPr/>
        </p:nvSpPr>
        <p:spPr bwMode="auto">
          <a:xfrm>
            <a:off x="4479925"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7" name="Text Box 760"/>
          <p:cNvSpPr txBox="1">
            <a:spLocks noChangeArrowheads="1"/>
          </p:cNvSpPr>
          <p:nvPr/>
        </p:nvSpPr>
        <p:spPr bwMode="auto">
          <a:xfrm>
            <a:off x="3429000"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8" name="Text Box 761"/>
          <p:cNvSpPr txBox="1">
            <a:spLocks noChangeArrowheads="1"/>
          </p:cNvSpPr>
          <p:nvPr/>
        </p:nvSpPr>
        <p:spPr bwMode="auto">
          <a:xfrm>
            <a:off x="3048000"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19" name="Text Box 762"/>
          <p:cNvSpPr txBox="1">
            <a:spLocks noChangeArrowheads="1"/>
          </p:cNvSpPr>
          <p:nvPr/>
        </p:nvSpPr>
        <p:spPr bwMode="auto">
          <a:xfrm>
            <a:off x="4098925"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0" name="Text Box 763"/>
          <p:cNvSpPr txBox="1">
            <a:spLocks noChangeArrowheads="1"/>
          </p:cNvSpPr>
          <p:nvPr/>
        </p:nvSpPr>
        <p:spPr bwMode="auto">
          <a:xfrm>
            <a:off x="3413125"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1" name="Text Box 764"/>
          <p:cNvSpPr txBox="1">
            <a:spLocks noChangeArrowheads="1"/>
          </p:cNvSpPr>
          <p:nvPr/>
        </p:nvSpPr>
        <p:spPr bwMode="auto">
          <a:xfrm>
            <a:off x="2362200"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2" name="Text Box 765"/>
          <p:cNvSpPr txBox="1">
            <a:spLocks noChangeArrowheads="1"/>
          </p:cNvSpPr>
          <p:nvPr/>
        </p:nvSpPr>
        <p:spPr bwMode="auto">
          <a:xfrm>
            <a:off x="212725"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3" name="Text Box 766"/>
          <p:cNvSpPr txBox="1">
            <a:spLocks noChangeArrowheads="1"/>
          </p:cNvSpPr>
          <p:nvPr/>
        </p:nvSpPr>
        <p:spPr bwMode="auto">
          <a:xfrm>
            <a:off x="1295400"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4" name="Text Box 767"/>
          <p:cNvSpPr txBox="1">
            <a:spLocks noChangeArrowheads="1"/>
          </p:cNvSpPr>
          <p:nvPr/>
        </p:nvSpPr>
        <p:spPr bwMode="auto">
          <a:xfrm>
            <a:off x="8747125"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5" name="Text Box 768"/>
          <p:cNvSpPr txBox="1">
            <a:spLocks noChangeArrowheads="1"/>
          </p:cNvSpPr>
          <p:nvPr/>
        </p:nvSpPr>
        <p:spPr bwMode="auto">
          <a:xfrm>
            <a:off x="7451725"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6" name="Text Box 769"/>
          <p:cNvSpPr txBox="1">
            <a:spLocks noChangeArrowheads="1"/>
          </p:cNvSpPr>
          <p:nvPr/>
        </p:nvSpPr>
        <p:spPr bwMode="auto">
          <a:xfrm>
            <a:off x="6156325"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7" name="Text Box 770"/>
          <p:cNvSpPr txBox="1">
            <a:spLocks noChangeArrowheads="1"/>
          </p:cNvSpPr>
          <p:nvPr/>
        </p:nvSpPr>
        <p:spPr bwMode="auto">
          <a:xfrm>
            <a:off x="4860925" y="4800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8" name="Text Box 771"/>
          <p:cNvSpPr txBox="1">
            <a:spLocks noChangeArrowheads="1"/>
          </p:cNvSpPr>
          <p:nvPr/>
        </p:nvSpPr>
        <p:spPr bwMode="auto">
          <a:xfrm>
            <a:off x="8747125"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29" name="Text Box 772"/>
          <p:cNvSpPr txBox="1">
            <a:spLocks noChangeArrowheads="1"/>
          </p:cNvSpPr>
          <p:nvPr/>
        </p:nvSpPr>
        <p:spPr bwMode="auto">
          <a:xfrm>
            <a:off x="7680325"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30" name="Text Box 773"/>
          <p:cNvSpPr txBox="1">
            <a:spLocks noChangeArrowheads="1"/>
          </p:cNvSpPr>
          <p:nvPr/>
        </p:nvSpPr>
        <p:spPr bwMode="auto">
          <a:xfrm>
            <a:off x="6629400" y="4572000"/>
            <a:ext cx="304800"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31" name="Text Box 774"/>
          <p:cNvSpPr txBox="1">
            <a:spLocks noChangeArrowheads="1"/>
          </p:cNvSpPr>
          <p:nvPr/>
        </p:nvSpPr>
        <p:spPr bwMode="auto">
          <a:xfrm>
            <a:off x="5562600" y="45720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32" name="Text Box 775"/>
          <p:cNvSpPr txBox="1">
            <a:spLocks noChangeArrowheads="1"/>
          </p:cNvSpPr>
          <p:nvPr/>
        </p:nvSpPr>
        <p:spPr bwMode="auto">
          <a:xfrm>
            <a:off x="82899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33" name="Text Box 776"/>
          <p:cNvSpPr txBox="1">
            <a:spLocks noChangeArrowheads="1"/>
          </p:cNvSpPr>
          <p:nvPr/>
        </p:nvSpPr>
        <p:spPr bwMode="auto">
          <a:xfrm>
            <a:off x="7223125" y="4343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34" name="Line 777"/>
          <p:cNvSpPr>
            <a:spLocks noChangeShapeType="1"/>
          </p:cNvSpPr>
          <p:nvPr/>
        </p:nvSpPr>
        <p:spPr bwMode="auto">
          <a:xfrm flipH="1">
            <a:off x="3238500" y="1517650"/>
            <a:ext cx="577850" cy="254000"/>
          </a:xfrm>
          <a:prstGeom prst="line">
            <a:avLst/>
          </a:prstGeom>
          <a:noFill/>
          <a:ln w="9525">
            <a:solidFill>
              <a:schemeClr val="tx1"/>
            </a:solidFill>
            <a:miter lim="800000"/>
            <a:headEnd/>
            <a:tailEnd/>
          </a:ln>
        </p:spPr>
        <p:txBody>
          <a:bodyPr wrap="none"/>
          <a:lstStyle/>
          <a:p>
            <a:endParaRPr lang="zh-CN" altLang="en-US"/>
          </a:p>
        </p:txBody>
      </p:sp>
      <p:sp>
        <p:nvSpPr>
          <p:cNvPr id="97035" name="Line 778"/>
          <p:cNvSpPr>
            <a:spLocks noChangeShapeType="1"/>
          </p:cNvSpPr>
          <p:nvPr/>
        </p:nvSpPr>
        <p:spPr bwMode="auto">
          <a:xfrm>
            <a:off x="4749800" y="1606550"/>
            <a:ext cx="400050" cy="266700"/>
          </a:xfrm>
          <a:prstGeom prst="line">
            <a:avLst/>
          </a:prstGeom>
          <a:noFill/>
          <a:ln w="9525">
            <a:solidFill>
              <a:schemeClr val="tx1"/>
            </a:solidFill>
            <a:miter lim="800000"/>
            <a:headEnd/>
            <a:tailEnd/>
          </a:ln>
        </p:spPr>
        <p:txBody>
          <a:bodyPr wrap="none"/>
          <a:lstStyle/>
          <a:p>
            <a:endParaRPr lang="zh-CN" altLang="en-US"/>
          </a:p>
        </p:txBody>
      </p:sp>
      <p:sp>
        <p:nvSpPr>
          <p:cNvPr id="97036" name="Line 779"/>
          <p:cNvSpPr>
            <a:spLocks noChangeShapeType="1"/>
          </p:cNvSpPr>
          <p:nvPr/>
        </p:nvSpPr>
        <p:spPr bwMode="auto">
          <a:xfrm>
            <a:off x="4794250" y="1339850"/>
            <a:ext cx="2063750" cy="184150"/>
          </a:xfrm>
          <a:prstGeom prst="line">
            <a:avLst/>
          </a:prstGeom>
          <a:noFill/>
          <a:ln w="9525">
            <a:solidFill>
              <a:schemeClr val="tx1"/>
            </a:solidFill>
            <a:miter lim="800000"/>
            <a:headEnd/>
            <a:tailEnd/>
          </a:ln>
        </p:spPr>
        <p:txBody>
          <a:bodyPr wrap="none"/>
          <a:lstStyle/>
          <a:p>
            <a:endParaRPr lang="zh-CN" altLang="en-US"/>
          </a:p>
        </p:txBody>
      </p:sp>
      <p:sp>
        <p:nvSpPr>
          <p:cNvPr id="97037" name="Line 780"/>
          <p:cNvSpPr>
            <a:spLocks noChangeShapeType="1"/>
          </p:cNvSpPr>
          <p:nvPr/>
        </p:nvSpPr>
        <p:spPr bwMode="auto">
          <a:xfrm>
            <a:off x="4794250" y="1073150"/>
            <a:ext cx="3587750" cy="450850"/>
          </a:xfrm>
          <a:prstGeom prst="line">
            <a:avLst/>
          </a:prstGeom>
          <a:noFill/>
          <a:ln w="9525">
            <a:solidFill>
              <a:schemeClr val="tx1"/>
            </a:solidFill>
            <a:miter lim="800000"/>
            <a:headEnd/>
            <a:tailEnd/>
          </a:ln>
        </p:spPr>
        <p:txBody>
          <a:bodyPr wrap="none"/>
          <a:lstStyle/>
          <a:p>
            <a:endParaRPr lang="zh-CN" altLang="en-US"/>
          </a:p>
        </p:txBody>
      </p:sp>
      <p:sp>
        <p:nvSpPr>
          <p:cNvPr id="97038" name="Line 781"/>
          <p:cNvSpPr>
            <a:spLocks noChangeShapeType="1"/>
          </p:cNvSpPr>
          <p:nvPr/>
        </p:nvSpPr>
        <p:spPr bwMode="auto">
          <a:xfrm flipH="1">
            <a:off x="1752600" y="2362200"/>
            <a:ext cx="762000" cy="533400"/>
          </a:xfrm>
          <a:prstGeom prst="line">
            <a:avLst/>
          </a:prstGeom>
          <a:noFill/>
          <a:ln w="9525">
            <a:solidFill>
              <a:schemeClr val="tx1"/>
            </a:solidFill>
            <a:miter lim="800000"/>
            <a:headEnd/>
            <a:tailEnd/>
          </a:ln>
        </p:spPr>
        <p:txBody>
          <a:bodyPr wrap="none"/>
          <a:lstStyle/>
          <a:p>
            <a:endParaRPr lang="zh-CN" altLang="en-US"/>
          </a:p>
        </p:txBody>
      </p:sp>
      <p:sp>
        <p:nvSpPr>
          <p:cNvPr id="97039" name="Line 782"/>
          <p:cNvSpPr>
            <a:spLocks noChangeShapeType="1"/>
          </p:cNvSpPr>
          <p:nvPr/>
        </p:nvSpPr>
        <p:spPr bwMode="auto">
          <a:xfrm>
            <a:off x="2743200" y="2362200"/>
            <a:ext cx="381000" cy="533400"/>
          </a:xfrm>
          <a:prstGeom prst="line">
            <a:avLst/>
          </a:prstGeom>
          <a:noFill/>
          <a:ln w="9525">
            <a:solidFill>
              <a:schemeClr val="tx1"/>
            </a:solidFill>
            <a:miter lim="800000"/>
            <a:headEnd/>
            <a:tailEnd/>
          </a:ln>
        </p:spPr>
        <p:txBody>
          <a:bodyPr wrap="none"/>
          <a:lstStyle/>
          <a:p>
            <a:endParaRPr lang="zh-CN" altLang="en-US"/>
          </a:p>
        </p:txBody>
      </p:sp>
      <p:sp>
        <p:nvSpPr>
          <p:cNvPr id="97040" name="Line 783"/>
          <p:cNvSpPr>
            <a:spLocks noChangeShapeType="1"/>
          </p:cNvSpPr>
          <p:nvPr/>
        </p:nvSpPr>
        <p:spPr bwMode="auto">
          <a:xfrm flipH="1">
            <a:off x="381000" y="2362200"/>
            <a:ext cx="1905000" cy="381000"/>
          </a:xfrm>
          <a:prstGeom prst="line">
            <a:avLst/>
          </a:prstGeom>
          <a:noFill/>
          <a:ln w="9525">
            <a:solidFill>
              <a:schemeClr val="tx1"/>
            </a:solidFill>
            <a:miter lim="800000"/>
            <a:headEnd/>
            <a:tailEnd/>
          </a:ln>
        </p:spPr>
        <p:txBody>
          <a:bodyPr wrap="none"/>
          <a:lstStyle/>
          <a:p>
            <a:endParaRPr lang="zh-CN" altLang="en-US"/>
          </a:p>
        </p:txBody>
      </p:sp>
      <p:sp>
        <p:nvSpPr>
          <p:cNvPr id="97041" name="Line 784"/>
          <p:cNvSpPr>
            <a:spLocks noChangeShapeType="1"/>
          </p:cNvSpPr>
          <p:nvPr/>
        </p:nvSpPr>
        <p:spPr bwMode="auto">
          <a:xfrm flipH="1">
            <a:off x="990600" y="2362200"/>
            <a:ext cx="1447800" cy="381000"/>
          </a:xfrm>
          <a:prstGeom prst="line">
            <a:avLst/>
          </a:prstGeom>
          <a:noFill/>
          <a:ln w="9525">
            <a:solidFill>
              <a:schemeClr val="tx1"/>
            </a:solidFill>
            <a:miter lim="800000"/>
            <a:headEnd/>
            <a:tailEnd/>
          </a:ln>
        </p:spPr>
        <p:txBody>
          <a:bodyPr wrap="none"/>
          <a:lstStyle/>
          <a:p>
            <a:endParaRPr lang="zh-CN" altLang="en-US"/>
          </a:p>
        </p:txBody>
      </p:sp>
      <p:sp>
        <p:nvSpPr>
          <p:cNvPr id="97042" name="Line 785"/>
          <p:cNvSpPr>
            <a:spLocks noChangeShapeType="1"/>
          </p:cNvSpPr>
          <p:nvPr/>
        </p:nvSpPr>
        <p:spPr bwMode="auto">
          <a:xfrm flipH="1">
            <a:off x="4419600" y="2451100"/>
            <a:ext cx="1041400" cy="444500"/>
          </a:xfrm>
          <a:prstGeom prst="line">
            <a:avLst/>
          </a:prstGeom>
          <a:noFill/>
          <a:ln w="9525">
            <a:solidFill>
              <a:schemeClr val="tx1"/>
            </a:solidFill>
            <a:miter lim="800000"/>
            <a:headEnd/>
            <a:tailEnd/>
          </a:ln>
        </p:spPr>
        <p:txBody>
          <a:bodyPr wrap="none"/>
          <a:lstStyle/>
          <a:p>
            <a:endParaRPr lang="zh-CN" altLang="en-US"/>
          </a:p>
        </p:txBody>
      </p:sp>
      <p:sp>
        <p:nvSpPr>
          <p:cNvPr id="97043" name="Line 786"/>
          <p:cNvSpPr>
            <a:spLocks noChangeShapeType="1"/>
          </p:cNvSpPr>
          <p:nvPr/>
        </p:nvSpPr>
        <p:spPr bwMode="auto">
          <a:xfrm>
            <a:off x="5549900" y="2451100"/>
            <a:ext cx="165100" cy="444500"/>
          </a:xfrm>
          <a:prstGeom prst="line">
            <a:avLst/>
          </a:prstGeom>
          <a:noFill/>
          <a:ln w="9525">
            <a:solidFill>
              <a:schemeClr val="tx1"/>
            </a:solidFill>
            <a:miter lim="800000"/>
            <a:headEnd/>
            <a:tailEnd/>
          </a:ln>
        </p:spPr>
        <p:txBody>
          <a:bodyPr wrap="none"/>
          <a:lstStyle/>
          <a:p>
            <a:endParaRPr lang="zh-CN" altLang="en-US"/>
          </a:p>
        </p:txBody>
      </p:sp>
      <p:sp>
        <p:nvSpPr>
          <p:cNvPr id="97044" name="Line 787"/>
          <p:cNvSpPr>
            <a:spLocks noChangeShapeType="1"/>
          </p:cNvSpPr>
          <p:nvPr/>
        </p:nvSpPr>
        <p:spPr bwMode="auto">
          <a:xfrm>
            <a:off x="5772150" y="2451100"/>
            <a:ext cx="1085850" cy="444500"/>
          </a:xfrm>
          <a:prstGeom prst="line">
            <a:avLst/>
          </a:prstGeom>
          <a:noFill/>
          <a:ln w="9525">
            <a:solidFill>
              <a:schemeClr val="tx1"/>
            </a:solidFill>
            <a:miter lim="800000"/>
            <a:headEnd/>
            <a:tailEnd/>
          </a:ln>
        </p:spPr>
        <p:txBody>
          <a:bodyPr wrap="none"/>
          <a:lstStyle/>
          <a:p>
            <a:endParaRPr lang="zh-CN" altLang="en-US"/>
          </a:p>
        </p:txBody>
      </p:sp>
      <p:sp>
        <p:nvSpPr>
          <p:cNvPr id="97045" name="Line 788"/>
          <p:cNvSpPr>
            <a:spLocks noChangeShapeType="1"/>
          </p:cNvSpPr>
          <p:nvPr/>
        </p:nvSpPr>
        <p:spPr bwMode="auto">
          <a:xfrm>
            <a:off x="5861050" y="2406650"/>
            <a:ext cx="1911350" cy="488950"/>
          </a:xfrm>
          <a:prstGeom prst="line">
            <a:avLst/>
          </a:prstGeom>
          <a:noFill/>
          <a:ln w="9525">
            <a:solidFill>
              <a:schemeClr val="tx1"/>
            </a:solidFill>
            <a:miter lim="800000"/>
            <a:headEnd/>
            <a:tailEnd/>
          </a:ln>
        </p:spPr>
        <p:txBody>
          <a:bodyPr wrap="none"/>
          <a:lstStyle/>
          <a:p>
            <a:endParaRPr lang="zh-CN" altLang="en-US"/>
          </a:p>
        </p:txBody>
      </p:sp>
      <p:sp>
        <p:nvSpPr>
          <p:cNvPr id="97046" name="Line 789"/>
          <p:cNvSpPr>
            <a:spLocks noChangeShapeType="1"/>
          </p:cNvSpPr>
          <p:nvPr/>
        </p:nvSpPr>
        <p:spPr bwMode="auto">
          <a:xfrm>
            <a:off x="8382000" y="3733800"/>
            <a:ext cx="457200" cy="762000"/>
          </a:xfrm>
          <a:prstGeom prst="line">
            <a:avLst/>
          </a:prstGeom>
          <a:noFill/>
          <a:ln w="9525">
            <a:solidFill>
              <a:schemeClr val="tx1"/>
            </a:solidFill>
            <a:miter lim="800000"/>
            <a:headEnd/>
            <a:tailEnd/>
          </a:ln>
        </p:spPr>
        <p:txBody>
          <a:bodyPr wrap="none"/>
          <a:lstStyle/>
          <a:p>
            <a:endParaRPr lang="zh-CN" altLang="en-US"/>
          </a:p>
        </p:txBody>
      </p:sp>
      <p:sp>
        <p:nvSpPr>
          <p:cNvPr id="97047" name="Line 790"/>
          <p:cNvSpPr>
            <a:spLocks noChangeShapeType="1"/>
          </p:cNvSpPr>
          <p:nvPr/>
        </p:nvSpPr>
        <p:spPr bwMode="auto">
          <a:xfrm flipH="1">
            <a:off x="7620000" y="3733800"/>
            <a:ext cx="533400" cy="762000"/>
          </a:xfrm>
          <a:prstGeom prst="line">
            <a:avLst/>
          </a:prstGeom>
          <a:noFill/>
          <a:ln w="9525">
            <a:solidFill>
              <a:schemeClr val="tx1"/>
            </a:solidFill>
            <a:miter lim="800000"/>
            <a:headEnd/>
            <a:tailEnd/>
          </a:ln>
        </p:spPr>
        <p:txBody>
          <a:bodyPr wrap="none"/>
          <a:lstStyle/>
          <a:p>
            <a:endParaRPr lang="zh-CN" altLang="en-US"/>
          </a:p>
        </p:txBody>
      </p:sp>
      <p:sp>
        <p:nvSpPr>
          <p:cNvPr id="97048" name="Line 791"/>
          <p:cNvSpPr>
            <a:spLocks noChangeShapeType="1"/>
          </p:cNvSpPr>
          <p:nvPr/>
        </p:nvSpPr>
        <p:spPr bwMode="auto">
          <a:xfrm flipH="1">
            <a:off x="6629400" y="3733800"/>
            <a:ext cx="1371600" cy="685800"/>
          </a:xfrm>
          <a:prstGeom prst="line">
            <a:avLst/>
          </a:prstGeom>
          <a:noFill/>
          <a:ln w="9525">
            <a:solidFill>
              <a:schemeClr val="tx1"/>
            </a:solidFill>
            <a:miter lim="800000"/>
            <a:headEnd/>
            <a:tailEnd/>
          </a:ln>
        </p:spPr>
        <p:txBody>
          <a:bodyPr wrap="none"/>
          <a:lstStyle/>
          <a:p>
            <a:endParaRPr lang="zh-CN" altLang="en-US"/>
          </a:p>
        </p:txBody>
      </p:sp>
      <p:sp>
        <p:nvSpPr>
          <p:cNvPr id="97049" name="Line 792"/>
          <p:cNvSpPr>
            <a:spLocks noChangeShapeType="1"/>
          </p:cNvSpPr>
          <p:nvPr/>
        </p:nvSpPr>
        <p:spPr bwMode="auto">
          <a:xfrm flipH="1">
            <a:off x="5410200" y="3733800"/>
            <a:ext cx="2286000" cy="685800"/>
          </a:xfrm>
          <a:prstGeom prst="line">
            <a:avLst/>
          </a:prstGeom>
          <a:noFill/>
          <a:ln w="9525">
            <a:solidFill>
              <a:schemeClr val="tx1"/>
            </a:solidFill>
            <a:miter lim="800000"/>
            <a:headEnd/>
            <a:tailEnd/>
          </a:ln>
        </p:spPr>
        <p:txBody>
          <a:bodyPr wrap="none"/>
          <a:lstStyle/>
          <a:p>
            <a:endParaRPr lang="zh-CN" altLang="en-US"/>
          </a:p>
        </p:txBody>
      </p:sp>
      <p:sp>
        <p:nvSpPr>
          <p:cNvPr id="97050" name="Line 793"/>
          <p:cNvSpPr>
            <a:spLocks noChangeShapeType="1"/>
          </p:cNvSpPr>
          <p:nvPr/>
        </p:nvSpPr>
        <p:spPr bwMode="auto">
          <a:xfrm flipH="1">
            <a:off x="1066800" y="3733800"/>
            <a:ext cx="1600200" cy="685800"/>
          </a:xfrm>
          <a:prstGeom prst="line">
            <a:avLst/>
          </a:prstGeom>
          <a:noFill/>
          <a:ln w="9525">
            <a:solidFill>
              <a:schemeClr val="tx1"/>
            </a:solidFill>
            <a:miter lim="800000"/>
            <a:headEnd/>
            <a:tailEnd/>
          </a:ln>
        </p:spPr>
        <p:txBody>
          <a:bodyPr wrap="none"/>
          <a:lstStyle/>
          <a:p>
            <a:endParaRPr lang="zh-CN" altLang="en-US"/>
          </a:p>
        </p:txBody>
      </p:sp>
      <p:sp>
        <p:nvSpPr>
          <p:cNvPr id="97051" name="Line 794"/>
          <p:cNvSpPr>
            <a:spLocks noChangeShapeType="1"/>
          </p:cNvSpPr>
          <p:nvPr/>
        </p:nvSpPr>
        <p:spPr bwMode="auto">
          <a:xfrm flipH="1">
            <a:off x="2133600" y="3733800"/>
            <a:ext cx="762000" cy="762000"/>
          </a:xfrm>
          <a:prstGeom prst="line">
            <a:avLst/>
          </a:prstGeom>
          <a:noFill/>
          <a:ln w="9525">
            <a:solidFill>
              <a:schemeClr val="tx1"/>
            </a:solidFill>
            <a:miter lim="800000"/>
            <a:headEnd/>
            <a:tailEnd/>
          </a:ln>
        </p:spPr>
        <p:txBody>
          <a:bodyPr wrap="none"/>
          <a:lstStyle/>
          <a:p>
            <a:endParaRPr lang="zh-CN" altLang="en-US"/>
          </a:p>
        </p:txBody>
      </p:sp>
      <p:sp>
        <p:nvSpPr>
          <p:cNvPr id="97052" name="Line 795"/>
          <p:cNvSpPr>
            <a:spLocks noChangeShapeType="1"/>
          </p:cNvSpPr>
          <p:nvPr/>
        </p:nvSpPr>
        <p:spPr bwMode="auto">
          <a:xfrm>
            <a:off x="3048000" y="3733800"/>
            <a:ext cx="152400" cy="762000"/>
          </a:xfrm>
          <a:prstGeom prst="line">
            <a:avLst/>
          </a:prstGeom>
          <a:noFill/>
          <a:ln w="9525">
            <a:solidFill>
              <a:schemeClr val="tx1"/>
            </a:solidFill>
            <a:miter lim="800000"/>
            <a:headEnd/>
            <a:tailEnd/>
          </a:ln>
        </p:spPr>
        <p:txBody>
          <a:bodyPr wrap="none"/>
          <a:lstStyle/>
          <a:p>
            <a:endParaRPr lang="zh-CN" altLang="en-US"/>
          </a:p>
        </p:txBody>
      </p:sp>
      <p:sp>
        <p:nvSpPr>
          <p:cNvPr id="97053" name="Line 796"/>
          <p:cNvSpPr>
            <a:spLocks noChangeShapeType="1"/>
          </p:cNvSpPr>
          <p:nvPr/>
        </p:nvSpPr>
        <p:spPr bwMode="auto">
          <a:xfrm>
            <a:off x="3200400" y="3733800"/>
            <a:ext cx="1066800" cy="685800"/>
          </a:xfrm>
          <a:prstGeom prst="line">
            <a:avLst/>
          </a:prstGeom>
          <a:noFill/>
          <a:ln w="9525">
            <a:solidFill>
              <a:schemeClr val="tx1"/>
            </a:solidFill>
            <a:miter lim="800000"/>
            <a:headEnd/>
            <a:tailEnd/>
          </a:ln>
        </p:spPr>
        <p:txBody>
          <a:bodyPr wrap="none"/>
          <a:lstStyle/>
          <a:p>
            <a:endParaRPr lang="zh-CN" altLang="en-US"/>
          </a:p>
        </p:txBody>
      </p:sp>
      <p:sp>
        <p:nvSpPr>
          <p:cNvPr id="97054" name="Line 797"/>
          <p:cNvSpPr>
            <a:spLocks noChangeShapeType="1"/>
          </p:cNvSpPr>
          <p:nvPr/>
        </p:nvSpPr>
        <p:spPr bwMode="auto">
          <a:xfrm flipH="1">
            <a:off x="609600" y="5334000"/>
            <a:ext cx="1295400" cy="381000"/>
          </a:xfrm>
          <a:prstGeom prst="line">
            <a:avLst/>
          </a:prstGeom>
          <a:noFill/>
          <a:ln w="9525">
            <a:solidFill>
              <a:schemeClr val="tx1"/>
            </a:solidFill>
            <a:miter lim="800000"/>
            <a:headEnd/>
            <a:tailEnd/>
          </a:ln>
        </p:spPr>
        <p:txBody>
          <a:bodyPr wrap="none"/>
          <a:lstStyle/>
          <a:p>
            <a:endParaRPr lang="zh-CN" altLang="en-US"/>
          </a:p>
        </p:txBody>
      </p:sp>
      <p:sp>
        <p:nvSpPr>
          <p:cNvPr id="97055" name="Line 798"/>
          <p:cNvSpPr>
            <a:spLocks noChangeShapeType="1"/>
          </p:cNvSpPr>
          <p:nvPr/>
        </p:nvSpPr>
        <p:spPr bwMode="auto">
          <a:xfrm flipH="1">
            <a:off x="1752600" y="5334000"/>
            <a:ext cx="304800" cy="381000"/>
          </a:xfrm>
          <a:prstGeom prst="line">
            <a:avLst/>
          </a:prstGeom>
          <a:noFill/>
          <a:ln w="9525">
            <a:solidFill>
              <a:schemeClr val="tx1"/>
            </a:solidFill>
            <a:miter lim="800000"/>
            <a:headEnd/>
            <a:tailEnd/>
          </a:ln>
        </p:spPr>
        <p:txBody>
          <a:bodyPr wrap="none"/>
          <a:lstStyle/>
          <a:p>
            <a:endParaRPr lang="zh-CN" altLang="en-US"/>
          </a:p>
        </p:txBody>
      </p:sp>
      <p:sp>
        <p:nvSpPr>
          <p:cNvPr id="97056" name="Line 799"/>
          <p:cNvSpPr>
            <a:spLocks noChangeShapeType="1"/>
          </p:cNvSpPr>
          <p:nvPr/>
        </p:nvSpPr>
        <p:spPr bwMode="auto">
          <a:xfrm>
            <a:off x="2209800" y="5334000"/>
            <a:ext cx="381000" cy="381000"/>
          </a:xfrm>
          <a:prstGeom prst="line">
            <a:avLst/>
          </a:prstGeom>
          <a:noFill/>
          <a:ln w="9525">
            <a:solidFill>
              <a:schemeClr val="tx1"/>
            </a:solidFill>
            <a:miter lim="800000"/>
            <a:headEnd/>
            <a:tailEnd/>
          </a:ln>
        </p:spPr>
        <p:txBody>
          <a:bodyPr wrap="none"/>
          <a:lstStyle/>
          <a:p>
            <a:endParaRPr lang="zh-CN" altLang="en-US"/>
          </a:p>
        </p:txBody>
      </p:sp>
      <p:sp>
        <p:nvSpPr>
          <p:cNvPr id="97057" name="Line 800"/>
          <p:cNvSpPr>
            <a:spLocks noChangeShapeType="1"/>
          </p:cNvSpPr>
          <p:nvPr/>
        </p:nvSpPr>
        <p:spPr bwMode="auto">
          <a:xfrm>
            <a:off x="2362200" y="5334000"/>
            <a:ext cx="1371600" cy="381000"/>
          </a:xfrm>
          <a:prstGeom prst="line">
            <a:avLst/>
          </a:prstGeom>
          <a:noFill/>
          <a:ln w="9525">
            <a:solidFill>
              <a:schemeClr val="tx1"/>
            </a:solidFill>
            <a:miter lim="800000"/>
            <a:headEnd/>
            <a:tailEnd/>
          </a:ln>
        </p:spPr>
        <p:txBody>
          <a:bodyPr wrap="none"/>
          <a:lstStyle/>
          <a:p>
            <a:endParaRPr lang="zh-CN" altLang="en-US"/>
          </a:p>
        </p:txBody>
      </p:sp>
      <p:sp>
        <p:nvSpPr>
          <p:cNvPr id="97058" name="Line 801"/>
          <p:cNvSpPr>
            <a:spLocks noChangeShapeType="1"/>
          </p:cNvSpPr>
          <p:nvPr/>
        </p:nvSpPr>
        <p:spPr bwMode="auto">
          <a:xfrm flipH="1">
            <a:off x="4876800" y="5334000"/>
            <a:ext cx="228600" cy="381000"/>
          </a:xfrm>
          <a:prstGeom prst="line">
            <a:avLst/>
          </a:prstGeom>
          <a:noFill/>
          <a:ln w="9525">
            <a:solidFill>
              <a:schemeClr val="tx1"/>
            </a:solidFill>
            <a:miter lim="800000"/>
            <a:headEnd/>
            <a:tailEnd/>
          </a:ln>
        </p:spPr>
        <p:txBody>
          <a:bodyPr wrap="none"/>
          <a:lstStyle/>
          <a:p>
            <a:endParaRPr lang="zh-CN" altLang="en-US"/>
          </a:p>
        </p:txBody>
      </p:sp>
      <p:sp>
        <p:nvSpPr>
          <p:cNvPr id="97059" name="Line 802"/>
          <p:cNvSpPr>
            <a:spLocks noChangeShapeType="1"/>
          </p:cNvSpPr>
          <p:nvPr/>
        </p:nvSpPr>
        <p:spPr bwMode="auto">
          <a:xfrm>
            <a:off x="5257800" y="5334000"/>
            <a:ext cx="533400" cy="381000"/>
          </a:xfrm>
          <a:prstGeom prst="line">
            <a:avLst/>
          </a:prstGeom>
          <a:noFill/>
          <a:ln w="9525">
            <a:solidFill>
              <a:schemeClr val="tx1"/>
            </a:solidFill>
            <a:miter lim="800000"/>
            <a:headEnd/>
            <a:tailEnd/>
          </a:ln>
        </p:spPr>
        <p:txBody>
          <a:bodyPr wrap="none"/>
          <a:lstStyle/>
          <a:p>
            <a:endParaRPr lang="zh-CN" altLang="en-US"/>
          </a:p>
        </p:txBody>
      </p:sp>
      <p:sp>
        <p:nvSpPr>
          <p:cNvPr id="97060" name="Line 803"/>
          <p:cNvSpPr>
            <a:spLocks noChangeShapeType="1"/>
          </p:cNvSpPr>
          <p:nvPr/>
        </p:nvSpPr>
        <p:spPr bwMode="auto">
          <a:xfrm>
            <a:off x="5410200" y="5334000"/>
            <a:ext cx="1524000" cy="381000"/>
          </a:xfrm>
          <a:prstGeom prst="line">
            <a:avLst/>
          </a:prstGeom>
          <a:noFill/>
          <a:ln w="9525">
            <a:solidFill>
              <a:schemeClr val="tx1"/>
            </a:solidFill>
            <a:miter lim="800000"/>
            <a:headEnd/>
            <a:tailEnd/>
          </a:ln>
        </p:spPr>
        <p:txBody>
          <a:bodyPr wrap="none"/>
          <a:lstStyle/>
          <a:p>
            <a:endParaRPr lang="zh-CN" altLang="en-US"/>
          </a:p>
        </p:txBody>
      </p:sp>
      <p:sp>
        <p:nvSpPr>
          <p:cNvPr id="97061" name="Line 804"/>
          <p:cNvSpPr>
            <a:spLocks noChangeShapeType="1"/>
          </p:cNvSpPr>
          <p:nvPr/>
        </p:nvSpPr>
        <p:spPr bwMode="auto">
          <a:xfrm>
            <a:off x="5715000" y="5334000"/>
            <a:ext cx="2438400" cy="381000"/>
          </a:xfrm>
          <a:prstGeom prst="line">
            <a:avLst/>
          </a:prstGeom>
          <a:noFill/>
          <a:ln w="9525">
            <a:solidFill>
              <a:schemeClr val="tx1"/>
            </a:solidFill>
            <a:miter lim="800000"/>
            <a:headEnd/>
            <a:tailEnd/>
          </a:ln>
        </p:spPr>
        <p:txBody>
          <a:bodyPr wrap="none"/>
          <a:lstStyle/>
          <a:p>
            <a:endParaRPr lang="zh-CN" altLang="en-US"/>
          </a:p>
        </p:txBody>
      </p:sp>
      <p:sp>
        <p:nvSpPr>
          <p:cNvPr id="97062" name="Text Box 805"/>
          <p:cNvSpPr txBox="1">
            <a:spLocks noChangeArrowheads="1"/>
          </p:cNvSpPr>
          <p:nvPr/>
        </p:nvSpPr>
        <p:spPr bwMode="auto">
          <a:xfrm>
            <a:off x="7070725" y="6248400"/>
            <a:ext cx="320675" cy="457200"/>
          </a:xfrm>
          <a:prstGeom prst="rect">
            <a:avLst/>
          </a:prstGeom>
          <a:noFill/>
          <a:ln w="9525">
            <a:noFill/>
            <a:miter lim="800000"/>
            <a:headEnd/>
            <a:tailEnd/>
          </a:ln>
        </p:spPr>
        <p:txBody>
          <a:bodyPr>
            <a:spAutoFit/>
          </a:bodyPr>
          <a:lstStyle/>
          <a:p>
            <a:r>
              <a:rPr lang="en-US" altLang="zh-CN">
                <a:solidFill>
                  <a:schemeClr val="hlink"/>
                </a:solidFill>
                <a:cs typeface="Times New Roman" pitchFamily="18" charset="0"/>
              </a:rPr>
              <a:t>•</a:t>
            </a:r>
            <a:endParaRPr lang="en-US" altLang="zh-CN">
              <a:solidFill>
                <a:schemeClr val="hlink"/>
              </a:solidFill>
            </a:endParaRPr>
          </a:p>
        </p:txBody>
      </p:sp>
      <p:sp>
        <p:nvSpPr>
          <p:cNvPr id="97063" name="Text Box 806"/>
          <p:cNvSpPr txBox="1">
            <a:spLocks noChangeArrowheads="1"/>
          </p:cNvSpPr>
          <p:nvPr/>
        </p:nvSpPr>
        <p:spPr bwMode="auto">
          <a:xfrm>
            <a:off x="2590800"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4" name="Text Box 807"/>
          <p:cNvSpPr txBox="1">
            <a:spLocks noChangeArrowheads="1"/>
          </p:cNvSpPr>
          <p:nvPr/>
        </p:nvSpPr>
        <p:spPr bwMode="auto">
          <a:xfrm>
            <a:off x="1508125"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5" name="Text Box 808"/>
          <p:cNvSpPr txBox="1">
            <a:spLocks noChangeArrowheads="1"/>
          </p:cNvSpPr>
          <p:nvPr/>
        </p:nvSpPr>
        <p:spPr bwMode="auto">
          <a:xfrm>
            <a:off x="898525"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6" name="Text Box 809"/>
          <p:cNvSpPr txBox="1">
            <a:spLocks noChangeArrowheads="1"/>
          </p:cNvSpPr>
          <p:nvPr/>
        </p:nvSpPr>
        <p:spPr bwMode="auto">
          <a:xfrm>
            <a:off x="441325"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7" name="Text Box 810"/>
          <p:cNvSpPr txBox="1">
            <a:spLocks noChangeArrowheads="1"/>
          </p:cNvSpPr>
          <p:nvPr/>
        </p:nvSpPr>
        <p:spPr bwMode="auto">
          <a:xfrm>
            <a:off x="4098925"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8" name="Text Box 811"/>
          <p:cNvSpPr txBox="1">
            <a:spLocks noChangeArrowheads="1"/>
          </p:cNvSpPr>
          <p:nvPr/>
        </p:nvSpPr>
        <p:spPr bwMode="auto">
          <a:xfrm>
            <a:off x="2819400"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69" name="Text Box 812"/>
          <p:cNvSpPr txBox="1">
            <a:spLocks noChangeArrowheads="1"/>
          </p:cNvSpPr>
          <p:nvPr/>
        </p:nvSpPr>
        <p:spPr bwMode="auto">
          <a:xfrm>
            <a:off x="1524000"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0" name="Text Box 813"/>
          <p:cNvSpPr txBox="1">
            <a:spLocks noChangeArrowheads="1"/>
          </p:cNvSpPr>
          <p:nvPr/>
        </p:nvSpPr>
        <p:spPr bwMode="auto">
          <a:xfrm>
            <a:off x="212725"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1" name="Text Box 814"/>
          <p:cNvSpPr txBox="1">
            <a:spLocks noChangeArrowheads="1"/>
          </p:cNvSpPr>
          <p:nvPr/>
        </p:nvSpPr>
        <p:spPr bwMode="auto">
          <a:xfrm>
            <a:off x="1981200"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2" name="Text Box 815"/>
          <p:cNvSpPr txBox="1">
            <a:spLocks noChangeArrowheads="1"/>
          </p:cNvSpPr>
          <p:nvPr/>
        </p:nvSpPr>
        <p:spPr bwMode="auto">
          <a:xfrm>
            <a:off x="4479925"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3" name="Text Box 816"/>
          <p:cNvSpPr txBox="1">
            <a:spLocks noChangeArrowheads="1"/>
          </p:cNvSpPr>
          <p:nvPr/>
        </p:nvSpPr>
        <p:spPr bwMode="auto">
          <a:xfrm>
            <a:off x="5165725"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4" name="Text Box 817"/>
          <p:cNvSpPr txBox="1">
            <a:spLocks noChangeArrowheads="1"/>
          </p:cNvSpPr>
          <p:nvPr/>
        </p:nvSpPr>
        <p:spPr bwMode="auto">
          <a:xfrm>
            <a:off x="4479925"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5" name="Text Box 818"/>
          <p:cNvSpPr txBox="1">
            <a:spLocks noChangeArrowheads="1"/>
          </p:cNvSpPr>
          <p:nvPr/>
        </p:nvSpPr>
        <p:spPr bwMode="auto">
          <a:xfrm>
            <a:off x="7908925"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6" name="Text Box 819"/>
          <p:cNvSpPr txBox="1">
            <a:spLocks noChangeArrowheads="1"/>
          </p:cNvSpPr>
          <p:nvPr/>
        </p:nvSpPr>
        <p:spPr bwMode="auto">
          <a:xfrm>
            <a:off x="6842125" y="5562600"/>
            <a:ext cx="320675" cy="457200"/>
          </a:xfrm>
          <a:prstGeom prst="rect">
            <a:avLst/>
          </a:prstGeom>
          <a:noFill/>
          <a:ln w="9525">
            <a:noFill/>
            <a:miter lim="800000"/>
            <a:headEnd/>
            <a:tailEnd/>
          </a:ln>
        </p:spPr>
        <p:txBody>
          <a:bodyPr>
            <a:spAutoFit/>
          </a:bodyPr>
          <a:lstStyle/>
          <a:p>
            <a:r>
              <a:rPr lang="en-US" altLang="zh-CN">
                <a:solidFill>
                  <a:schemeClr val="hlink"/>
                </a:solidFill>
                <a:cs typeface="Times New Roman" pitchFamily="18" charset="0"/>
              </a:rPr>
              <a:t>•</a:t>
            </a:r>
            <a:endParaRPr lang="en-US" altLang="zh-CN">
              <a:solidFill>
                <a:schemeClr val="hlink"/>
              </a:solidFill>
            </a:endParaRPr>
          </a:p>
        </p:txBody>
      </p:sp>
      <p:sp>
        <p:nvSpPr>
          <p:cNvPr id="97077" name="Text Box 820"/>
          <p:cNvSpPr txBox="1">
            <a:spLocks noChangeArrowheads="1"/>
          </p:cNvSpPr>
          <p:nvPr/>
        </p:nvSpPr>
        <p:spPr bwMode="auto">
          <a:xfrm>
            <a:off x="5775325"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8" name="Text Box 821"/>
          <p:cNvSpPr txBox="1">
            <a:spLocks noChangeArrowheads="1"/>
          </p:cNvSpPr>
          <p:nvPr/>
        </p:nvSpPr>
        <p:spPr bwMode="auto">
          <a:xfrm>
            <a:off x="4708525" y="55626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79" name="Text Box 822"/>
          <p:cNvSpPr txBox="1">
            <a:spLocks noChangeArrowheads="1"/>
          </p:cNvSpPr>
          <p:nvPr/>
        </p:nvSpPr>
        <p:spPr bwMode="auto">
          <a:xfrm>
            <a:off x="8366125"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0" name="Text Box 823"/>
          <p:cNvSpPr txBox="1">
            <a:spLocks noChangeArrowheads="1"/>
          </p:cNvSpPr>
          <p:nvPr/>
        </p:nvSpPr>
        <p:spPr bwMode="auto">
          <a:xfrm>
            <a:off x="7299325" y="5791200"/>
            <a:ext cx="320675" cy="457200"/>
          </a:xfrm>
          <a:prstGeom prst="rect">
            <a:avLst/>
          </a:prstGeom>
          <a:noFill/>
          <a:ln w="9525">
            <a:noFill/>
            <a:miter lim="800000"/>
            <a:headEnd/>
            <a:tailEnd/>
          </a:ln>
        </p:spPr>
        <p:txBody>
          <a:bodyPr>
            <a:spAutoFit/>
          </a:bodyPr>
          <a:lstStyle/>
          <a:p>
            <a:r>
              <a:rPr lang="en-US" altLang="zh-CN">
                <a:solidFill>
                  <a:schemeClr val="hlink"/>
                </a:solidFill>
                <a:cs typeface="Times New Roman" pitchFamily="18" charset="0"/>
              </a:rPr>
              <a:t>•</a:t>
            </a:r>
            <a:endParaRPr lang="en-US" altLang="zh-CN">
              <a:solidFill>
                <a:schemeClr val="hlink"/>
              </a:solidFill>
            </a:endParaRPr>
          </a:p>
        </p:txBody>
      </p:sp>
      <p:sp>
        <p:nvSpPr>
          <p:cNvPr id="97081" name="Text Box 824"/>
          <p:cNvSpPr txBox="1">
            <a:spLocks noChangeArrowheads="1"/>
          </p:cNvSpPr>
          <p:nvPr/>
        </p:nvSpPr>
        <p:spPr bwMode="auto">
          <a:xfrm>
            <a:off x="6613525" y="6019800"/>
            <a:ext cx="320675" cy="457200"/>
          </a:xfrm>
          <a:prstGeom prst="rect">
            <a:avLst/>
          </a:prstGeom>
          <a:noFill/>
          <a:ln w="9525">
            <a:noFill/>
            <a:miter lim="800000"/>
            <a:headEnd/>
            <a:tailEnd/>
          </a:ln>
        </p:spPr>
        <p:txBody>
          <a:bodyPr>
            <a:spAutoFit/>
          </a:bodyPr>
          <a:lstStyle/>
          <a:p>
            <a:r>
              <a:rPr lang="en-US" altLang="zh-CN">
                <a:solidFill>
                  <a:schemeClr val="hlink"/>
                </a:solidFill>
                <a:cs typeface="Times New Roman" pitchFamily="18" charset="0"/>
              </a:rPr>
              <a:t>•</a:t>
            </a:r>
            <a:endParaRPr lang="en-US" altLang="zh-CN">
              <a:solidFill>
                <a:schemeClr val="hlink"/>
              </a:solidFill>
            </a:endParaRPr>
          </a:p>
        </p:txBody>
      </p:sp>
      <p:sp>
        <p:nvSpPr>
          <p:cNvPr id="97082" name="Text Box 825"/>
          <p:cNvSpPr txBox="1">
            <a:spLocks noChangeArrowheads="1"/>
          </p:cNvSpPr>
          <p:nvPr/>
        </p:nvSpPr>
        <p:spPr bwMode="auto">
          <a:xfrm>
            <a:off x="5775325"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3" name="Text Box 826"/>
          <p:cNvSpPr txBox="1">
            <a:spLocks noChangeArrowheads="1"/>
          </p:cNvSpPr>
          <p:nvPr/>
        </p:nvSpPr>
        <p:spPr bwMode="auto">
          <a:xfrm>
            <a:off x="5546725"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4" name="Text Box 827"/>
          <p:cNvSpPr txBox="1">
            <a:spLocks noChangeArrowheads="1"/>
          </p:cNvSpPr>
          <p:nvPr/>
        </p:nvSpPr>
        <p:spPr bwMode="auto">
          <a:xfrm>
            <a:off x="6232525" y="57912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5" name="Text Box 828"/>
          <p:cNvSpPr txBox="1">
            <a:spLocks noChangeArrowheads="1"/>
          </p:cNvSpPr>
          <p:nvPr/>
        </p:nvSpPr>
        <p:spPr bwMode="auto">
          <a:xfrm>
            <a:off x="3413125"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6" name="Text Box 829"/>
          <p:cNvSpPr txBox="1">
            <a:spLocks noChangeArrowheads="1"/>
          </p:cNvSpPr>
          <p:nvPr/>
        </p:nvSpPr>
        <p:spPr bwMode="auto">
          <a:xfrm>
            <a:off x="7696200" y="60198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97087" name="Text Box 830"/>
          <p:cNvSpPr txBox="1">
            <a:spLocks noChangeArrowheads="1"/>
          </p:cNvSpPr>
          <p:nvPr/>
        </p:nvSpPr>
        <p:spPr bwMode="auto">
          <a:xfrm>
            <a:off x="8366125" y="6248400"/>
            <a:ext cx="320675" cy="457200"/>
          </a:xfrm>
          <a:prstGeom prst="rect">
            <a:avLst/>
          </a:prstGeom>
          <a:noFill/>
          <a:ln w="9525">
            <a:noFill/>
            <a:miter lim="800000"/>
            <a:headEnd/>
            <a:tailEnd/>
          </a:ln>
        </p:spPr>
        <p:txBody>
          <a:bodyPr>
            <a:spAutoFit/>
          </a:bodyPr>
          <a:lstStyle/>
          <a:p>
            <a:r>
              <a:rPr lang="en-US" altLang="zh-CN">
                <a:cs typeface="Times New Roman" pitchFamily="18" charset="0"/>
              </a:rPr>
              <a:t>•</a:t>
            </a:r>
            <a:endParaRPr lang="en-US" altLang="zh-CN"/>
          </a:p>
        </p:txBody>
      </p:sp>
      <p:sp>
        <p:nvSpPr>
          <p:cNvPr id="130"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3705460433"/>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灯片编号占位符 3"/>
          <p:cNvSpPr>
            <a:spLocks noGrp="1"/>
          </p:cNvSpPr>
          <p:nvPr>
            <p:ph type="sldNum" sz="quarter" idx="12"/>
          </p:nvPr>
        </p:nvSpPr>
        <p:spPr>
          <a:noFill/>
        </p:spPr>
        <p:txBody>
          <a:bodyPr/>
          <a:lstStyle/>
          <a:p>
            <a:fld id="{5B55AE59-BD34-4294-B56F-70D6D6820DA2}" type="slidenum">
              <a:rPr lang="en-US" altLang="zh-CN"/>
              <a:pPr/>
              <a:t>89</a:t>
            </a:fld>
            <a:endParaRPr lang="en-US" altLang="zh-CN"/>
          </a:p>
        </p:txBody>
      </p:sp>
      <p:sp>
        <p:nvSpPr>
          <p:cNvPr id="97283" name="Text Box 2"/>
          <p:cNvSpPr txBox="1">
            <a:spLocks noChangeArrowheads="1"/>
          </p:cNvSpPr>
          <p:nvPr/>
        </p:nvSpPr>
        <p:spPr bwMode="auto">
          <a:xfrm>
            <a:off x="260350" y="1428750"/>
            <a:ext cx="8712200" cy="5259901"/>
          </a:xfrm>
          <a:prstGeom prst="rect">
            <a:avLst/>
          </a:prstGeom>
          <a:noFill/>
          <a:ln w="9525">
            <a:noFill/>
            <a:miter lim="800000"/>
            <a:headEnd/>
            <a:tailEnd/>
          </a:ln>
        </p:spPr>
        <p:txBody>
          <a:bodyPr wrap="square">
            <a:spAutoFit/>
          </a:bodyPr>
          <a:lstStyle/>
          <a:p>
            <a:pPr>
              <a:lnSpc>
                <a:spcPct val="115000"/>
              </a:lnSpc>
            </a:pPr>
            <a:r>
              <a:rPr lang="en-US" altLang="zh-CN" sz="2800" dirty="0">
                <a:solidFill>
                  <a:srgbClr val="000000"/>
                </a:solidFill>
                <a:ea typeface="楷体_GB2312" pitchFamily="49" charset="-122"/>
              </a:rPr>
              <a:t>void queen(</a:t>
            </a: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n) </a:t>
            </a:r>
          </a:p>
          <a:p>
            <a:pPr>
              <a:lnSpc>
                <a:spcPct val="115000"/>
              </a:lnSpc>
            </a:pPr>
            <a:r>
              <a:rPr lang="en-US" altLang="zh-CN" sz="2800" dirty="0">
                <a:solidFill>
                  <a:srgbClr val="000000"/>
                </a:solidFill>
                <a:ea typeface="楷体_GB2312" pitchFamily="49" charset="-122"/>
              </a:rPr>
              <a:t>{  </a:t>
            </a:r>
            <a:r>
              <a:rPr lang="en-US" altLang="zh-CN" sz="2000" dirty="0">
                <a:solidFill>
                  <a:srgbClr val="006600"/>
                </a:solidFill>
                <a:ea typeface="楷体_GB2312" pitchFamily="49" charset="-122"/>
              </a:rPr>
              <a:t>// </a:t>
            </a:r>
            <a:r>
              <a:rPr lang="zh-CN" altLang="en-US" sz="2000" dirty="0">
                <a:solidFill>
                  <a:srgbClr val="006600"/>
                </a:solidFill>
                <a:ea typeface="楷体_GB2312" pitchFamily="49" charset="-122"/>
              </a:rPr>
              <a:t>在</a:t>
            </a:r>
            <a:r>
              <a:rPr lang="en-US" altLang="zh-CN" sz="2000" dirty="0" err="1">
                <a:solidFill>
                  <a:srgbClr val="006600"/>
                </a:solidFill>
                <a:ea typeface="楷体_GB2312" pitchFamily="49" charset="-122"/>
              </a:rPr>
              <a:t>n×n</a:t>
            </a:r>
            <a:r>
              <a:rPr lang="zh-CN" altLang="en-US" sz="2000" dirty="0">
                <a:solidFill>
                  <a:srgbClr val="006600"/>
                </a:solidFill>
                <a:ea typeface="楷体_GB2312" pitchFamily="49" charset="-122"/>
              </a:rPr>
              <a:t>棋盘前</a:t>
            </a:r>
            <a:r>
              <a:rPr lang="en-US" altLang="zh-CN" sz="2000" dirty="0">
                <a:solidFill>
                  <a:srgbClr val="006600"/>
                </a:solidFill>
                <a:ea typeface="楷体_GB2312" pitchFamily="49" charset="-122"/>
              </a:rPr>
              <a:t>i-1</a:t>
            </a:r>
            <a:r>
              <a:rPr lang="zh-CN" altLang="en-US" sz="2000" dirty="0">
                <a:solidFill>
                  <a:srgbClr val="006600"/>
                </a:solidFill>
                <a:ea typeface="楷体_GB2312" pitchFamily="49" charset="-122"/>
              </a:rPr>
              <a:t>行已放置了互不攻击的</a:t>
            </a:r>
            <a:r>
              <a:rPr lang="en-US" altLang="zh-CN" sz="2000" dirty="0">
                <a:solidFill>
                  <a:srgbClr val="006600"/>
                </a:solidFill>
                <a:ea typeface="楷体_GB2312" pitchFamily="49" charset="-122"/>
              </a:rPr>
              <a:t>i-1</a:t>
            </a:r>
            <a:r>
              <a:rPr lang="zh-CN" altLang="en-US" sz="2000" dirty="0">
                <a:solidFill>
                  <a:srgbClr val="006600"/>
                </a:solidFill>
                <a:ea typeface="楷体_GB2312" pitchFamily="49" charset="-122"/>
              </a:rPr>
              <a:t>个棋子。从第 </a:t>
            </a:r>
            <a:r>
              <a:rPr lang="en-US" altLang="zh-CN" sz="2000" dirty="0" err="1">
                <a:solidFill>
                  <a:srgbClr val="006600"/>
                </a:solidFill>
                <a:ea typeface="楷体_GB2312" pitchFamily="49" charset="-122"/>
              </a:rPr>
              <a:t>i</a:t>
            </a:r>
            <a:r>
              <a:rPr lang="en-US" altLang="zh-CN" sz="2000" dirty="0">
                <a:solidFill>
                  <a:srgbClr val="006600"/>
                </a:solidFill>
                <a:ea typeface="楷体_GB2312" pitchFamily="49" charset="-122"/>
              </a:rPr>
              <a:t> </a:t>
            </a:r>
            <a:r>
              <a:rPr lang="zh-CN" altLang="en-US" sz="2000" dirty="0">
                <a:solidFill>
                  <a:srgbClr val="006600"/>
                </a:solidFill>
                <a:ea typeface="楷体_GB2312" pitchFamily="49" charset="-122"/>
              </a:rPr>
              <a:t>行起为后续棋</a:t>
            </a:r>
            <a:r>
              <a:rPr lang="en-US" altLang="zh-CN" sz="2000" dirty="0">
                <a:solidFill>
                  <a:srgbClr val="006600"/>
                </a:solidFill>
                <a:ea typeface="楷体_GB2312" pitchFamily="49" charset="-122"/>
              </a:rPr>
              <a:t>//</a:t>
            </a:r>
            <a:r>
              <a:rPr lang="zh-CN" altLang="en-US" sz="2000" dirty="0">
                <a:solidFill>
                  <a:srgbClr val="006600"/>
                </a:solidFill>
                <a:ea typeface="楷体_GB2312" pitchFamily="49" charset="-122"/>
              </a:rPr>
              <a:t>子选择满足约束条件的位置。当求得</a:t>
            </a:r>
            <a:r>
              <a:rPr lang="en-US" altLang="zh-CN" sz="2000" dirty="0">
                <a:solidFill>
                  <a:srgbClr val="006600"/>
                </a:solidFill>
                <a:ea typeface="楷体_GB2312" pitchFamily="49" charset="-122"/>
              </a:rPr>
              <a:t>(</a:t>
            </a:r>
            <a:r>
              <a:rPr lang="en-US" altLang="zh-CN" sz="2000" dirty="0" err="1">
                <a:solidFill>
                  <a:srgbClr val="006600"/>
                </a:solidFill>
                <a:ea typeface="楷体_GB2312" pitchFamily="49" charset="-122"/>
              </a:rPr>
              <a:t>i</a:t>
            </a:r>
            <a:r>
              <a:rPr lang="en-US" altLang="zh-CN" sz="2000" dirty="0">
                <a:solidFill>
                  <a:srgbClr val="006600"/>
                </a:solidFill>
                <a:ea typeface="楷体_GB2312" pitchFamily="49" charset="-122"/>
              </a:rPr>
              <a:t>&gt;n)</a:t>
            </a:r>
            <a:r>
              <a:rPr lang="zh-CN" altLang="en-US" sz="2000" dirty="0">
                <a:solidFill>
                  <a:srgbClr val="006600"/>
                </a:solidFill>
                <a:ea typeface="楷体_GB2312" pitchFamily="49" charset="-122"/>
              </a:rPr>
              <a:t>的一个合法布局时，输出。</a:t>
            </a:r>
          </a:p>
          <a:p>
            <a:pPr>
              <a:lnSpc>
                <a:spcPct val="115000"/>
              </a:lnSpc>
            </a:pPr>
            <a:endParaRPr lang="zh-CN" altLang="en-US" sz="2000" dirty="0">
              <a:solidFill>
                <a:srgbClr val="006600"/>
              </a:solidFill>
              <a:ea typeface="楷体_GB2312" pitchFamily="49" charset="-122"/>
            </a:endParaRPr>
          </a:p>
          <a:p>
            <a:pPr>
              <a:lnSpc>
                <a:spcPct val="115000"/>
              </a:lnSpc>
            </a:pPr>
            <a:r>
              <a:rPr lang="en-US" altLang="zh-CN" sz="2800" dirty="0">
                <a:solidFill>
                  <a:srgbClr val="000000"/>
                </a:solidFill>
                <a:ea typeface="楷体_GB2312" pitchFamily="49" charset="-122"/>
              </a:rPr>
              <a:t>if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&gt;n) </a:t>
            </a:r>
            <a:r>
              <a:rPr lang="zh-CN" altLang="zh-CN" sz="2800" dirty="0">
                <a:solidFill>
                  <a:srgbClr val="000000"/>
                </a:solidFill>
                <a:ea typeface="楷体_GB2312" pitchFamily="49" charset="-122"/>
              </a:rPr>
              <a:t>输出棋盘的当前布局;</a:t>
            </a:r>
          </a:p>
          <a:p>
            <a:pPr>
              <a:lnSpc>
                <a:spcPct val="115000"/>
              </a:lnSpc>
            </a:pPr>
            <a:r>
              <a:rPr lang="zh-CN" altLang="zh-CN" sz="2800" dirty="0">
                <a:solidFill>
                  <a:srgbClr val="000000"/>
                </a:solidFill>
                <a:ea typeface="楷体_GB2312" pitchFamily="49" charset="-122"/>
              </a:rPr>
              <a:t>  </a:t>
            </a:r>
            <a:r>
              <a:rPr lang="en-US" altLang="zh-CN" sz="2800" dirty="0">
                <a:solidFill>
                  <a:srgbClr val="000000"/>
                </a:solidFill>
                <a:ea typeface="楷体_GB2312" pitchFamily="49" charset="-122"/>
              </a:rPr>
              <a:t>else  for (j=1;  j&lt;=n; j++) </a:t>
            </a:r>
          </a:p>
          <a:p>
            <a:pPr>
              <a:lnSpc>
                <a:spcPct val="115000"/>
              </a:lnSpc>
            </a:pPr>
            <a:r>
              <a:rPr lang="en-US" altLang="zh-CN" sz="2800" dirty="0">
                <a:solidFill>
                  <a:srgbClr val="000000"/>
                </a:solidFill>
                <a:ea typeface="楷体_GB2312" pitchFamily="49" charset="-122"/>
              </a:rPr>
              <a:t>         {   </a:t>
            </a:r>
            <a:r>
              <a:rPr lang="zh-CN" altLang="zh-CN" sz="2800" dirty="0">
                <a:solidFill>
                  <a:srgbClr val="000000"/>
                </a:solidFill>
                <a:ea typeface="楷体_GB2312" pitchFamily="49" charset="-122"/>
              </a:rPr>
              <a:t>在第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zh-CN" altLang="en-US" sz="2800" dirty="0">
                <a:solidFill>
                  <a:srgbClr val="000000"/>
                </a:solidFill>
                <a:ea typeface="楷体_GB2312" pitchFamily="49" charset="-122"/>
              </a:rPr>
              <a:t>行第 </a:t>
            </a:r>
            <a:r>
              <a:rPr lang="en-US" altLang="zh-CN" sz="2800" dirty="0">
                <a:solidFill>
                  <a:srgbClr val="000000"/>
                </a:solidFill>
                <a:ea typeface="楷体_GB2312" pitchFamily="49" charset="-122"/>
              </a:rPr>
              <a:t>j </a:t>
            </a:r>
            <a:r>
              <a:rPr lang="zh-CN" altLang="en-US" sz="2800" dirty="0">
                <a:solidFill>
                  <a:srgbClr val="000000"/>
                </a:solidFill>
                <a:ea typeface="楷体_GB2312" pitchFamily="49" charset="-122"/>
              </a:rPr>
              <a:t>列放置一个棋子</a:t>
            </a:r>
            <a:r>
              <a:rPr lang="en-US" altLang="zh-CN" sz="2800" dirty="0">
                <a:solidFill>
                  <a:srgbClr val="000000"/>
                </a:solidFill>
                <a:ea typeface="楷体_GB2312" pitchFamily="49" charset="-122"/>
              </a:rPr>
              <a:t>;</a:t>
            </a:r>
          </a:p>
          <a:p>
            <a:pPr>
              <a:lnSpc>
                <a:spcPct val="115000"/>
              </a:lnSpc>
            </a:pPr>
            <a:r>
              <a:rPr lang="en-US" altLang="zh-CN" sz="2800" dirty="0">
                <a:solidFill>
                  <a:srgbClr val="000000"/>
                </a:solidFill>
                <a:ea typeface="楷体_GB2312" pitchFamily="49" charset="-122"/>
              </a:rPr>
              <a:t>              if (</a:t>
            </a:r>
            <a:r>
              <a:rPr lang="zh-CN" altLang="en-US" sz="2800" dirty="0">
                <a:solidFill>
                  <a:srgbClr val="000000"/>
                </a:solidFill>
                <a:ea typeface="楷体_GB2312" pitchFamily="49" charset="-122"/>
              </a:rPr>
              <a:t>当前布局合法</a:t>
            </a:r>
            <a:r>
              <a:rPr lang="en-US" altLang="zh-CN" sz="2800" dirty="0">
                <a:solidFill>
                  <a:srgbClr val="000000"/>
                </a:solidFill>
                <a:ea typeface="楷体_GB2312" pitchFamily="49" charset="-122"/>
              </a:rPr>
              <a:t>) queen(i+1, n);</a:t>
            </a:r>
          </a:p>
          <a:p>
            <a:pPr>
              <a:lnSpc>
                <a:spcPct val="115000"/>
              </a:lnSpc>
            </a:pPr>
            <a:r>
              <a:rPr lang="en-US" altLang="zh-CN" sz="2800" dirty="0">
                <a:solidFill>
                  <a:srgbClr val="000000"/>
                </a:solidFill>
                <a:ea typeface="楷体_GB2312" pitchFamily="49" charset="-122"/>
              </a:rPr>
              <a:t>              </a:t>
            </a:r>
            <a:r>
              <a:rPr lang="zh-CN" altLang="en-US" sz="2800" dirty="0">
                <a:solidFill>
                  <a:srgbClr val="000000"/>
                </a:solidFill>
                <a:ea typeface="楷体_GB2312" pitchFamily="49" charset="-122"/>
              </a:rPr>
              <a:t>移去第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zh-CN" altLang="en-US" sz="2800" dirty="0">
                <a:solidFill>
                  <a:srgbClr val="000000"/>
                </a:solidFill>
                <a:ea typeface="楷体_GB2312" pitchFamily="49" charset="-122"/>
              </a:rPr>
              <a:t>行第 </a:t>
            </a:r>
            <a:r>
              <a:rPr lang="en-US" altLang="zh-CN" sz="2800" dirty="0">
                <a:solidFill>
                  <a:srgbClr val="000000"/>
                </a:solidFill>
                <a:ea typeface="楷体_GB2312" pitchFamily="49" charset="-122"/>
              </a:rPr>
              <a:t>j </a:t>
            </a:r>
            <a:r>
              <a:rPr lang="zh-CN" altLang="en-US" sz="2800" dirty="0">
                <a:solidFill>
                  <a:srgbClr val="000000"/>
                </a:solidFill>
                <a:ea typeface="楷体_GB2312" pitchFamily="49" charset="-122"/>
              </a:rPr>
              <a:t>列的棋子</a:t>
            </a:r>
            <a:r>
              <a:rPr lang="en-US" altLang="zh-CN" sz="2800" dirty="0">
                <a:solidFill>
                  <a:srgbClr val="000000"/>
                </a:solidFill>
                <a:ea typeface="楷体_GB2312" pitchFamily="49" charset="-122"/>
              </a:rPr>
              <a:t>;</a:t>
            </a:r>
          </a:p>
          <a:p>
            <a:pPr>
              <a:lnSpc>
                <a:spcPct val="115000"/>
              </a:lnSpc>
            </a:pPr>
            <a:r>
              <a:rPr lang="en-US" altLang="zh-CN" sz="2800" dirty="0">
                <a:solidFill>
                  <a:srgbClr val="000000"/>
                </a:solidFill>
                <a:ea typeface="楷体_GB2312" pitchFamily="49" charset="-122"/>
              </a:rPr>
              <a:t>          }</a:t>
            </a:r>
          </a:p>
          <a:p>
            <a:pPr>
              <a:lnSpc>
                <a:spcPct val="115000"/>
              </a:lnSpc>
            </a:pPr>
            <a:r>
              <a:rPr lang="en-US" altLang="zh-CN" sz="2800" dirty="0">
                <a:solidFill>
                  <a:srgbClr val="000000"/>
                </a:solidFill>
                <a:ea typeface="楷体_GB2312" pitchFamily="49" charset="-122"/>
              </a:rPr>
              <a:t>}</a:t>
            </a:r>
          </a:p>
        </p:txBody>
      </p:sp>
      <p:sp>
        <p:nvSpPr>
          <p:cNvPr id="4"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381902559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灯片编号占位符 3"/>
          <p:cNvSpPr>
            <a:spLocks noGrp="1"/>
          </p:cNvSpPr>
          <p:nvPr>
            <p:ph type="sldNum" sz="quarter" idx="12"/>
          </p:nvPr>
        </p:nvSpPr>
        <p:spPr>
          <a:noFill/>
        </p:spPr>
        <p:txBody>
          <a:bodyPr/>
          <a:lstStyle/>
          <a:p>
            <a:fld id="{538519D6-7AC3-457B-9D5A-4BFA0500A84F}" type="slidenum">
              <a:rPr lang="en-US" altLang="zh-CN"/>
              <a:pPr/>
              <a:t>90</a:t>
            </a:fld>
            <a:endParaRPr lang="en-US" altLang="zh-CN"/>
          </a:p>
        </p:txBody>
      </p:sp>
      <p:sp>
        <p:nvSpPr>
          <p:cNvPr id="98307" name="Text Box 2"/>
          <p:cNvSpPr txBox="1">
            <a:spLocks noChangeArrowheads="1"/>
          </p:cNvSpPr>
          <p:nvPr/>
        </p:nvSpPr>
        <p:spPr bwMode="auto">
          <a:xfrm>
            <a:off x="304800" y="1428750"/>
            <a:ext cx="8839200" cy="5133713"/>
          </a:xfrm>
          <a:prstGeom prst="rect">
            <a:avLst/>
          </a:prstGeom>
          <a:noFill/>
          <a:ln w="9525">
            <a:noFill/>
            <a:miter lim="800000"/>
            <a:headEnd/>
            <a:tailEnd/>
          </a:ln>
        </p:spPr>
        <p:txBody>
          <a:bodyPr>
            <a:spAutoFit/>
          </a:bodyPr>
          <a:lstStyle/>
          <a:p>
            <a:pPr>
              <a:lnSpc>
                <a:spcPct val="90000"/>
              </a:lnSpc>
            </a:pP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m=0,a[n];           </a:t>
            </a:r>
            <a:r>
              <a:rPr lang="en-US" altLang="zh-CN" dirty="0">
                <a:solidFill>
                  <a:srgbClr val="006600"/>
                </a:solidFill>
                <a:ea typeface="楷体_GB2312" pitchFamily="49" charset="-122"/>
              </a:rPr>
              <a:t>                    </a:t>
            </a:r>
            <a:r>
              <a:rPr lang="en-US" altLang="zh-CN" sz="2800" dirty="0">
                <a:solidFill>
                  <a:srgbClr val="000000"/>
                </a:solidFill>
                <a:ea typeface="楷体_GB2312" pitchFamily="49" charset="-122"/>
              </a:rPr>
              <a:t> </a:t>
            </a:r>
            <a:r>
              <a:rPr lang="en-US" altLang="zh-CN" dirty="0">
                <a:solidFill>
                  <a:srgbClr val="006600"/>
                </a:solidFill>
                <a:ea typeface="楷体_GB2312" pitchFamily="49" charset="-122"/>
              </a:rPr>
              <a:t>// a[</a:t>
            </a:r>
            <a:r>
              <a:rPr lang="en-US" altLang="zh-CN" dirty="0" err="1">
                <a:solidFill>
                  <a:srgbClr val="006600"/>
                </a:solidFill>
                <a:ea typeface="楷体_GB2312" pitchFamily="49" charset="-122"/>
              </a:rPr>
              <a:t>i</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存放第</a:t>
            </a:r>
            <a:r>
              <a:rPr lang="en-US" altLang="zh-CN" dirty="0" err="1">
                <a:solidFill>
                  <a:srgbClr val="006600"/>
                </a:solidFill>
                <a:ea typeface="楷体_GB2312" pitchFamily="49" charset="-122"/>
              </a:rPr>
              <a:t>i</a:t>
            </a:r>
            <a:r>
              <a:rPr lang="zh-CN" altLang="en-US" dirty="0">
                <a:solidFill>
                  <a:srgbClr val="006600"/>
                </a:solidFill>
                <a:ea typeface="楷体_GB2312" pitchFamily="49" charset="-122"/>
              </a:rPr>
              <a:t>个皇后放置的行号</a:t>
            </a:r>
            <a:endParaRPr lang="en-US" altLang="zh-CN" dirty="0">
              <a:solidFill>
                <a:srgbClr val="006600"/>
              </a:solidFill>
              <a:ea typeface="楷体_GB2312" pitchFamily="49" charset="-122"/>
            </a:endParaRPr>
          </a:p>
          <a:p>
            <a:pPr>
              <a:lnSpc>
                <a:spcPct val="90000"/>
              </a:lnSpc>
            </a:pP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ok(</a:t>
            </a: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j)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检查</a:t>
            </a:r>
            <a:r>
              <a:rPr lang="en-US" altLang="zh-CN" dirty="0">
                <a:solidFill>
                  <a:srgbClr val="006600"/>
                </a:solidFill>
                <a:ea typeface="楷体_GB2312" pitchFamily="49" charset="-122"/>
              </a:rPr>
              <a:t>(</a:t>
            </a:r>
            <a:r>
              <a:rPr lang="en-US" altLang="zh-CN" dirty="0" err="1">
                <a:solidFill>
                  <a:srgbClr val="006600"/>
                </a:solidFill>
                <a:ea typeface="楷体_GB2312" pitchFamily="49" charset="-122"/>
              </a:rPr>
              <a:t>i,j</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上能否放棋子</a:t>
            </a:r>
          </a:p>
          <a:p>
            <a:pPr>
              <a:lnSpc>
                <a:spcPct val="90000"/>
              </a:lnSpc>
            </a:pPr>
            <a:r>
              <a:rPr lang="en-US" altLang="zh-CN" sz="2800" dirty="0">
                <a:solidFill>
                  <a:srgbClr val="000000"/>
                </a:solidFill>
                <a:ea typeface="楷体_GB2312" pitchFamily="49" charset="-122"/>
              </a:rPr>
              <a:t>{  j1=j; i1=</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ok1=1;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检查第</a:t>
            </a:r>
            <a:r>
              <a:rPr lang="en-US" altLang="zh-CN" dirty="0" err="1">
                <a:solidFill>
                  <a:srgbClr val="006600"/>
                </a:solidFill>
                <a:ea typeface="楷体_GB2312" pitchFamily="49" charset="-122"/>
              </a:rPr>
              <a:t>i</a:t>
            </a:r>
            <a:r>
              <a:rPr lang="zh-CN" altLang="en-US" dirty="0">
                <a:solidFill>
                  <a:srgbClr val="006600"/>
                </a:solidFill>
                <a:ea typeface="楷体_GB2312" pitchFamily="49" charset="-122"/>
              </a:rPr>
              <a:t>行上能否放棋子</a:t>
            </a:r>
          </a:p>
          <a:p>
            <a:pPr>
              <a:lnSpc>
                <a:spcPct val="90000"/>
              </a:lnSpc>
            </a:pPr>
            <a:r>
              <a:rPr lang="zh-CN" altLang="en-US" sz="2800" dirty="0">
                <a:solidFill>
                  <a:srgbClr val="000000"/>
                </a:solidFill>
                <a:ea typeface="楷体_GB2312" pitchFamily="49" charset="-122"/>
              </a:rPr>
              <a:t>  </a:t>
            </a:r>
            <a:r>
              <a:rPr lang="en-US" altLang="zh-CN" sz="2800" dirty="0">
                <a:solidFill>
                  <a:srgbClr val="000000"/>
                </a:solidFill>
                <a:ea typeface="楷体_GB2312" pitchFamily="49" charset="-122"/>
              </a:rPr>
              <a:t>while( (j1&gt;1)&amp;&amp;ok1)</a:t>
            </a:r>
          </a:p>
          <a:p>
            <a:pPr>
              <a:lnSpc>
                <a:spcPct val="90000"/>
              </a:lnSpc>
            </a:pPr>
            <a:r>
              <a:rPr lang="en-US" altLang="zh-CN" sz="2800" dirty="0">
                <a:solidFill>
                  <a:srgbClr val="000000"/>
                </a:solidFill>
                <a:ea typeface="楷体_GB2312" pitchFamily="49" charset="-122"/>
              </a:rPr>
              <a:t>       {j1--;         ok1=a[j1]!=</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a:t>
            </a:r>
            <a:r>
              <a:rPr lang="en-US" altLang="zh-CN" sz="2800" dirty="0">
                <a:solidFill>
                  <a:srgbClr val="000000"/>
                </a:solidFill>
                <a:ea typeface="楷体_GB2312" pitchFamily="49" charset="-122"/>
              </a:rPr>
              <a:t>}</a:t>
            </a:r>
            <a:endParaRPr lang="zh-CN" altLang="zh-CN" sz="2800" dirty="0">
              <a:solidFill>
                <a:srgbClr val="000000"/>
              </a:solidFill>
              <a:ea typeface="楷体_GB2312" pitchFamily="49" charset="-122"/>
            </a:endParaRPr>
          </a:p>
          <a:p>
            <a:pPr>
              <a:lnSpc>
                <a:spcPct val="90000"/>
              </a:lnSpc>
            </a:pPr>
            <a:r>
              <a:rPr lang="zh-CN" altLang="zh-CN" sz="2800" dirty="0">
                <a:solidFill>
                  <a:srgbClr val="000000"/>
                </a:solidFill>
                <a:ea typeface="楷体_GB2312" pitchFamily="49" charset="-122"/>
              </a:rPr>
              <a:t> </a:t>
            </a:r>
            <a:r>
              <a:rPr lang="en-US" altLang="zh-CN" sz="2800" dirty="0">
                <a:solidFill>
                  <a:srgbClr val="000000"/>
                </a:solidFill>
                <a:ea typeface="楷体_GB2312" pitchFamily="49" charset="-122"/>
              </a:rPr>
              <a:t>  j1=j; i1=</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检查对角线上能否放棋子</a:t>
            </a:r>
          </a:p>
          <a:p>
            <a:pPr>
              <a:lnSpc>
                <a:spcPct val="90000"/>
              </a:lnSpc>
            </a:pPr>
            <a:r>
              <a:rPr lang="zh-CN" altLang="en-US" sz="2800" dirty="0">
                <a:solidFill>
                  <a:srgbClr val="000000"/>
                </a:solidFill>
                <a:ea typeface="楷体_GB2312" pitchFamily="49" charset="-122"/>
              </a:rPr>
              <a:t>  </a:t>
            </a:r>
            <a:r>
              <a:rPr lang="en-US" altLang="zh-CN" sz="2800" dirty="0">
                <a:solidFill>
                  <a:srgbClr val="000000"/>
                </a:solidFill>
                <a:ea typeface="楷体_GB2312" pitchFamily="49" charset="-122"/>
              </a:rPr>
              <a:t>while( (j1&gt;1)&amp;&amp;(i1&gt;1)&amp;&amp;ok1) </a:t>
            </a:r>
          </a:p>
          <a:p>
            <a:pPr>
              <a:lnSpc>
                <a:spcPct val="90000"/>
              </a:lnSpc>
            </a:pPr>
            <a:r>
              <a:rPr lang="en-US" altLang="zh-CN" sz="2800" dirty="0">
                <a:solidFill>
                  <a:srgbClr val="000000"/>
                </a:solidFill>
                <a:ea typeface="楷体_GB2312" pitchFamily="49" charset="-122"/>
              </a:rPr>
              <a:t>       {j1--; i1--; ok1=a[j1]!=i1 </a:t>
            </a:r>
            <a:r>
              <a:rPr lang="zh-CN" altLang="zh-CN" sz="2800" dirty="0">
                <a:solidFill>
                  <a:srgbClr val="000000"/>
                </a:solidFill>
                <a:ea typeface="楷体_GB2312" pitchFamily="49" charset="-122"/>
              </a:rPr>
              <a:t>;</a:t>
            </a:r>
            <a:r>
              <a:rPr lang="en-US" altLang="zh-CN" sz="2800" dirty="0">
                <a:solidFill>
                  <a:srgbClr val="000000"/>
                </a:solidFill>
                <a:ea typeface="楷体_GB2312" pitchFamily="49" charset="-122"/>
              </a:rPr>
              <a:t>} </a:t>
            </a:r>
          </a:p>
          <a:p>
            <a:pPr>
              <a:lnSpc>
                <a:spcPct val="90000"/>
              </a:lnSpc>
            </a:pPr>
            <a:r>
              <a:rPr lang="en-US" altLang="zh-CN" sz="2800" dirty="0">
                <a:solidFill>
                  <a:srgbClr val="000000"/>
                </a:solidFill>
                <a:ea typeface="楷体_GB2312" pitchFamily="49" charset="-122"/>
              </a:rPr>
              <a:t>   j1=j; i1=</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检查另一对角线上能否放棋子</a:t>
            </a:r>
          </a:p>
          <a:p>
            <a:pPr>
              <a:lnSpc>
                <a:spcPct val="90000"/>
              </a:lnSpc>
            </a:pPr>
            <a:r>
              <a:rPr lang="zh-CN" altLang="en-US" sz="2800" dirty="0">
                <a:solidFill>
                  <a:srgbClr val="000000"/>
                </a:solidFill>
                <a:ea typeface="楷体_GB2312" pitchFamily="49" charset="-122"/>
              </a:rPr>
              <a:t>   </a:t>
            </a:r>
            <a:r>
              <a:rPr lang="en-US" altLang="zh-CN" sz="2800" dirty="0">
                <a:solidFill>
                  <a:srgbClr val="000000"/>
                </a:solidFill>
                <a:ea typeface="楷体_GB2312" pitchFamily="49" charset="-122"/>
              </a:rPr>
              <a:t>while( (j1&gt;1)&amp;&amp;(i1&lt;n)&amp;&amp;ok1) </a:t>
            </a:r>
          </a:p>
          <a:p>
            <a:pPr>
              <a:lnSpc>
                <a:spcPct val="90000"/>
              </a:lnSpc>
            </a:pPr>
            <a:r>
              <a:rPr lang="en-US" altLang="zh-CN" sz="2800" dirty="0">
                <a:solidFill>
                  <a:srgbClr val="000000"/>
                </a:solidFill>
                <a:ea typeface="楷体_GB2312" pitchFamily="49" charset="-122"/>
              </a:rPr>
              <a:t>         {j1--; i1++; ok1=a[j1]!=i1 </a:t>
            </a:r>
            <a:r>
              <a:rPr lang="zh-CN" altLang="zh-CN" sz="2800" dirty="0">
                <a:solidFill>
                  <a:srgbClr val="000000"/>
                </a:solidFill>
                <a:ea typeface="楷体_GB2312" pitchFamily="49" charset="-122"/>
              </a:rPr>
              <a:t>;</a:t>
            </a:r>
            <a:r>
              <a:rPr lang="en-US" altLang="zh-CN" sz="2800" dirty="0">
                <a:solidFill>
                  <a:srgbClr val="000000"/>
                </a:solidFill>
                <a:ea typeface="楷体_GB2312" pitchFamily="49" charset="-122"/>
              </a:rPr>
              <a:t>}</a:t>
            </a:r>
          </a:p>
          <a:p>
            <a:pPr>
              <a:lnSpc>
                <a:spcPct val="90000"/>
              </a:lnSpc>
            </a:pPr>
            <a:r>
              <a:rPr lang="en-US" altLang="zh-CN" sz="2800" dirty="0">
                <a:solidFill>
                  <a:srgbClr val="000000"/>
                </a:solidFill>
                <a:ea typeface="楷体_GB2312" pitchFamily="49" charset="-122"/>
              </a:rPr>
              <a:t>   return  ok1</a:t>
            </a:r>
          </a:p>
          <a:p>
            <a:pPr>
              <a:lnSpc>
                <a:spcPct val="90000"/>
              </a:lnSpc>
            </a:pPr>
            <a:r>
              <a:rPr lang="en-US" altLang="zh-CN" sz="2800" dirty="0">
                <a:solidFill>
                  <a:srgbClr val="000000"/>
                </a:solidFill>
                <a:ea typeface="楷体_GB2312" pitchFamily="49" charset="-122"/>
              </a:rPr>
              <a:t>}</a:t>
            </a:r>
          </a:p>
        </p:txBody>
      </p:sp>
      <p:sp>
        <p:nvSpPr>
          <p:cNvPr id="4"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926421085"/>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noFill/>
        </p:spPr>
        <p:txBody>
          <a:bodyPr/>
          <a:lstStyle/>
          <a:p>
            <a:fld id="{04DFD1BD-F3D7-4502-B40D-4513AFC53BD0}" type="slidenum">
              <a:rPr lang="en-US" altLang="zh-CN"/>
              <a:pPr/>
              <a:t>91</a:t>
            </a:fld>
            <a:endParaRPr lang="en-US" altLang="zh-CN"/>
          </a:p>
        </p:txBody>
      </p:sp>
      <p:sp>
        <p:nvSpPr>
          <p:cNvPr id="99331" name="Text Box 2"/>
          <p:cNvSpPr txBox="1">
            <a:spLocks noChangeArrowheads="1"/>
          </p:cNvSpPr>
          <p:nvPr/>
        </p:nvSpPr>
        <p:spPr bwMode="auto">
          <a:xfrm>
            <a:off x="533400" y="1473200"/>
            <a:ext cx="8610600" cy="5133713"/>
          </a:xfrm>
          <a:prstGeom prst="rect">
            <a:avLst/>
          </a:prstGeom>
          <a:noFill/>
          <a:ln w="9525">
            <a:noFill/>
            <a:miter lim="800000"/>
            <a:headEnd/>
            <a:tailEnd/>
          </a:ln>
        </p:spPr>
        <p:txBody>
          <a:bodyPr>
            <a:spAutoFit/>
          </a:bodyPr>
          <a:lstStyle/>
          <a:p>
            <a:pPr>
              <a:lnSpc>
                <a:spcPct val="90000"/>
              </a:lnSpc>
            </a:pPr>
            <a:r>
              <a:rPr lang="en-US" altLang="zh-CN" sz="2800" dirty="0">
                <a:solidFill>
                  <a:srgbClr val="000000"/>
                </a:solidFill>
                <a:ea typeface="楷体_GB2312" pitchFamily="49" charset="-122"/>
              </a:rPr>
              <a:t>Void  queen(</a:t>
            </a:r>
            <a:r>
              <a:rPr lang="en-US" altLang="zh-CN" sz="2800" dirty="0" err="1">
                <a:solidFill>
                  <a:srgbClr val="000000"/>
                </a:solidFill>
                <a:ea typeface="楷体_GB2312" pitchFamily="49" charset="-122"/>
              </a:rPr>
              <a:t>int</a:t>
            </a:r>
            <a:r>
              <a:rPr lang="en-US" altLang="zh-CN" sz="2800" dirty="0">
                <a:solidFill>
                  <a:srgbClr val="000000"/>
                </a:solidFill>
                <a:ea typeface="楷体_GB2312" pitchFamily="49" charset="-122"/>
              </a:rPr>
              <a:t> j)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从第</a:t>
            </a:r>
            <a:r>
              <a:rPr lang="en-US" altLang="zh-CN" dirty="0">
                <a:solidFill>
                  <a:srgbClr val="006600"/>
                </a:solidFill>
                <a:ea typeface="楷体_GB2312" pitchFamily="49" charset="-122"/>
              </a:rPr>
              <a:t>j</a:t>
            </a:r>
            <a:r>
              <a:rPr lang="zh-CN" altLang="en-US" dirty="0">
                <a:solidFill>
                  <a:srgbClr val="006600"/>
                </a:solidFill>
                <a:ea typeface="楷体_GB2312" pitchFamily="49" charset="-122"/>
              </a:rPr>
              <a:t>列开始逐个试探</a:t>
            </a:r>
          </a:p>
          <a:p>
            <a:pPr>
              <a:lnSpc>
                <a:spcPct val="90000"/>
              </a:lnSpc>
            </a:pPr>
            <a:r>
              <a:rPr lang="en-US" altLang="zh-CN" sz="2800" dirty="0">
                <a:solidFill>
                  <a:srgbClr val="000000"/>
                </a:solidFill>
                <a:ea typeface="楷体_GB2312" pitchFamily="49" charset="-122"/>
              </a:rPr>
              <a:t>{  if (j&gt;n) </a:t>
            </a:r>
          </a:p>
          <a:p>
            <a:pPr>
              <a:lnSpc>
                <a:spcPct val="90000"/>
              </a:lnSpc>
            </a:pP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 m++;</a:t>
            </a: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printf("m=%d   ",m);</a:t>
            </a:r>
          </a:p>
          <a:p>
            <a:pPr>
              <a:lnSpc>
                <a:spcPct val="90000"/>
              </a:lnSpc>
            </a:pP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for (i=1;i&lt;=n;i++)  printf("    %d",a[i]);</a:t>
            </a:r>
          </a:p>
          <a:p>
            <a:pPr>
              <a:lnSpc>
                <a:spcPct val="90000"/>
              </a:lnSpc>
            </a:pP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printf(“\n”);</a:t>
            </a:r>
            <a:endParaRPr lang="en-US" altLang="zh-CN" sz="2800" dirty="0">
              <a:solidFill>
                <a:srgbClr val="000000"/>
              </a:solidFill>
              <a:ea typeface="楷体_GB2312" pitchFamily="49" charset="-122"/>
            </a:endParaRPr>
          </a:p>
          <a:p>
            <a:pPr>
              <a:lnSpc>
                <a:spcPct val="90000"/>
              </a:lnSpc>
            </a:pPr>
            <a:r>
              <a:rPr lang="en-US" altLang="zh-CN" sz="2800" dirty="0">
                <a:solidFill>
                  <a:srgbClr val="000000"/>
                </a:solidFill>
                <a:ea typeface="楷体_GB2312" pitchFamily="49" charset="-122"/>
              </a:rPr>
              <a:t>       </a:t>
            </a:r>
            <a:r>
              <a:rPr lang="zh-CN" altLang="zh-CN" sz="2800" dirty="0">
                <a:solidFill>
                  <a:srgbClr val="000000"/>
                </a:solidFill>
                <a:ea typeface="楷体_GB2312" pitchFamily="49" charset="-122"/>
              </a:rPr>
              <a:t>} </a:t>
            </a:r>
            <a:r>
              <a:rPr lang="en-US" altLang="zh-CN" sz="2800" dirty="0">
                <a:solidFill>
                  <a:srgbClr val="000000"/>
                </a:solidFill>
                <a:ea typeface="楷体_GB2312" pitchFamily="49" charset="-122"/>
              </a:rPr>
              <a:t>   </a:t>
            </a:r>
          </a:p>
          <a:p>
            <a:pPr>
              <a:lnSpc>
                <a:spcPct val="90000"/>
              </a:lnSpc>
            </a:pPr>
            <a:r>
              <a:rPr lang="en-US" altLang="zh-CN" sz="2800" dirty="0">
                <a:solidFill>
                  <a:srgbClr val="000000"/>
                </a:solidFill>
                <a:ea typeface="楷体_GB2312" pitchFamily="49" charset="-122"/>
              </a:rPr>
              <a:t>   else  for(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=1; </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&lt;=</a:t>
            </a:r>
            <a:r>
              <a:rPr lang="en-US" altLang="zh-CN" sz="2800" dirty="0" err="1">
                <a:solidFill>
                  <a:srgbClr val="000000"/>
                </a:solidFill>
                <a:ea typeface="楷体_GB2312" pitchFamily="49" charset="-122"/>
              </a:rPr>
              <a:t>n;i</a:t>
            </a:r>
            <a:r>
              <a:rPr lang="en-US" altLang="zh-CN" sz="2800" dirty="0">
                <a:solidFill>
                  <a:srgbClr val="000000"/>
                </a:solidFill>
                <a:ea typeface="楷体_GB2312" pitchFamily="49" charset="-122"/>
              </a:rPr>
              <a:t>++)</a:t>
            </a:r>
          </a:p>
          <a:p>
            <a:pPr>
              <a:lnSpc>
                <a:spcPct val="90000"/>
              </a:lnSpc>
            </a:pPr>
            <a:r>
              <a:rPr lang="en-US" altLang="zh-CN" sz="2800" dirty="0">
                <a:solidFill>
                  <a:srgbClr val="000000"/>
                </a:solidFill>
                <a:ea typeface="楷体_GB2312" pitchFamily="49" charset="-122"/>
              </a:rPr>
              <a:t>             if(ok(</a:t>
            </a:r>
            <a:r>
              <a:rPr lang="en-US" altLang="zh-CN" sz="2800" dirty="0" err="1">
                <a:solidFill>
                  <a:srgbClr val="000000"/>
                </a:solidFill>
                <a:ea typeface="楷体_GB2312" pitchFamily="49" charset="-122"/>
              </a:rPr>
              <a:t>i,j</a:t>
            </a:r>
            <a:r>
              <a:rPr lang="en-US" altLang="zh-CN" sz="2800" dirty="0">
                <a:solidFill>
                  <a:srgbClr val="000000"/>
                </a:solidFill>
                <a:ea typeface="楷体_GB2312" pitchFamily="49" charset="-122"/>
              </a:rPr>
              <a:t>))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检查</a:t>
            </a:r>
            <a:r>
              <a:rPr lang="en-US" altLang="zh-CN" dirty="0">
                <a:solidFill>
                  <a:srgbClr val="006600"/>
                </a:solidFill>
                <a:ea typeface="楷体_GB2312" pitchFamily="49" charset="-122"/>
              </a:rPr>
              <a:t>(</a:t>
            </a:r>
            <a:r>
              <a:rPr lang="en-US" altLang="zh-CN" dirty="0" err="1">
                <a:solidFill>
                  <a:srgbClr val="006600"/>
                </a:solidFill>
                <a:ea typeface="楷体_GB2312" pitchFamily="49" charset="-122"/>
              </a:rPr>
              <a:t>i,j</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上能否放棋子</a:t>
            </a:r>
          </a:p>
          <a:p>
            <a:pPr>
              <a:lnSpc>
                <a:spcPct val="90000"/>
              </a:lnSpc>
            </a:pPr>
            <a:r>
              <a:rPr lang="zh-CN" altLang="en-US" sz="2800" dirty="0">
                <a:solidFill>
                  <a:srgbClr val="000000"/>
                </a:solidFill>
                <a:ea typeface="楷体_GB2312" pitchFamily="49" charset="-122"/>
              </a:rPr>
              <a:t>                </a:t>
            </a:r>
            <a:r>
              <a:rPr lang="en-US" altLang="zh-CN" sz="2800" dirty="0">
                <a:solidFill>
                  <a:srgbClr val="000000"/>
                </a:solidFill>
                <a:ea typeface="楷体_GB2312" pitchFamily="49" charset="-122"/>
              </a:rPr>
              <a:t>{ a[j]=</a:t>
            </a:r>
            <a:r>
              <a:rPr lang="en-US" altLang="zh-CN" sz="2800" dirty="0" err="1">
                <a:solidFill>
                  <a:srgbClr val="000000"/>
                </a:solidFill>
                <a:ea typeface="楷体_GB2312" pitchFamily="49" charset="-122"/>
              </a:rPr>
              <a:t>i</a:t>
            </a:r>
            <a:r>
              <a:rPr lang="en-US" altLang="zh-CN" sz="2800" dirty="0">
                <a:solidFill>
                  <a:srgbClr val="000000"/>
                </a:solidFill>
                <a:ea typeface="楷体_GB2312" pitchFamily="49" charset="-122"/>
              </a:rPr>
              <a:t>;                  </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在</a:t>
            </a:r>
            <a:r>
              <a:rPr lang="en-US" altLang="zh-CN" dirty="0">
                <a:solidFill>
                  <a:srgbClr val="006600"/>
                </a:solidFill>
                <a:ea typeface="楷体_GB2312" pitchFamily="49" charset="-122"/>
              </a:rPr>
              <a:t>(</a:t>
            </a:r>
            <a:r>
              <a:rPr lang="en-US" altLang="zh-CN" dirty="0" err="1">
                <a:solidFill>
                  <a:srgbClr val="006600"/>
                </a:solidFill>
                <a:ea typeface="楷体_GB2312" pitchFamily="49" charset="-122"/>
              </a:rPr>
              <a:t>i,j</a:t>
            </a:r>
            <a:r>
              <a:rPr lang="en-US" altLang="zh-CN" dirty="0">
                <a:solidFill>
                  <a:srgbClr val="006600"/>
                </a:solidFill>
                <a:ea typeface="楷体_GB2312" pitchFamily="49" charset="-122"/>
              </a:rPr>
              <a:t>)</a:t>
            </a:r>
            <a:r>
              <a:rPr lang="zh-CN" altLang="en-US" dirty="0">
                <a:solidFill>
                  <a:srgbClr val="006600"/>
                </a:solidFill>
                <a:ea typeface="楷体_GB2312" pitchFamily="49" charset="-122"/>
              </a:rPr>
              <a:t>上放一个棋子</a:t>
            </a:r>
          </a:p>
          <a:p>
            <a:pPr>
              <a:lnSpc>
                <a:spcPct val="90000"/>
              </a:lnSpc>
            </a:pPr>
            <a:r>
              <a:rPr lang="zh-CN" altLang="en-US" sz="2800" dirty="0">
                <a:solidFill>
                  <a:srgbClr val="000000"/>
                </a:solidFill>
                <a:ea typeface="楷体_GB2312" pitchFamily="49" charset="-122"/>
              </a:rPr>
              <a:t>                   </a:t>
            </a:r>
            <a:r>
              <a:rPr lang="en-US" altLang="zh-CN" sz="2800" dirty="0">
                <a:solidFill>
                  <a:srgbClr val="000000"/>
                </a:solidFill>
                <a:ea typeface="楷体_GB2312" pitchFamily="49" charset="-122"/>
              </a:rPr>
              <a:t>queen(j+1) </a:t>
            </a:r>
            <a:r>
              <a:rPr lang="zh-CN" altLang="zh-CN" sz="2800" dirty="0">
                <a:solidFill>
                  <a:srgbClr val="000000"/>
                </a:solidFill>
                <a:ea typeface="楷体_GB2312" pitchFamily="49" charset="-122"/>
              </a:rPr>
              <a:t>;</a:t>
            </a:r>
            <a:r>
              <a:rPr lang="en-US" altLang="zh-CN" sz="2800" dirty="0">
                <a:solidFill>
                  <a:srgbClr val="000000"/>
                </a:solidFill>
                <a:ea typeface="楷体_GB2312" pitchFamily="49" charset="-122"/>
              </a:rPr>
              <a:t> } </a:t>
            </a:r>
          </a:p>
          <a:p>
            <a:pPr>
              <a:lnSpc>
                <a:spcPct val="90000"/>
              </a:lnSpc>
            </a:pPr>
            <a:r>
              <a:rPr lang="en-US" altLang="zh-CN" sz="2800" dirty="0">
                <a:solidFill>
                  <a:srgbClr val="000000"/>
                </a:solidFill>
                <a:ea typeface="楷体_GB2312" pitchFamily="49" charset="-122"/>
              </a:rPr>
              <a:t>}</a:t>
            </a:r>
          </a:p>
          <a:p>
            <a:pPr>
              <a:lnSpc>
                <a:spcPct val="90000"/>
              </a:lnSpc>
            </a:pPr>
            <a:r>
              <a:rPr lang="en-US" altLang="zh-CN" sz="2800" dirty="0">
                <a:solidFill>
                  <a:srgbClr val="000000"/>
                </a:solidFill>
                <a:ea typeface="楷体_GB2312" pitchFamily="49" charset="-122"/>
              </a:rPr>
              <a:t>main()</a:t>
            </a:r>
          </a:p>
          <a:p>
            <a:pPr>
              <a:lnSpc>
                <a:spcPct val="90000"/>
              </a:lnSpc>
            </a:pPr>
            <a:r>
              <a:rPr lang="en-US" altLang="zh-CN" sz="2800" dirty="0">
                <a:solidFill>
                  <a:srgbClr val="000000"/>
                </a:solidFill>
                <a:ea typeface="楷体_GB2312" pitchFamily="49" charset="-122"/>
              </a:rPr>
              <a:t>  {queen(1);}</a:t>
            </a:r>
          </a:p>
        </p:txBody>
      </p:sp>
      <p:sp>
        <p:nvSpPr>
          <p:cNvPr id="4" name="Text Box 4">
            <a:hlinkClick r:id="rId2" action="ppaction://hlinksldjump"/>
          </p:cNvPr>
          <p:cNvSpPr txBox="1">
            <a:spLocks noChangeArrowheads="1"/>
          </p:cNvSpPr>
          <p:nvPr/>
        </p:nvSpPr>
        <p:spPr bwMode="auto">
          <a:xfrm>
            <a:off x="0" y="762000"/>
            <a:ext cx="3690434" cy="584775"/>
          </a:xfrm>
          <a:prstGeom prst="rect">
            <a:avLst/>
          </a:prstGeom>
          <a:noFill/>
          <a:ln w="9525">
            <a:noFill/>
            <a:miter lim="800000"/>
            <a:headEnd/>
            <a:tailEnd/>
          </a:ln>
        </p:spPr>
        <p:txBody>
          <a:bodyPr wrap="none">
            <a:spAutoFit/>
          </a:bodyPr>
          <a:lstStyle/>
          <a:p>
            <a:pPr eaLnBrk="0" hangingPunct="0"/>
            <a:r>
              <a:rPr lang="en-US" altLang="zh-CN" sz="3200" b="1" dirty="0">
                <a:solidFill>
                  <a:schemeClr val="bg1">
                    <a:lumMod val="10000"/>
                  </a:schemeClr>
                </a:solidFill>
                <a:latin typeface="楷体_GB2312" pitchFamily="49" charset="-122"/>
                <a:ea typeface="楷体_GB2312" pitchFamily="49" charset="-122"/>
              </a:rPr>
              <a:t>3.2  </a:t>
            </a:r>
            <a:r>
              <a:rPr lang="zh-CN" altLang="en-US" sz="3200" b="1" dirty="0">
                <a:solidFill>
                  <a:schemeClr val="bg1">
                    <a:lumMod val="10000"/>
                  </a:schemeClr>
                </a:solidFill>
                <a:latin typeface="楷体_GB2312" pitchFamily="49" charset="-122"/>
                <a:ea typeface="楷体_GB2312" pitchFamily="49" charset="-122"/>
              </a:rPr>
              <a:t>栈的应用举例</a:t>
            </a:r>
          </a:p>
        </p:txBody>
      </p:sp>
    </p:spTree>
    <p:extLst>
      <p:ext uri="{BB962C8B-B14F-4D97-AF65-F5344CB8AC3E}">
        <p14:creationId xmlns:p14="http://schemas.microsoft.com/office/powerpoint/2010/main" val="3825480423"/>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AE4D36D6-AD84-42F2-80A1-CB991A14D155}" type="slidenum">
              <a:rPr lang="en-US" altLang="zh-CN" sz="1400"/>
              <a:pPr/>
              <a:t>92</a:t>
            </a:fld>
            <a:endParaRPr lang="en-US" altLang="zh-CN" sz="1400"/>
          </a:p>
        </p:txBody>
      </p:sp>
      <p:sp>
        <p:nvSpPr>
          <p:cNvPr id="196610" name="Rectangle 2"/>
          <p:cNvSpPr>
            <a:spLocks noGrp="1" noChangeArrowheads="1"/>
          </p:cNvSpPr>
          <p:nvPr>
            <p:ph type="body" idx="1"/>
          </p:nvPr>
        </p:nvSpPr>
        <p:spPr>
          <a:xfrm>
            <a:off x="476250" y="1719263"/>
            <a:ext cx="8026400" cy="4495800"/>
          </a:xfrm>
        </p:spPr>
        <p:txBody>
          <a:bodyPr/>
          <a:lstStyle/>
          <a:p>
            <a:pPr eaLnBrk="1" hangingPunct="1">
              <a:lnSpc>
                <a:spcPct val="90000"/>
              </a:lnSpc>
            </a:pPr>
            <a:r>
              <a:rPr lang="zh-CN" altLang="en-US" sz="2800" b="1">
                <a:latin typeface="楷体_GB2312" pitchFamily="49" charset="-122"/>
                <a:ea typeface="楷体_GB2312" pitchFamily="49" charset="-122"/>
              </a:rPr>
              <a:t>队列是只允许在表的一端进行插入</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在另一端删除元素的线性表；</a:t>
            </a:r>
          </a:p>
          <a:p>
            <a:pPr eaLnBrk="1" hangingPunct="1">
              <a:lnSpc>
                <a:spcPct val="90000"/>
              </a:lnSpc>
            </a:pPr>
            <a:r>
              <a:rPr lang="zh-CN" altLang="en-US" sz="2800" b="1">
                <a:latin typeface="楷体_GB2312" pitchFamily="49" charset="-122"/>
                <a:ea typeface="楷体_GB2312" pitchFamily="49" charset="-122"/>
              </a:rPr>
              <a:t>允许插入的一端称为</a:t>
            </a:r>
            <a:r>
              <a:rPr lang="zh-CN" altLang="en-US" sz="2800" b="1">
                <a:solidFill>
                  <a:schemeClr val="hlink"/>
                </a:solidFill>
                <a:latin typeface="楷体_GB2312" pitchFamily="49" charset="-122"/>
                <a:ea typeface="楷体_GB2312" pitchFamily="49" charset="-122"/>
              </a:rPr>
              <a:t>队尾</a:t>
            </a:r>
            <a:r>
              <a:rPr lang="en-US" altLang="zh-CN" sz="2800" b="1">
                <a:latin typeface="楷体_GB2312" pitchFamily="49" charset="-122"/>
                <a:ea typeface="楷体_GB2312" pitchFamily="49" charset="-122"/>
              </a:rPr>
              <a:t>(rear);</a:t>
            </a:r>
          </a:p>
          <a:p>
            <a:pPr eaLnBrk="1" hangingPunct="1">
              <a:lnSpc>
                <a:spcPct val="90000"/>
              </a:lnSpc>
            </a:pPr>
            <a:r>
              <a:rPr lang="zh-CN" altLang="en-US" sz="2800" b="1">
                <a:latin typeface="楷体_GB2312" pitchFamily="49" charset="-122"/>
                <a:ea typeface="楷体_GB2312" pitchFamily="49" charset="-122"/>
              </a:rPr>
              <a:t>允许删除的一端称为</a:t>
            </a:r>
            <a:r>
              <a:rPr lang="zh-CN" altLang="en-US" sz="2800" b="1">
                <a:solidFill>
                  <a:schemeClr val="hlink"/>
                </a:solidFill>
                <a:latin typeface="楷体_GB2312" pitchFamily="49" charset="-122"/>
                <a:ea typeface="楷体_GB2312" pitchFamily="49" charset="-122"/>
              </a:rPr>
              <a:t>队头</a:t>
            </a:r>
            <a:r>
              <a:rPr lang="en-US" altLang="zh-CN" sz="2800" b="1">
                <a:latin typeface="楷体_GB2312" pitchFamily="49" charset="-122"/>
                <a:ea typeface="楷体_GB2312" pitchFamily="49" charset="-122"/>
              </a:rPr>
              <a:t>(front)</a:t>
            </a:r>
            <a:r>
              <a:rPr lang="zh-CN" altLang="en-US" sz="2800" b="1">
                <a:latin typeface="楷体_GB2312" pitchFamily="49" charset="-122"/>
                <a:ea typeface="楷体_GB2312" pitchFamily="49" charset="-122"/>
              </a:rPr>
              <a:t>；</a:t>
            </a:r>
          </a:p>
          <a:p>
            <a:pPr eaLnBrk="1" hangingPunct="1">
              <a:lnSpc>
                <a:spcPct val="90000"/>
              </a:lnSpc>
            </a:pPr>
            <a:r>
              <a:rPr lang="zh-CN" altLang="en-US" sz="2800" b="1">
                <a:latin typeface="楷体_GB2312" pitchFamily="49" charset="-122"/>
                <a:ea typeface="楷体_GB2312" pitchFamily="49" charset="-122"/>
              </a:rPr>
              <a:t>假设队列为 </a:t>
            </a:r>
            <a:r>
              <a:rPr lang="en-US" altLang="zh-CN" sz="2800" b="1">
                <a:latin typeface="楷体_GB2312" pitchFamily="49" charset="-122"/>
                <a:ea typeface="楷体_GB2312" pitchFamily="49" charset="-122"/>
              </a:rPr>
              <a:t>Q=(a1,a2,</a:t>
            </a:r>
            <a:r>
              <a:rPr lang="en-US" altLang="zh-CN" sz="2800" b="1">
                <a:ea typeface="楷体_GB2312" pitchFamily="49" charset="-122"/>
              </a:rPr>
              <a:t>…</a:t>
            </a:r>
            <a:r>
              <a:rPr lang="en-US" altLang="zh-CN" sz="2800" b="1">
                <a:latin typeface="楷体_GB2312" pitchFamily="49" charset="-122"/>
                <a:ea typeface="楷体_GB2312" pitchFamily="49" charset="-122"/>
              </a:rPr>
              <a:t>,an),</a:t>
            </a:r>
            <a:r>
              <a:rPr lang="zh-CN" altLang="en-US" sz="2800" b="1">
                <a:latin typeface="楷体_GB2312" pitchFamily="49" charset="-122"/>
                <a:ea typeface="楷体_GB2312" pitchFamily="49" charset="-122"/>
              </a:rPr>
              <a:t>则</a:t>
            </a:r>
            <a:r>
              <a:rPr lang="en-US" altLang="zh-CN" sz="2800" b="1">
                <a:latin typeface="楷体_GB2312" pitchFamily="49" charset="-122"/>
                <a:ea typeface="楷体_GB2312" pitchFamily="49" charset="-122"/>
              </a:rPr>
              <a:t>a1</a:t>
            </a:r>
            <a:r>
              <a:rPr lang="zh-CN" altLang="en-US" sz="2800" b="1">
                <a:latin typeface="楷体_GB2312" pitchFamily="49" charset="-122"/>
                <a:ea typeface="楷体_GB2312" pitchFamily="49" charset="-122"/>
              </a:rPr>
              <a:t>是队头元素，</a:t>
            </a:r>
            <a:r>
              <a:rPr lang="en-US" altLang="zh-CN" sz="2800" b="1">
                <a:latin typeface="楷体_GB2312" pitchFamily="49" charset="-122"/>
                <a:ea typeface="楷体_GB2312" pitchFamily="49" charset="-122"/>
              </a:rPr>
              <a:t>an</a:t>
            </a:r>
            <a:r>
              <a:rPr lang="zh-CN" altLang="en-US" sz="2800" b="1">
                <a:latin typeface="楷体_GB2312" pitchFamily="49" charset="-122"/>
                <a:ea typeface="楷体_GB2312" pitchFamily="49" charset="-122"/>
              </a:rPr>
              <a:t>是队尾元素；</a:t>
            </a:r>
          </a:p>
          <a:p>
            <a:pPr eaLnBrk="1" hangingPunct="1">
              <a:lnSpc>
                <a:spcPct val="90000"/>
              </a:lnSpc>
            </a:pPr>
            <a:r>
              <a:rPr lang="zh-CN" altLang="en-US" sz="2800" b="1">
                <a:latin typeface="楷体_GB2312" pitchFamily="49" charset="-122"/>
                <a:ea typeface="楷体_GB2312" pitchFamily="49" charset="-122"/>
              </a:rPr>
              <a:t>队列中的元素是按照</a:t>
            </a:r>
            <a:r>
              <a:rPr lang="en-US" altLang="zh-CN" sz="2800" b="1">
                <a:latin typeface="楷体_GB2312" pitchFamily="49" charset="-122"/>
                <a:ea typeface="楷体_GB2312" pitchFamily="49" charset="-122"/>
              </a:rPr>
              <a:t>a1,a2,</a:t>
            </a:r>
            <a:r>
              <a:rPr lang="en-US" altLang="zh-CN" sz="2800" b="1">
                <a:ea typeface="楷体_GB2312" pitchFamily="49" charset="-122"/>
              </a:rPr>
              <a:t>…</a:t>
            </a:r>
            <a:r>
              <a:rPr lang="en-US" altLang="zh-CN" sz="2800" b="1">
                <a:latin typeface="楷体_GB2312" pitchFamily="49" charset="-122"/>
                <a:ea typeface="楷体_GB2312" pitchFamily="49" charset="-122"/>
              </a:rPr>
              <a:t>,an</a:t>
            </a:r>
            <a:r>
              <a:rPr lang="zh-CN" altLang="en-US" sz="2800" b="1">
                <a:latin typeface="楷体_GB2312" pitchFamily="49" charset="-122"/>
                <a:ea typeface="楷体_GB2312" pitchFamily="49" charset="-122"/>
              </a:rPr>
              <a:t>的顺序进入的，退出队列也只能按照这个次序依次退出；</a:t>
            </a:r>
          </a:p>
          <a:p>
            <a:pPr eaLnBrk="1" hangingPunct="1">
              <a:lnSpc>
                <a:spcPct val="90000"/>
              </a:lnSpc>
            </a:pPr>
            <a:r>
              <a:rPr lang="zh-CN" altLang="en-US" sz="2800" b="1">
                <a:latin typeface="楷体_GB2312" pitchFamily="49" charset="-122"/>
                <a:ea typeface="楷体_GB2312" pitchFamily="49" charset="-122"/>
              </a:rPr>
              <a:t>当队列中没有元素时称为空队列；</a:t>
            </a:r>
          </a:p>
          <a:p>
            <a:pPr eaLnBrk="1" hangingPunct="1">
              <a:lnSpc>
                <a:spcPct val="90000"/>
              </a:lnSpc>
            </a:pPr>
            <a:r>
              <a:rPr lang="zh-CN" altLang="en-US" sz="2800" b="1">
                <a:latin typeface="楷体_GB2312" pitchFamily="49" charset="-122"/>
                <a:ea typeface="楷体_GB2312" pitchFamily="49" charset="-122"/>
              </a:rPr>
              <a:t>队列是一种</a:t>
            </a:r>
            <a:r>
              <a:rPr lang="zh-CN" altLang="en-US" sz="2800" b="1">
                <a:ea typeface="楷体_GB2312" pitchFamily="49" charset="-122"/>
              </a:rPr>
              <a:t>“</a:t>
            </a:r>
            <a:r>
              <a:rPr lang="zh-CN" altLang="en-US" sz="2800" b="1">
                <a:solidFill>
                  <a:schemeClr val="hlink"/>
                </a:solidFill>
                <a:latin typeface="楷体_GB2312" pitchFamily="49" charset="-122"/>
                <a:ea typeface="楷体_GB2312" pitchFamily="49" charset="-122"/>
              </a:rPr>
              <a:t>先进先出</a:t>
            </a:r>
            <a:r>
              <a:rPr lang="zh-CN" altLang="en-US" sz="2800" b="1">
                <a:ea typeface="楷体_GB2312" pitchFamily="49" charset="-122"/>
              </a:rPr>
              <a:t>”</a:t>
            </a:r>
            <a:r>
              <a:rPr lang="zh-CN" altLang="en-US" sz="2800" b="1">
                <a:latin typeface="楷体_GB2312" pitchFamily="49" charset="-122"/>
                <a:ea typeface="楷体_GB2312" pitchFamily="49" charset="-122"/>
              </a:rPr>
              <a:t>的线性表，简称</a:t>
            </a:r>
            <a:r>
              <a:rPr lang="en-US" altLang="zh-CN" sz="2800" b="1">
                <a:latin typeface="楷体_GB2312" pitchFamily="49" charset="-122"/>
                <a:ea typeface="楷体_GB2312" pitchFamily="49" charset="-122"/>
              </a:rPr>
              <a:t>FIFO</a:t>
            </a:r>
            <a:r>
              <a:rPr lang="zh-CN" altLang="en-US" sz="2800" b="1">
                <a:latin typeface="楷体_GB2312" pitchFamily="49" charset="-122"/>
                <a:ea typeface="楷体_GB2312" pitchFamily="49" charset="-122"/>
              </a:rPr>
              <a:t>表。 </a:t>
            </a:r>
          </a:p>
        </p:txBody>
      </p:sp>
      <p:sp>
        <p:nvSpPr>
          <p:cNvPr id="76804" name="Text Box 3">
            <a:hlinkClick r:id="rId2" action="ppaction://hlinksldjump"/>
          </p:cNvPr>
          <p:cNvSpPr txBox="1">
            <a:spLocks noChangeArrowheads="1"/>
          </p:cNvSpPr>
          <p:nvPr/>
        </p:nvSpPr>
        <p:spPr bwMode="auto">
          <a:xfrm>
            <a:off x="249779" y="39551"/>
            <a:ext cx="4097196"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sz="5400" b="1" dirty="0">
                <a:latin typeface="楷体_GB2312" pitchFamily="49" charset="-122"/>
                <a:ea typeface="楷体_GB2312" pitchFamily="49" charset="-122"/>
              </a:rPr>
              <a:t>3.4 </a:t>
            </a:r>
            <a:r>
              <a:rPr lang="zh-CN" altLang="en-US" sz="5400" b="1" dirty="0">
                <a:latin typeface="楷体_GB2312" pitchFamily="49" charset="-122"/>
                <a:ea typeface="楷体_GB2312" pitchFamily="49" charset="-122"/>
              </a:rPr>
              <a:t>队列</a:t>
            </a:r>
          </a:p>
        </p:txBody>
      </p:sp>
      <p:sp>
        <p:nvSpPr>
          <p:cNvPr id="76805" name="Rectangle 4"/>
          <p:cNvSpPr>
            <a:spLocks noChangeArrowheads="1"/>
          </p:cNvSpPr>
          <p:nvPr/>
        </p:nvSpPr>
        <p:spPr bwMode="auto">
          <a:xfrm>
            <a:off x="206375" y="954088"/>
            <a:ext cx="45005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zh-CN" altLang="en-US" sz="4000" b="1">
                <a:solidFill>
                  <a:srgbClr val="A50021"/>
                </a:solidFill>
                <a:ea typeface="楷体_GB2312" pitchFamily="49" charset="-122"/>
              </a:rPr>
              <a:t>一、  队列的定义</a:t>
            </a:r>
          </a:p>
        </p:txBody>
      </p:sp>
    </p:spTree>
    <p:extLst>
      <p:ext uri="{BB962C8B-B14F-4D97-AF65-F5344CB8AC3E}">
        <p14:creationId xmlns:p14="http://schemas.microsoft.com/office/powerpoint/2010/main" val="907460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0">
                                            <p:txEl>
                                              <p:pRg st="0" end="0"/>
                                            </p:txEl>
                                          </p:spTgt>
                                        </p:tgtEl>
                                        <p:attrNameLst>
                                          <p:attrName>style.visibility</p:attrName>
                                        </p:attrNameLst>
                                      </p:cBhvr>
                                      <p:to>
                                        <p:strVal val="visible"/>
                                      </p:to>
                                    </p:set>
                                    <p:animEffect transition="in" filter="dissolve">
                                      <p:cBhvr>
                                        <p:cTn id="7" dur="500"/>
                                        <p:tgtEl>
                                          <p:spTgt spid="1966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6610">
                                            <p:txEl>
                                              <p:pRg st="1" end="1"/>
                                            </p:txEl>
                                          </p:spTgt>
                                        </p:tgtEl>
                                        <p:attrNameLst>
                                          <p:attrName>style.visibility</p:attrName>
                                        </p:attrNameLst>
                                      </p:cBhvr>
                                      <p:to>
                                        <p:strVal val="visible"/>
                                      </p:to>
                                    </p:set>
                                    <p:animEffect transition="in" filter="dissolve">
                                      <p:cBhvr>
                                        <p:cTn id="12" dur="500"/>
                                        <p:tgtEl>
                                          <p:spTgt spid="1966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6610">
                                            <p:txEl>
                                              <p:pRg st="2" end="2"/>
                                            </p:txEl>
                                          </p:spTgt>
                                        </p:tgtEl>
                                        <p:attrNameLst>
                                          <p:attrName>style.visibility</p:attrName>
                                        </p:attrNameLst>
                                      </p:cBhvr>
                                      <p:to>
                                        <p:strVal val="visible"/>
                                      </p:to>
                                    </p:set>
                                    <p:animEffect transition="in" filter="dissolve">
                                      <p:cBhvr>
                                        <p:cTn id="17" dur="500"/>
                                        <p:tgtEl>
                                          <p:spTgt spid="1966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6610">
                                            <p:txEl>
                                              <p:pRg st="3" end="3"/>
                                            </p:txEl>
                                          </p:spTgt>
                                        </p:tgtEl>
                                        <p:attrNameLst>
                                          <p:attrName>style.visibility</p:attrName>
                                        </p:attrNameLst>
                                      </p:cBhvr>
                                      <p:to>
                                        <p:strVal val="visible"/>
                                      </p:to>
                                    </p:set>
                                    <p:animEffect transition="in" filter="dissolve">
                                      <p:cBhvr>
                                        <p:cTn id="22" dur="500"/>
                                        <p:tgtEl>
                                          <p:spTgt spid="1966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6610">
                                            <p:txEl>
                                              <p:pRg st="4" end="4"/>
                                            </p:txEl>
                                          </p:spTgt>
                                        </p:tgtEl>
                                        <p:attrNameLst>
                                          <p:attrName>style.visibility</p:attrName>
                                        </p:attrNameLst>
                                      </p:cBhvr>
                                      <p:to>
                                        <p:strVal val="visible"/>
                                      </p:to>
                                    </p:set>
                                    <p:animEffect transition="in" filter="dissolve">
                                      <p:cBhvr>
                                        <p:cTn id="27" dur="500"/>
                                        <p:tgtEl>
                                          <p:spTgt spid="1966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6610">
                                            <p:txEl>
                                              <p:pRg st="5" end="5"/>
                                            </p:txEl>
                                          </p:spTgt>
                                        </p:tgtEl>
                                        <p:attrNameLst>
                                          <p:attrName>style.visibility</p:attrName>
                                        </p:attrNameLst>
                                      </p:cBhvr>
                                      <p:to>
                                        <p:strVal val="visible"/>
                                      </p:to>
                                    </p:set>
                                    <p:animEffect transition="in" filter="dissolve">
                                      <p:cBhvr>
                                        <p:cTn id="32" dur="500"/>
                                        <p:tgtEl>
                                          <p:spTgt spid="1966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6610">
                                            <p:txEl>
                                              <p:pRg st="6" end="6"/>
                                            </p:txEl>
                                          </p:spTgt>
                                        </p:tgtEl>
                                        <p:attrNameLst>
                                          <p:attrName>style.visibility</p:attrName>
                                        </p:attrNameLst>
                                      </p:cBhvr>
                                      <p:to>
                                        <p:strVal val="visible"/>
                                      </p:to>
                                    </p:set>
                                    <p:animEffect transition="in" filter="dissolve">
                                      <p:cBhvr>
                                        <p:cTn id="37" dur="500"/>
                                        <p:tgtEl>
                                          <p:spTgt spid="1966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D1A6FCA-D3A8-4C37-BDF7-E3AA9816D6AA}" type="slidenum">
              <a:rPr lang="en-US" altLang="zh-CN" sz="1400"/>
              <a:pPr/>
              <a:t>93</a:t>
            </a:fld>
            <a:endParaRPr lang="en-US" altLang="zh-CN" sz="1400"/>
          </a:p>
        </p:txBody>
      </p:sp>
      <p:sp>
        <p:nvSpPr>
          <p:cNvPr id="77827" name="Line 2"/>
          <p:cNvSpPr>
            <a:spLocks noChangeShapeType="1"/>
          </p:cNvSpPr>
          <p:nvPr/>
        </p:nvSpPr>
        <p:spPr bwMode="auto">
          <a:xfrm>
            <a:off x="2898775" y="2266950"/>
            <a:ext cx="327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28" name="Line 3"/>
          <p:cNvSpPr>
            <a:spLocks noChangeShapeType="1"/>
          </p:cNvSpPr>
          <p:nvPr/>
        </p:nvSpPr>
        <p:spPr bwMode="auto">
          <a:xfrm>
            <a:off x="2898775" y="2952750"/>
            <a:ext cx="327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29" name="Text Box 4"/>
          <p:cNvSpPr txBox="1">
            <a:spLocks noChangeArrowheads="1"/>
          </p:cNvSpPr>
          <p:nvPr/>
        </p:nvSpPr>
        <p:spPr bwMode="auto">
          <a:xfrm>
            <a:off x="2727325" y="2217738"/>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4400"/>
              <a:t>a</a:t>
            </a:r>
            <a:r>
              <a:rPr lang="en-US" altLang="zh-CN" sz="2800"/>
              <a:t>1 </a:t>
            </a:r>
            <a:r>
              <a:rPr lang="en-US" altLang="zh-CN" sz="3600"/>
              <a:t>  </a:t>
            </a:r>
            <a:r>
              <a:rPr lang="en-US" altLang="zh-CN" sz="4400"/>
              <a:t>a</a:t>
            </a:r>
            <a:r>
              <a:rPr lang="en-US" altLang="zh-CN" sz="2800"/>
              <a:t>2</a:t>
            </a:r>
            <a:r>
              <a:rPr lang="en-US" altLang="zh-CN" sz="3600"/>
              <a:t>    </a:t>
            </a:r>
            <a:r>
              <a:rPr lang="en-US" altLang="zh-CN" sz="4400"/>
              <a:t>a</a:t>
            </a:r>
            <a:r>
              <a:rPr lang="en-US" altLang="zh-CN" sz="2800"/>
              <a:t>3</a:t>
            </a:r>
            <a:r>
              <a:rPr lang="en-US" altLang="zh-CN" sz="3600"/>
              <a:t>   …  </a:t>
            </a:r>
            <a:r>
              <a:rPr lang="en-US" altLang="zh-CN" sz="4400"/>
              <a:t>a</a:t>
            </a:r>
            <a:r>
              <a:rPr lang="en-US" altLang="zh-CN" sz="2800"/>
              <a:t>n</a:t>
            </a:r>
          </a:p>
        </p:txBody>
      </p:sp>
      <p:sp>
        <p:nvSpPr>
          <p:cNvPr id="77830" name="Line 5"/>
          <p:cNvSpPr>
            <a:spLocks noChangeShapeType="1"/>
          </p:cNvSpPr>
          <p:nvPr/>
        </p:nvSpPr>
        <p:spPr bwMode="auto">
          <a:xfrm flipH="1">
            <a:off x="1219200" y="2647950"/>
            <a:ext cx="1219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31" name="Text Box 6"/>
          <p:cNvSpPr txBox="1">
            <a:spLocks noChangeArrowheads="1"/>
          </p:cNvSpPr>
          <p:nvPr/>
        </p:nvSpPr>
        <p:spPr bwMode="auto">
          <a:xfrm>
            <a:off x="1285875" y="203835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ea typeface="楷体_GB2312" pitchFamily="49" charset="-122"/>
              </a:rPr>
              <a:t>出队列</a:t>
            </a:r>
          </a:p>
        </p:txBody>
      </p:sp>
      <p:sp>
        <p:nvSpPr>
          <p:cNvPr id="77832" name="Line 7"/>
          <p:cNvSpPr>
            <a:spLocks noChangeShapeType="1"/>
          </p:cNvSpPr>
          <p:nvPr/>
        </p:nvSpPr>
        <p:spPr bwMode="auto">
          <a:xfrm flipH="1">
            <a:off x="6553200" y="2647950"/>
            <a:ext cx="1219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33" name="Text Box 8"/>
          <p:cNvSpPr txBox="1">
            <a:spLocks noChangeArrowheads="1"/>
          </p:cNvSpPr>
          <p:nvPr/>
        </p:nvSpPr>
        <p:spPr bwMode="auto">
          <a:xfrm>
            <a:off x="6324600" y="203835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入队列</a:t>
            </a:r>
          </a:p>
        </p:txBody>
      </p:sp>
      <p:sp>
        <p:nvSpPr>
          <p:cNvPr id="77834" name="Line 9"/>
          <p:cNvSpPr>
            <a:spLocks noChangeShapeType="1"/>
          </p:cNvSpPr>
          <p:nvPr/>
        </p:nvSpPr>
        <p:spPr bwMode="auto">
          <a:xfrm>
            <a:off x="2971800" y="295275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35" name="Text Box 10"/>
          <p:cNvSpPr txBox="1">
            <a:spLocks noChangeArrowheads="1"/>
          </p:cNvSpPr>
          <p:nvPr/>
        </p:nvSpPr>
        <p:spPr bwMode="auto">
          <a:xfrm>
            <a:off x="2819400" y="3333750"/>
            <a:ext cx="60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ea typeface="楷体_GB2312" pitchFamily="49" charset="-122"/>
              </a:rPr>
              <a:t>队头</a:t>
            </a:r>
          </a:p>
        </p:txBody>
      </p:sp>
      <p:sp>
        <p:nvSpPr>
          <p:cNvPr id="77836" name="Text Box 11"/>
          <p:cNvSpPr txBox="1">
            <a:spLocks noChangeArrowheads="1"/>
          </p:cNvSpPr>
          <p:nvPr/>
        </p:nvSpPr>
        <p:spPr bwMode="auto">
          <a:xfrm>
            <a:off x="5943600" y="3333750"/>
            <a:ext cx="381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ea typeface="楷体_GB2312" pitchFamily="49" charset="-122"/>
              </a:rPr>
              <a:t>队尾</a:t>
            </a:r>
          </a:p>
        </p:txBody>
      </p:sp>
      <p:sp>
        <p:nvSpPr>
          <p:cNvPr id="77837" name="Line 12"/>
          <p:cNvSpPr>
            <a:spLocks noChangeShapeType="1"/>
          </p:cNvSpPr>
          <p:nvPr/>
        </p:nvSpPr>
        <p:spPr bwMode="auto">
          <a:xfrm>
            <a:off x="6096000" y="295275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38" name="Rectangle 13"/>
          <p:cNvSpPr>
            <a:spLocks noChangeArrowheads="1"/>
          </p:cNvSpPr>
          <p:nvPr/>
        </p:nvSpPr>
        <p:spPr bwMode="auto">
          <a:xfrm>
            <a:off x="685800" y="838200"/>
            <a:ext cx="77724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zh-CN" altLang="en-US" sz="4400" b="1">
                <a:solidFill>
                  <a:srgbClr val="A50021"/>
                </a:solidFill>
              </a:rPr>
              <a:t>队列示意图</a:t>
            </a:r>
            <a:endParaRPr lang="zh-CN" altLang="en-US" sz="4400">
              <a:solidFill>
                <a:srgbClr val="A50021"/>
              </a:solidFill>
            </a:endParaRPr>
          </a:p>
        </p:txBody>
      </p:sp>
    </p:spTree>
    <p:extLst>
      <p:ext uri="{BB962C8B-B14F-4D97-AF65-F5344CB8AC3E}">
        <p14:creationId xmlns:p14="http://schemas.microsoft.com/office/powerpoint/2010/main" val="412713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24D41C20-EFF7-4BB5-A3AB-34649A66A8EC}" type="slidenum">
              <a:rPr lang="en-US" altLang="zh-CN" sz="1400"/>
              <a:pPr/>
              <a:t>94</a:t>
            </a:fld>
            <a:endParaRPr lang="en-US" altLang="zh-CN" sz="1400"/>
          </a:p>
        </p:txBody>
      </p:sp>
      <p:sp>
        <p:nvSpPr>
          <p:cNvPr id="561154" name="Text Box 2"/>
          <p:cNvSpPr txBox="1">
            <a:spLocks noChangeArrowheads="1"/>
          </p:cNvSpPr>
          <p:nvPr/>
        </p:nvSpPr>
        <p:spPr bwMode="auto">
          <a:xfrm>
            <a:off x="530225" y="1381125"/>
            <a:ext cx="8004114" cy="356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115000"/>
              </a:lnSpc>
            </a:pPr>
            <a:r>
              <a:rPr lang="en-US" altLang="zh-CN" sz="3600" b="1" dirty="0">
                <a:ea typeface="楷体_GB2312" pitchFamily="49" charset="-122"/>
              </a:rPr>
              <a:t> </a:t>
            </a:r>
            <a:r>
              <a:rPr lang="en-US" altLang="zh-CN" dirty="0">
                <a:ea typeface="楷体_GB2312" pitchFamily="49" charset="-122"/>
              </a:rPr>
              <a:t>ADT Queue</a:t>
            </a:r>
          </a:p>
          <a:p>
            <a:pPr>
              <a:lnSpc>
                <a:spcPct val="115000"/>
              </a:lnSpc>
            </a:pPr>
            <a:r>
              <a:rPr lang="en-US" altLang="zh-CN" dirty="0">
                <a:ea typeface="楷体_GB2312" pitchFamily="49" charset="-122"/>
              </a:rPr>
              <a:t>{  </a:t>
            </a:r>
            <a:r>
              <a:rPr lang="zh-CN" altLang="en-US" b="1" dirty="0">
                <a:solidFill>
                  <a:srgbClr val="A50021"/>
                </a:solidFill>
                <a:ea typeface="楷体_GB2312" pitchFamily="49" charset="-122"/>
              </a:rPr>
              <a:t>数据对象：</a:t>
            </a:r>
          </a:p>
          <a:p>
            <a:pPr>
              <a:lnSpc>
                <a:spcPct val="115000"/>
              </a:lnSpc>
            </a:pPr>
            <a:r>
              <a:rPr lang="zh-CN" altLang="en-US" dirty="0">
                <a:ea typeface="楷体_GB2312" pitchFamily="49" charset="-122"/>
              </a:rPr>
              <a:t>        </a:t>
            </a:r>
            <a:r>
              <a:rPr lang="en-US" altLang="zh-CN" dirty="0">
                <a:ea typeface="楷体_GB2312" pitchFamily="49" charset="-122"/>
              </a:rPr>
              <a:t>D</a:t>
            </a:r>
            <a:r>
              <a:rPr lang="zh-CN" altLang="en-US" dirty="0">
                <a:ea typeface="楷体_GB2312" pitchFamily="49" charset="-122"/>
              </a:rPr>
              <a:t>＝</a:t>
            </a:r>
            <a:r>
              <a:rPr lang="en-US" altLang="zh-CN" dirty="0">
                <a:ea typeface="楷体_GB2312" pitchFamily="49" charset="-122"/>
              </a:rPr>
              <a:t>{</a:t>
            </a:r>
            <a:r>
              <a:rPr lang="en-US" altLang="zh-CN" dirty="0" err="1">
                <a:ea typeface="楷体_GB2312" pitchFamily="49" charset="-122"/>
              </a:rPr>
              <a:t>a</a:t>
            </a:r>
            <a:r>
              <a:rPr lang="en-US" altLang="zh-CN" baseline="-25000" dirty="0" err="1">
                <a:ea typeface="楷体_GB2312" pitchFamily="49" charset="-122"/>
              </a:rPr>
              <a:t>i</a:t>
            </a:r>
            <a:r>
              <a:rPr lang="en-US" altLang="zh-CN" dirty="0">
                <a:ea typeface="楷体_GB2312" pitchFamily="49" charset="-122"/>
              </a:rPr>
              <a:t> | </a:t>
            </a:r>
            <a:r>
              <a:rPr lang="en-US" altLang="zh-CN" dirty="0" err="1">
                <a:ea typeface="楷体_GB2312" pitchFamily="49" charset="-122"/>
              </a:rPr>
              <a:t>a</a:t>
            </a:r>
            <a:r>
              <a:rPr lang="en-US" altLang="zh-CN" baseline="-25000" dirty="0" err="1">
                <a:ea typeface="楷体_GB2312" pitchFamily="49" charset="-122"/>
              </a:rPr>
              <a:t>i</a:t>
            </a:r>
            <a:r>
              <a:rPr lang="en-US" altLang="zh-CN" dirty="0" err="1">
                <a:ea typeface="楷体_GB2312" pitchFamily="49" charset="-122"/>
              </a:rPr>
              <a:t>∈ElemSet</a:t>
            </a:r>
            <a:r>
              <a:rPr lang="en-US" altLang="zh-CN" dirty="0">
                <a:ea typeface="楷体_GB2312" pitchFamily="49" charset="-122"/>
              </a:rPr>
              <a:t>, </a:t>
            </a:r>
            <a:r>
              <a:rPr lang="en-US" altLang="zh-CN" dirty="0" err="1">
                <a:ea typeface="楷体_GB2312" pitchFamily="49" charset="-122"/>
              </a:rPr>
              <a:t>i</a:t>
            </a:r>
            <a:r>
              <a:rPr lang="en-US" altLang="zh-CN" dirty="0">
                <a:ea typeface="楷体_GB2312" pitchFamily="49" charset="-122"/>
              </a:rPr>
              <a:t>=1,2,...,n, n≥0}</a:t>
            </a:r>
          </a:p>
          <a:p>
            <a:pPr>
              <a:lnSpc>
                <a:spcPct val="115000"/>
              </a:lnSpc>
            </a:pPr>
            <a:r>
              <a:rPr lang="en-US" altLang="zh-CN" dirty="0">
                <a:ea typeface="楷体_GB2312" pitchFamily="49" charset="-122"/>
              </a:rPr>
              <a:t>    </a:t>
            </a:r>
            <a:r>
              <a:rPr lang="zh-CN" altLang="en-US" b="1" dirty="0">
                <a:solidFill>
                  <a:srgbClr val="A50021"/>
                </a:solidFill>
                <a:ea typeface="楷体_GB2312" pitchFamily="49" charset="-122"/>
              </a:rPr>
              <a:t>数据关系：</a:t>
            </a:r>
          </a:p>
          <a:p>
            <a:pPr>
              <a:lnSpc>
                <a:spcPct val="115000"/>
              </a:lnSpc>
            </a:pPr>
            <a:r>
              <a:rPr lang="zh-CN" altLang="en-US" dirty="0">
                <a:ea typeface="楷体_GB2312" pitchFamily="49" charset="-122"/>
              </a:rPr>
              <a:t>        </a:t>
            </a:r>
            <a:r>
              <a:rPr lang="en-US" altLang="zh-CN" dirty="0">
                <a:ea typeface="楷体_GB2312" pitchFamily="49" charset="-122"/>
              </a:rPr>
              <a:t>R1</a:t>
            </a:r>
            <a:r>
              <a:rPr lang="zh-CN" altLang="en-US" dirty="0">
                <a:ea typeface="楷体_GB2312" pitchFamily="49" charset="-122"/>
              </a:rPr>
              <a:t>＝</a:t>
            </a:r>
            <a:r>
              <a:rPr lang="en-US" altLang="zh-CN" dirty="0">
                <a:ea typeface="楷体_GB2312" pitchFamily="49" charset="-122"/>
              </a:rPr>
              <a:t>{ &lt;a </a:t>
            </a:r>
            <a:r>
              <a:rPr lang="en-US" altLang="zh-CN" baseline="-25000" dirty="0">
                <a:ea typeface="楷体_GB2312" pitchFamily="49" charset="-122"/>
              </a:rPr>
              <a:t>i-1</a:t>
            </a:r>
            <a:r>
              <a:rPr lang="en-US" altLang="zh-CN" dirty="0">
                <a:ea typeface="楷体_GB2312" pitchFamily="49" charset="-122"/>
              </a:rPr>
              <a:t>,a</a:t>
            </a:r>
            <a:r>
              <a:rPr lang="en-US" altLang="zh-CN" baseline="-25000" dirty="0">
                <a:ea typeface="楷体_GB2312" pitchFamily="49" charset="-122"/>
              </a:rPr>
              <a:t>i</a:t>
            </a:r>
            <a:r>
              <a:rPr lang="en-US" altLang="zh-CN" dirty="0">
                <a:ea typeface="楷体_GB2312" pitchFamily="49" charset="-122"/>
              </a:rPr>
              <a:t> &gt; | a</a:t>
            </a:r>
            <a:r>
              <a:rPr lang="en-US" altLang="zh-CN" baseline="-25000" dirty="0">
                <a:ea typeface="楷体_GB2312" pitchFamily="49" charset="-122"/>
              </a:rPr>
              <a:t>i-1</a:t>
            </a:r>
            <a:r>
              <a:rPr lang="en-US" altLang="zh-CN" dirty="0">
                <a:ea typeface="楷体_GB2312" pitchFamily="49" charset="-122"/>
              </a:rPr>
              <a:t>, </a:t>
            </a:r>
            <a:r>
              <a:rPr lang="en-US" altLang="zh-CN" dirty="0" err="1">
                <a:ea typeface="楷体_GB2312" pitchFamily="49" charset="-122"/>
              </a:rPr>
              <a:t>a</a:t>
            </a:r>
            <a:r>
              <a:rPr lang="en-US" altLang="zh-CN" baseline="-25000" dirty="0" err="1">
                <a:ea typeface="楷体_GB2312" pitchFamily="49" charset="-122"/>
              </a:rPr>
              <a:t>i</a:t>
            </a:r>
            <a:r>
              <a:rPr lang="en-US" altLang="zh-CN" baseline="-25000" dirty="0">
                <a:ea typeface="楷体_GB2312" pitchFamily="49" charset="-122"/>
              </a:rPr>
              <a:t> </a:t>
            </a:r>
            <a:r>
              <a:rPr lang="en-US" altLang="zh-CN" dirty="0">
                <a:ea typeface="楷体_GB2312" pitchFamily="49" charset="-122"/>
              </a:rPr>
              <a:t>∈D, </a:t>
            </a:r>
            <a:r>
              <a:rPr lang="en-US" altLang="zh-CN" dirty="0" err="1">
                <a:ea typeface="楷体_GB2312" pitchFamily="49" charset="-122"/>
              </a:rPr>
              <a:t>i</a:t>
            </a:r>
            <a:r>
              <a:rPr lang="en-US" altLang="zh-CN" dirty="0">
                <a:ea typeface="楷体_GB2312" pitchFamily="49" charset="-122"/>
              </a:rPr>
              <a:t>=2,...,n}</a:t>
            </a:r>
          </a:p>
          <a:p>
            <a:pPr>
              <a:lnSpc>
                <a:spcPct val="115000"/>
              </a:lnSpc>
            </a:pPr>
            <a:r>
              <a:rPr lang="en-US" altLang="zh-CN" dirty="0">
                <a:ea typeface="楷体_GB2312" pitchFamily="49" charset="-122"/>
              </a:rPr>
              <a:t>       </a:t>
            </a:r>
            <a:r>
              <a:rPr lang="zh-CN" altLang="en-US" dirty="0">
                <a:ea typeface="楷体_GB2312" pitchFamily="49" charset="-122"/>
              </a:rPr>
              <a:t>约定其中</a:t>
            </a:r>
            <a:r>
              <a:rPr lang="en-US" altLang="zh-CN" dirty="0">
                <a:solidFill>
                  <a:srgbClr val="0000FF"/>
                </a:solidFill>
                <a:ea typeface="楷体_GB2312" pitchFamily="49" charset="-122"/>
              </a:rPr>
              <a:t>a</a:t>
            </a:r>
            <a:r>
              <a:rPr lang="en-US" altLang="zh-CN" baseline="-25000" dirty="0">
                <a:solidFill>
                  <a:srgbClr val="0000FF"/>
                </a:solidFill>
                <a:ea typeface="楷体_GB2312" pitchFamily="49" charset="-122"/>
              </a:rPr>
              <a:t>1</a:t>
            </a:r>
            <a:r>
              <a:rPr lang="en-US" altLang="zh-CN" dirty="0">
                <a:solidFill>
                  <a:srgbClr val="0000FF"/>
                </a:solidFill>
                <a:ea typeface="楷体_GB2312" pitchFamily="49" charset="-122"/>
              </a:rPr>
              <a:t> </a:t>
            </a:r>
            <a:r>
              <a:rPr lang="zh-CN" altLang="en-US" dirty="0">
                <a:solidFill>
                  <a:srgbClr val="0000FF"/>
                </a:solidFill>
                <a:ea typeface="楷体_GB2312" pitchFamily="49" charset="-122"/>
              </a:rPr>
              <a:t>端为队列头</a:t>
            </a:r>
            <a:r>
              <a:rPr lang="zh-CN" altLang="en-US" dirty="0">
                <a:ea typeface="楷体_GB2312" pitchFamily="49" charset="-122"/>
              </a:rPr>
              <a:t>， </a:t>
            </a:r>
            <a:r>
              <a:rPr lang="en-US" altLang="zh-CN" dirty="0">
                <a:solidFill>
                  <a:srgbClr val="0000FF"/>
                </a:solidFill>
                <a:ea typeface="楷体_GB2312" pitchFamily="49" charset="-122"/>
              </a:rPr>
              <a:t>a</a:t>
            </a:r>
            <a:r>
              <a:rPr lang="en-US" altLang="zh-CN" baseline="-25000" dirty="0">
                <a:solidFill>
                  <a:srgbClr val="0000FF"/>
                </a:solidFill>
                <a:ea typeface="楷体_GB2312" pitchFamily="49" charset="-122"/>
              </a:rPr>
              <a:t>n</a:t>
            </a:r>
            <a:r>
              <a:rPr lang="en-US" altLang="zh-CN" dirty="0">
                <a:solidFill>
                  <a:srgbClr val="0000FF"/>
                </a:solidFill>
                <a:ea typeface="楷体_GB2312" pitchFamily="49" charset="-122"/>
              </a:rPr>
              <a:t> </a:t>
            </a:r>
            <a:r>
              <a:rPr lang="zh-CN" altLang="en-US" dirty="0">
                <a:solidFill>
                  <a:srgbClr val="0000FF"/>
                </a:solidFill>
                <a:ea typeface="楷体_GB2312" pitchFamily="49" charset="-122"/>
              </a:rPr>
              <a:t>端为队列尾</a:t>
            </a:r>
          </a:p>
        </p:txBody>
      </p:sp>
      <p:sp>
        <p:nvSpPr>
          <p:cNvPr id="561155" name="Text Box 3">
            <a:hlinkClick r:id="" action="ppaction://hlinkshowjump?jump=nextslide"/>
          </p:cNvPr>
          <p:cNvSpPr txBox="1">
            <a:spLocks noChangeArrowheads="1"/>
          </p:cNvSpPr>
          <p:nvPr/>
        </p:nvSpPr>
        <p:spPr bwMode="auto">
          <a:xfrm>
            <a:off x="976313" y="5086350"/>
            <a:ext cx="1957387"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b="1" u="sng">
                <a:solidFill>
                  <a:srgbClr val="A50021"/>
                </a:solidFill>
                <a:ea typeface="楷体_GB2312" pitchFamily="49" charset="-122"/>
              </a:rPr>
              <a:t>基本操作</a:t>
            </a:r>
            <a:r>
              <a:rPr lang="en-US" altLang="zh-CN" b="1" u="sng">
                <a:solidFill>
                  <a:srgbClr val="A50021"/>
                </a:solidFill>
                <a:ea typeface="楷体_GB2312" pitchFamily="49" charset="-122"/>
              </a:rPr>
              <a:t>:</a:t>
            </a:r>
          </a:p>
        </p:txBody>
      </p:sp>
      <p:sp>
        <p:nvSpPr>
          <p:cNvPr id="561156" name="Text Box 4"/>
          <p:cNvSpPr txBox="1">
            <a:spLocks noChangeArrowheads="1"/>
          </p:cNvSpPr>
          <p:nvPr/>
        </p:nvSpPr>
        <p:spPr bwMode="auto">
          <a:xfrm>
            <a:off x="796925" y="5821363"/>
            <a:ext cx="24796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a:ea typeface="楷体_GB2312" pitchFamily="49" charset="-122"/>
              </a:rPr>
              <a:t>} ADT Queue</a:t>
            </a:r>
          </a:p>
        </p:txBody>
      </p:sp>
      <p:sp>
        <p:nvSpPr>
          <p:cNvPr id="78854" name="Text Box 6"/>
          <p:cNvSpPr txBox="1">
            <a:spLocks noChangeArrowheads="1"/>
          </p:cNvSpPr>
          <p:nvPr/>
        </p:nvSpPr>
        <p:spPr bwMode="auto">
          <a:xfrm>
            <a:off x="304800" y="517525"/>
            <a:ext cx="6873998" cy="707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000" b="1" dirty="0">
                <a:solidFill>
                  <a:srgbClr val="A50021"/>
                </a:solidFill>
                <a:ea typeface="楷体_GB2312" pitchFamily="49" charset="-122"/>
              </a:rPr>
              <a:t>二、队列的抽象数据类型定义</a:t>
            </a:r>
          </a:p>
        </p:txBody>
      </p:sp>
    </p:spTree>
    <p:extLst>
      <p:ext uri="{BB962C8B-B14F-4D97-AF65-F5344CB8AC3E}">
        <p14:creationId xmlns:p14="http://schemas.microsoft.com/office/powerpoint/2010/main" val="753496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561154"/>
                                        </p:tgtEl>
                                        <p:attrNameLst>
                                          <p:attrName>style.visibility</p:attrName>
                                        </p:attrNameLst>
                                      </p:cBhvr>
                                      <p:to>
                                        <p:strVal val="visible"/>
                                      </p:to>
                                    </p:set>
                                    <p:anim calcmode="lin" valueType="num">
                                      <p:cBhvr>
                                        <p:cTn id="7" dur="500" fill="hold"/>
                                        <p:tgtEl>
                                          <p:spTgt spid="561154"/>
                                        </p:tgtEl>
                                        <p:attrNameLst>
                                          <p:attrName>ppt_x</p:attrName>
                                        </p:attrNameLst>
                                      </p:cBhvr>
                                      <p:tavLst>
                                        <p:tav tm="0">
                                          <p:val>
                                            <p:strVal val="#ppt_x"/>
                                          </p:val>
                                        </p:tav>
                                        <p:tav tm="100000">
                                          <p:val>
                                            <p:strVal val="#ppt_x"/>
                                          </p:val>
                                        </p:tav>
                                      </p:tavLst>
                                    </p:anim>
                                    <p:anim calcmode="lin" valueType="num">
                                      <p:cBhvr>
                                        <p:cTn id="8" dur="500" fill="hold"/>
                                        <p:tgtEl>
                                          <p:spTgt spid="561154"/>
                                        </p:tgtEl>
                                        <p:attrNameLst>
                                          <p:attrName>ppt_y</p:attrName>
                                        </p:attrNameLst>
                                      </p:cBhvr>
                                      <p:tavLst>
                                        <p:tav tm="0">
                                          <p:val>
                                            <p:strVal val="#ppt_y-#ppt_h/2"/>
                                          </p:val>
                                        </p:tav>
                                        <p:tav tm="100000">
                                          <p:val>
                                            <p:strVal val="#ppt_y"/>
                                          </p:val>
                                        </p:tav>
                                      </p:tavLst>
                                    </p:anim>
                                    <p:anim calcmode="lin" valueType="num">
                                      <p:cBhvr>
                                        <p:cTn id="9" dur="500" fill="hold"/>
                                        <p:tgtEl>
                                          <p:spTgt spid="561154"/>
                                        </p:tgtEl>
                                        <p:attrNameLst>
                                          <p:attrName>ppt_w</p:attrName>
                                        </p:attrNameLst>
                                      </p:cBhvr>
                                      <p:tavLst>
                                        <p:tav tm="0">
                                          <p:val>
                                            <p:strVal val="#ppt_w"/>
                                          </p:val>
                                        </p:tav>
                                        <p:tav tm="100000">
                                          <p:val>
                                            <p:strVal val="#ppt_w"/>
                                          </p:val>
                                        </p:tav>
                                      </p:tavLst>
                                    </p:anim>
                                    <p:anim calcmode="lin" valueType="num">
                                      <p:cBhvr>
                                        <p:cTn id="10" dur="500" fill="hold"/>
                                        <p:tgtEl>
                                          <p:spTgt spid="561154"/>
                                        </p:tgtEl>
                                        <p:attrNameLst>
                                          <p:attrName>ppt_h</p:attrName>
                                        </p:attrNameLst>
                                      </p:cBhvr>
                                      <p:tavLst>
                                        <p:tav tm="0">
                                          <p:val>
                                            <p:fltVal val="0"/>
                                          </p:val>
                                        </p:tav>
                                        <p:tav tm="100000">
                                          <p:val>
                                            <p:strVal val="#ppt_h"/>
                                          </p:val>
                                        </p:tav>
                                      </p:tavLst>
                                    </p:anim>
                                  </p:childTnLst>
                                </p:cTn>
                              </p:par>
                            </p:childTnLst>
                          </p:cTn>
                        </p:par>
                        <p:par>
                          <p:cTn id="11" fill="hold" nodeType="afterGroup">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561156"/>
                                        </p:tgtEl>
                                        <p:attrNameLst>
                                          <p:attrName>style.visibility</p:attrName>
                                        </p:attrNameLst>
                                      </p:cBhvr>
                                      <p:to>
                                        <p:strVal val="visible"/>
                                      </p:to>
                                    </p:set>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61155"/>
                                        </p:tgtEl>
                                        <p:attrNameLst>
                                          <p:attrName>style.visibility</p:attrName>
                                        </p:attrNameLst>
                                      </p:cBhvr>
                                      <p:to>
                                        <p:strVal val="visible"/>
                                      </p:to>
                                    </p:set>
                                    <p:anim calcmode="lin" valueType="num">
                                      <p:cBhvr additive="base">
                                        <p:cTn id="17" dur="500" fill="hold"/>
                                        <p:tgtEl>
                                          <p:spTgt spid="561155"/>
                                        </p:tgtEl>
                                        <p:attrNameLst>
                                          <p:attrName>ppt_x</p:attrName>
                                        </p:attrNameLst>
                                      </p:cBhvr>
                                      <p:tavLst>
                                        <p:tav tm="0">
                                          <p:val>
                                            <p:strVal val="0-#ppt_w/2"/>
                                          </p:val>
                                        </p:tav>
                                        <p:tav tm="100000">
                                          <p:val>
                                            <p:strVal val="#ppt_x"/>
                                          </p:val>
                                        </p:tav>
                                      </p:tavLst>
                                    </p:anim>
                                    <p:anim calcmode="lin" valueType="num">
                                      <p:cBhvr additive="base">
                                        <p:cTn id="18" dur="500" fill="hold"/>
                                        <p:tgtEl>
                                          <p:spTgt spid="5611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autoUpdateAnimBg="0"/>
      <p:bldP spid="561155" grpId="0" autoUpdateAnimBg="0"/>
      <p:bldP spid="561156"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CC66D4C-755C-4063-8058-FD8F61F8E9D1}" type="slidenum">
              <a:rPr lang="en-US" altLang="zh-CN" sz="1400"/>
              <a:pPr/>
              <a:t>95</a:t>
            </a:fld>
            <a:endParaRPr lang="en-US" altLang="zh-CN" sz="1400"/>
          </a:p>
        </p:txBody>
      </p:sp>
      <p:sp>
        <p:nvSpPr>
          <p:cNvPr id="79875" name="Text Box 2"/>
          <p:cNvSpPr txBox="1">
            <a:spLocks noChangeArrowheads="1"/>
          </p:cNvSpPr>
          <p:nvPr/>
        </p:nvSpPr>
        <p:spPr bwMode="auto">
          <a:xfrm>
            <a:off x="2133600" y="508000"/>
            <a:ext cx="42862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000" b="1">
                <a:solidFill>
                  <a:srgbClr val="A50021"/>
                </a:solidFill>
                <a:ea typeface="楷体_GB2312" pitchFamily="49" charset="-122"/>
              </a:rPr>
              <a:t>队列的基本操作：</a:t>
            </a:r>
          </a:p>
        </p:txBody>
      </p:sp>
      <p:sp>
        <p:nvSpPr>
          <p:cNvPr id="79876" name="Text Box 3">
            <a:hlinkClick r:id="" action="ppaction://hlinkshowjump?jump=nextslide"/>
          </p:cNvPr>
          <p:cNvSpPr txBox="1">
            <a:spLocks noChangeArrowheads="1"/>
          </p:cNvSpPr>
          <p:nvPr/>
        </p:nvSpPr>
        <p:spPr bwMode="auto">
          <a:xfrm>
            <a:off x="514350" y="1797050"/>
            <a:ext cx="33210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r>
              <a:rPr lang="en-US" altLang="zh-CN" sz="3600">
                <a:ea typeface="楷体_GB2312" pitchFamily="49" charset="-122"/>
              </a:rPr>
              <a:t> </a:t>
            </a:r>
            <a:r>
              <a:rPr lang="en-US" altLang="zh-CN" sz="3600" b="1">
                <a:ea typeface="楷体_GB2312" pitchFamily="49" charset="-122"/>
              </a:rPr>
              <a:t>InitQueue(&amp;Q)</a:t>
            </a:r>
            <a:endParaRPr lang="en-US" altLang="zh-CN" sz="3600"/>
          </a:p>
        </p:txBody>
      </p:sp>
      <p:sp>
        <p:nvSpPr>
          <p:cNvPr id="79877" name="Text Box 4">
            <a:hlinkClick r:id="" action="ppaction://hlinkshowjump?jump=nextslide"/>
          </p:cNvPr>
          <p:cNvSpPr txBox="1">
            <a:spLocks noChangeArrowheads="1"/>
          </p:cNvSpPr>
          <p:nvPr/>
        </p:nvSpPr>
        <p:spPr bwMode="auto">
          <a:xfrm>
            <a:off x="4557895" y="1797540"/>
            <a:ext cx="40195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dirty="0" err="1">
                <a:ea typeface="楷体_GB2312" pitchFamily="49" charset="-122"/>
              </a:rPr>
              <a:t>DestroyQueue</a:t>
            </a:r>
            <a:r>
              <a:rPr lang="en-US" altLang="zh-CN" sz="3600" b="1" dirty="0">
                <a:ea typeface="楷体_GB2312" pitchFamily="49" charset="-122"/>
              </a:rPr>
              <a:t>(&amp;Q)</a:t>
            </a:r>
            <a:endParaRPr lang="en-US" altLang="zh-CN" sz="3600" dirty="0">
              <a:ea typeface="楷体_GB2312" pitchFamily="49" charset="-122"/>
            </a:endParaRPr>
          </a:p>
        </p:txBody>
      </p:sp>
      <p:sp>
        <p:nvSpPr>
          <p:cNvPr id="79878" name="Text Box 5">
            <a:hlinkClick r:id="rId2" action="ppaction://hlinksldjump"/>
          </p:cNvPr>
          <p:cNvSpPr txBox="1">
            <a:spLocks noChangeArrowheads="1"/>
          </p:cNvSpPr>
          <p:nvPr/>
        </p:nvSpPr>
        <p:spPr bwMode="auto">
          <a:xfrm>
            <a:off x="609600" y="2635250"/>
            <a:ext cx="34353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ea typeface="楷体_GB2312" pitchFamily="49" charset="-122"/>
              </a:rPr>
              <a:t>QueueEmpty(Q)</a:t>
            </a:r>
          </a:p>
        </p:txBody>
      </p:sp>
      <p:sp>
        <p:nvSpPr>
          <p:cNvPr id="79879" name="Text Box 6">
            <a:hlinkClick r:id="rId3" action="ppaction://hlinksldjump"/>
          </p:cNvPr>
          <p:cNvSpPr txBox="1">
            <a:spLocks noChangeArrowheads="1"/>
          </p:cNvSpPr>
          <p:nvPr/>
        </p:nvSpPr>
        <p:spPr bwMode="auto">
          <a:xfrm>
            <a:off x="4556125" y="2635250"/>
            <a:ext cx="35115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ea typeface="楷体_GB2312" pitchFamily="49" charset="-122"/>
              </a:rPr>
              <a:t>QueueLength(Q)</a:t>
            </a:r>
          </a:p>
        </p:txBody>
      </p:sp>
      <p:sp>
        <p:nvSpPr>
          <p:cNvPr id="79880" name="Text Box 7">
            <a:hlinkClick r:id="rId4" action="ppaction://hlinksldjump"/>
          </p:cNvPr>
          <p:cNvSpPr txBox="1">
            <a:spLocks noChangeArrowheads="1"/>
          </p:cNvSpPr>
          <p:nvPr/>
        </p:nvSpPr>
        <p:spPr bwMode="auto">
          <a:xfrm>
            <a:off x="628650" y="3549650"/>
            <a:ext cx="34099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ea typeface="楷体_GB2312" pitchFamily="49" charset="-122"/>
              </a:rPr>
              <a:t>GetHead(Q, &amp;e)</a:t>
            </a:r>
            <a:endParaRPr lang="en-US" altLang="zh-CN" sz="3600">
              <a:ea typeface="楷体_GB2312" pitchFamily="49" charset="-122"/>
            </a:endParaRPr>
          </a:p>
        </p:txBody>
      </p:sp>
      <p:sp>
        <p:nvSpPr>
          <p:cNvPr id="79881" name="Text Box 8">
            <a:hlinkClick r:id="rId5" action="ppaction://hlinksldjump"/>
          </p:cNvPr>
          <p:cNvSpPr txBox="1">
            <a:spLocks noChangeArrowheads="1"/>
          </p:cNvSpPr>
          <p:nvPr/>
        </p:nvSpPr>
        <p:spPr bwMode="auto">
          <a:xfrm>
            <a:off x="4572000" y="3549650"/>
            <a:ext cx="3587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ea typeface="楷体_GB2312" pitchFamily="49" charset="-122"/>
              </a:rPr>
              <a:t>ClearQueue(&amp;Q)</a:t>
            </a:r>
            <a:endParaRPr lang="en-US" altLang="zh-CN" sz="3600">
              <a:ea typeface="楷体_GB2312" pitchFamily="49" charset="-122"/>
            </a:endParaRPr>
          </a:p>
        </p:txBody>
      </p:sp>
      <p:sp>
        <p:nvSpPr>
          <p:cNvPr id="79882" name="Text Box 9">
            <a:hlinkClick r:id="rId6" action="ppaction://hlinksldjump"/>
          </p:cNvPr>
          <p:cNvSpPr txBox="1">
            <a:spLocks noChangeArrowheads="1"/>
          </p:cNvSpPr>
          <p:nvPr/>
        </p:nvSpPr>
        <p:spPr bwMode="auto">
          <a:xfrm>
            <a:off x="4632325" y="4387850"/>
            <a:ext cx="3841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solidFill>
                  <a:srgbClr val="A50021"/>
                </a:solidFill>
                <a:ea typeface="楷体_GB2312" pitchFamily="49" charset="-122"/>
              </a:rPr>
              <a:t>DeQueue(&amp;Q, &amp;e)</a:t>
            </a:r>
            <a:endParaRPr lang="en-US" altLang="zh-CN" sz="3600">
              <a:solidFill>
                <a:srgbClr val="A50021"/>
              </a:solidFill>
              <a:ea typeface="楷体_GB2312" pitchFamily="49" charset="-122"/>
            </a:endParaRPr>
          </a:p>
        </p:txBody>
      </p:sp>
      <p:sp>
        <p:nvSpPr>
          <p:cNvPr id="79883" name="Text Box 10">
            <a:hlinkClick r:id="rId7" action="ppaction://hlinksldjump"/>
          </p:cNvPr>
          <p:cNvSpPr txBox="1">
            <a:spLocks noChangeArrowheads="1"/>
          </p:cNvSpPr>
          <p:nvPr/>
        </p:nvSpPr>
        <p:spPr bwMode="auto">
          <a:xfrm>
            <a:off x="609600" y="4387850"/>
            <a:ext cx="34861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solidFill>
                  <a:srgbClr val="A50021"/>
                </a:solidFill>
                <a:ea typeface="楷体_GB2312" pitchFamily="49" charset="-122"/>
              </a:rPr>
              <a:t>EnQueue(&amp;Q, e)</a:t>
            </a:r>
            <a:endParaRPr lang="en-US" altLang="zh-CN" sz="3600">
              <a:solidFill>
                <a:srgbClr val="A50021"/>
              </a:solidFill>
              <a:ea typeface="楷体_GB2312" pitchFamily="49" charset="-122"/>
            </a:endParaRPr>
          </a:p>
        </p:txBody>
      </p:sp>
      <p:sp>
        <p:nvSpPr>
          <p:cNvPr id="79884" name="AutoShape 11">
            <a:hlinkClick r:id="" action="ppaction://hlinkshowjump?jump=previousslide" highlightClick="1"/>
          </p:cNvPr>
          <p:cNvSpPr>
            <a:spLocks noChangeArrowheads="1"/>
          </p:cNvSpPr>
          <p:nvPr/>
        </p:nvSpPr>
        <p:spPr bwMode="auto">
          <a:xfrm>
            <a:off x="8229600" y="6019800"/>
            <a:ext cx="381000" cy="381000"/>
          </a:xfrm>
          <a:prstGeom prst="actionButtonBackPrevious">
            <a:avLst/>
          </a:prstGeom>
          <a:solidFill>
            <a:srgbClr val="FFCC00"/>
          </a:solidFill>
          <a:ln w="9525">
            <a:solidFill>
              <a:srgbClr val="FF6600"/>
            </a:solidFill>
            <a:miter lim="800000"/>
            <a:headEnd/>
            <a:tailEnd/>
          </a:ln>
        </p:spPr>
        <p:txBody>
          <a:bodyPr wrap="none" anchor="ctr"/>
          <a:lstStyle/>
          <a:p>
            <a:pPr eaLnBrk="1" hangingPunct="1"/>
            <a:endParaRPr lang="zh-CN" altLang="en-US"/>
          </a:p>
        </p:txBody>
      </p:sp>
      <p:sp>
        <p:nvSpPr>
          <p:cNvPr id="79885" name="Text Box 12"/>
          <p:cNvSpPr txBox="1">
            <a:spLocks noChangeArrowheads="1"/>
          </p:cNvSpPr>
          <p:nvPr/>
        </p:nvSpPr>
        <p:spPr bwMode="auto">
          <a:xfrm>
            <a:off x="609600" y="5257800"/>
            <a:ext cx="50101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3600" b="1"/>
              <a:t>QueueTravers(Q, visit())</a:t>
            </a:r>
            <a:endParaRPr lang="en-US" altLang="zh-CN" sz="4000"/>
          </a:p>
        </p:txBody>
      </p:sp>
    </p:spTree>
    <p:extLst>
      <p:ext uri="{BB962C8B-B14F-4D97-AF65-F5344CB8AC3E}">
        <p14:creationId xmlns:p14="http://schemas.microsoft.com/office/powerpoint/2010/main" val="17704817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C0ED050-2AA4-4D58-A893-28FEBC837751}" type="slidenum">
              <a:rPr lang="en-US" altLang="zh-CN" sz="1400"/>
              <a:pPr/>
              <a:t>96</a:t>
            </a:fld>
            <a:endParaRPr lang="en-US" altLang="zh-CN" sz="1400"/>
          </a:p>
        </p:txBody>
      </p:sp>
      <p:sp>
        <p:nvSpPr>
          <p:cNvPr id="80899" name="Rectangle 2"/>
          <p:cNvSpPr>
            <a:spLocks noGrp="1" noChangeArrowheads="1"/>
          </p:cNvSpPr>
          <p:nvPr>
            <p:ph type="title" idx="4294967295"/>
          </p:nvPr>
        </p:nvSpPr>
        <p:spPr>
          <a:xfrm>
            <a:off x="685800" y="320040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lnSpc>
                <a:spcPct val="120000"/>
              </a:lnSpc>
            </a:pPr>
            <a:r>
              <a:rPr lang="en-US" altLang="zh-CN" b="1" dirty="0" err="1">
                <a:solidFill>
                  <a:srgbClr val="800000"/>
                </a:solidFill>
                <a:ea typeface="楷体_GB2312" pitchFamily="49" charset="-122"/>
              </a:rPr>
              <a:t>InitQueue</a:t>
            </a:r>
            <a:r>
              <a:rPr lang="en-US" altLang="zh-CN" b="1" dirty="0">
                <a:solidFill>
                  <a:srgbClr val="800000"/>
                </a:solidFill>
                <a:ea typeface="楷体_GB2312" pitchFamily="49" charset="-122"/>
              </a:rPr>
              <a:t>(&amp;Q)</a:t>
            </a:r>
            <a:r>
              <a:rPr lang="en-US" altLang="zh-CN" b="1" dirty="0">
                <a:solidFill>
                  <a:schemeClr val="tx1"/>
                </a:solidFill>
                <a:ea typeface="楷体_GB2312" pitchFamily="49" charset="-122"/>
              </a:rPr>
              <a:t/>
            </a:r>
            <a:br>
              <a:rPr lang="en-US" altLang="zh-CN" b="1" dirty="0">
                <a:solidFill>
                  <a:schemeClr val="tx1"/>
                </a:solidFill>
                <a:ea typeface="楷体_GB2312" pitchFamily="49" charset="-122"/>
              </a:rPr>
            </a:br>
            <a:r>
              <a:rPr lang="en-US" altLang="zh-CN"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构造一个空队列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en-US" altLang="zh-CN" b="1" dirty="0" err="1">
                <a:solidFill>
                  <a:srgbClr val="800000"/>
                </a:solidFill>
                <a:ea typeface="楷体_GB2312" pitchFamily="49" charset="-122"/>
              </a:rPr>
              <a:t>DestroyQueue</a:t>
            </a:r>
            <a:r>
              <a:rPr lang="en-US" altLang="zh-CN" b="1" dirty="0">
                <a:solidFill>
                  <a:srgbClr val="800000"/>
                </a:solidFill>
                <a:ea typeface="楷体_GB2312" pitchFamily="49" charset="-122"/>
              </a:rPr>
              <a:t>(&amp;Q)</a:t>
            </a:r>
            <a:r>
              <a:rPr lang="en-US" altLang="zh-CN" dirty="0">
                <a:solidFill>
                  <a:schemeClr val="tx1"/>
                </a:solidFill>
                <a:ea typeface="楷体_GB2312" pitchFamily="49" charset="-122"/>
              </a:rPr>
              <a:t/>
            </a:r>
            <a:br>
              <a:rPr lang="en-US" altLang="zh-CN" dirty="0">
                <a:solidFill>
                  <a:schemeClr val="tx1"/>
                </a:solidFill>
                <a:ea typeface="楷体_GB2312" pitchFamily="49" charset="-122"/>
              </a:rPr>
            </a:br>
            <a:r>
              <a:rPr lang="zh-CN" altLang="en-US" b="1" dirty="0">
                <a:solidFill>
                  <a:schemeClr val="tx1"/>
                </a:solidFill>
                <a:ea typeface="楷体_GB2312" pitchFamily="49" charset="-122"/>
              </a:rPr>
              <a:t>初始条件：</a:t>
            </a:r>
            <a:r>
              <a:rPr lang="zh-CN" altLang="en-US" sz="3600" dirty="0">
                <a:solidFill>
                  <a:schemeClr val="tx1"/>
                </a:solidFill>
                <a:ea typeface="楷体_GB2312" pitchFamily="49" charset="-122"/>
              </a:rPr>
              <a:t>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已存在。</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被销毁，</a:t>
            </a:r>
            <a:br>
              <a:rPr lang="zh-CN" altLang="en-US" sz="3600" dirty="0">
                <a:solidFill>
                  <a:schemeClr val="tx1"/>
                </a:solidFill>
                <a:ea typeface="楷体_GB2312" pitchFamily="49" charset="-122"/>
              </a:rPr>
            </a:br>
            <a:r>
              <a:rPr lang="zh-CN" altLang="en-US" sz="3600" dirty="0">
                <a:solidFill>
                  <a:schemeClr val="tx1"/>
                </a:solidFill>
                <a:ea typeface="楷体_GB2312" pitchFamily="49" charset="-122"/>
              </a:rPr>
              <a:t>                   不再存在。</a:t>
            </a:r>
            <a:br>
              <a:rPr lang="zh-CN" altLang="en-US" sz="3600" dirty="0">
                <a:solidFill>
                  <a:schemeClr val="tx1"/>
                </a:solidFill>
                <a:ea typeface="楷体_GB2312" pitchFamily="49" charset="-122"/>
              </a:rPr>
            </a:br>
            <a:endParaRPr lang="zh-CN" altLang="en-US" sz="3600" dirty="0">
              <a:solidFill>
                <a:schemeClr val="tx1"/>
              </a:solidFill>
              <a:ea typeface="楷体_GB2312" pitchFamily="49" charset="-122"/>
            </a:endParaRPr>
          </a:p>
        </p:txBody>
      </p:sp>
      <p:sp>
        <p:nvSpPr>
          <p:cNvPr id="80900" name="AutoShape 3">
            <a:hlinkClick r:id="" action="ppaction://hlinkshowjump?jump=lastslideviewed" highlightClick="1"/>
          </p:cNvPr>
          <p:cNvSpPr>
            <a:spLocks noChangeArrowheads="1"/>
          </p:cNvSpPr>
          <p:nvPr/>
        </p:nvSpPr>
        <p:spPr bwMode="auto">
          <a:xfrm>
            <a:off x="8305800" y="6019800"/>
            <a:ext cx="457200" cy="436563"/>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Tree>
    <p:extLst>
      <p:ext uri="{BB962C8B-B14F-4D97-AF65-F5344CB8AC3E}">
        <p14:creationId xmlns:p14="http://schemas.microsoft.com/office/powerpoint/2010/main" val="337035011"/>
      </p:ext>
    </p:extLst>
  </p:cSld>
  <p:clrMapOvr>
    <a:masterClrMapping/>
  </p:clrMapOvr>
  <p:transition>
    <p:pull dir="r"/>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5C32AB7-99E0-454E-BB89-59601D424649}" type="slidenum">
              <a:rPr lang="en-US" altLang="zh-CN" sz="1400"/>
              <a:pPr/>
              <a:t>97</a:t>
            </a:fld>
            <a:endParaRPr lang="en-US" altLang="zh-CN" sz="1400"/>
          </a:p>
        </p:txBody>
      </p:sp>
      <p:sp>
        <p:nvSpPr>
          <p:cNvPr id="81923" name="Rectangle 2"/>
          <p:cNvSpPr>
            <a:spLocks noGrp="1" noChangeArrowheads="1"/>
          </p:cNvSpPr>
          <p:nvPr>
            <p:ph type="title" idx="4294967295"/>
          </p:nvPr>
        </p:nvSpPr>
        <p:spPr>
          <a:xfrm>
            <a:off x="228600" y="2667000"/>
            <a:ext cx="8458200" cy="1143000"/>
          </a:xfrm>
          <a:extLst>
            <a:ext uri="{91240B29-F687-4F45-9708-019B960494DF}">
              <a14:hiddenLine xmlns:a14="http://schemas.microsoft.com/office/drawing/2010/main" w="9525">
                <a:solidFill>
                  <a:srgbClr val="800000"/>
                </a:solidFill>
                <a:miter lim="800000"/>
                <a:headEnd/>
                <a:tailEnd/>
              </a14:hiddenLine>
            </a:ext>
          </a:extLst>
        </p:spPr>
        <p:txBody>
          <a:bodyPr/>
          <a:lstStyle/>
          <a:p>
            <a:pPr algn="l" eaLnBrk="1" hangingPunct="1">
              <a:lnSpc>
                <a:spcPct val="125000"/>
              </a:lnSpc>
            </a:pPr>
            <a:r>
              <a:rPr lang="en-US" altLang="zh-CN">
                <a:solidFill>
                  <a:schemeClr val="tx1"/>
                </a:solidFill>
                <a:ea typeface="楷体_GB2312" pitchFamily="49" charset="-122"/>
              </a:rPr>
              <a:t>              </a:t>
            </a:r>
            <a:r>
              <a:rPr lang="en-US" altLang="zh-CN" b="1">
                <a:solidFill>
                  <a:srgbClr val="800000"/>
                </a:solidFill>
                <a:ea typeface="楷体_GB2312" pitchFamily="49" charset="-122"/>
              </a:rPr>
              <a:t>QueueEmpty(Q)</a:t>
            </a:r>
            <a:r>
              <a:rPr lang="en-US" altLang="zh-CN">
                <a:solidFill>
                  <a:srgbClr val="800000"/>
                </a:solidFill>
                <a:ea typeface="楷体_GB2312" pitchFamily="49" charset="-122"/>
              </a:rPr>
              <a:t/>
            </a:r>
            <a:br>
              <a:rPr lang="en-US" altLang="zh-CN">
                <a:solidFill>
                  <a:srgbClr val="800000"/>
                </a:solidFill>
                <a:ea typeface="楷体_GB2312" pitchFamily="49" charset="-122"/>
              </a:rPr>
            </a:br>
            <a:r>
              <a:rPr lang="en-US" altLang="zh-CN">
                <a:solidFill>
                  <a:schemeClr val="tx1"/>
                </a:solidFill>
                <a:ea typeface="楷体_GB2312" pitchFamily="49" charset="-122"/>
              </a:rPr>
              <a:t/>
            </a:r>
            <a:br>
              <a:rPr lang="en-US" altLang="zh-CN">
                <a:solidFill>
                  <a:schemeClr val="tx1"/>
                </a:solidFill>
                <a:ea typeface="楷体_GB2312" pitchFamily="49" charset="-122"/>
              </a:rPr>
            </a:br>
            <a:r>
              <a:rPr lang="en-US" altLang="zh-CN">
                <a:solidFill>
                  <a:schemeClr val="tx1"/>
                </a:solidFill>
                <a:ea typeface="楷体_GB2312" pitchFamily="49" charset="-122"/>
              </a:rPr>
              <a:t>   </a:t>
            </a:r>
            <a:r>
              <a:rPr lang="zh-CN" altLang="en-US" b="1">
                <a:solidFill>
                  <a:schemeClr val="tx1"/>
                </a:solidFill>
                <a:ea typeface="楷体_GB2312" pitchFamily="49" charset="-122"/>
              </a:rPr>
              <a:t>初始条件：</a:t>
            </a:r>
            <a:r>
              <a:rPr lang="zh-CN" altLang="en-US" sz="3600">
                <a:solidFill>
                  <a:schemeClr val="tx1"/>
                </a:solidFill>
                <a:ea typeface="楷体_GB2312" pitchFamily="49" charset="-122"/>
              </a:rPr>
              <a:t>队列</a:t>
            </a:r>
            <a:r>
              <a:rPr lang="en-US" altLang="zh-CN" sz="3600">
                <a:solidFill>
                  <a:schemeClr val="tx1"/>
                </a:solidFill>
                <a:ea typeface="楷体_GB2312" pitchFamily="49" charset="-122"/>
              </a:rPr>
              <a:t>Q</a:t>
            </a:r>
            <a:r>
              <a:rPr lang="zh-CN" altLang="en-US" sz="3600">
                <a:solidFill>
                  <a:schemeClr val="tx1"/>
                </a:solidFill>
                <a:ea typeface="楷体_GB2312" pitchFamily="49" charset="-122"/>
              </a:rPr>
              <a:t>已存在。</a:t>
            </a:r>
            <a:r>
              <a:rPr lang="zh-CN" altLang="en-US">
                <a:solidFill>
                  <a:schemeClr val="tx1"/>
                </a:solidFill>
                <a:ea typeface="楷体_GB2312" pitchFamily="49" charset="-122"/>
              </a:rPr>
              <a:t/>
            </a:r>
            <a:br>
              <a:rPr lang="zh-CN" altLang="en-US">
                <a:solidFill>
                  <a:schemeClr val="tx1"/>
                </a:solidFill>
                <a:ea typeface="楷体_GB2312" pitchFamily="49" charset="-122"/>
              </a:rPr>
            </a:br>
            <a:r>
              <a:rPr lang="zh-CN" altLang="en-US">
                <a:solidFill>
                  <a:schemeClr val="tx1"/>
                </a:solidFill>
                <a:ea typeface="楷体_GB2312" pitchFamily="49" charset="-122"/>
              </a:rPr>
              <a:t>   </a:t>
            </a:r>
            <a:r>
              <a:rPr lang="zh-CN" altLang="en-US" b="1">
                <a:solidFill>
                  <a:schemeClr val="tx1"/>
                </a:solidFill>
                <a:ea typeface="楷体_GB2312" pitchFamily="49" charset="-122"/>
              </a:rPr>
              <a:t>操作结果：</a:t>
            </a:r>
            <a:r>
              <a:rPr lang="zh-CN" altLang="en-US" sz="3600">
                <a:solidFill>
                  <a:schemeClr val="tx1"/>
                </a:solidFill>
                <a:ea typeface="楷体_GB2312" pitchFamily="49" charset="-122"/>
              </a:rPr>
              <a:t>若</a:t>
            </a:r>
            <a:r>
              <a:rPr lang="en-US" altLang="zh-CN" sz="3600">
                <a:solidFill>
                  <a:schemeClr val="tx1"/>
                </a:solidFill>
                <a:ea typeface="楷体_GB2312" pitchFamily="49" charset="-122"/>
              </a:rPr>
              <a:t>Q</a:t>
            </a:r>
            <a:r>
              <a:rPr lang="zh-CN" altLang="en-US" sz="3600">
                <a:solidFill>
                  <a:schemeClr val="tx1"/>
                </a:solidFill>
                <a:ea typeface="楷体_GB2312" pitchFamily="49" charset="-122"/>
              </a:rPr>
              <a:t>为空队列，则返回</a:t>
            </a:r>
            <a:br>
              <a:rPr lang="zh-CN" altLang="en-US" sz="3600">
                <a:solidFill>
                  <a:schemeClr val="tx1"/>
                </a:solidFill>
                <a:ea typeface="楷体_GB2312" pitchFamily="49" charset="-122"/>
              </a:rPr>
            </a:br>
            <a:r>
              <a:rPr lang="zh-CN" altLang="en-US" sz="3600">
                <a:solidFill>
                  <a:schemeClr val="tx1"/>
                </a:solidFill>
                <a:ea typeface="楷体_GB2312" pitchFamily="49" charset="-122"/>
              </a:rPr>
              <a:t>                       </a:t>
            </a:r>
            <a:r>
              <a:rPr lang="en-US" altLang="zh-CN" sz="3600">
                <a:solidFill>
                  <a:schemeClr val="tx1"/>
                </a:solidFill>
                <a:ea typeface="楷体_GB2312" pitchFamily="49" charset="-122"/>
              </a:rPr>
              <a:t>TRUE</a:t>
            </a:r>
            <a:r>
              <a:rPr lang="zh-CN" altLang="en-US" sz="3600">
                <a:solidFill>
                  <a:schemeClr val="tx1"/>
                </a:solidFill>
                <a:ea typeface="楷体_GB2312" pitchFamily="49" charset="-122"/>
              </a:rPr>
              <a:t>，否则返回</a:t>
            </a:r>
            <a:r>
              <a:rPr lang="en-US" altLang="zh-CN" sz="3600">
                <a:solidFill>
                  <a:schemeClr val="tx1"/>
                </a:solidFill>
                <a:ea typeface="楷体_GB2312" pitchFamily="49" charset="-122"/>
              </a:rPr>
              <a:t>FALSE</a:t>
            </a:r>
            <a:r>
              <a:rPr lang="zh-CN" altLang="en-US" sz="3600">
                <a:solidFill>
                  <a:schemeClr val="tx1"/>
                </a:solidFill>
                <a:ea typeface="楷体_GB2312" pitchFamily="49" charset="-122"/>
              </a:rPr>
              <a:t>。</a:t>
            </a:r>
          </a:p>
        </p:txBody>
      </p:sp>
      <p:sp>
        <p:nvSpPr>
          <p:cNvPr id="81924" name="AutoShape 3">
            <a:hlinkClick r:id="" action="ppaction://hlinkshowjump?jump=lastslideviewed" highlightClick="1"/>
          </p:cNvPr>
          <p:cNvSpPr>
            <a:spLocks noChangeArrowheads="1"/>
          </p:cNvSpPr>
          <p:nvPr/>
        </p:nvSpPr>
        <p:spPr bwMode="auto">
          <a:xfrm>
            <a:off x="8229600" y="6019800"/>
            <a:ext cx="457200" cy="436563"/>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Tree>
    <p:extLst>
      <p:ext uri="{BB962C8B-B14F-4D97-AF65-F5344CB8AC3E}">
        <p14:creationId xmlns:p14="http://schemas.microsoft.com/office/powerpoint/2010/main" val="3927822318"/>
      </p:ext>
    </p:extLst>
  </p:cSld>
  <p:clrMapOvr>
    <a:masterClrMapping/>
  </p:clrMapOvr>
  <p:transition>
    <p:pull dir="r"/>
  </p:transition>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D66B5FB-08EA-4F44-8A59-3127A4890789}" type="slidenum">
              <a:rPr lang="en-US" altLang="zh-CN" sz="1400"/>
              <a:pPr/>
              <a:t>98</a:t>
            </a:fld>
            <a:endParaRPr lang="en-US" altLang="zh-CN" sz="1400"/>
          </a:p>
        </p:txBody>
      </p:sp>
      <p:sp>
        <p:nvSpPr>
          <p:cNvPr id="82947" name="Rectangle 2"/>
          <p:cNvSpPr>
            <a:spLocks noGrp="1" noChangeArrowheads="1"/>
          </p:cNvSpPr>
          <p:nvPr>
            <p:ph type="title" idx="4294967295"/>
          </p:nvPr>
        </p:nvSpPr>
        <p:spPr>
          <a:xfrm>
            <a:off x="161510" y="2618910"/>
            <a:ext cx="7772400" cy="1143000"/>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lnSpc>
                <a:spcPct val="125000"/>
              </a:lnSpc>
            </a:pPr>
            <a:r>
              <a:rPr lang="en-US" altLang="zh-CN" dirty="0">
                <a:solidFill>
                  <a:schemeClr val="tx1"/>
                </a:solidFill>
                <a:ea typeface="楷体_GB2312" pitchFamily="49" charset="-122"/>
              </a:rPr>
              <a:t>        </a:t>
            </a:r>
            <a:r>
              <a:rPr lang="en-US" altLang="zh-CN" b="1" dirty="0" err="1">
                <a:solidFill>
                  <a:srgbClr val="800000"/>
                </a:solidFill>
                <a:ea typeface="楷体_GB2312" pitchFamily="49" charset="-122"/>
              </a:rPr>
              <a:t>QueueLength</a:t>
            </a:r>
            <a:r>
              <a:rPr lang="en-US" altLang="zh-CN" b="1" dirty="0">
                <a:solidFill>
                  <a:srgbClr val="800000"/>
                </a:solidFill>
                <a:ea typeface="楷体_GB2312" pitchFamily="49" charset="-122"/>
              </a:rPr>
              <a:t>(Q)</a:t>
            </a:r>
            <a:br>
              <a:rPr lang="en-US" altLang="zh-CN" b="1" dirty="0">
                <a:solidFill>
                  <a:srgbClr val="800000"/>
                </a:solidFill>
                <a:ea typeface="楷体_GB2312" pitchFamily="49" charset="-122"/>
              </a:rPr>
            </a:br>
            <a:r>
              <a:rPr lang="en-US" altLang="zh-CN" dirty="0">
                <a:solidFill>
                  <a:schemeClr val="tx1"/>
                </a:solidFill>
                <a:ea typeface="楷体_GB2312" pitchFamily="49" charset="-122"/>
              </a:rPr>
              <a:t/>
            </a:r>
            <a:br>
              <a:rPr lang="en-US" altLang="zh-CN" dirty="0">
                <a:solidFill>
                  <a:schemeClr val="tx1"/>
                </a:solidFill>
                <a:ea typeface="楷体_GB2312" pitchFamily="49" charset="-122"/>
              </a:rPr>
            </a:br>
            <a:r>
              <a:rPr lang="zh-CN" altLang="en-US" b="1" dirty="0">
                <a:solidFill>
                  <a:schemeClr val="tx1"/>
                </a:solidFill>
                <a:ea typeface="楷体_GB2312" pitchFamily="49" charset="-122"/>
              </a:rPr>
              <a:t>初始条件：</a:t>
            </a:r>
            <a:r>
              <a:rPr lang="zh-CN" altLang="en-US" sz="3600" dirty="0">
                <a:solidFill>
                  <a:schemeClr val="tx1"/>
                </a:solidFill>
                <a:ea typeface="楷体_GB2312" pitchFamily="49" charset="-122"/>
              </a:rPr>
              <a:t>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已存在。</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返回</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的元素个数，</a:t>
            </a:r>
            <a:br>
              <a:rPr lang="zh-CN" altLang="en-US" sz="3600" dirty="0">
                <a:solidFill>
                  <a:schemeClr val="tx1"/>
                </a:solidFill>
                <a:ea typeface="楷体_GB2312" pitchFamily="49" charset="-122"/>
              </a:rPr>
            </a:br>
            <a:r>
              <a:rPr lang="zh-CN" altLang="en-US" sz="3600" dirty="0">
                <a:solidFill>
                  <a:schemeClr val="tx1"/>
                </a:solidFill>
                <a:ea typeface="楷体_GB2312" pitchFamily="49" charset="-122"/>
              </a:rPr>
              <a:t>                          即队列的长度。</a:t>
            </a:r>
          </a:p>
        </p:txBody>
      </p:sp>
      <p:sp>
        <p:nvSpPr>
          <p:cNvPr id="82948" name="AutoShape 3">
            <a:hlinkClick r:id="" action="ppaction://hlinkshowjump?jump=lastslideviewed" highlightClick="1"/>
          </p:cNvPr>
          <p:cNvSpPr>
            <a:spLocks noChangeArrowheads="1"/>
          </p:cNvSpPr>
          <p:nvPr/>
        </p:nvSpPr>
        <p:spPr bwMode="auto">
          <a:xfrm>
            <a:off x="8097838" y="5888038"/>
            <a:ext cx="436562" cy="436562"/>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Tree>
    <p:extLst>
      <p:ext uri="{BB962C8B-B14F-4D97-AF65-F5344CB8AC3E}">
        <p14:creationId xmlns:p14="http://schemas.microsoft.com/office/powerpoint/2010/main" val="1572586966"/>
      </p:ext>
    </p:extLst>
  </p:cSld>
  <p:clrMapOvr>
    <a:masterClrMapping/>
  </p:clrMapOvr>
  <p:transition>
    <p:pull dir="r"/>
  </p:transition>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BD60041-37A7-4FB3-81F3-3E8CA370E3CF}" type="slidenum">
              <a:rPr lang="en-US" altLang="zh-CN" sz="1400"/>
              <a:pPr/>
              <a:t>99</a:t>
            </a:fld>
            <a:endParaRPr lang="en-US" altLang="zh-CN" sz="1400"/>
          </a:p>
        </p:txBody>
      </p:sp>
      <p:sp>
        <p:nvSpPr>
          <p:cNvPr id="83971" name="Rectangle 2"/>
          <p:cNvSpPr>
            <a:spLocks noGrp="1" noChangeArrowheads="1"/>
          </p:cNvSpPr>
          <p:nvPr>
            <p:ph type="title" idx="4294967295"/>
          </p:nvPr>
        </p:nvSpPr>
        <p:spPr>
          <a:xfrm>
            <a:off x="431540" y="1143000"/>
            <a:ext cx="8325925" cy="2362200"/>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lnSpc>
                <a:spcPct val="125000"/>
              </a:lnSpc>
            </a:pPr>
            <a:r>
              <a:rPr lang="en-US" altLang="zh-CN" dirty="0">
                <a:solidFill>
                  <a:schemeClr val="tx1"/>
                </a:solidFill>
                <a:ea typeface="楷体_GB2312" pitchFamily="49" charset="-122"/>
              </a:rPr>
              <a:t> </a:t>
            </a:r>
            <a:r>
              <a:rPr lang="en-US" altLang="zh-CN" b="1" dirty="0" err="1">
                <a:solidFill>
                  <a:srgbClr val="800000"/>
                </a:solidFill>
                <a:ea typeface="楷体_GB2312" pitchFamily="49" charset="-122"/>
              </a:rPr>
              <a:t>GetHead</a:t>
            </a:r>
            <a:r>
              <a:rPr lang="en-US" altLang="zh-CN" b="1" dirty="0">
                <a:solidFill>
                  <a:srgbClr val="800000"/>
                </a:solidFill>
                <a:ea typeface="楷体_GB2312" pitchFamily="49" charset="-122"/>
              </a:rPr>
              <a:t>(Q, &amp;e)</a:t>
            </a:r>
            <a:r>
              <a:rPr lang="en-US" altLang="zh-CN" dirty="0">
                <a:solidFill>
                  <a:schemeClr val="tx1"/>
                </a:solidFill>
                <a:ea typeface="楷体_GB2312" pitchFamily="49" charset="-122"/>
              </a:rPr>
              <a:t/>
            </a:r>
            <a:br>
              <a:rPr lang="en-US" altLang="zh-CN" dirty="0">
                <a:solidFill>
                  <a:schemeClr val="tx1"/>
                </a:solidFill>
                <a:ea typeface="楷体_GB2312" pitchFamily="49" charset="-122"/>
              </a:rPr>
            </a:br>
            <a:r>
              <a:rPr lang="zh-CN" altLang="en-US" b="1" dirty="0">
                <a:solidFill>
                  <a:schemeClr val="tx1"/>
                </a:solidFill>
                <a:ea typeface="楷体_GB2312" pitchFamily="49" charset="-122"/>
              </a:rPr>
              <a:t>初始条件：</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为非空队列。</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用</a:t>
            </a:r>
            <a:r>
              <a:rPr lang="en-US" altLang="zh-CN" sz="3600" dirty="0">
                <a:solidFill>
                  <a:schemeClr val="tx1"/>
                </a:solidFill>
                <a:ea typeface="楷体_GB2312" pitchFamily="49" charset="-122"/>
              </a:rPr>
              <a:t>e</a:t>
            </a:r>
            <a:r>
              <a:rPr lang="zh-CN" altLang="en-US" sz="3600" dirty="0">
                <a:solidFill>
                  <a:schemeClr val="tx1"/>
                </a:solidFill>
                <a:ea typeface="楷体_GB2312" pitchFamily="49" charset="-122"/>
              </a:rPr>
              <a:t>返回</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的队头元素。</a:t>
            </a:r>
          </a:p>
        </p:txBody>
      </p:sp>
      <p:sp>
        <p:nvSpPr>
          <p:cNvPr id="83972" name="AutoShape 3">
            <a:hlinkClick r:id="" action="ppaction://hlinkshowjump?jump=lastslideviewed" highlightClick="1"/>
          </p:cNvPr>
          <p:cNvSpPr>
            <a:spLocks noChangeArrowheads="1"/>
          </p:cNvSpPr>
          <p:nvPr/>
        </p:nvSpPr>
        <p:spPr bwMode="auto">
          <a:xfrm>
            <a:off x="8077200" y="5867400"/>
            <a:ext cx="533400" cy="457200"/>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
        <p:nvSpPr>
          <p:cNvPr id="83973" name="Line 4"/>
          <p:cNvSpPr>
            <a:spLocks noChangeShapeType="1"/>
          </p:cNvSpPr>
          <p:nvPr/>
        </p:nvSpPr>
        <p:spPr bwMode="auto">
          <a:xfrm>
            <a:off x="1447800" y="4194175"/>
            <a:ext cx="6019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4" name="Line 5"/>
          <p:cNvSpPr>
            <a:spLocks noChangeShapeType="1"/>
          </p:cNvSpPr>
          <p:nvPr/>
        </p:nvSpPr>
        <p:spPr bwMode="auto">
          <a:xfrm>
            <a:off x="1524000" y="5032375"/>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5" name="Text Box 6"/>
          <p:cNvSpPr txBox="1">
            <a:spLocks noChangeArrowheads="1"/>
          </p:cNvSpPr>
          <p:nvPr/>
        </p:nvSpPr>
        <p:spPr bwMode="auto">
          <a:xfrm>
            <a:off x="2381250" y="4244975"/>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1</a:t>
            </a:r>
            <a:endParaRPr lang="en-US" altLang="zh-CN" sz="4000"/>
          </a:p>
        </p:txBody>
      </p:sp>
      <p:sp>
        <p:nvSpPr>
          <p:cNvPr id="83976" name="Text Box 7"/>
          <p:cNvSpPr txBox="1">
            <a:spLocks noChangeArrowheads="1"/>
          </p:cNvSpPr>
          <p:nvPr/>
        </p:nvSpPr>
        <p:spPr bwMode="auto">
          <a:xfrm>
            <a:off x="2990850" y="4244975"/>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2</a:t>
            </a:r>
            <a:endParaRPr lang="en-US" altLang="zh-CN" sz="4000"/>
          </a:p>
        </p:txBody>
      </p:sp>
      <p:sp>
        <p:nvSpPr>
          <p:cNvPr id="83977" name="Text Box 8"/>
          <p:cNvSpPr txBox="1">
            <a:spLocks noChangeArrowheads="1"/>
          </p:cNvSpPr>
          <p:nvPr/>
        </p:nvSpPr>
        <p:spPr bwMode="auto">
          <a:xfrm>
            <a:off x="5962650" y="4244975"/>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n</a:t>
            </a:r>
            <a:endParaRPr lang="en-US" altLang="zh-CN" sz="4000"/>
          </a:p>
        </p:txBody>
      </p:sp>
      <p:sp>
        <p:nvSpPr>
          <p:cNvPr id="83978" name="Line 9"/>
          <p:cNvSpPr>
            <a:spLocks noChangeShapeType="1"/>
          </p:cNvSpPr>
          <p:nvPr/>
        </p:nvSpPr>
        <p:spPr bwMode="auto">
          <a:xfrm flipV="1">
            <a:off x="2667000" y="4956175"/>
            <a:ext cx="0" cy="685800"/>
          </a:xfrm>
          <a:prstGeom prst="line">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9" name="Text Box 10"/>
          <p:cNvSpPr txBox="1">
            <a:spLocks noChangeArrowheads="1"/>
          </p:cNvSpPr>
          <p:nvPr/>
        </p:nvSpPr>
        <p:spPr bwMode="auto">
          <a:xfrm>
            <a:off x="4006850" y="4191000"/>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b="1">
                <a:solidFill>
                  <a:srgbClr val="FF0000"/>
                </a:solidFill>
              </a:rPr>
              <a:t>… …</a:t>
            </a:r>
            <a:endParaRPr lang="en-US" altLang="zh-CN" sz="4000"/>
          </a:p>
        </p:txBody>
      </p:sp>
    </p:spTree>
    <p:extLst>
      <p:ext uri="{BB962C8B-B14F-4D97-AF65-F5344CB8AC3E}">
        <p14:creationId xmlns:p14="http://schemas.microsoft.com/office/powerpoint/2010/main" val="2045437158"/>
      </p:ext>
    </p:extLst>
  </p:cSld>
  <p:clrMapOvr>
    <a:masterClrMapping/>
  </p:clrMapOvr>
  <p:transition>
    <p:pull dir="r"/>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D975F825-DF91-429A-AB52-33C3ED551170}" type="slidenum">
              <a:rPr lang="en-US" altLang="zh-CN" sz="1400"/>
              <a:pPr/>
              <a:t>100</a:t>
            </a:fld>
            <a:endParaRPr lang="en-US" altLang="zh-CN" sz="1400"/>
          </a:p>
        </p:txBody>
      </p:sp>
      <p:sp>
        <p:nvSpPr>
          <p:cNvPr id="84995" name="Rectangle 2"/>
          <p:cNvSpPr>
            <a:spLocks noGrp="1" noChangeArrowheads="1"/>
          </p:cNvSpPr>
          <p:nvPr>
            <p:ph type="title" idx="4294967295"/>
          </p:nvPr>
        </p:nvSpPr>
        <p:spPr>
          <a:xfrm>
            <a:off x="533400" y="1313765"/>
            <a:ext cx="7772400" cy="2191435"/>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r>
              <a:rPr lang="en-US" altLang="zh-CN" dirty="0">
                <a:solidFill>
                  <a:schemeClr val="tx1"/>
                </a:solidFill>
                <a:ea typeface="楷体_GB2312" pitchFamily="49" charset="-122"/>
              </a:rPr>
              <a:t> </a:t>
            </a:r>
            <a:r>
              <a:rPr lang="en-US" altLang="zh-CN" b="1" dirty="0" err="1">
                <a:solidFill>
                  <a:srgbClr val="800000"/>
                </a:solidFill>
                <a:ea typeface="楷体_GB2312" pitchFamily="49" charset="-122"/>
              </a:rPr>
              <a:t>ClearQueue</a:t>
            </a:r>
            <a:r>
              <a:rPr lang="en-US" altLang="zh-CN" b="1" dirty="0">
                <a:solidFill>
                  <a:srgbClr val="800000"/>
                </a:solidFill>
                <a:ea typeface="楷体_GB2312" pitchFamily="49" charset="-122"/>
              </a:rPr>
              <a:t>(&amp;Q)</a:t>
            </a:r>
            <a:r>
              <a:rPr lang="en-US" altLang="zh-CN" b="1" dirty="0">
                <a:solidFill>
                  <a:schemeClr val="tx1"/>
                </a:solidFill>
                <a:ea typeface="楷体_GB2312" pitchFamily="49" charset="-122"/>
              </a:rPr>
              <a:t/>
            </a:r>
            <a:br>
              <a:rPr lang="en-US" altLang="zh-CN" b="1" dirty="0">
                <a:solidFill>
                  <a:schemeClr val="tx1"/>
                </a:solidFill>
                <a:ea typeface="楷体_GB2312" pitchFamily="49" charset="-122"/>
              </a:rPr>
            </a:br>
            <a:r>
              <a:rPr lang="en-US" altLang="zh-CN" dirty="0">
                <a:solidFill>
                  <a:schemeClr val="tx1"/>
                </a:solidFill>
                <a:ea typeface="楷体_GB2312" pitchFamily="49" charset="-122"/>
              </a:rPr>
              <a:t/>
            </a:r>
            <a:br>
              <a:rPr lang="en-US" altLang="zh-CN" dirty="0">
                <a:solidFill>
                  <a:schemeClr val="tx1"/>
                </a:solidFill>
                <a:ea typeface="楷体_GB2312" pitchFamily="49" charset="-122"/>
              </a:rPr>
            </a:br>
            <a:r>
              <a:rPr lang="zh-CN" altLang="en-US" b="1" dirty="0">
                <a:solidFill>
                  <a:schemeClr val="tx1"/>
                </a:solidFill>
                <a:ea typeface="楷体_GB2312" pitchFamily="49" charset="-122"/>
              </a:rPr>
              <a:t>初始条件：</a:t>
            </a:r>
            <a:r>
              <a:rPr lang="zh-CN" altLang="en-US" sz="3600" dirty="0">
                <a:solidFill>
                  <a:schemeClr val="tx1"/>
                </a:solidFill>
                <a:ea typeface="楷体_GB2312" pitchFamily="49" charset="-122"/>
              </a:rPr>
              <a:t>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已存在。</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将</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清为空队列。</a:t>
            </a:r>
          </a:p>
        </p:txBody>
      </p:sp>
      <p:sp>
        <p:nvSpPr>
          <p:cNvPr id="84996" name="AutoShape 3">
            <a:hlinkClick r:id="" action="ppaction://hlinkshowjump?jump=lastslideviewed" highlightClick="1"/>
          </p:cNvPr>
          <p:cNvSpPr>
            <a:spLocks noChangeArrowheads="1"/>
          </p:cNvSpPr>
          <p:nvPr/>
        </p:nvSpPr>
        <p:spPr bwMode="auto">
          <a:xfrm>
            <a:off x="8229600" y="5943600"/>
            <a:ext cx="381000" cy="360363"/>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Tree>
    <p:extLst>
      <p:ext uri="{BB962C8B-B14F-4D97-AF65-F5344CB8AC3E}">
        <p14:creationId xmlns:p14="http://schemas.microsoft.com/office/powerpoint/2010/main" val="441770008"/>
      </p:ext>
    </p:extLst>
  </p:cSld>
  <p:clrMapOvr>
    <a:masterClrMapping/>
  </p:clrMapOvr>
  <p:transition>
    <p:pull dir="r"/>
  </p:transition>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B8B48326-9CD4-4182-9F6C-84D7A96AD55D}" type="slidenum">
              <a:rPr lang="en-US" altLang="zh-CN" sz="1400"/>
              <a:pPr/>
              <a:t>101</a:t>
            </a:fld>
            <a:endParaRPr lang="en-US" altLang="zh-CN" sz="1400"/>
          </a:p>
        </p:txBody>
      </p:sp>
      <p:sp>
        <p:nvSpPr>
          <p:cNvPr id="86019" name="Rectangle 2"/>
          <p:cNvSpPr>
            <a:spLocks noGrp="1" noChangeArrowheads="1"/>
          </p:cNvSpPr>
          <p:nvPr>
            <p:ph type="title" idx="4294967295"/>
          </p:nvPr>
        </p:nvSpPr>
        <p:spPr>
          <a:xfrm>
            <a:off x="251520" y="990600"/>
            <a:ext cx="8435280" cy="2895600"/>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lnSpc>
                <a:spcPct val="125000"/>
              </a:lnSpc>
            </a:pPr>
            <a:r>
              <a:rPr lang="en-US" altLang="zh-CN" dirty="0">
                <a:solidFill>
                  <a:schemeClr val="tx1"/>
                </a:solidFill>
                <a:ea typeface="楷体_GB2312" pitchFamily="49" charset="-122"/>
              </a:rPr>
              <a:t> </a:t>
            </a:r>
            <a:r>
              <a:rPr lang="en-US" altLang="zh-CN" b="1" dirty="0" err="1">
                <a:solidFill>
                  <a:srgbClr val="800000"/>
                </a:solidFill>
                <a:ea typeface="楷体_GB2312" pitchFamily="49" charset="-122"/>
              </a:rPr>
              <a:t>EnQueue</a:t>
            </a:r>
            <a:r>
              <a:rPr lang="en-US" altLang="zh-CN" b="1" dirty="0">
                <a:solidFill>
                  <a:srgbClr val="800000"/>
                </a:solidFill>
                <a:ea typeface="楷体_GB2312" pitchFamily="49" charset="-122"/>
              </a:rPr>
              <a:t>(&amp;Q, e)</a:t>
            </a:r>
            <a:r>
              <a:rPr lang="en-US" altLang="zh-CN" dirty="0">
                <a:solidFill>
                  <a:schemeClr val="tx1"/>
                </a:solidFill>
                <a:ea typeface="楷体_GB2312" pitchFamily="49" charset="-122"/>
              </a:rPr>
              <a:t/>
            </a:r>
            <a:br>
              <a:rPr lang="en-US" altLang="zh-CN" dirty="0">
                <a:solidFill>
                  <a:schemeClr val="tx1"/>
                </a:solidFill>
                <a:ea typeface="楷体_GB2312" pitchFamily="49" charset="-122"/>
              </a:rPr>
            </a:br>
            <a:r>
              <a:rPr lang="zh-CN" altLang="en-US" b="1" dirty="0">
                <a:solidFill>
                  <a:schemeClr val="tx1"/>
                </a:solidFill>
                <a:ea typeface="楷体_GB2312" pitchFamily="49" charset="-122"/>
              </a:rPr>
              <a:t>初始条件：</a:t>
            </a:r>
            <a:r>
              <a:rPr lang="zh-CN" altLang="en-US" sz="3600" dirty="0">
                <a:solidFill>
                  <a:schemeClr val="tx1"/>
                </a:solidFill>
                <a:ea typeface="楷体_GB2312" pitchFamily="49" charset="-122"/>
              </a:rPr>
              <a:t>队列</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已存在。 </a:t>
            </a:r>
            <a:r>
              <a:rPr lang="zh-CN" altLang="en-US" dirty="0">
                <a:solidFill>
                  <a:schemeClr val="tx1"/>
                </a:solidFill>
                <a:ea typeface="楷体_GB2312" pitchFamily="49" charset="-122"/>
              </a:rPr>
              <a:t/>
            </a:r>
            <a:br>
              <a:rPr lang="zh-CN" altLang="en-US" dirty="0">
                <a:solidFill>
                  <a:schemeClr val="tx1"/>
                </a:solidFill>
                <a:ea typeface="楷体_GB2312" pitchFamily="49" charset="-122"/>
              </a:rPr>
            </a:br>
            <a:r>
              <a:rPr lang="zh-CN" altLang="en-US" dirty="0">
                <a:solidFill>
                  <a:schemeClr val="tx1"/>
                </a:solidFill>
                <a:ea typeface="楷体_GB2312" pitchFamily="49" charset="-122"/>
              </a:rPr>
              <a:t>        </a:t>
            </a:r>
            <a:r>
              <a:rPr lang="zh-CN" altLang="en-US" b="1" dirty="0">
                <a:solidFill>
                  <a:schemeClr val="tx1"/>
                </a:solidFill>
                <a:ea typeface="楷体_GB2312" pitchFamily="49" charset="-122"/>
              </a:rPr>
              <a:t>操作结果：</a:t>
            </a:r>
            <a:r>
              <a:rPr lang="zh-CN" altLang="en-US" sz="3600" dirty="0">
                <a:solidFill>
                  <a:schemeClr val="tx1"/>
                </a:solidFill>
                <a:ea typeface="楷体_GB2312" pitchFamily="49" charset="-122"/>
              </a:rPr>
              <a:t>插入元素</a:t>
            </a:r>
            <a:r>
              <a:rPr lang="en-US" altLang="zh-CN" sz="3600" dirty="0">
                <a:solidFill>
                  <a:schemeClr val="tx1"/>
                </a:solidFill>
                <a:ea typeface="楷体_GB2312" pitchFamily="49" charset="-122"/>
              </a:rPr>
              <a:t>e</a:t>
            </a:r>
            <a:r>
              <a:rPr lang="zh-CN" altLang="en-US" sz="3600" dirty="0">
                <a:solidFill>
                  <a:schemeClr val="tx1"/>
                </a:solidFill>
                <a:ea typeface="楷体_GB2312" pitchFamily="49" charset="-122"/>
              </a:rPr>
              <a:t>为</a:t>
            </a:r>
            <a:r>
              <a:rPr lang="en-US" altLang="zh-CN" sz="3600" dirty="0">
                <a:solidFill>
                  <a:schemeClr val="tx1"/>
                </a:solidFill>
                <a:ea typeface="楷体_GB2312" pitchFamily="49" charset="-122"/>
              </a:rPr>
              <a:t>Q</a:t>
            </a:r>
            <a:r>
              <a:rPr lang="zh-CN" altLang="en-US" sz="3600" dirty="0">
                <a:solidFill>
                  <a:schemeClr val="tx1"/>
                </a:solidFill>
                <a:ea typeface="楷体_GB2312" pitchFamily="49" charset="-122"/>
              </a:rPr>
              <a:t>的新的</a:t>
            </a:r>
            <a:br>
              <a:rPr lang="zh-CN" altLang="en-US" sz="3600" dirty="0">
                <a:solidFill>
                  <a:schemeClr val="tx1"/>
                </a:solidFill>
                <a:ea typeface="楷体_GB2312" pitchFamily="49" charset="-122"/>
              </a:rPr>
            </a:br>
            <a:r>
              <a:rPr lang="zh-CN" altLang="en-US" sz="3600" dirty="0">
                <a:solidFill>
                  <a:schemeClr val="tx1"/>
                </a:solidFill>
                <a:ea typeface="楷体_GB2312" pitchFamily="49" charset="-122"/>
              </a:rPr>
              <a:t>                  队尾元素。</a:t>
            </a:r>
          </a:p>
        </p:txBody>
      </p:sp>
      <p:sp>
        <p:nvSpPr>
          <p:cNvPr id="86020" name="AutoShape 3">
            <a:hlinkClick r:id="" action="ppaction://hlinkshowjump?jump=lastslideviewed" highlightClick="1"/>
          </p:cNvPr>
          <p:cNvSpPr>
            <a:spLocks noChangeArrowheads="1"/>
          </p:cNvSpPr>
          <p:nvPr/>
        </p:nvSpPr>
        <p:spPr bwMode="auto">
          <a:xfrm>
            <a:off x="8229600" y="6019800"/>
            <a:ext cx="457200" cy="457200"/>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
        <p:nvSpPr>
          <p:cNvPr id="86021" name="Line 4"/>
          <p:cNvSpPr>
            <a:spLocks noChangeShapeType="1"/>
          </p:cNvSpPr>
          <p:nvPr/>
        </p:nvSpPr>
        <p:spPr bwMode="auto">
          <a:xfrm>
            <a:off x="1447800" y="4724400"/>
            <a:ext cx="6172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2" name="Line 5"/>
          <p:cNvSpPr>
            <a:spLocks noChangeShapeType="1"/>
          </p:cNvSpPr>
          <p:nvPr/>
        </p:nvSpPr>
        <p:spPr bwMode="auto">
          <a:xfrm>
            <a:off x="1447800" y="5562600"/>
            <a:ext cx="6172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3" name="Text Box 6"/>
          <p:cNvSpPr txBox="1">
            <a:spLocks noChangeArrowheads="1"/>
          </p:cNvSpPr>
          <p:nvPr/>
        </p:nvSpPr>
        <p:spPr bwMode="auto">
          <a:xfrm>
            <a:off x="207645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1</a:t>
            </a:r>
            <a:endParaRPr lang="en-US" altLang="zh-CN" sz="4000"/>
          </a:p>
        </p:txBody>
      </p:sp>
      <p:sp>
        <p:nvSpPr>
          <p:cNvPr id="86024" name="Text Box 7"/>
          <p:cNvSpPr txBox="1">
            <a:spLocks noChangeArrowheads="1"/>
          </p:cNvSpPr>
          <p:nvPr/>
        </p:nvSpPr>
        <p:spPr bwMode="auto">
          <a:xfrm>
            <a:off x="268605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2</a:t>
            </a:r>
            <a:endParaRPr lang="en-US" altLang="zh-CN" sz="4000"/>
          </a:p>
        </p:txBody>
      </p:sp>
      <p:sp>
        <p:nvSpPr>
          <p:cNvPr id="86025" name="Text Box 8"/>
          <p:cNvSpPr txBox="1">
            <a:spLocks noChangeArrowheads="1"/>
          </p:cNvSpPr>
          <p:nvPr/>
        </p:nvSpPr>
        <p:spPr bwMode="auto">
          <a:xfrm>
            <a:off x="565785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n</a:t>
            </a:r>
            <a:endParaRPr lang="en-US" altLang="zh-CN" sz="4000"/>
          </a:p>
        </p:txBody>
      </p:sp>
      <p:sp>
        <p:nvSpPr>
          <p:cNvPr id="568329" name="Line 9"/>
          <p:cNvSpPr>
            <a:spLocks noChangeShapeType="1"/>
          </p:cNvSpPr>
          <p:nvPr/>
        </p:nvSpPr>
        <p:spPr bwMode="auto">
          <a:xfrm flipV="1">
            <a:off x="6553200" y="5562600"/>
            <a:ext cx="0" cy="685800"/>
          </a:xfrm>
          <a:prstGeom prst="line">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8330" name="Text Box 10"/>
          <p:cNvSpPr txBox="1">
            <a:spLocks noChangeArrowheads="1"/>
          </p:cNvSpPr>
          <p:nvPr/>
        </p:nvSpPr>
        <p:spPr bwMode="auto">
          <a:xfrm>
            <a:off x="6283325" y="4775200"/>
            <a:ext cx="54610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e </a:t>
            </a:r>
            <a:endParaRPr lang="en-US" altLang="zh-CN" sz="4000"/>
          </a:p>
        </p:txBody>
      </p:sp>
      <p:sp>
        <p:nvSpPr>
          <p:cNvPr id="86028" name="Text Box 11"/>
          <p:cNvSpPr txBox="1">
            <a:spLocks noChangeArrowheads="1"/>
          </p:cNvSpPr>
          <p:nvPr/>
        </p:nvSpPr>
        <p:spPr bwMode="auto">
          <a:xfrm>
            <a:off x="370205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b="1">
                <a:solidFill>
                  <a:srgbClr val="FF0000"/>
                </a:solidFill>
              </a:rPr>
              <a:t>… …</a:t>
            </a:r>
            <a:endParaRPr lang="en-US" altLang="zh-CN" sz="4000"/>
          </a:p>
        </p:txBody>
      </p:sp>
    </p:spTree>
    <p:extLst>
      <p:ext uri="{BB962C8B-B14F-4D97-AF65-F5344CB8AC3E}">
        <p14:creationId xmlns:p14="http://schemas.microsoft.com/office/powerpoint/2010/main" val="3051426221"/>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68330"/>
                                        </p:tgtEl>
                                        <p:attrNameLst>
                                          <p:attrName>style.visibility</p:attrName>
                                        </p:attrNameLst>
                                      </p:cBhvr>
                                      <p:to>
                                        <p:strVal val="visible"/>
                                      </p:to>
                                    </p:set>
                                    <p:anim calcmode="lin" valueType="num">
                                      <p:cBhvr additive="base">
                                        <p:cTn id="7" dur="500" fill="hold"/>
                                        <p:tgtEl>
                                          <p:spTgt spid="568330"/>
                                        </p:tgtEl>
                                        <p:attrNameLst>
                                          <p:attrName>ppt_x</p:attrName>
                                        </p:attrNameLst>
                                      </p:cBhvr>
                                      <p:tavLst>
                                        <p:tav tm="0">
                                          <p:val>
                                            <p:strVal val="1+#ppt_w/2"/>
                                          </p:val>
                                        </p:tav>
                                        <p:tav tm="100000">
                                          <p:val>
                                            <p:strVal val="#ppt_x"/>
                                          </p:val>
                                        </p:tav>
                                      </p:tavLst>
                                    </p:anim>
                                    <p:anim calcmode="lin" valueType="num">
                                      <p:cBhvr additive="base">
                                        <p:cTn id="8" dur="500" fill="hold"/>
                                        <p:tgtEl>
                                          <p:spTgt spid="56833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68329"/>
                                        </p:tgtEl>
                                        <p:attrNameLst>
                                          <p:attrName>style.visibility</p:attrName>
                                        </p:attrNameLst>
                                      </p:cBhvr>
                                      <p:to>
                                        <p:strVal val="visible"/>
                                      </p:to>
                                    </p:set>
                                    <p:anim calcmode="lin" valueType="num">
                                      <p:cBhvr additive="base">
                                        <p:cTn id="12" dur="500" fill="hold"/>
                                        <p:tgtEl>
                                          <p:spTgt spid="568329"/>
                                        </p:tgtEl>
                                        <p:attrNameLst>
                                          <p:attrName>ppt_x</p:attrName>
                                        </p:attrNameLst>
                                      </p:cBhvr>
                                      <p:tavLst>
                                        <p:tav tm="0">
                                          <p:val>
                                            <p:strVal val="1+#ppt_w/2"/>
                                          </p:val>
                                        </p:tav>
                                        <p:tav tm="100000">
                                          <p:val>
                                            <p:strVal val="#ppt_x"/>
                                          </p:val>
                                        </p:tav>
                                      </p:tavLst>
                                    </p:anim>
                                    <p:anim calcmode="lin" valueType="num">
                                      <p:cBhvr additive="base">
                                        <p:cTn id="13" dur="500" fill="hold"/>
                                        <p:tgtEl>
                                          <p:spTgt spid="5683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9" grpId="0" animBg="1"/>
      <p:bldP spid="568330" grpId="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C2D607B-7E61-48B7-99BD-8F2CE1262330}" type="slidenum">
              <a:rPr lang="en-US" altLang="zh-CN" sz="1400"/>
              <a:pPr/>
              <a:t>102</a:t>
            </a:fld>
            <a:endParaRPr lang="en-US" altLang="zh-CN" sz="1400"/>
          </a:p>
        </p:txBody>
      </p:sp>
      <p:sp>
        <p:nvSpPr>
          <p:cNvPr id="87043" name="Rectangle 2"/>
          <p:cNvSpPr>
            <a:spLocks noGrp="1" noChangeArrowheads="1"/>
          </p:cNvSpPr>
          <p:nvPr>
            <p:ph type="title" idx="4294967295"/>
          </p:nvPr>
        </p:nvSpPr>
        <p:spPr>
          <a:xfrm>
            <a:off x="228600" y="1600200"/>
            <a:ext cx="8305800" cy="1143000"/>
          </a:xfrm>
        </p:spPr>
        <p:txBody>
          <a:bodyPr/>
          <a:lstStyle/>
          <a:p>
            <a:pPr eaLnBrk="1" hangingPunct="1">
              <a:lnSpc>
                <a:spcPct val="125000"/>
              </a:lnSpc>
            </a:pPr>
            <a:r>
              <a:rPr lang="en-US" altLang="zh-CN">
                <a:solidFill>
                  <a:schemeClr val="tx1"/>
                </a:solidFill>
                <a:ea typeface="楷体_GB2312" pitchFamily="49" charset="-122"/>
              </a:rPr>
              <a:t>  </a:t>
            </a:r>
            <a:r>
              <a:rPr lang="en-US" altLang="zh-CN" b="1">
                <a:solidFill>
                  <a:srgbClr val="800000"/>
                </a:solidFill>
                <a:ea typeface="楷体_GB2312" pitchFamily="49" charset="-122"/>
              </a:rPr>
              <a:t>DeQueue(&amp;Q, &amp;e)</a:t>
            </a:r>
            <a:r>
              <a:rPr lang="en-US" altLang="zh-CN">
                <a:solidFill>
                  <a:schemeClr val="tx1"/>
                </a:solidFill>
                <a:ea typeface="楷体_GB2312" pitchFamily="49" charset="-122"/>
              </a:rPr>
              <a:t/>
            </a:r>
            <a:br>
              <a:rPr lang="en-US" altLang="zh-CN">
                <a:solidFill>
                  <a:schemeClr val="tx1"/>
                </a:solidFill>
                <a:ea typeface="楷体_GB2312" pitchFamily="49" charset="-122"/>
              </a:rPr>
            </a:br>
            <a:r>
              <a:rPr lang="en-US" altLang="zh-CN">
                <a:solidFill>
                  <a:schemeClr val="tx1"/>
                </a:solidFill>
                <a:ea typeface="楷体_GB2312" pitchFamily="49" charset="-122"/>
              </a:rPr>
              <a:t> </a:t>
            </a:r>
            <a:r>
              <a:rPr lang="zh-CN" altLang="en-US" b="1">
                <a:solidFill>
                  <a:schemeClr val="tx1"/>
                </a:solidFill>
                <a:ea typeface="楷体_GB2312" pitchFamily="49" charset="-122"/>
              </a:rPr>
              <a:t>初始条件：</a:t>
            </a:r>
            <a:r>
              <a:rPr lang="en-US" altLang="zh-CN" sz="3600">
                <a:solidFill>
                  <a:schemeClr val="tx1"/>
                </a:solidFill>
                <a:ea typeface="楷体_GB2312" pitchFamily="49" charset="-122"/>
              </a:rPr>
              <a:t>Q</a:t>
            </a:r>
            <a:r>
              <a:rPr lang="zh-CN" altLang="en-US" sz="3600">
                <a:solidFill>
                  <a:schemeClr val="tx1"/>
                </a:solidFill>
                <a:ea typeface="楷体_GB2312" pitchFamily="49" charset="-122"/>
              </a:rPr>
              <a:t>为非空队列。</a:t>
            </a:r>
            <a:r>
              <a:rPr lang="zh-CN" altLang="en-US">
                <a:solidFill>
                  <a:schemeClr val="tx1"/>
                </a:solidFill>
                <a:ea typeface="楷体_GB2312" pitchFamily="49" charset="-122"/>
              </a:rPr>
              <a:t/>
            </a:r>
            <a:br>
              <a:rPr lang="zh-CN" altLang="en-US">
                <a:solidFill>
                  <a:schemeClr val="tx1"/>
                </a:solidFill>
                <a:ea typeface="楷体_GB2312" pitchFamily="49" charset="-122"/>
              </a:rPr>
            </a:br>
            <a:r>
              <a:rPr lang="zh-CN" altLang="en-US">
                <a:solidFill>
                  <a:schemeClr val="tx1"/>
                </a:solidFill>
                <a:ea typeface="楷体_GB2312" pitchFamily="49" charset="-122"/>
              </a:rPr>
              <a:t>       </a:t>
            </a:r>
            <a:r>
              <a:rPr lang="zh-CN" altLang="en-US" b="1">
                <a:solidFill>
                  <a:schemeClr val="tx1"/>
                </a:solidFill>
                <a:ea typeface="楷体_GB2312" pitchFamily="49" charset="-122"/>
              </a:rPr>
              <a:t>操作结果：</a:t>
            </a:r>
            <a:r>
              <a:rPr lang="zh-CN" altLang="en-US" sz="3600">
                <a:solidFill>
                  <a:schemeClr val="tx1"/>
                </a:solidFill>
                <a:ea typeface="楷体_GB2312" pitchFamily="49" charset="-122"/>
              </a:rPr>
              <a:t>删除</a:t>
            </a:r>
            <a:r>
              <a:rPr lang="en-US" altLang="zh-CN" sz="3600">
                <a:solidFill>
                  <a:schemeClr val="tx1"/>
                </a:solidFill>
                <a:ea typeface="楷体_GB2312" pitchFamily="49" charset="-122"/>
              </a:rPr>
              <a:t>Q</a:t>
            </a:r>
            <a:r>
              <a:rPr lang="zh-CN" altLang="en-US" sz="3600">
                <a:solidFill>
                  <a:schemeClr val="tx1"/>
                </a:solidFill>
                <a:ea typeface="楷体_GB2312" pitchFamily="49" charset="-122"/>
              </a:rPr>
              <a:t>的队头元素，</a:t>
            </a:r>
            <a:br>
              <a:rPr lang="zh-CN" altLang="en-US" sz="3600">
                <a:solidFill>
                  <a:schemeClr val="tx1"/>
                </a:solidFill>
                <a:ea typeface="楷体_GB2312" pitchFamily="49" charset="-122"/>
              </a:rPr>
            </a:br>
            <a:r>
              <a:rPr lang="zh-CN" altLang="en-US" sz="3600">
                <a:solidFill>
                  <a:schemeClr val="tx1"/>
                </a:solidFill>
                <a:ea typeface="楷体_GB2312" pitchFamily="49" charset="-122"/>
              </a:rPr>
              <a:t>                            并用</a:t>
            </a:r>
            <a:r>
              <a:rPr lang="en-US" altLang="zh-CN" sz="3600">
                <a:solidFill>
                  <a:schemeClr val="tx1"/>
                </a:solidFill>
                <a:ea typeface="楷体_GB2312" pitchFamily="49" charset="-122"/>
              </a:rPr>
              <a:t>e</a:t>
            </a:r>
            <a:r>
              <a:rPr lang="zh-CN" altLang="en-US" sz="3600">
                <a:solidFill>
                  <a:schemeClr val="tx1"/>
                </a:solidFill>
                <a:ea typeface="楷体_GB2312" pitchFamily="49" charset="-122"/>
              </a:rPr>
              <a:t>返回其值。</a:t>
            </a:r>
          </a:p>
        </p:txBody>
      </p:sp>
      <p:sp>
        <p:nvSpPr>
          <p:cNvPr id="87044" name="AutoShape 3">
            <a:hlinkClick r:id="" action="ppaction://hlinkshowjump?jump=lastslideviewed" highlightClick="1"/>
          </p:cNvPr>
          <p:cNvSpPr>
            <a:spLocks noChangeArrowheads="1"/>
          </p:cNvSpPr>
          <p:nvPr/>
        </p:nvSpPr>
        <p:spPr bwMode="auto">
          <a:xfrm>
            <a:off x="8153400" y="5943600"/>
            <a:ext cx="381000" cy="360363"/>
          </a:xfrm>
          <a:prstGeom prst="actionButtonReturn">
            <a:avLst/>
          </a:prstGeom>
          <a:solidFill>
            <a:srgbClr val="FF6600"/>
          </a:solidFill>
          <a:ln w="9525">
            <a:solidFill>
              <a:srgbClr val="A50021"/>
            </a:solidFill>
            <a:miter lim="800000"/>
            <a:headEnd/>
            <a:tailEnd/>
          </a:ln>
        </p:spPr>
        <p:txBody>
          <a:bodyPr wrap="none" anchor="ctr"/>
          <a:lstStyle/>
          <a:p>
            <a:pPr eaLnBrk="1" hangingPunct="1"/>
            <a:endParaRPr lang="zh-CN" altLang="en-US"/>
          </a:p>
        </p:txBody>
      </p:sp>
      <p:sp>
        <p:nvSpPr>
          <p:cNvPr id="87045" name="Line 4"/>
          <p:cNvSpPr>
            <a:spLocks noChangeShapeType="1"/>
          </p:cNvSpPr>
          <p:nvPr/>
        </p:nvSpPr>
        <p:spPr bwMode="auto">
          <a:xfrm>
            <a:off x="1905000" y="4724400"/>
            <a:ext cx="556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46" name="Line 5"/>
          <p:cNvSpPr>
            <a:spLocks noChangeShapeType="1"/>
          </p:cNvSpPr>
          <p:nvPr/>
        </p:nvSpPr>
        <p:spPr bwMode="auto">
          <a:xfrm>
            <a:off x="1905000" y="5562600"/>
            <a:ext cx="556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47" name="Text Box 6"/>
          <p:cNvSpPr txBox="1">
            <a:spLocks noChangeArrowheads="1"/>
          </p:cNvSpPr>
          <p:nvPr/>
        </p:nvSpPr>
        <p:spPr bwMode="auto">
          <a:xfrm>
            <a:off x="243840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1</a:t>
            </a:r>
            <a:endParaRPr lang="en-US" altLang="zh-CN" sz="4000"/>
          </a:p>
        </p:txBody>
      </p:sp>
      <p:sp>
        <p:nvSpPr>
          <p:cNvPr id="87048" name="Text Box 7"/>
          <p:cNvSpPr txBox="1">
            <a:spLocks noChangeArrowheads="1"/>
          </p:cNvSpPr>
          <p:nvPr/>
        </p:nvSpPr>
        <p:spPr bwMode="auto">
          <a:xfrm>
            <a:off x="304800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2</a:t>
            </a:r>
            <a:endParaRPr lang="en-US" altLang="zh-CN" sz="4000"/>
          </a:p>
        </p:txBody>
      </p:sp>
      <p:sp>
        <p:nvSpPr>
          <p:cNvPr id="87049" name="Text Box 8"/>
          <p:cNvSpPr txBox="1">
            <a:spLocks noChangeArrowheads="1"/>
          </p:cNvSpPr>
          <p:nvPr/>
        </p:nvSpPr>
        <p:spPr bwMode="auto">
          <a:xfrm>
            <a:off x="6019800" y="4775200"/>
            <a:ext cx="590550" cy="711200"/>
          </a:xfrm>
          <a:prstGeom prst="rect">
            <a:avLst/>
          </a:prstGeom>
          <a:solidFill>
            <a:srgbClr val="FFFFCC"/>
          </a:solidFill>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solidFill>
                  <a:srgbClr val="FF0000"/>
                </a:solidFill>
              </a:rPr>
              <a:t>a</a:t>
            </a:r>
            <a:r>
              <a:rPr lang="en-US" altLang="zh-CN" sz="4100" baseline="-25000">
                <a:solidFill>
                  <a:srgbClr val="FF0000"/>
                </a:solidFill>
              </a:rPr>
              <a:t>n</a:t>
            </a:r>
            <a:endParaRPr lang="en-US" altLang="zh-CN" sz="4000"/>
          </a:p>
        </p:txBody>
      </p:sp>
      <p:sp>
        <p:nvSpPr>
          <p:cNvPr id="569353" name="Line 9"/>
          <p:cNvSpPr>
            <a:spLocks noChangeShapeType="1"/>
          </p:cNvSpPr>
          <p:nvPr/>
        </p:nvSpPr>
        <p:spPr bwMode="auto">
          <a:xfrm flipV="1">
            <a:off x="3352800" y="5562600"/>
            <a:ext cx="0" cy="685800"/>
          </a:xfrm>
          <a:prstGeom prst="line">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051" name="Text Box 10"/>
          <p:cNvSpPr txBox="1">
            <a:spLocks noChangeArrowheads="1"/>
          </p:cNvSpPr>
          <p:nvPr/>
        </p:nvSpPr>
        <p:spPr bwMode="auto">
          <a:xfrm>
            <a:off x="4064000" y="4721225"/>
            <a:ext cx="132715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b="1">
                <a:solidFill>
                  <a:srgbClr val="FF0000"/>
                </a:solidFill>
              </a:rPr>
              <a:t>… …</a:t>
            </a:r>
            <a:endParaRPr lang="en-US" altLang="zh-CN" sz="4000"/>
          </a:p>
        </p:txBody>
      </p:sp>
      <p:sp useBgFill="1">
        <p:nvSpPr>
          <p:cNvPr id="569355" name="Text Box 11"/>
          <p:cNvSpPr txBox="1">
            <a:spLocks noChangeArrowheads="1"/>
          </p:cNvSpPr>
          <p:nvPr/>
        </p:nvSpPr>
        <p:spPr bwMode="auto">
          <a:xfrm>
            <a:off x="2438400" y="4775200"/>
            <a:ext cx="574675" cy="711200"/>
          </a:xfrm>
          <a:prstGeom prst="rect">
            <a:avLst/>
          </a:prstGeom>
          <a:ln w="9525">
            <a:solidFill>
              <a:srgbClr val="800000"/>
            </a:solidFill>
            <a:miter lim="800000"/>
            <a:headEnd/>
            <a:tailEnd/>
          </a:ln>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000"/>
              <a:t>   </a:t>
            </a:r>
          </a:p>
        </p:txBody>
      </p:sp>
    </p:spTree>
    <p:extLst>
      <p:ext uri="{BB962C8B-B14F-4D97-AF65-F5344CB8AC3E}">
        <p14:creationId xmlns:p14="http://schemas.microsoft.com/office/powerpoint/2010/main" val="2160587782"/>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9355"/>
                                        </p:tgtEl>
                                        <p:attrNameLst>
                                          <p:attrName>style.visibility</p:attrName>
                                        </p:attrNameLst>
                                      </p:cBhvr>
                                      <p:to>
                                        <p:strVal val="visible"/>
                                      </p:to>
                                    </p:set>
                                  </p:childTnLst>
                                </p:cTn>
                              </p:par>
                            </p:childTnLst>
                          </p:cTn>
                        </p:par>
                        <p:par>
                          <p:cTn id="7" fill="hold" nodeType="afterGroup">
                            <p:stCondLst>
                              <p:cond delay="500"/>
                            </p:stCondLst>
                            <p:childTnLst>
                              <p:par>
                                <p:cTn id="8" presetID="12" presetClass="entr" presetSubtype="8" fill="hold" grpId="0" nodeType="afterEffect">
                                  <p:stCondLst>
                                    <p:cond delay="0"/>
                                  </p:stCondLst>
                                  <p:childTnLst>
                                    <p:set>
                                      <p:cBhvr>
                                        <p:cTn id="9" dur="1" fill="hold">
                                          <p:stCondLst>
                                            <p:cond delay="0"/>
                                          </p:stCondLst>
                                        </p:cTn>
                                        <p:tgtEl>
                                          <p:spTgt spid="569353"/>
                                        </p:tgtEl>
                                        <p:attrNameLst>
                                          <p:attrName>style.visibility</p:attrName>
                                        </p:attrNameLst>
                                      </p:cBhvr>
                                      <p:to>
                                        <p:strVal val="visible"/>
                                      </p:to>
                                    </p:set>
                                    <p:animEffect transition="in" filter="slide(fromLeft)">
                                      <p:cBhvr>
                                        <p:cTn id="10" dur="500"/>
                                        <p:tgtEl>
                                          <p:spTgt spid="569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53" grpId="0" animBg="1"/>
      <p:bldP spid="569355"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00545A30-D8DF-4890-91E8-9750FA287194}" type="slidenum">
              <a:rPr lang="en-US" altLang="zh-CN" sz="1400"/>
              <a:pPr/>
              <a:t>103</a:t>
            </a:fld>
            <a:endParaRPr lang="en-US" altLang="zh-CN" sz="1400"/>
          </a:p>
        </p:txBody>
      </p:sp>
      <p:sp>
        <p:nvSpPr>
          <p:cNvPr id="88067" name="Text Box 2"/>
          <p:cNvSpPr txBox="1">
            <a:spLocks noChangeArrowheads="1"/>
          </p:cNvSpPr>
          <p:nvPr/>
        </p:nvSpPr>
        <p:spPr bwMode="auto">
          <a:xfrm>
            <a:off x="1463675" y="685800"/>
            <a:ext cx="60801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4400" b="1">
                <a:solidFill>
                  <a:srgbClr val="800000"/>
                </a:solidFill>
                <a:ea typeface="楷体_GB2312" pitchFamily="49" charset="-122"/>
              </a:rPr>
              <a:t>QueueTravers(Q, visit())</a:t>
            </a:r>
          </a:p>
        </p:txBody>
      </p:sp>
      <p:sp>
        <p:nvSpPr>
          <p:cNvPr id="88068" name="Rectangle 3"/>
          <p:cNvSpPr>
            <a:spLocks noChangeArrowheads="1"/>
          </p:cNvSpPr>
          <p:nvPr/>
        </p:nvSpPr>
        <p:spPr bwMode="auto">
          <a:xfrm>
            <a:off x="228600" y="1752600"/>
            <a:ext cx="87630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pPr eaLnBrk="1" hangingPunct="1">
              <a:lnSpc>
                <a:spcPct val="125000"/>
              </a:lnSpc>
            </a:pPr>
            <a:r>
              <a:rPr lang="en-US" altLang="zh-CN" sz="4400" b="1">
                <a:ea typeface="楷体_GB2312" pitchFamily="49" charset="-122"/>
              </a:rPr>
              <a:t>   </a:t>
            </a:r>
            <a:r>
              <a:rPr lang="zh-CN" altLang="en-US" sz="4400" b="1">
                <a:ea typeface="楷体_GB2312" pitchFamily="49" charset="-122"/>
              </a:rPr>
              <a:t>初始条件：</a:t>
            </a:r>
            <a:r>
              <a:rPr lang="en-US" altLang="zh-CN" sz="3600">
                <a:ea typeface="楷体_GB2312" pitchFamily="49" charset="-122"/>
              </a:rPr>
              <a:t>Q</a:t>
            </a:r>
            <a:r>
              <a:rPr lang="zh-CN" altLang="en-US" sz="3600">
                <a:ea typeface="楷体_GB2312" pitchFamily="49" charset="-122"/>
              </a:rPr>
              <a:t>为非空队列。</a:t>
            </a:r>
            <a:r>
              <a:rPr lang="zh-CN" altLang="en-US" sz="4400">
                <a:ea typeface="楷体_GB2312" pitchFamily="49" charset="-122"/>
              </a:rPr>
              <a:t/>
            </a:r>
            <a:br>
              <a:rPr lang="zh-CN" altLang="en-US" sz="4400">
                <a:ea typeface="楷体_GB2312" pitchFamily="49" charset="-122"/>
              </a:rPr>
            </a:br>
            <a:r>
              <a:rPr lang="zh-CN" altLang="en-US" sz="4400">
                <a:ea typeface="楷体_GB2312" pitchFamily="49" charset="-122"/>
              </a:rPr>
              <a:t>   </a:t>
            </a:r>
            <a:r>
              <a:rPr lang="zh-CN" altLang="en-US" sz="4400" b="1">
                <a:ea typeface="楷体_GB2312" pitchFamily="49" charset="-122"/>
              </a:rPr>
              <a:t>操作结果：</a:t>
            </a:r>
            <a:r>
              <a:rPr lang="zh-CN" altLang="en-US" sz="3600">
                <a:ea typeface="楷体_GB2312" pitchFamily="49" charset="-122"/>
              </a:rPr>
              <a:t>从队头到队尾，依次对</a:t>
            </a:r>
            <a:r>
              <a:rPr lang="en-US" altLang="zh-CN" sz="3600">
                <a:ea typeface="楷体_GB2312" pitchFamily="49" charset="-122"/>
              </a:rPr>
              <a:t>Q</a:t>
            </a:r>
          </a:p>
          <a:p>
            <a:pPr eaLnBrk="1" hangingPunct="1">
              <a:lnSpc>
                <a:spcPct val="125000"/>
              </a:lnSpc>
            </a:pPr>
            <a:r>
              <a:rPr lang="en-US" altLang="zh-CN" sz="3600">
                <a:ea typeface="楷体_GB2312" pitchFamily="49" charset="-122"/>
              </a:rPr>
              <a:t>                       </a:t>
            </a:r>
            <a:r>
              <a:rPr lang="zh-CN" altLang="en-US" sz="3600">
                <a:ea typeface="楷体_GB2312" pitchFamily="49" charset="-122"/>
              </a:rPr>
              <a:t>的每个数据元素调用函数</a:t>
            </a:r>
          </a:p>
          <a:p>
            <a:pPr eaLnBrk="1" hangingPunct="1">
              <a:lnSpc>
                <a:spcPct val="125000"/>
              </a:lnSpc>
            </a:pPr>
            <a:r>
              <a:rPr lang="zh-CN" altLang="en-US" sz="3600">
                <a:ea typeface="楷体_GB2312" pitchFamily="49" charset="-122"/>
              </a:rPr>
              <a:t>                       </a:t>
            </a:r>
            <a:r>
              <a:rPr lang="en-US" altLang="zh-CN" sz="3600">
                <a:ea typeface="楷体_GB2312" pitchFamily="49" charset="-122"/>
              </a:rPr>
              <a:t>visit()</a:t>
            </a:r>
            <a:r>
              <a:rPr lang="zh-CN" altLang="en-US" sz="3600">
                <a:ea typeface="楷体_GB2312" pitchFamily="49" charset="-122"/>
              </a:rPr>
              <a:t>。一旦</a:t>
            </a:r>
            <a:r>
              <a:rPr lang="en-US" altLang="zh-CN" sz="3600">
                <a:ea typeface="楷体_GB2312" pitchFamily="49" charset="-122"/>
              </a:rPr>
              <a:t>Visit()</a:t>
            </a:r>
            <a:r>
              <a:rPr lang="zh-CN" altLang="en-US" sz="3600">
                <a:ea typeface="楷体_GB2312" pitchFamily="49" charset="-122"/>
              </a:rPr>
              <a:t>失败，</a:t>
            </a:r>
          </a:p>
          <a:p>
            <a:pPr eaLnBrk="1" hangingPunct="1">
              <a:lnSpc>
                <a:spcPct val="125000"/>
              </a:lnSpc>
            </a:pPr>
            <a:r>
              <a:rPr lang="zh-CN" altLang="en-US" sz="3600">
                <a:ea typeface="楷体_GB2312" pitchFamily="49" charset="-122"/>
              </a:rPr>
              <a:t>                       则操作失败。</a:t>
            </a:r>
          </a:p>
        </p:txBody>
      </p:sp>
    </p:spTree>
    <p:extLst>
      <p:ext uri="{BB962C8B-B14F-4D97-AF65-F5344CB8AC3E}">
        <p14:creationId xmlns:p14="http://schemas.microsoft.com/office/powerpoint/2010/main" val="33987173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B266DAF-2A0E-4F50-A000-2EAF9E6E4F22}" type="slidenum">
              <a:rPr lang="en-US" altLang="zh-CN" sz="1400"/>
              <a:pPr/>
              <a:t>104</a:t>
            </a:fld>
            <a:endParaRPr lang="en-US" altLang="zh-CN" sz="1400"/>
          </a:p>
        </p:txBody>
      </p:sp>
      <p:sp>
        <p:nvSpPr>
          <p:cNvPr id="89091" name="Text Box 2"/>
          <p:cNvSpPr txBox="1">
            <a:spLocks noChangeArrowheads="1"/>
          </p:cNvSpPr>
          <p:nvPr/>
        </p:nvSpPr>
        <p:spPr bwMode="auto">
          <a:xfrm>
            <a:off x="685800" y="788988"/>
            <a:ext cx="3323346"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en-US" altLang="zh-CN" sz="5400" b="1" dirty="0">
                <a:latin typeface="楷体_GB2312" pitchFamily="49" charset="-122"/>
                <a:ea typeface="楷体_GB2312" pitchFamily="49" charset="-122"/>
              </a:rPr>
              <a:t>3.4  </a:t>
            </a:r>
            <a:r>
              <a:rPr lang="zh-CN" altLang="en-US" sz="5400" b="1" dirty="0">
                <a:latin typeface="楷体_GB2312" pitchFamily="49" charset="-122"/>
                <a:ea typeface="楷体_GB2312" pitchFamily="49" charset="-122"/>
              </a:rPr>
              <a:t>队列</a:t>
            </a:r>
          </a:p>
        </p:txBody>
      </p:sp>
      <p:sp>
        <p:nvSpPr>
          <p:cNvPr id="571395" name="Text Box 3">
            <a:hlinkClick r:id="rId2" action="ppaction://hlinksldjump"/>
          </p:cNvPr>
          <p:cNvSpPr txBox="1">
            <a:spLocks noChangeArrowheads="1"/>
          </p:cNvSpPr>
          <p:nvPr/>
        </p:nvSpPr>
        <p:spPr bwMode="auto">
          <a:xfrm>
            <a:off x="1096963" y="3883025"/>
            <a:ext cx="6411912"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800" b="1">
                <a:solidFill>
                  <a:srgbClr val="800000"/>
                </a:solidFill>
                <a:ea typeface="楷体_GB2312" pitchFamily="49" charset="-122"/>
              </a:rPr>
              <a:t>链 队  列 </a:t>
            </a:r>
            <a:r>
              <a:rPr lang="en-US" altLang="zh-CN" sz="4800">
                <a:ea typeface="楷体_GB2312" pitchFamily="49" charset="-122"/>
              </a:rPr>
              <a:t>——</a:t>
            </a:r>
            <a:r>
              <a:rPr lang="zh-CN" altLang="en-US" sz="4800">
                <a:ea typeface="楷体_GB2312" pitchFamily="49" charset="-122"/>
              </a:rPr>
              <a:t>链式映象</a:t>
            </a:r>
            <a:endParaRPr lang="zh-CN" altLang="en-US" sz="3600">
              <a:ea typeface="楷体_GB2312" pitchFamily="49" charset="-122"/>
            </a:endParaRPr>
          </a:p>
        </p:txBody>
      </p:sp>
      <p:sp>
        <p:nvSpPr>
          <p:cNvPr id="571396" name="Text Box 4">
            <a:hlinkClick r:id="rId3" action="ppaction://hlinksldjump"/>
          </p:cNvPr>
          <p:cNvSpPr txBox="1">
            <a:spLocks noChangeArrowheads="1"/>
          </p:cNvSpPr>
          <p:nvPr/>
        </p:nvSpPr>
        <p:spPr bwMode="auto">
          <a:xfrm>
            <a:off x="1066800" y="2587625"/>
            <a:ext cx="645160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800" b="1">
                <a:solidFill>
                  <a:srgbClr val="800000"/>
                </a:solidFill>
                <a:ea typeface="楷体_GB2312" pitchFamily="49" charset="-122"/>
              </a:rPr>
              <a:t>循环队列 </a:t>
            </a:r>
            <a:r>
              <a:rPr lang="en-US" altLang="zh-CN" sz="4800">
                <a:ea typeface="楷体_GB2312" pitchFamily="49" charset="-122"/>
              </a:rPr>
              <a:t>——</a:t>
            </a:r>
            <a:r>
              <a:rPr lang="zh-CN" altLang="en-US" sz="4800">
                <a:ea typeface="楷体_GB2312" pitchFamily="49" charset="-122"/>
              </a:rPr>
              <a:t>顺序映象</a:t>
            </a:r>
            <a:endParaRPr lang="zh-CN" altLang="en-US" sz="2000">
              <a:ea typeface="楷体_GB2312" pitchFamily="49" charset="-122"/>
            </a:endParaRPr>
          </a:p>
        </p:txBody>
      </p:sp>
    </p:spTree>
    <p:extLst>
      <p:ext uri="{BB962C8B-B14F-4D97-AF65-F5344CB8AC3E}">
        <p14:creationId xmlns:p14="http://schemas.microsoft.com/office/powerpoint/2010/main" val="244694228"/>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1396"/>
                                        </p:tgtEl>
                                        <p:attrNameLst>
                                          <p:attrName>style.visibility</p:attrName>
                                        </p:attrNameLst>
                                      </p:cBhvr>
                                      <p:to>
                                        <p:strVal val="visible"/>
                                      </p:to>
                                    </p:set>
                                    <p:anim calcmode="lin" valueType="num">
                                      <p:cBhvr additive="base">
                                        <p:cTn id="7" dur="500" fill="hold"/>
                                        <p:tgtEl>
                                          <p:spTgt spid="571396"/>
                                        </p:tgtEl>
                                        <p:attrNameLst>
                                          <p:attrName>ppt_x</p:attrName>
                                        </p:attrNameLst>
                                      </p:cBhvr>
                                      <p:tavLst>
                                        <p:tav tm="0">
                                          <p:val>
                                            <p:strVal val="0-#ppt_w/2"/>
                                          </p:val>
                                        </p:tav>
                                        <p:tav tm="100000">
                                          <p:val>
                                            <p:strVal val="#ppt_x"/>
                                          </p:val>
                                        </p:tav>
                                      </p:tavLst>
                                    </p:anim>
                                    <p:anim calcmode="lin" valueType="num">
                                      <p:cBhvr additive="base">
                                        <p:cTn id="8" dur="500" fill="hold"/>
                                        <p:tgtEl>
                                          <p:spTgt spid="5713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1395"/>
                                        </p:tgtEl>
                                        <p:attrNameLst>
                                          <p:attrName>style.visibility</p:attrName>
                                        </p:attrNameLst>
                                      </p:cBhvr>
                                      <p:to>
                                        <p:strVal val="visible"/>
                                      </p:to>
                                    </p:set>
                                    <p:anim calcmode="lin" valueType="num">
                                      <p:cBhvr additive="base">
                                        <p:cTn id="13" dur="500" fill="hold"/>
                                        <p:tgtEl>
                                          <p:spTgt spid="571395"/>
                                        </p:tgtEl>
                                        <p:attrNameLst>
                                          <p:attrName>ppt_x</p:attrName>
                                        </p:attrNameLst>
                                      </p:cBhvr>
                                      <p:tavLst>
                                        <p:tav tm="0">
                                          <p:val>
                                            <p:strVal val="0-#ppt_w/2"/>
                                          </p:val>
                                        </p:tav>
                                        <p:tav tm="100000">
                                          <p:val>
                                            <p:strVal val="#ppt_x"/>
                                          </p:val>
                                        </p:tav>
                                      </p:tavLst>
                                    </p:anim>
                                    <p:anim calcmode="lin" valueType="num">
                                      <p:cBhvr additive="base">
                                        <p:cTn id="14" dur="500" fill="hold"/>
                                        <p:tgtEl>
                                          <p:spTgt spid="5713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autoUpdateAnimBg="0"/>
      <p:bldP spid="571396"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5C7A7E1-0F3C-4C15-8951-CEABDE474740}" type="slidenum">
              <a:rPr lang="en-US" altLang="zh-CN" sz="1400"/>
              <a:pPr/>
              <a:t>105</a:t>
            </a:fld>
            <a:endParaRPr lang="en-US" altLang="zh-CN" sz="1400"/>
          </a:p>
        </p:txBody>
      </p:sp>
      <p:sp>
        <p:nvSpPr>
          <p:cNvPr id="90115" name="Rectangle 1026"/>
          <p:cNvSpPr>
            <a:spLocks noChangeArrowheads="1"/>
          </p:cNvSpPr>
          <p:nvPr/>
        </p:nvSpPr>
        <p:spPr bwMode="auto">
          <a:xfrm>
            <a:off x="685800" y="762000"/>
            <a:ext cx="777240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en-US" altLang="zh-CN" sz="4400" b="1" dirty="0">
                <a:solidFill>
                  <a:srgbClr val="A50021"/>
                </a:solidFill>
                <a:latin typeface="楷体_GB2312" pitchFamily="49" charset="-122"/>
                <a:ea typeface="楷体_GB2312" pitchFamily="49" charset="-122"/>
              </a:rPr>
              <a:t>1</a:t>
            </a:r>
            <a:r>
              <a:rPr lang="zh-CN" altLang="en-US" sz="4400" b="1" dirty="0">
                <a:solidFill>
                  <a:srgbClr val="A50021"/>
                </a:solidFill>
                <a:latin typeface="楷体_GB2312" pitchFamily="49" charset="-122"/>
                <a:ea typeface="楷体_GB2312" pitchFamily="49" charset="-122"/>
              </a:rPr>
              <a:t>、队列的顺序存储结构</a:t>
            </a:r>
            <a:endParaRPr lang="zh-CN" altLang="en-US" sz="6000" b="1" dirty="0">
              <a:solidFill>
                <a:srgbClr val="A50021"/>
              </a:solidFill>
              <a:latin typeface="楷体_GB2312" pitchFamily="49" charset="-122"/>
              <a:ea typeface="楷体_GB2312" pitchFamily="49" charset="-122"/>
            </a:endParaRPr>
          </a:p>
        </p:txBody>
      </p:sp>
      <p:sp>
        <p:nvSpPr>
          <p:cNvPr id="209923" name="Text Box 1027"/>
          <p:cNvSpPr txBox="1">
            <a:spLocks noChangeArrowheads="1"/>
          </p:cNvSpPr>
          <p:nvPr/>
        </p:nvSpPr>
        <p:spPr bwMode="auto">
          <a:xfrm>
            <a:off x="431540" y="1538288"/>
            <a:ext cx="828092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spcBef>
                <a:spcPct val="50000"/>
              </a:spcBef>
            </a:pPr>
            <a:r>
              <a:rPr lang="en-US" altLang="zh-CN" sz="2800" b="1" dirty="0">
                <a:ea typeface="楷体_GB2312" pitchFamily="49" charset="-122"/>
              </a:rPr>
              <a:t>        </a:t>
            </a:r>
            <a:r>
              <a:rPr lang="zh-CN" altLang="en-US" sz="2800" b="1" dirty="0">
                <a:ea typeface="楷体_GB2312" pitchFamily="49" charset="-122"/>
              </a:rPr>
              <a:t>队列的顺序存储结构称为</a:t>
            </a:r>
            <a:r>
              <a:rPr lang="zh-CN" altLang="en-US" sz="2800" b="1" dirty="0">
                <a:solidFill>
                  <a:schemeClr val="hlink"/>
                </a:solidFill>
                <a:ea typeface="楷体_GB2312" pitchFamily="49" charset="-122"/>
              </a:rPr>
              <a:t>顺序队列</a:t>
            </a:r>
            <a:r>
              <a:rPr lang="zh-CN" altLang="en-US" sz="2800" b="1" dirty="0">
                <a:ea typeface="楷体_GB2312" pitchFamily="49" charset="-122"/>
              </a:rPr>
              <a:t>，采用</a:t>
            </a:r>
            <a:r>
              <a:rPr lang="zh-CN" altLang="en-US" sz="2800" b="1" dirty="0">
                <a:solidFill>
                  <a:schemeClr val="hlink"/>
                </a:solidFill>
                <a:ea typeface="楷体_GB2312" pitchFamily="49" charset="-122"/>
              </a:rPr>
              <a:t>一维数组</a:t>
            </a:r>
            <a:r>
              <a:rPr lang="zh-CN" altLang="en-US" sz="2800" b="1" dirty="0">
                <a:ea typeface="楷体_GB2312" pitchFamily="49" charset="-122"/>
              </a:rPr>
              <a:t>来存储队列中的每一元素，数组的</a:t>
            </a:r>
            <a:r>
              <a:rPr lang="zh-CN" altLang="en-US" sz="2800" b="1" dirty="0">
                <a:solidFill>
                  <a:schemeClr val="hlink"/>
                </a:solidFill>
                <a:ea typeface="楷体_GB2312" pitchFamily="49" charset="-122"/>
              </a:rPr>
              <a:t>上界</a:t>
            </a:r>
            <a:r>
              <a:rPr lang="zh-CN" altLang="en-US" sz="2800" b="1" dirty="0">
                <a:ea typeface="楷体_GB2312" pitchFamily="49" charset="-122"/>
              </a:rPr>
              <a:t>表示队列的</a:t>
            </a:r>
            <a:r>
              <a:rPr lang="zh-CN" altLang="en-US" sz="2800" b="1" dirty="0">
                <a:solidFill>
                  <a:schemeClr val="hlink"/>
                </a:solidFill>
                <a:ea typeface="楷体_GB2312" pitchFamily="49" charset="-122"/>
              </a:rPr>
              <a:t>最大容量</a:t>
            </a:r>
            <a:r>
              <a:rPr lang="zh-CN" altLang="en-US" sz="2800" b="1" dirty="0">
                <a:ea typeface="楷体_GB2312" pitchFamily="49" charset="-122"/>
              </a:rPr>
              <a:t>。另设两个指针</a:t>
            </a:r>
            <a:r>
              <a:rPr lang="en-US" altLang="zh-CN" sz="2800" b="1" dirty="0"/>
              <a:t>front</a:t>
            </a:r>
            <a:r>
              <a:rPr lang="en-US" altLang="zh-CN" sz="2800" b="1" dirty="0">
                <a:ea typeface="楷体_GB2312" pitchFamily="49" charset="-122"/>
              </a:rPr>
              <a:t> </a:t>
            </a:r>
            <a:r>
              <a:rPr lang="zh-CN" altLang="en-US" sz="2800" b="1" dirty="0">
                <a:ea typeface="楷体_GB2312" pitchFamily="49" charset="-122"/>
              </a:rPr>
              <a:t>和</a:t>
            </a:r>
            <a:r>
              <a:rPr lang="en-US" altLang="zh-CN" sz="2800" b="1" dirty="0"/>
              <a:t>rear</a:t>
            </a:r>
            <a:r>
              <a:rPr lang="zh-CN" altLang="en-US" sz="2800" b="1" dirty="0">
                <a:ea typeface="楷体_GB2312" pitchFamily="49" charset="-122"/>
              </a:rPr>
              <a:t>，分别指示队头元素和队尾元素在队列中的位置。</a:t>
            </a:r>
          </a:p>
          <a:p>
            <a:pPr eaLnBrk="1" hangingPunct="1">
              <a:lnSpc>
                <a:spcPct val="130000"/>
              </a:lnSpc>
              <a:spcBef>
                <a:spcPct val="50000"/>
              </a:spcBef>
            </a:pPr>
            <a:r>
              <a:rPr lang="zh-CN" altLang="en-US" b="1" dirty="0">
                <a:solidFill>
                  <a:schemeClr val="hlink"/>
                </a:solidFill>
                <a:latin typeface="楷体_GB2312" pitchFamily="49" charset="-122"/>
                <a:ea typeface="楷体_GB2312" pitchFamily="49" charset="-122"/>
              </a:rPr>
              <a:t>约定</a:t>
            </a:r>
            <a:r>
              <a:rPr lang="zh-CN" altLang="en-US" b="1" dirty="0">
                <a:latin typeface="楷体_GB2312" pitchFamily="49" charset="-122"/>
                <a:ea typeface="楷体_GB2312" pitchFamily="49" charset="-122"/>
              </a:rPr>
              <a:t>：</a:t>
            </a:r>
          </a:p>
          <a:p>
            <a:pPr eaLnBrk="1" hangingPunct="1">
              <a:spcBef>
                <a:spcPct val="20000"/>
              </a:spcBef>
            </a:pPr>
            <a:r>
              <a:rPr lang="zh-CN" altLang="en-US"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空队列时，</a:t>
            </a:r>
            <a:r>
              <a:rPr lang="en-US" altLang="zh-CN" sz="2800" b="1" dirty="0"/>
              <a:t> front</a:t>
            </a:r>
            <a:r>
              <a:rPr lang="en-US" altLang="zh-CN" sz="2800" b="1" dirty="0">
                <a:ea typeface="楷体_GB2312" pitchFamily="49" charset="-122"/>
              </a:rPr>
              <a:t> = </a:t>
            </a:r>
            <a:r>
              <a:rPr lang="en-US" altLang="zh-CN" sz="2800" b="1" dirty="0"/>
              <a:t>rear = 0</a:t>
            </a:r>
            <a:r>
              <a:rPr lang="zh-CN" altLang="en-US" sz="2800" b="1" dirty="0"/>
              <a:t>；非空队列时，</a:t>
            </a:r>
            <a:r>
              <a:rPr lang="zh-CN" altLang="en-US" sz="2800" b="1" dirty="0">
                <a:latin typeface="楷体_GB2312" pitchFamily="49" charset="-122"/>
                <a:ea typeface="楷体_GB2312" pitchFamily="49" charset="-122"/>
              </a:rPr>
              <a:t>队头指针</a:t>
            </a:r>
            <a:r>
              <a:rPr lang="en-US" altLang="zh-CN" sz="2800" b="1" dirty="0"/>
              <a:t>front</a:t>
            </a:r>
            <a:r>
              <a:rPr lang="zh-CN" altLang="en-US" sz="2800" b="1" dirty="0">
                <a:ea typeface="楷体_GB2312" pitchFamily="49" charset="-122"/>
              </a:rPr>
              <a:t>总是指向队头元素在队列中的当前位置；   </a:t>
            </a:r>
            <a:r>
              <a:rPr lang="zh-CN" altLang="en-US" sz="2800" b="1" dirty="0">
                <a:latin typeface="楷体_GB2312" pitchFamily="49" charset="-122"/>
                <a:ea typeface="楷体_GB2312" pitchFamily="49" charset="-122"/>
              </a:rPr>
              <a:t>队尾指针</a:t>
            </a:r>
            <a:r>
              <a:rPr lang="en-US" altLang="zh-CN" sz="2800" b="1" dirty="0"/>
              <a:t>rear</a:t>
            </a:r>
            <a:r>
              <a:rPr lang="zh-CN" altLang="en-US" sz="2800" b="1" dirty="0">
                <a:ea typeface="楷体_GB2312" pitchFamily="49" charset="-122"/>
              </a:rPr>
              <a:t>总是指示队尾元素的</a:t>
            </a:r>
            <a:r>
              <a:rPr lang="zh-CN" altLang="en-US" sz="2800" b="1" dirty="0">
                <a:solidFill>
                  <a:schemeClr val="hlink"/>
                </a:solidFill>
                <a:ea typeface="楷体_GB2312" pitchFamily="49" charset="-122"/>
              </a:rPr>
              <a:t>下一个</a:t>
            </a:r>
            <a:r>
              <a:rPr lang="zh-CN" altLang="en-US" sz="2800" b="1" dirty="0">
                <a:ea typeface="楷体_GB2312" pitchFamily="49" charset="-122"/>
              </a:rPr>
              <a:t>位置；</a:t>
            </a:r>
          </a:p>
        </p:txBody>
      </p:sp>
    </p:spTree>
    <p:extLst>
      <p:ext uri="{BB962C8B-B14F-4D97-AF65-F5344CB8AC3E}">
        <p14:creationId xmlns:p14="http://schemas.microsoft.com/office/powerpoint/2010/main" val="2575212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additive="base">
                                        <p:cTn id="7" dur="500" fill="hold"/>
                                        <p:tgtEl>
                                          <p:spTgt spid="209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9923">
                                            <p:txEl>
                                              <p:pRg st="1" end="1"/>
                                            </p:txEl>
                                          </p:spTgt>
                                        </p:tgtEl>
                                        <p:attrNameLst>
                                          <p:attrName>style.visibility</p:attrName>
                                        </p:attrNameLst>
                                      </p:cBhvr>
                                      <p:to>
                                        <p:strVal val="visible"/>
                                      </p:to>
                                    </p:set>
                                    <p:anim calcmode="lin" valueType="num">
                                      <p:cBhvr additive="base">
                                        <p:cTn id="13" dur="500" fill="hold"/>
                                        <p:tgtEl>
                                          <p:spTgt spid="2099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99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9923">
                                            <p:txEl>
                                              <p:pRg st="2" end="2"/>
                                            </p:txEl>
                                          </p:spTgt>
                                        </p:tgtEl>
                                        <p:attrNameLst>
                                          <p:attrName>style.visibility</p:attrName>
                                        </p:attrNameLst>
                                      </p:cBhvr>
                                      <p:to>
                                        <p:strVal val="visible"/>
                                      </p:to>
                                    </p:set>
                                    <p:anim calcmode="lin" valueType="num">
                                      <p:cBhvr additive="base">
                                        <p:cTn id="19" dur="500" fill="hold"/>
                                        <p:tgtEl>
                                          <p:spTgt spid="2099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9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D49A47D8-8A61-4FCC-ADC4-2CB85C55B903}" type="slidenum">
              <a:rPr lang="en-US" altLang="zh-CN" sz="1400"/>
              <a:pPr/>
              <a:t>106</a:t>
            </a:fld>
            <a:endParaRPr lang="en-US" altLang="zh-CN" sz="1400"/>
          </a:p>
        </p:txBody>
      </p:sp>
      <p:sp>
        <p:nvSpPr>
          <p:cNvPr id="91139" name="Rectangle 2"/>
          <p:cNvSpPr>
            <a:spLocks noGrp="1" noChangeArrowheads="1"/>
          </p:cNvSpPr>
          <p:nvPr>
            <p:ph type="body" idx="1"/>
          </p:nvPr>
        </p:nvSpPr>
        <p:spPr>
          <a:xfrm>
            <a:off x="457200" y="2349500"/>
            <a:ext cx="8210255" cy="3581400"/>
          </a:xfrm>
        </p:spPr>
        <p:txBody>
          <a:bodyPr/>
          <a:lstStyle/>
          <a:p>
            <a:pPr eaLnBrk="1" hangingPunct="1"/>
            <a:r>
              <a:rPr lang="en-US" altLang="zh-CN" sz="2800" b="1" dirty="0">
                <a:latin typeface="楷体_GB2312" pitchFamily="49" charset="-122"/>
                <a:ea typeface="楷体_GB2312" pitchFamily="49" charset="-122"/>
              </a:rPr>
              <a:t>C</a:t>
            </a:r>
            <a:r>
              <a:rPr lang="zh-CN" altLang="en-US" sz="2800" b="1" dirty="0">
                <a:latin typeface="楷体_GB2312" pitchFamily="49" charset="-122"/>
                <a:ea typeface="楷体_GB2312" pitchFamily="49" charset="-122"/>
              </a:rPr>
              <a:t>语言描述：</a:t>
            </a:r>
            <a:endParaRPr lang="zh-CN" altLang="en-US" sz="3600" b="1" dirty="0">
              <a:latin typeface="楷体_GB2312" pitchFamily="49" charset="-122"/>
              <a:ea typeface="楷体_GB2312" pitchFamily="49" charset="-122"/>
            </a:endParaRPr>
          </a:p>
          <a:p>
            <a:pPr eaLnBrk="1" hangingPunct="1">
              <a:lnSpc>
                <a:spcPct val="95000"/>
              </a:lnSpc>
              <a:buFontTx/>
              <a:buNone/>
            </a:pPr>
            <a:r>
              <a:rPr lang="zh-CN" altLang="en-US" sz="2800" b="1" dirty="0"/>
              <a:t>          </a:t>
            </a:r>
            <a:r>
              <a:rPr lang="en-US" altLang="zh-CN" sz="2800" b="1" dirty="0"/>
              <a:t>#define   MAXQSIZE  n </a:t>
            </a:r>
          </a:p>
          <a:p>
            <a:pPr eaLnBrk="1" hangingPunct="1">
              <a:lnSpc>
                <a:spcPct val="95000"/>
              </a:lnSpc>
              <a:buFontTx/>
              <a:buNone/>
            </a:pPr>
            <a:r>
              <a:rPr lang="en-US" altLang="zh-CN" sz="2800" b="1" dirty="0"/>
              <a:t>          </a:t>
            </a:r>
            <a:r>
              <a:rPr lang="en-US" altLang="zh-CN" sz="2800" b="1" dirty="0" err="1"/>
              <a:t>typedef</a:t>
            </a:r>
            <a:r>
              <a:rPr lang="en-US" altLang="zh-CN" sz="2800" b="1" dirty="0"/>
              <a:t> </a:t>
            </a:r>
            <a:r>
              <a:rPr lang="en-US" altLang="zh-CN" sz="2800" b="1" dirty="0" err="1"/>
              <a:t>struct</a:t>
            </a:r>
            <a:r>
              <a:rPr lang="en-US" altLang="zh-CN" sz="2800" b="1" dirty="0"/>
              <a:t> </a:t>
            </a:r>
          </a:p>
          <a:p>
            <a:pPr eaLnBrk="1" hangingPunct="1">
              <a:lnSpc>
                <a:spcPct val="95000"/>
              </a:lnSpc>
              <a:buFontTx/>
              <a:buNone/>
            </a:pPr>
            <a:r>
              <a:rPr lang="en-US" altLang="zh-CN" sz="2800" b="1" dirty="0"/>
              <a:t>              { </a:t>
            </a:r>
            <a:r>
              <a:rPr lang="en-US" altLang="zh-CN" sz="2800" b="1" dirty="0" err="1"/>
              <a:t>elemtype</a:t>
            </a:r>
            <a:r>
              <a:rPr lang="en-US" altLang="zh-CN" sz="2800" b="1" dirty="0"/>
              <a:t>  queue[MAXQSIZE];</a:t>
            </a:r>
            <a:r>
              <a:rPr lang="en-US" altLang="zh-CN" sz="2000" b="1" dirty="0">
                <a:solidFill>
                  <a:schemeClr val="folHlink"/>
                </a:solidFill>
                <a:latin typeface="楷体_GB2312" pitchFamily="49" charset="-122"/>
                <a:ea typeface="楷体_GB2312" pitchFamily="49" charset="-122"/>
              </a:rPr>
              <a:t>//</a:t>
            </a:r>
            <a:r>
              <a:rPr lang="zh-CN" altLang="en-US" sz="2000" b="1" dirty="0">
                <a:solidFill>
                  <a:schemeClr val="folHlink"/>
                </a:solidFill>
                <a:latin typeface="楷体_GB2312" pitchFamily="49" charset="-122"/>
                <a:ea typeface="楷体_GB2312" pitchFamily="49" charset="-122"/>
              </a:rPr>
              <a:t>静态分配</a:t>
            </a:r>
          </a:p>
          <a:p>
            <a:pPr eaLnBrk="1" hangingPunct="1">
              <a:lnSpc>
                <a:spcPct val="95000"/>
              </a:lnSpc>
              <a:buFontTx/>
              <a:buNone/>
            </a:pPr>
            <a:r>
              <a:rPr lang="zh-CN" altLang="en-US" sz="2800" b="1" dirty="0"/>
              <a:t>                 </a:t>
            </a:r>
            <a:r>
              <a:rPr lang="en-US" altLang="zh-CN" sz="2800" b="1" dirty="0" err="1"/>
              <a:t>int</a:t>
            </a:r>
            <a:r>
              <a:rPr lang="en-US" altLang="zh-CN" sz="2800" b="1" dirty="0"/>
              <a:t>  front, rear;</a:t>
            </a:r>
          </a:p>
          <a:p>
            <a:pPr eaLnBrk="1" hangingPunct="1">
              <a:lnSpc>
                <a:spcPct val="95000"/>
              </a:lnSpc>
              <a:buFontTx/>
              <a:buNone/>
            </a:pPr>
            <a:r>
              <a:rPr lang="en-US" altLang="zh-CN" sz="2800" b="1" dirty="0"/>
              <a:t>              } </a:t>
            </a:r>
            <a:r>
              <a:rPr lang="en-US" altLang="zh-CN" sz="2800" b="1" dirty="0" err="1"/>
              <a:t>SeQueuetp</a:t>
            </a:r>
            <a:r>
              <a:rPr lang="en-US" altLang="zh-CN" sz="2800" b="1" dirty="0"/>
              <a:t>;</a:t>
            </a:r>
          </a:p>
        </p:txBody>
      </p:sp>
      <p:sp>
        <p:nvSpPr>
          <p:cNvPr id="91140" name="Rectangle 3"/>
          <p:cNvSpPr>
            <a:spLocks noChangeArrowheads="1"/>
          </p:cNvSpPr>
          <p:nvPr/>
        </p:nvSpPr>
        <p:spPr bwMode="auto">
          <a:xfrm>
            <a:off x="25908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A</a:t>
            </a:r>
          </a:p>
        </p:txBody>
      </p:sp>
      <p:sp>
        <p:nvSpPr>
          <p:cNvPr id="91141" name="Rectangle 4"/>
          <p:cNvSpPr>
            <a:spLocks noChangeArrowheads="1"/>
          </p:cNvSpPr>
          <p:nvPr/>
        </p:nvSpPr>
        <p:spPr bwMode="auto">
          <a:xfrm>
            <a:off x="30480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B</a:t>
            </a:r>
          </a:p>
        </p:txBody>
      </p:sp>
      <p:sp>
        <p:nvSpPr>
          <p:cNvPr id="91142" name="Rectangle 5"/>
          <p:cNvSpPr>
            <a:spLocks noChangeArrowheads="1"/>
          </p:cNvSpPr>
          <p:nvPr/>
        </p:nvSpPr>
        <p:spPr bwMode="auto">
          <a:xfrm>
            <a:off x="35052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C</a:t>
            </a:r>
          </a:p>
        </p:txBody>
      </p:sp>
      <p:sp>
        <p:nvSpPr>
          <p:cNvPr id="91143" name="Rectangle 6"/>
          <p:cNvSpPr>
            <a:spLocks noChangeArrowheads="1"/>
          </p:cNvSpPr>
          <p:nvPr/>
        </p:nvSpPr>
        <p:spPr bwMode="auto">
          <a:xfrm>
            <a:off x="39624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D</a:t>
            </a:r>
          </a:p>
        </p:txBody>
      </p:sp>
      <p:sp>
        <p:nvSpPr>
          <p:cNvPr id="91144" name="Rectangle 7"/>
          <p:cNvSpPr>
            <a:spLocks noChangeArrowheads="1"/>
          </p:cNvSpPr>
          <p:nvPr/>
        </p:nvSpPr>
        <p:spPr bwMode="auto">
          <a:xfrm>
            <a:off x="44196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E</a:t>
            </a:r>
          </a:p>
        </p:txBody>
      </p:sp>
      <p:sp>
        <p:nvSpPr>
          <p:cNvPr id="91145" name="Rectangle 8"/>
          <p:cNvSpPr>
            <a:spLocks noChangeArrowheads="1"/>
          </p:cNvSpPr>
          <p:nvPr/>
        </p:nvSpPr>
        <p:spPr bwMode="auto">
          <a:xfrm>
            <a:off x="48768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1146" name="Rectangle 9"/>
          <p:cNvSpPr>
            <a:spLocks noChangeArrowheads="1"/>
          </p:cNvSpPr>
          <p:nvPr/>
        </p:nvSpPr>
        <p:spPr bwMode="auto">
          <a:xfrm>
            <a:off x="53340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1147" name="Rectangle 10"/>
          <p:cNvSpPr>
            <a:spLocks noChangeArrowheads="1"/>
          </p:cNvSpPr>
          <p:nvPr/>
        </p:nvSpPr>
        <p:spPr bwMode="auto">
          <a:xfrm>
            <a:off x="5791200" y="1025525"/>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1148" name="Line 11"/>
          <p:cNvSpPr>
            <a:spLocks noChangeShapeType="1"/>
          </p:cNvSpPr>
          <p:nvPr/>
        </p:nvSpPr>
        <p:spPr bwMode="auto">
          <a:xfrm flipH="1">
            <a:off x="2209800" y="1025525"/>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9" name="Line 12"/>
          <p:cNvSpPr>
            <a:spLocks noChangeShapeType="1"/>
          </p:cNvSpPr>
          <p:nvPr/>
        </p:nvSpPr>
        <p:spPr bwMode="auto">
          <a:xfrm flipH="1">
            <a:off x="2209800" y="1482725"/>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0" name="Line 13"/>
          <p:cNvSpPr>
            <a:spLocks noChangeShapeType="1"/>
          </p:cNvSpPr>
          <p:nvPr/>
        </p:nvSpPr>
        <p:spPr bwMode="auto">
          <a:xfrm flipV="1">
            <a:off x="2819400" y="1558925"/>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1" name="Line 14"/>
          <p:cNvSpPr>
            <a:spLocks noChangeShapeType="1"/>
          </p:cNvSpPr>
          <p:nvPr/>
        </p:nvSpPr>
        <p:spPr bwMode="auto">
          <a:xfrm flipV="1">
            <a:off x="5100638" y="1558925"/>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2" name="Rectangle 15"/>
          <p:cNvSpPr>
            <a:spLocks noChangeArrowheads="1"/>
          </p:cNvSpPr>
          <p:nvPr/>
        </p:nvSpPr>
        <p:spPr bwMode="auto">
          <a:xfrm>
            <a:off x="2433638" y="1752600"/>
            <a:ext cx="31289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3200"/>
              <a:t>front               rear</a:t>
            </a:r>
          </a:p>
        </p:txBody>
      </p:sp>
      <p:sp>
        <p:nvSpPr>
          <p:cNvPr id="91153" name="Text Box 16"/>
          <p:cNvSpPr txBox="1">
            <a:spLocks noChangeArrowheads="1"/>
          </p:cNvSpPr>
          <p:nvPr/>
        </p:nvSpPr>
        <p:spPr bwMode="auto">
          <a:xfrm>
            <a:off x="304800" y="0"/>
            <a:ext cx="571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4000" b="1">
                <a:solidFill>
                  <a:srgbClr val="993300"/>
                </a:solidFill>
                <a:latin typeface="楷体_GB2312" pitchFamily="49" charset="-122"/>
                <a:ea typeface="楷体_GB2312" pitchFamily="49" charset="-122"/>
              </a:rPr>
              <a:t>（</a:t>
            </a:r>
            <a:r>
              <a:rPr lang="en-US" altLang="zh-CN" sz="4000" b="1">
                <a:solidFill>
                  <a:srgbClr val="993300"/>
                </a:solidFill>
                <a:latin typeface="楷体_GB2312" pitchFamily="49" charset="-122"/>
                <a:ea typeface="楷体_GB2312" pitchFamily="49" charset="-122"/>
              </a:rPr>
              <a:t>1</a:t>
            </a:r>
            <a:r>
              <a:rPr lang="zh-CN" altLang="en-US" sz="4000" b="1">
                <a:solidFill>
                  <a:srgbClr val="993300"/>
                </a:solidFill>
                <a:latin typeface="楷体_GB2312" pitchFamily="49" charset="-122"/>
                <a:ea typeface="楷体_GB2312" pitchFamily="49" charset="-122"/>
              </a:rPr>
              <a:t>）一般的队列</a:t>
            </a:r>
          </a:p>
        </p:txBody>
      </p:sp>
    </p:spTree>
    <p:extLst>
      <p:ext uri="{BB962C8B-B14F-4D97-AF65-F5344CB8AC3E}">
        <p14:creationId xmlns:p14="http://schemas.microsoft.com/office/powerpoint/2010/main" val="388794647"/>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A04CE308-4974-4A15-8F08-6CC57FC3D6DE}" type="slidenum">
              <a:rPr lang="en-US" altLang="zh-CN" sz="1400"/>
              <a:pPr/>
              <a:t>107</a:t>
            </a:fld>
            <a:endParaRPr lang="en-US" altLang="zh-CN" sz="1400"/>
          </a:p>
        </p:txBody>
      </p:sp>
      <p:sp>
        <p:nvSpPr>
          <p:cNvPr id="92163" name="Text Box 2"/>
          <p:cNvSpPr txBox="1">
            <a:spLocks noChangeArrowheads="1"/>
          </p:cNvSpPr>
          <p:nvPr/>
        </p:nvSpPr>
        <p:spPr bwMode="auto">
          <a:xfrm>
            <a:off x="341313" y="998538"/>
            <a:ext cx="8382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20000"/>
              </a:spcBef>
              <a:buFontTx/>
              <a:buChar char="•"/>
            </a:pPr>
            <a:r>
              <a:rPr lang="en-US" altLang="zh-CN" b="1" dirty="0">
                <a:latin typeface="楷体_GB2312" pitchFamily="49" charset="-122"/>
                <a:ea typeface="楷体_GB2312" pitchFamily="49" charset="-122"/>
              </a:rPr>
              <a:t>C</a:t>
            </a:r>
            <a:r>
              <a:rPr lang="zh-CN" altLang="en-US" b="1" dirty="0">
                <a:latin typeface="楷体_GB2312" pitchFamily="49" charset="-122"/>
                <a:ea typeface="楷体_GB2312" pitchFamily="49" charset="-122"/>
              </a:rPr>
              <a:t>语言描述：</a:t>
            </a:r>
            <a:endParaRPr lang="zh-CN" altLang="en-US" sz="4000" b="1" dirty="0">
              <a:latin typeface="楷体_GB2312" pitchFamily="49" charset="-122"/>
              <a:ea typeface="楷体_GB2312" pitchFamily="49" charset="-122"/>
            </a:endParaRPr>
          </a:p>
          <a:p>
            <a:pPr eaLnBrk="1" hangingPunct="1">
              <a:lnSpc>
                <a:spcPct val="95000"/>
              </a:lnSpc>
              <a:spcBef>
                <a:spcPct val="20000"/>
              </a:spcBef>
            </a:pPr>
            <a:r>
              <a:rPr lang="zh-CN" altLang="en-US" dirty="0"/>
              <a:t>          </a:t>
            </a:r>
            <a:r>
              <a:rPr lang="en-US" altLang="zh-CN" dirty="0"/>
              <a:t>#define   MAXQSIZE  n </a:t>
            </a:r>
          </a:p>
          <a:p>
            <a:pPr eaLnBrk="1" hangingPunct="1">
              <a:lnSpc>
                <a:spcPct val="95000"/>
              </a:lnSpc>
              <a:spcBef>
                <a:spcPct val="20000"/>
              </a:spcBef>
            </a:pPr>
            <a:r>
              <a:rPr lang="en-US" altLang="zh-CN" dirty="0"/>
              <a:t>          </a:t>
            </a:r>
            <a:r>
              <a:rPr lang="en-US" altLang="zh-CN" dirty="0" err="1"/>
              <a:t>typedef</a:t>
            </a:r>
            <a:r>
              <a:rPr lang="en-US" altLang="zh-CN" dirty="0"/>
              <a:t> </a:t>
            </a:r>
            <a:r>
              <a:rPr lang="en-US" altLang="zh-CN" dirty="0" err="1"/>
              <a:t>struct</a:t>
            </a:r>
            <a:r>
              <a:rPr lang="en-US" altLang="zh-CN" dirty="0"/>
              <a:t> </a:t>
            </a:r>
          </a:p>
          <a:p>
            <a:pPr eaLnBrk="1" hangingPunct="1">
              <a:lnSpc>
                <a:spcPct val="95000"/>
              </a:lnSpc>
              <a:spcBef>
                <a:spcPct val="20000"/>
              </a:spcBef>
            </a:pPr>
            <a:r>
              <a:rPr lang="en-US" altLang="zh-CN" dirty="0"/>
              <a:t>              { </a:t>
            </a:r>
            <a:r>
              <a:rPr lang="en-US" altLang="zh-CN" dirty="0" err="1"/>
              <a:t>elemtype</a:t>
            </a:r>
            <a:r>
              <a:rPr lang="en-US" altLang="zh-CN" dirty="0"/>
              <a:t>  *queue;           </a:t>
            </a:r>
            <a:r>
              <a:rPr lang="en-US" altLang="zh-CN" sz="2400" b="1" dirty="0">
                <a:solidFill>
                  <a:schemeClr val="folHlink"/>
                </a:solidFill>
                <a:latin typeface="楷体_GB2312" pitchFamily="49" charset="-122"/>
                <a:ea typeface="楷体_GB2312" pitchFamily="49" charset="-122"/>
              </a:rPr>
              <a:t>//</a:t>
            </a:r>
            <a:r>
              <a:rPr lang="zh-CN" altLang="en-US" sz="2400" b="1" dirty="0">
                <a:solidFill>
                  <a:schemeClr val="folHlink"/>
                </a:solidFill>
                <a:latin typeface="楷体_GB2312" pitchFamily="49" charset="-122"/>
                <a:ea typeface="楷体_GB2312" pitchFamily="49" charset="-122"/>
              </a:rPr>
              <a:t>动态分配</a:t>
            </a:r>
          </a:p>
          <a:p>
            <a:pPr eaLnBrk="1" hangingPunct="1">
              <a:lnSpc>
                <a:spcPct val="95000"/>
              </a:lnSpc>
              <a:spcBef>
                <a:spcPct val="20000"/>
              </a:spcBef>
            </a:pPr>
            <a:r>
              <a:rPr lang="zh-CN" altLang="en-US" dirty="0"/>
              <a:t>                 </a:t>
            </a:r>
            <a:r>
              <a:rPr lang="en-US" altLang="zh-CN" dirty="0" err="1"/>
              <a:t>int</a:t>
            </a:r>
            <a:r>
              <a:rPr lang="en-US" altLang="zh-CN" dirty="0"/>
              <a:t>  front, rear;</a:t>
            </a:r>
          </a:p>
          <a:p>
            <a:pPr eaLnBrk="1" hangingPunct="1">
              <a:lnSpc>
                <a:spcPct val="95000"/>
              </a:lnSpc>
              <a:spcBef>
                <a:spcPct val="20000"/>
              </a:spcBef>
            </a:pPr>
            <a:r>
              <a:rPr lang="en-US" altLang="zh-CN" dirty="0"/>
              <a:t>              } </a:t>
            </a:r>
            <a:r>
              <a:rPr lang="en-US" altLang="zh-CN" dirty="0" err="1"/>
              <a:t>SeQueuetp</a:t>
            </a:r>
            <a:r>
              <a:rPr lang="en-US" altLang="zh-CN" dirty="0"/>
              <a:t>;</a:t>
            </a:r>
          </a:p>
          <a:p>
            <a:pPr eaLnBrk="1" hangingPunct="1">
              <a:spcBef>
                <a:spcPct val="50000"/>
              </a:spcBef>
            </a:pPr>
            <a:endParaRPr lang="en-US" altLang="zh-CN" sz="2400" dirty="0"/>
          </a:p>
        </p:txBody>
      </p:sp>
    </p:spTree>
    <p:extLst>
      <p:ext uri="{BB962C8B-B14F-4D97-AF65-F5344CB8AC3E}">
        <p14:creationId xmlns:p14="http://schemas.microsoft.com/office/powerpoint/2010/main" val="30728403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D93E2F97-AE15-48ED-94FE-8364D61491E0}" type="slidenum">
              <a:rPr lang="en-US" altLang="zh-CN" sz="1400"/>
              <a:pPr/>
              <a:t>108</a:t>
            </a:fld>
            <a:endParaRPr lang="en-US" altLang="zh-CN" sz="1400"/>
          </a:p>
        </p:txBody>
      </p:sp>
      <p:sp>
        <p:nvSpPr>
          <p:cNvPr id="93187" name="Rectangle 2"/>
          <p:cNvSpPr>
            <a:spLocks noGrp="1" noChangeArrowheads="1"/>
          </p:cNvSpPr>
          <p:nvPr>
            <p:ph/>
          </p:nvPr>
        </p:nvSpPr>
        <p:spPr>
          <a:xfrm>
            <a:off x="701675" y="549275"/>
            <a:ext cx="7772400" cy="4814940"/>
          </a:xfrm>
        </p:spPr>
        <p:txBody>
          <a:bodyPr/>
          <a:lstStyle/>
          <a:p>
            <a:pPr eaLnBrk="1" hangingPunct="1">
              <a:lnSpc>
                <a:spcPct val="95000"/>
              </a:lnSpc>
              <a:buFontTx/>
              <a:buNone/>
            </a:pPr>
            <a:r>
              <a:rPr lang="zh-CN" altLang="en-US" sz="4000" b="1" dirty="0">
                <a:latin typeface="楷体_GB2312" pitchFamily="49" charset="-122"/>
                <a:ea typeface="楷体_GB2312" pitchFamily="49" charset="-122"/>
              </a:rPr>
              <a:t>例：</a:t>
            </a:r>
            <a:r>
              <a:rPr lang="zh-CN" altLang="en-US" sz="3600" b="1" dirty="0">
                <a:latin typeface="楷体_GB2312" pitchFamily="49" charset="-122"/>
                <a:ea typeface="楷体_GB2312" pitchFamily="49" charset="-122"/>
              </a:rPr>
              <a:t>顺序队列</a:t>
            </a:r>
            <a:r>
              <a:rPr lang="en-US" altLang="zh-CN" sz="3600" b="1" dirty="0">
                <a:latin typeface="楷体_GB2312" pitchFamily="49" charset="-122"/>
                <a:ea typeface="楷体_GB2312" pitchFamily="49" charset="-122"/>
              </a:rPr>
              <a:t>Q</a:t>
            </a:r>
            <a:r>
              <a:rPr lang="zh-CN" altLang="en-US" sz="3600" b="1" dirty="0">
                <a:latin typeface="楷体_GB2312" pitchFamily="49" charset="-122"/>
                <a:ea typeface="楷体_GB2312" pitchFamily="49" charset="-122"/>
              </a:rPr>
              <a:t>的</a:t>
            </a:r>
            <a:r>
              <a:rPr lang="en-US" altLang="zh-CN" sz="3600" b="1" dirty="0">
                <a:latin typeface="楷体_GB2312" pitchFamily="49" charset="-122"/>
                <a:ea typeface="楷体_GB2312" pitchFamily="49" charset="-122"/>
              </a:rPr>
              <a:t>C</a:t>
            </a:r>
            <a:r>
              <a:rPr lang="zh-CN" altLang="en-US" sz="3600" b="1" dirty="0">
                <a:latin typeface="楷体_GB2312" pitchFamily="49" charset="-122"/>
                <a:ea typeface="楷体_GB2312" pitchFamily="49" charset="-122"/>
              </a:rPr>
              <a:t>语言描述是</a:t>
            </a:r>
            <a:r>
              <a:rPr lang="zh-CN" altLang="en-US" sz="3600" b="1" dirty="0"/>
              <a:t>： </a:t>
            </a:r>
          </a:p>
          <a:p>
            <a:pPr eaLnBrk="1" hangingPunct="1">
              <a:lnSpc>
                <a:spcPct val="95000"/>
              </a:lnSpc>
              <a:buFontTx/>
              <a:buNone/>
            </a:pPr>
            <a:r>
              <a:rPr lang="zh-CN" altLang="en-US" sz="3600" b="1" dirty="0"/>
              <a:t>          </a:t>
            </a:r>
            <a:r>
              <a:rPr lang="en-US" altLang="zh-CN" b="1" dirty="0"/>
              <a:t>#define   MAXQSIZE  8 </a:t>
            </a:r>
          </a:p>
          <a:p>
            <a:pPr eaLnBrk="1" hangingPunct="1">
              <a:lnSpc>
                <a:spcPct val="95000"/>
              </a:lnSpc>
              <a:buFontTx/>
              <a:buNone/>
            </a:pPr>
            <a:r>
              <a:rPr lang="en-US" altLang="zh-CN" b="1" dirty="0"/>
              <a:t>           </a:t>
            </a:r>
            <a:r>
              <a:rPr lang="en-US" altLang="zh-CN" b="1" dirty="0" err="1"/>
              <a:t>typedef</a:t>
            </a:r>
            <a:r>
              <a:rPr lang="en-US" altLang="zh-CN" b="1" dirty="0"/>
              <a:t> </a:t>
            </a:r>
            <a:r>
              <a:rPr lang="en-US" altLang="zh-CN" b="1" dirty="0" err="1"/>
              <a:t>struct</a:t>
            </a:r>
            <a:r>
              <a:rPr lang="en-US" altLang="zh-CN" b="1" dirty="0"/>
              <a:t> </a:t>
            </a:r>
          </a:p>
          <a:p>
            <a:pPr eaLnBrk="1" hangingPunct="1">
              <a:lnSpc>
                <a:spcPct val="95000"/>
              </a:lnSpc>
              <a:buFontTx/>
              <a:buNone/>
            </a:pPr>
            <a:r>
              <a:rPr lang="en-US" altLang="zh-CN" b="1" dirty="0"/>
              <a:t>              { char  queue[MAXQSIZE];</a:t>
            </a:r>
          </a:p>
          <a:p>
            <a:pPr eaLnBrk="1" hangingPunct="1">
              <a:lnSpc>
                <a:spcPct val="95000"/>
              </a:lnSpc>
              <a:buFontTx/>
              <a:buNone/>
            </a:pPr>
            <a:r>
              <a:rPr lang="en-US" altLang="zh-CN" b="1" dirty="0"/>
              <a:t>                 </a:t>
            </a:r>
            <a:r>
              <a:rPr lang="en-US" altLang="zh-CN" b="1" dirty="0" err="1"/>
              <a:t>int</a:t>
            </a:r>
            <a:r>
              <a:rPr lang="en-US" altLang="zh-CN" b="1" dirty="0"/>
              <a:t>  front, rear;</a:t>
            </a:r>
          </a:p>
          <a:p>
            <a:pPr eaLnBrk="1" hangingPunct="1">
              <a:lnSpc>
                <a:spcPct val="95000"/>
              </a:lnSpc>
              <a:buFontTx/>
              <a:buNone/>
            </a:pPr>
            <a:r>
              <a:rPr lang="en-US" altLang="zh-CN" b="1" dirty="0"/>
              <a:t>              } </a:t>
            </a:r>
            <a:r>
              <a:rPr lang="en-US" altLang="zh-CN" b="1" dirty="0" err="1"/>
              <a:t>SeQueuetp</a:t>
            </a:r>
            <a:r>
              <a:rPr lang="en-US" altLang="zh-CN" b="1" dirty="0"/>
              <a:t>;</a:t>
            </a:r>
          </a:p>
          <a:p>
            <a:pPr eaLnBrk="1" hangingPunct="1">
              <a:lnSpc>
                <a:spcPct val="95000"/>
              </a:lnSpc>
              <a:buFontTx/>
              <a:buNone/>
            </a:pPr>
            <a:r>
              <a:rPr lang="en-US" altLang="zh-CN" b="1" dirty="0"/>
              <a:t>            </a:t>
            </a:r>
            <a:r>
              <a:rPr lang="en-US" altLang="zh-CN" b="1" dirty="0" err="1"/>
              <a:t>SeQueuetp</a:t>
            </a:r>
            <a:r>
              <a:rPr lang="en-US" altLang="zh-CN" b="1" dirty="0"/>
              <a:t> Q;</a:t>
            </a:r>
            <a:endParaRPr lang="en-US" altLang="zh-CN" sz="3600" b="1" dirty="0"/>
          </a:p>
          <a:p>
            <a:pPr eaLnBrk="1" hangingPunct="1">
              <a:lnSpc>
                <a:spcPct val="95000"/>
              </a:lnSpc>
              <a:buFontTx/>
              <a:buNone/>
            </a:pPr>
            <a:r>
              <a:rPr lang="en-US" altLang="zh-CN" sz="3600" b="1" dirty="0"/>
              <a:t> </a:t>
            </a:r>
            <a:endParaRPr lang="en-US" altLang="zh-CN" b="1" dirty="0">
              <a:solidFill>
                <a:schemeClr val="accent1"/>
              </a:solidFill>
              <a:ea typeface="楷体_GB2312" pitchFamily="49" charset="-122"/>
            </a:endParaRPr>
          </a:p>
        </p:txBody>
      </p:sp>
    </p:spTree>
    <p:extLst>
      <p:ext uri="{BB962C8B-B14F-4D97-AF65-F5344CB8AC3E}">
        <p14:creationId xmlns:p14="http://schemas.microsoft.com/office/powerpoint/2010/main" val="1948329191"/>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B74DB39-04B4-41B3-891B-2CAA33779A59}" type="slidenum">
              <a:rPr lang="en-US" altLang="zh-CN" sz="1400"/>
              <a:pPr/>
              <a:t>109</a:t>
            </a:fld>
            <a:endParaRPr lang="en-US" altLang="zh-CN" sz="1400"/>
          </a:p>
        </p:txBody>
      </p:sp>
      <p:sp>
        <p:nvSpPr>
          <p:cNvPr id="94211" name="Rectangle 2"/>
          <p:cNvSpPr>
            <a:spLocks noChangeArrowheads="1"/>
          </p:cNvSpPr>
          <p:nvPr/>
        </p:nvSpPr>
        <p:spPr bwMode="auto">
          <a:xfrm>
            <a:off x="457200" y="862013"/>
            <a:ext cx="7772400" cy="362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5000"/>
              </a:lnSpc>
              <a:spcBef>
                <a:spcPct val="50000"/>
              </a:spcBef>
            </a:pPr>
            <a:r>
              <a:rPr lang="en-US" altLang="zh-CN" sz="3600" b="1">
                <a:latin typeface="楷体_GB2312" pitchFamily="49" charset="-122"/>
                <a:ea typeface="楷体_GB2312" pitchFamily="49" charset="-122"/>
              </a:rPr>
              <a:t>(a)</a:t>
            </a:r>
            <a:r>
              <a:rPr lang="zh-CN" altLang="en-US" sz="3600">
                <a:latin typeface="楷体_GB2312" pitchFamily="49" charset="-122"/>
                <a:ea typeface="楷体_GB2312" pitchFamily="49" charset="-122"/>
              </a:rPr>
              <a:t>队列的初始状态</a:t>
            </a:r>
            <a:r>
              <a:rPr lang="en-US" altLang="zh-CN" sz="3600">
                <a:latin typeface="楷体_GB2312" pitchFamily="49" charset="-122"/>
                <a:ea typeface="楷体_GB2312" pitchFamily="49" charset="-122"/>
              </a:rPr>
              <a:t>(</a:t>
            </a:r>
            <a:r>
              <a:rPr lang="zh-CN" altLang="en-US" sz="3600">
                <a:latin typeface="楷体_GB2312" pitchFamily="49" charset="-122"/>
                <a:ea typeface="楷体_GB2312" pitchFamily="49" charset="-122"/>
              </a:rPr>
              <a:t>空队列</a:t>
            </a:r>
            <a:r>
              <a:rPr lang="en-US" altLang="zh-CN" sz="3600">
                <a:latin typeface="楷体_GB2312" pitchFamily="49" charset="-122"/>
                <a:ea typeface="楷体_GB2312" pitchFamily="49" charset="-122"/>
              </a:rPr>
              <a:t>):</a:t>
            </a:r>
            <a:endParaRPr lang="en-US" altLang="zh-CN" sz="3600"/>
          </a:p>
          <a:p>
            <a:pPr eaLnBrk="1" hangingPunct="1">
              <a:lnSpc>
                <a:spcPct val="95000"/>
              </a:lnSpc>
              <a:spcBef>
                <a:spcPct val="50000"/>
              </a:spcBef>
            </a:pPr>
            <a:endParaRPr lang="en-US" altLang="zh-CN" sz="3600"/>
          </a:p>
          <a:p>
            <a:pPr eaLnBrk="1" hangingPunct="1">
              <a:lnSpc>
                <a:spcPct val="95000"/>
              </a:lnSpc>
              <a:spcBef>
                <a:spcPct val="50000"/>
              </a:spcBef>
            </a:pPr>
            <a:r>
              <a:rPr lang="en-US" altLang="zh-CN" sz="3600"/>
              <a:t>                       0  1  2  3  4  5  6  7</a:t>
            </a:r>
          </a:p>
          <a:p>
            <a:pPr eaLnBrk="1" hangingPunct="1">
              <a:lnSpc>
                <a:spcPct val="95000"/>
              </a:lnSpc>
              <a:spcBef>
                <a:spcPct val="50000"/>
              </a:spcBef>
            </a:pPr>
            <a:r>
              <a:rPr lang="en-US" altLang="zh-CN" sz="2800" b="1"/>
              <a:t>               Q.front  Q.rear</a:t>
            </a:r>
          </a:p>
          <a:p>
            <a:pPr eaLnBrk="1" hangingPunct="1">
              <a:lnSpc>
                <a:spcPct val="95000"/>
              </a:lnSpc>
              <a:spcBef>
                <a:spcPct val="50000"/>
              </a:spcBef>
            </a:pPr>
            <a:r>
              <a:rPr lang="en-US" altLang="zh-CN" sz="3600"/>
              <a:t>     </a:t>
            </a:r>
            <a:r>
              <a:rPr lang="zh-CN" altLang="en-US" sz="3200" b="1">
                <a:ea typeface="楷体_GB2312" pitchFamily="49" charset="-122"/>
              </a:rPr>
              <a:t>状态特征： </a:t>
            </a:r>
            <a:r>
              <a:rPr lang="en-US" altLang="zh-CN" sz="2800" b="1">
                <a:solidFill>
                  <a:schemeClr val="hlink"/>
                </a:solidFill>
              </a:rPr>
              <a:t>Q.</a:t>
            </a:r>
            <a:r>
              <a:rPr lang="en-US" altLang="zh-CN" sz="3200">
                <a:solidFill>
                  <a:schemeClr val="hlink"/>
                </a:solidFill>
                <a:ea typeface="楷体_GB2312" pitchFamily="49" charset="-122"/>
              </a:rPr>
              <a:t>front= </a:t>
            </a:r>
            <a:r>
              <a:rPr lang="en-US" altLang="zh-CN" sz="2800" b="1">
                <a:solidFill>
                  <a:schemeClr val="hlink"/>
                </a:solidFill>
              </a:rPr>
              <a:t>Q.</a:t>
            </a:r>
            <a:r>
              <a:rPr lang="en-US" altLang="zh-CN" sz="3200">
                <a:solidFill>
                  <a:schemeClr val="hlink"/>
                </a:solidFill>
                <a:ea typeface="楷体_GB2312" pitchFamily="49" charset="-122"/>
              </a:rPr>
              <a:t>rear = 0</a:t>
            </a:r>
          </a:p>
        </p:txBody>
      </p:sp>
      <p:sp>
        <p:nvSpPr>
          <p:cNvPr id="94212" name="Rectangle 3"/>
          <p:cNvSpPr>
            <a:spLocks noChangeArrowheads="1"/>
          </p:cNvSpPr>
          <p:nvPr/>
        </p:nvSpPr>
        <p:spPr bwMode="auto">
          <a:xfrm>
            <a:off x="29718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3" name="Rectangle 4"/>
          <p:cNvSpPr>
            <a:spLocks noChangeArrowheads="1"/>
          </p:cNvSpPr>
          <p:nvPr/>
        </p:nvSpPr>
        <p:spPr bwMode="auto">
          <a:xfrm>
            <a:off x="34290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4" name="Rectangle 5"/>
          <p:cNvSpPr>
            <a:spLocks noChangeArrowheads="1"/>
          </p:cNvSpPr>
          <p:nvPr/>
        </p:nvSpPr>
        <p:spPr bwMode="auto">
          <a:xfrm>
            <a:off x="38862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5" name="Rectangle 6"/>
          <p:cNvSpPr>
            <a:spLocks noChangeArrowheads="1"/>
          </p:cNvSpPr>
          <p:nvPr/>
        </p:nvSpPr>
        <p:spPr bwMode="auto">
          <a:xfrm>
            <a:off x="43434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6" name="Rectangle 7"/>
          <p:cNvSpPr>
            <a:spLocks noChangeArrowheads="1"/>
          </p:cNvSpPr>
          <p:nvPr/>
        </p:nvSpPr>
        <p:spPr bwMode="auto">
          <a:xfrm>
            <a:off x="48006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7" name="Rectangle 8"/>
          <p:cNvSpPr>
            <a:spLocks noChangeArrowheads="1"/>
          </p:cNvSpPr>
          <p:nvPr/>
        </p:nvSpPr>
        <p:spPr bwMode="auto">
          <a:xfrm>
            <a:off x="52578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8" name="Rectangle 9"/>
          <p:cNvSpPr>
            <a:spLocks noChangeArrowheads="1"/>
          </p:cNvSpPr>
          <p:nvPr/>
        </p:nvSpPr>
        <p:spPr bwMode="auto">
          <a:xfrm>
            <a:off x="57150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19" name="Rectangle 10"/>
          <p:cNvSpPr>
            <a:spLocks noChangeArrowheads="1"/>
          </p:cNvSpPr>
          <p:nvPr/>
        </p:nvSpPr>
        <p:spPr bwMode="auto">
          <a:xfrm>
            <a:off x="6172200" y="1828800"/>
            <a:ext cx="4572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4220" name="Line 11"/>
          <p:cNvSpPr>
            <a:spLocks noChangeShapeType="1"/>
          </p:cNvSpPr>
          <p:nvPr/>
        </p:nvSpPr>
        <p:spPr bwMode="auto">
          <a:xfrm flipH="1">
            <a:off x="2362200" y="182880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1" name="Line 12"/>
          <p:cNvSpPr>
            <a:spLocks noChangeShapeType="1"/>
          </p:cNvSpPr>
          <p:nvPr/>
        </p:nvSpPr>
        <p:spPr bwMode="auto">
          <a:xfrm flipH="1">
            <a:off x="2362200" y="236220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2" name="Line 13"/>
          <p:cNvSpPr>
            <a:spLocks noChangeShapeType="1"/>
          </p:cNvSpPr>
          <p:nvPr/>
        </p:nvSpPr>
        <p:spPr bwMode="auto">
          <a:xfrm flipV="1">
            <a:off x="3009900" y="2362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3" name="Line 14"/>
          <p:cNvSpPr>
            <a:spLocks noChangeShapeType="1"/>
          </p:cNvSpPr>
          <p:nvPr/>
        </p:nvSpPr>
        <p:spPr bwMode="auto">
          <a:xfrm flipV="1">
            <a:off x="3124200" y="2362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754067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AC6973A-F0CD-4FB7-9B7D-1E152C312773}" type="slidenum">
              <a:rPr lang="en-US" altLang="zh-CN" sz="1400"/>
              <a:pPr/>
              <a:t>110</a:t>
            </a:fld>
            <a:endParaRPr lang="en-US" altLang="zh-CN" sz="1400"/>
          </a:p>
        </p:txBody>
      </p:sp>
      <p:sp>
        <p:nvSpPr>
          <p:cNvPr id="95235" name="Text Box 2"/>
          <p:cNvSpPr txBox="1">
            <a:spLocks noChangeArrowheads="1"/>
          </p:cNvSpPr>
          <p:nvPr/>
        </p:nvSpPr>
        <p:spPr bwMode="auto">
          <a:xfrm>
            <a:off x="2209800" y="609600"/>
            <a:ext cx="472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4000" b="1">
                <a:solidFill>
                  <a:srgbClr val="A50021"/>
                </a:solidFill>
                <a:ea typeface="楷体_GB2312" pitchFamily="49" charset="-122"/>
              </a:rPr>
              <a:t>初始化算法</a:t>
            </a:r>
          </a:p>
        </p:txBody>
      </p:sp>
      <p:sp>
        <p:nvSpPr>
          <p:cNvPr id="95236" name="Text Box 3"/>
          <p:cNvSpPr txBox="1">
            <a:spLocks noChangeArrowheads="1"/>
          </p:cNvSpPr>
          <p:nvPr/>
        </p:nvSpPr>
        <p:spPr bwMode="auto">
          <a:xfrm>
            <a:off x="116505" y="1600200"/>
            <a:ext cx="891099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b="1" dirty="0">
                <a:ea typeface="楷体_GB2312" pitchFamily="49" charset="-122"/>
              </a:rPr>
              <a:t>void  </a:t>
            </a:r>
            <a:r>
              <a:rPr lang="en-US" altLang="zh-CN" b="1" dirty="0" err="1">
                <a:ea typeface="楷体_GB2312" pitchFamily="49" charset="-122"/>
              </a:rPr>
              <a:t>InitQueue</a:t>
            </a:r>
            <a:r>
              <a:rPr lang="en-US" altLang="zh-CN" b="1" dirty="0">
                <a:ea typeface="楷体_GB2312" pitchFamily="49" charset="-122"/>
              </a:rPr>
              <a:t> (</a:t>
            </a:r>
            <a:r>
              <a:rPr lang="en-US" altLang="zh-CN" b="1" dirty="0" err="1">
                <a:ea typeface="楷体_GB2312" pitchFamily="49" charset="-122"/>
              </a:rPr>
              <a:t>SeQueuetp</a:t>
            </a:r>
            <a:r>
              <a:rPr lang="en-US" altLang="zh-CN" b="1" dirty="0">
                <a:ea typeface="楷体_GB2312" pitchFamily="49" charset="-122"/>
              </a:rPr>
              <a:t> &amp;Q)</a:t>
            </a:r>
          </a:p>
          <a:p>
            <a:pPr eaLnBrk="1" hangingPunct="1">
              <a:spcBef>
                <a:spcPct val="50000"/>
              </a:spcBef>
            </a:pPr>
            <a:r>
              <a:rPr lang="en-US" altLang="zh-CN" b="1" dirty="0">
                <a:ea typeface="楷体_GB2312" pitchFamily="49" charset="-122"/>
              </a:rPr>
              <a:t>     {  Q=(</a:t>
            </a:r>
            <a:r>
              <a:rPr lang="en-US" altLang="zh-CN" b="1" dirty="0" err="1">
                <a:ea typeface="楷体_GB2312" pitchFamily="49" charset="-122"/>
              </a:rPr>
              <a:t>SeQueuetp</a:t>
            </a:r>
            <a:r>
              <a:rPr lang="en-US" altLang="zh-CN" b="1" dirty="0">
                <a:ea typeface="楷体_GB2312" pitchFamily="49" charset="-122"/>
              </a:rPr>
              <a:t>) </a:t>
            </a:r>
            <a:r>
              <a:rPr lang="en-US" altLang="zh-CN" b="1" dirty="0" err="1">
                <a:ea typeface="楷体_GB2312" pitchFamily="49" charset="-122"/>
              </a:rPr>
              <a:t>malloc</a:t>
            </a:r>
            <a:r>
              <a:rPr lang="en-US" altLang="zh-CN" b="1" dirty="0">
                <a:ea typeface="楷体_GB2312" pitchFamily="49" charset="-122"/>
              </a:rPr>
              <a:t>(MAXQSIZE * </a:t>
            </a:r>
            <a:r>
              <a:rPr lang="en-US" altLang="zh-CN" b="1" dirty="0" err="1">
                <a:ea typeface="楷体_GB2312" pitchFamily="49" charset="-122"/>
              </a:rPr>
              <a:t>sizeof</a:t>
            </a:r>
            <a:r>
              <a:rPr lang="en-US" altLang="zh-CN" b="1" dirty="0">
                <a:ea typeface="楷体_GB2312" pitchFamily="49" charset="-122"/>
              </a:rPr>
              <a:t>(</a:t>
            </a:r>
            <a:r>
              <a:rPr lang="en-US" altLang="zh-CN" b="1" dirty="0" err="1">
                <a:ea typeface="楷体_GB2312" pitchFamily="49" charset="-122"/>
              </a:rPr>
              <a:t>elemType</a:t>
            </a:r>
            <a:r>
              <a:rPr lang="en-US" altLang="zh-CN" b="1" dirty="0">
                <a:ea typeface="楷体_GB2312" pitchFamily="49" charset="-122"/>
              </a:rPr>
              <a:t>));</a:t>
            </a:r>
          </a:p>
          <a:p>
            <a:pPr eaLnBrk="1" hangingPunct="1">
              <a:spcBef>
                <a:spcPct val="50000"/>
              </a:spcBef>
            </a:pPr>
            <a:r>
              <a:rPr lang="en-US" altLang="zh-CN" b="1" dirty="0">
                <a:ea typeface="楷体_GB2312" pitchFamily="49" charset="-122"/>
              </a:rPr>
              <a:t>        if (Q)</a:t>
            </a:r>
          </a:p>
          <a:p>
            <a:pPr eaLnBrk="1" hangingPunct="1">
              <a:spcBef>
                <a:spcPct val="50000"/>
              </a:spcBef>
            </a:pPr>
            <a:r>
              <a:rPr lang="en-US" altLang="zh-CN" b="1" dirty="0">
                <a:ea typeface="楷体_GB2312" pitchFamily="49" charset="-122"/>
              </a:rPr>
              <a:t>        </a:t>
            </a:r>
            <a:r>
              <a:rPr lang="en-US" altLang="zh-CN" b="1" dirty="0" err="1">
                <a:ea typeface="楷体_GB2312" pitchFamily="49" charset="-122"/>
              </a:rPr>
              <a:t>Q.front</a:t>
            </a:r>
            <a:r>
              <a:rPr lang="en-US" altLang="zh-CN" b="1" dirty="0">
                <a:ea typeface="楷体_GB2312" pitchFamily="49" charset="-122"/>
              </a:rPr>
              <a:t> = 0;</a:t>
            </a:r>
          </a:p>
          <a:p>
            <a:pPr eaLnBrk="1" hangingPunct="1">
              <a:spcBef>
                <a:spcPct val="50000"/>
              </a:spcBef>
            </a:pPr>
            <a:r>
              <a:rPr lang="en-US" altLang="zh-CN" b="1" dirty="0">
                <a:ea typeface="楷体_GB2312" pitchFamily="49" charset="-122"/>
              </a:rPr>
              <a:t>        </a:t>
            </a:r>
            <a:r>
              <a:rPr lang="en-US" altLang="zh-CN" b="1" dirty="0" err="1">
                <a:ea typeface="楷体_GB2312" pitchFamily="49" charset="-122"/>
              </a:rPr>
              <a:t>Q.rear</a:t>
            </a:r>
            <a:r>
              <a:rPr lang="en-US" altLang="zh-CN" b="1" dirty="0">
                <a:ea typeface="楷体_GB2312" pitchFamily="49" charset="-122"/>
              </a:rPr>
              <a:t> = 0; </a:t>
            </a:r>
            <a:r>
              <a:rPr lang="en-US" altLang="zh-CN" sz="2400" b="1" dirty="0">
                <a:solidFill>
                  <a:srgbClr val="006600"/>
                </a:solidFill>
                <a:ea typeface="楷体_GB2312" pitchFamily="49" charset="-122"/>
              </a:rPr>
              <a:t>  //</a:t>
            </a:r>
            <a:r>
              <a:rPr lang="zh-CN" altLang="en-US" sz="2400" b="1" dirty="0">
                <a:solidFill>
                  <a:srgbClr val="006600"/>
                </a:solidFill>
                <a:ea typeface="楷体_GB2312" pitchFamily="49" charset="-122"/>
              </a:rPr>
              <a:t>设置队头指针和队尾指针均指向数组下界</a:t>
            </a:r>
          </a:p>
          <a:p>
            <a:pPr eaLnBrk="1" hangingPunct="1">
              <a:spcBef>
                <a:spcPct val="50000"/>
              </a:spcBef>
            </a:pPr>
            <a:r>
              <a:rPr lang="zh-CN" altLang="en-US" sz="2400" b="1" dirty="0">
                <a:solidFill>
                  <a:srgbClr val="006600"/>
                </a:solidFill>
                <a:ea typeface="楷体_GB2312" pitchFamily="49" charset="-122"/>
              </a:rPr>
              <a:t>    </a:t>
            </a:r>
            <a:r>
              <a:rPr lang="zh-CN" altLang="en-US" b="1" dirty="0">
                <a:ea typeface="楷体_GB2312" pitchFamily="49" charset="-122"/>
              </a:rPr>
              <a:t>  </a:t>
            </a:r>
            <a:r>
              <a:rPr lang="en-US" altLang="zh-CN" b="1" dirty="0">
                <a:ea typeface="楷体_GB2312" pitchFamily="49" charset="-122"/>
              </a:rPr>
              <a:t>}</a:t>
            </a:r>
          </a:p>
        </p:txBody>
      </p:sp>
    </p:spTree>
    <p:extLst>
      <p:ext uri="{BB962C8B-B14F-4D97-AF65-F5344CB8AC3E}">
        <p14:creationId xmlns:p14="http://schemas.microsoft.com/office/powerpoint/2010/main" val="6013972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0A7383B-95B2-4511-9363-8F2B66EDADEB}" type="slidenum">
              <a:rPr lang="en-US" altLang="zh-CN" sz="1400"/>
              <a:pPr/>
              <a:t>111</a:t>
            </a:fld>
            <a:endParaRPr lang="en-US" altLang="zh-CN" sz="1400"/>
          </a:p>
        </p:txBody>
      </p:sp>
      <p:sp>
        <p:nvSpPr>
          <p:cNvPr id="96259" name="Rectangle 2"/>
          <p:cNvSpPr>
            <a:spLocks noGrp="1" noChangeArrowheads="1"/>
          </p:cNvSpPr>
          <p:nvPr>
            <p:ph/>
          </p:nvPr>
        </p:nvSpPr>
        <p:spPr>
          <a:xfrm>
            <a:off x="0" y="0"/>
            <a:ext cx="8622450" cy="5904275"/>
          </a:xfrm>
        </p:spPr>
        <p:txBody>
          <a:bodyPr/>
          <a:lstStyle/>
          <a:p>
            <a:pPr eaLnBrk="1" hangingPunct="1">
              <a:lnSpc>
                <a:spcPct val="90000"/>
              </a:lnSpc>
              <a:buFontTx/>
              <a:buNone/>
            </a:pPr>
            <a:r>
              <a:rPr lang="en-US" altLang="zh-CN" dirty="0"/>
              <a:t>      </a:t>
            </a:r>
            <a:r>
              <a:rPr lang="en-US" altLang="zh-CN" sz="3600" b="1" dirty="0"/>
              <a:t>(b)</a:t>
            </a:r>
            <a:r>
              <a:rPr lang="en-US" altLang="zh-CN" sz="3600" dirty="0"/>
              <a:t> </a:t>
            </a:r>
            <a:r>
              <a:rPr lang="zh-CN" altLang="en-US" sz="3600" dirty="0">
                <a:latin typeface="楷体_GB2312" pitchFamily="49" charset="-122"/>
                <a:ea typeface="楷体_GB2312" pitchFamily="49" charset="-122"/>
              </a:rPr>
              <a:t>元素入队列后，队列的状态</a:t>
            </a:r>
            <a:r>
              <a:rPr lang="en-US" altLang="zh-CN" sz="3600" dirty="0">
                <a:latin typeface="楷体_GB2312" pitchFamily="49" charset="-122"/>
                <a:ea typeface="楷体_GB2312" pitchFamily="49" charset="-122"/>
              </a:rPr>
              <a:t>:</a:t>
            </a:r>
            <a:endParaRPr lang="en-US" altLang="zh-CN" dirty="0"/>
          </a:p>
          <a:p>
            <a:pPr eaLnBrk="1" hangingPunct="1">
              <a:lnSpc>
                <a:spcPct val="90000"/>
              </a:lnSpc>
              <a:buFontTx/>
              <a:buNone/>
            </a:pPr>
            <a:r>
              <a:rPr lang="en-US" altLang="zh-CN" dirty="0"/>
              <a:t>       </a:t>
            </a:r>
          </a:p>
          <a:p>
            <a:pPr eaLnBrk="1" hangingPunct="1">
              <a:lnSpc>
                <a:spcPct val="90000"/>
              </a:lnSpc>
              <a:buFontTx/>
              <a:buNone/>
            </a:pPr>
            <a:endParaRPr lang="en-US" altLang="zh-CN" dirty="0"/>
          </a:p>
          <a:p>
            <a:pPr eaLnBrk="1" hangingPunct="1">
              <a:lnSpc>
                <a:spcPct val="90000"/>
              </a:lnSpc>
              <a:buFontTx/>
              <a:buNone/>
            </a:pPr>
            <a:r>
              <a:rPr lang="en-US" altLang="zh-CN" dirty="0"/>
              <a:t>                      </a:t>
            </a:r>
            <a:r>
              <a:rPr lang="en-US" altLang="zh-CN" sz="2800" b="1" dirty="0" err="1"/>
              <a:t>Q.front</a:t>
            </a:r>
            <a:r>
              <a:rPr lang="en-US" altLang="zh-CN" sz="2800" b="1" dirty="0"/>
              <a:t>              </a:t>
            </a:r>
            <a:r>
              <a:rPr lang="en-US" altLang="zh-CN" sz="2800" b="1" dirty="0" err="1"/>
              <a:t>Q.rear</a:t>
            </a:r>
            <a:endParaRPr lang="en-US" altLang="zh-CN" sz="2800" b="1" dirty="0"/>
          </a:p>
          <a:p>
            <a:pPr eaLnBrk="1" hangingPunct="1">
              <a:lnSpc>
                <a:spcPct val="90000"/>
              </a:lnSpc>
              <a:buFontTx/>
              <a:buNone/>
            </a:pPr>
            <a:r>
              <a:rPr lang="en-US" altLang="zh-CN" dirty="0"/>
              <a:t>    </a:t>
            </a:r>
            <a:r>
              <a:rPr lang="zh-CN" altLang="en-US" b="1" dirty="0">
                <a:latin typeface="楷体_GB2312" pitchFamily="49" charset="-122"/>
                <a:ea typeface="楷体_GB2312" pitchFamily="49" charset="-122"/>
              </a:rPr>
              <a:t>入列操作</a:t>
            </a:r>
            <a:r>
              <a:rPr lang="en-US" altLang="zh-CN" b="1" dirty="0">
                <a:latin typeface="楷体_GB2312" pitchFamily="49" charset="-122"/>
                <a:ea typeface="楷体_GB2312" pitchFamily="49" charset="-122"/>
              </a:rPr>
              <a:t>:</a:t>
            </a:r>
            <a:r>
              <a:rPr lang="en-US" altLang="zh-CN" dirty="0"/>
              <a:t>                     </a:t>
            </a:r>
          </a:p>
          <a:p>
            <a:pPr eaLnBrk="1" hangingPunct="1">
              <a:lnSpc>
                <a:spcPct val="90000"/>
              </a:lnSpc>
              <a:buFontTx/>
              <a:buNone/>
            </a:pPr>
            <a:r>
              <a:rPr lang="en-US" altLang="zh-CN" dirty="0"/>
              <a:t>   </a:t>
            </a:r>
            <a:r>
              <a:rPr lang="en-US" altLang="zh-CN" dirty="0" err="1"/>
              <a:t>Q.queue</a:t>
            </a:r>
            <a:r>
              <a:rPr lang="en-US" altLang="zh-CN" dirty="0"/>
              <a:t>[</a:t>
            </a:r>
            <a:r>
              <a:rPr lang="en-US" altLang="zh-CN" dirty="0" err="1"/>
              <a:t>Q.rear</a:t>
            </a:r>
            <a:r>
              <a:rPr lang="en-US" altLang="zh-CN" dirty="0" smtClean="0"/>
              <a:t>] = ‘</a:t>
            </a:r>
            <a:r>
              <a:rPr lang="en-US" altLang="zh-CN" dirty="0"/>
              <a:t>A’;        </a:t>
            </a:r>
            <a:r>
              <a:rPr lang="en-US" altLang="zh-CN" dirty="0" err="1"/>
              <a:t>Q.rear</a:t>
            </a:r>
            <a:r>
              <a:rPr lang="en-US" altLang="zh-CN" dirty="0"/>
              <a:t>++; </a:t>
            </a:r>
          </a:p>
          <a:p>
            <a:pPr eaLnBrk="1" hangingPunct="1">
              <a:lnSpc>
                <a:spcPct val="90000"/>
              </a:lnSpc>
              <a:buFontTx/>
              <a:buNone/>
            </a:pPr>
            <a:r>
              <a:rPr lang="en-US" altLang="zh-CN" dirty="0"/>
              <a:t>   </a:t>
            </a:r>
            <a:r>
              <a:rPr lang="en-US" altLang="zh-CN" dirty="0" err="1"/>
              <a:t>Q.queue</a:t>
            </a:r>
            <a:r>
              <a:rPr lang="en-US" altLang="zh-CN" dirty="0"/>
              <a:t>[</a:t>
            </a:r>
            <a:r>
              <a:rPr lang="en-US" altLang="zh-CN" dirty="0" err="1"/>
              <a:t>Q.rear</a:t>
            </a:r>
            <a:r>
              <a:rPr lang="en-US" altLang="zh-CN" dirty="0" smtClean="0"/>
              <a:t>] = ‘</a:t>
            </a:r>
            <a:r>
              <a:rPr lang="en-US" altLang="zh-CN" dirty="0"/>
              <a:t>B’;        </a:t>
            </a:r>
            <a:r>
              <a:rPr lang="en-US" altLang="zh-CN" dirty="0" err="1"/>
              <a:t>Q.rear</a:t>
            </a:r>
            <a:r>
              <a:rPr lang="en-US" altLang="zh-CN" dirty="0"/>
              <a:t>++;</a:t>
            </a:r>
          </a:p>
          <a:p>
            <a:pPr eaLnBrk="1" hangingPunct="1">
              <a:lnSpc>
                <a:spcPct val="90000"/>
              </a:lnSpc>
              <a:buFontTx/>
              <a:buNone/>
            </a:pPr>
            <a:r>
              <a:rPr lang="en-US" altLang="zh-CN" dirty="0"/>
              <a:t>   </a:t>
            </a:r>
            <a:r>
              <a:rPr lang="en-US" altLang="zh-CN" dirty="0" err="1"/>
              <a:t>Q.queue</a:t>
            </a:r>
            <a:r>
              <a:rPr lang="en-US" altLang="zh-CN" dirty="0"/>
              <a:t>[</a:t>
            </a:r>
            <a:r>
              <a:rPr lang="en-US" altLang="zh-CN" dirty="0" err="1"/>
              <a:t>Q.rear</a:t>
            </a:r>
            <a:r>
              <a:rPr lang="en-US" altLang="zh-CN" dirty="0" smtClean="0"/>
              <a:t>] = ‘</a:t>
            </a:r>
            <a:r>
              <a:rPr lang="en-US" altLang="zh-CN" dirty="0"/>
              <a:t>C’;        </a:t>
            </a:r>
            <a:r>
              <a:rPr lang="en-US" altLang="zh-CN" dirty="0" err="1"/>
              <a:t>Q.rear</a:t>
            </a:r>
            <a:r>
              <a:rPr lang="en-US" altLang="zh-CN" dirty="0"/>
              <a:t>++; </a:t>
            </a:r>
          </a:p>
          <a:p>
            <a:pPr eaLnBrk="1" hangingPunct="1">
              <a:lnSpc>
                <a:spcPct val="90000"/>
              </a:lnSpc>
              <a:buFontTx/>
              <a:buNone/>
            </a:pPr>
            <a:r>
              <a:rPr lang="en-US" altLang="zh-CN" dirty="0"/>
              <a:t>   </a:t>
            </a:r>
            <a:r>
              <a:rPr lang="en-US" altLang="zh-CN" dirty="0" err="1"/>
              <a:t>Q.queue</a:t>
            </a:r>
            <a:r>
              <a:rPr lang="en-US" altLang="zh-CN" dirty="0"/>
              <a:t>[</a:t>
            </a:r>
            <a:r>
              <a:rPr lang="en-US" altLang="zh-CN" dirty="0" err="1"/>
              <a:t>Q.rear</a:t>
            </a:r>
            <a:r>
              <a:rPr lang="en-US" altLang="zh-CN" dirty="0" smtClean="0"/>
              <a:t>] = ‘</a:t>
            </a:r>
            <a:r>
              <a:rPr lang="en-US" altLang="zh-CN" dirty="0"/>
              <a:t>D’;        </a:t>
            </a:r>
            <a:r>
              <a:rPr lang="en-US" altLang="zh-CN" dirty="0" err="1"/>
              <a:t>Q.rear</a:t>
            </a:r>
            <a:r>
              <a:rPr lang="en-US" altLang="zh-CN" dirty="0"/>
              <a:t>++; </a:t>
            </a:r>
          </a:p>
          <a:p>
            <a:pPr eaLnBrk="1" hangingPunct="1">
              <a:lnSpc>
                <a:spcPct val="90000"/>
              </a:lnSpc>
              <a:buFontTx/>
              <a:buNone/>
            </a:pPr>
            <a:r>
              <a:rPr lang="en-US" altLang="zh-CN" dirty="0"/>
              <a:t>   </a:t>
            </a:r>
            <a:r>
              <a:rPr lang="en-US" altLang="zh-CN" dirty="0" err="1"/>
              <a:t>Q.queue</a:t>
            </a:r>
            <a:r>
              <a:rPr lang="en-US" altLang="zh-CN" dirty="0"/>
              <a:t>[</a:t>
            </a:r>
            <a:r>
              <a:rPr lang="en-US" altLang="zh-CN" dirty="0" err="1"/>
              <a:t>Q.rear</a:t>
            </a:r>
            <a:r>
              <a:rPr lang="en-US" altLang="zh-CN" dirty="0" smtClean="0"/>
              <a:t>] = ‘</a:t>
            </a:r>
            <a:r>
              <a:rPr lang="en-US" altLang="zh-CN" dirty="0"/>
              <a:t>E’;        </a:t>
            </a:r>
            <a:r>
              <a:rPr lang="en-US" altLang="zh-CN" dirty="0" err="1"/>
              <a:t>Q.rear</a:t>
            </a:r>
            <a:r>
              <a:rPr lang="en-US" altLang="zh-CN" dirty="0"/>
              <a:t>++;</a:t>
            </a:r>
          </a:p>
        </p:txBody>
      </p:sp>
      <p:sp>
        <p:nvSpPr>
          <p:cNvPr id="96260" name="Rectangle 3"/>
          <p:cNvSpPr>
            <a:spLocks noChangeArrowheads="1"/>
          </p:cNvSpPr>
          <p:nvPr/>
        </p:nvSpPr>
        <p:spPr bwMode="auto">
          <a:xfrm>
            <a:off x="27432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A</a:t>
            </a:r>
          </a:p>
        </p:txBody>
      </p:sp>
      <p:sp>
        <p:nvSpPr>
          <p:cNvPr id="96261" name="Rectangle 4"/>
          <p:cNvSpPr>
            <a:spLocks noChangeArrowheads="1"/>
          </p:cNvSpPr>
          <p:nvPr/>
        </p:nvSpPr>
        <p:spPr bwMode="auto">
          <a:xfrm>
            <a:off x="32004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B</a:t>
            </a:r>
          </a:p>
        </p:txBody>
      </p:sp>
      <p:sp>
        <p:nvSpPr>
          <p:cNvPr id="96262" name="Rectangle 5"/>
          <p:cNvSpPr>
            <a:spLocks noChangeArrowheads="1"/>
          </p:cNvSpPr>
          <p:nvPr/>
        </p:nvSpPr>
        <p:spPr bwMode="auto">
          <a:xfrm>
            <a:off x="36576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C</a:t>
            </a:r>
          </a:p>
        </p:txBody>
      </p:sp>
      <p:sp>
        <p:nvSpPr>
          <p:cNvPr id="96263" name="Rectangle 6"/>
          <p:cNvSpPr>
            <a:spLocks noChangeArrowheads="1"/>
          </p:cNvSpPr>
          <p:nvPr/>
        </p:nvSpPr>
        <p:spPr bwMode="auto">
          <a:xfrm>
            <a:off x="41148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D</a:t>
            </a:r>
          </a:p>
        </p:txBody>
      </p:sp>
      <p:sp>
        <p:nvSpPr>
          <p:cNvPr id="96264" name="Rectangle 7"/>
          <p:cNvSpPr>
            <a:spLocks noChangeArrowheads="1"/>
          </p:cNvSpPr>
          <p:nvPr/>
        </p:nvSpPr>
        <p:spPr bwMode="auto">
          <a:xfrm>
            <a:off x="45720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E</a:t>
            </a:r>
          </a:p>
        </p:txBody>
      </p:sp>
      <p:sp>
        <p:nvSpPr>
          <p:cNvPr id="96265" name="Rectangle 8"/>
          <p:cNvSpPr>
            <a:spLocks noChangeArrowheads="1"/>
          </p:cNvSpPr>
          <p:nvPr/>
        </p:nvSpPr>
        <p:spPr bwMode="auto">
          <a:xfrm>
            <a:off x="50292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6266" name="Rectangle 9"/>
          <p:cNvSpPr>
            <a:spLocks noChangeArrowheads="1"/>
          </p:cNvSpPr>
          <p:nvPr/>
        </p:nvSpPr>
        <p:spPr bwMode="auto">
          <a:xfrm>
            <a:off x="54864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6267" name="Rectangle 10"/>
          <p:cNvSpPr>
            <a:spLocks noChangeArrowheads="1"/>
          </p:cNvSpPr>
          <p:nvPr/>
        </p:nvSpPr>
        <p:spPr bwMode="auto">
          <a:xfrm>
            <a:off x="5943600" y="685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6268" name="Line 11"/>
          <p:cNvSpPr>
            <a:spLocks noChangeShapeType="1"/>
          </p:cNvSpPr>
          <p:nvPr/>
        </p:nvSpPr>
        <p:spPr bwMode="auto">
          <a:xfrm flipH="1">
            <a:off x="2362200" y="6858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9" name="Line 12"/>
          <p:cNvSpPr>
            <a:spLocks noChangeShapeType="1"/>
          </p:cNvSpPr>
          <p:nvPr/>
        </p:nvSpPr>
        <p:spPr bwMode="auto">
          <a:xfrm flipH="1">
            <a:off x="2362200" y="11430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70" name="Line 13"/>
          <p:cNvSpPr>
            <a:spLocks noChangeShapeType="1"/>
          </p:cNvSpPr>
          <p:nvPr/>
        </p:nvSpPr>
        <p:spPr bwMode="auto">
          <a:xfrm flipV="1">
            <a:off x="2971800" y="1143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71" name="Line 14"/>
          <p:cNvSpPr>
            <a:spLocks noChangeShapeType="1"/>
          </p:cNvSpPr>
          <p:nvPr/>
        </p:nvSpPr>
        <p:spPr bwMode="auto">
          <a:xfrm flipV="1">
            <a:off x="5257800" y="1143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873519652"/>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1CD45D6D-734E-461E-BBD2-28C09F3F3C69}" type="slidenum">
              <a:rPr lang="en-US" altLang="zh-CN" sz="1400"/>
              <a:pPr/>
              <a:t>112</a:t>
            </a:fld>
            <a:endParaRPr lang="en-US" altLang="zh-CN" sz="1400"/>
          </a:p>
        </p:txBody>
      </p:sp>
      <p:sp>
        <p:nvSpPr>
          <p:cNvPr id="97283" name="Rectangle 2"/>
          <p:cNvSpPr>
            <a:spLocks noGrp="1" noChangeArrowheads="1"/>
          </p:cNvSpPr>
          <p:nvPr>
            <p:ph/>
          </p:nvPr>
        </p:nvSpPr>
        <p:spPr>
          <a:xfrm>
            <a:off x="0" y="0"/>
            <a:ext cx="9144000" cy="6858000"/>
          </a:xfrm>
        </p:spPr>
        <p:txBody>
          <a:bodyPr/>
          <a:lstStyle/>
          <a:p>
            <a:pPr eaLnBrk="1" hangingPunct="1">
              <a:buFontTx/>
              <a:buNone/>
            </a:pPr>
            <a:endParaRPr lang="en-US" altLang="zh-CN" dirty="0"/>
          </a:p>
          <a:p>
            <a:pPr eaLnBrk="1" hangingPunct="1">
              <a:buFontTx/>
              <a:buNone/>
            </a:pPr>
            <a:r>
              <a:rPr lang="en-US" altLang="zh-CN" dirty="0"/>
              <a:t>          </a:t>
            </a:r>
            <a:r>
              <a:rPr lang="en-US" altLang="zh-CN" sz="3600" b="1" dirty="0"/>
              <a:t>(c )</a:t>
            </a:r>
            <a:r>
              <a:rPr lang="en-US" altLang="zh-CN" sz="3600" dirty="0"/>
              <a:t> </a:t>
            </a:r>
            <a:r>
              <a:rPr lang="zh-CN" altLang="en-US" sz="3600" dirty="0">
                <a:latin typeface="楷体_GB2312" pitchFamily="49" charset="-122"/>
                <a:ea typeface="楷体_GB2312" pitchFamily="49" charset="-122"/>
              </a:rPr>
              <a:t>元素 </a:t>
            </a:r>
            <a:r>
              <a:rPr lang="en-US" altLang="zh-CN" sz="3600" dirty="0">
                <a:latin typeface="楷体_GB2312" pitchFamily="49" charset="-122"/>
                <a:ea typeface="楷体_GB2312" pitchFamily="49" charset="-122"/>
              </a:rPr>
              <a:t>A,B,C</a:t>
            </a:r>
            <a:r>
              <a:rPr lang="zh-CN" altLang="en-US" sz="3600" dirty="0">
                <a:latin typeface="楷体_GB2312" pitchFamily="49" charset="-122"/>
                <a:ea typeface="楷体_GB2312" pitchFamily="49" charset="-122"/>
              </a:rPr>
              <a:t>出列后的状态</a:t>
            </a:r>
            <a:r>
              <a:rPr lang="en-US" altLang="zh-CN" dirty="0">
                <a:latin typeface="楷体_GB2312" pitchFamily="49" charset="-122"/>
                <a:ea typeface="楷体_GB2312" pitchFamily="49" charset="-122"/>
              </a:rPr>
              <a:t>:</a:t>
            </a:r>
            <a:endParaRPr lang="en-US" altLang="zh-CN" dirty="0"/>
          </a:p>
          <a:p>
            <a:pPr eaLnBrk="1" hangingPunct="1">
              <a:buFontTx/>
              <a:buNone/>
            </a:pPr>
            <a:endParaRPr lang="en-US" altLang="zh-CN" dirty="0"/>
          </a:p>
          <a:p>
            <a:pPr eaLnBrk="1" hangingPunct="1">
              <a:buFontTx/>
              <a:buNone/>
            </a:pPr>
            <a:endParaRPr lang="en-US" altLang="zh-CN" dirty="0"/>
          </a:p>
          <a:p>
            <a:pPr eaLnBrk="1" hangingPunct="1">
              <a:buFontTx/>
              <a:buNone/>
            </a:pPr>
            <a:r>
              <a:rPr lang="en-US" altLang="zh-CN" dirty="0"/>
              <a:t>                                </a:t>
            </a:r>
            <a:r>
              <a:rPr lang="en-US" altLang="zh-CN" dirty="0" err="1"/>
              <a:t>Q.front</a:t>
            </a:r>
            <a:r>
              <a:rPr lang="en-US" altLang="zh-CN" dirty="0"/>
              <a:t> </a:t>
            </a:r>
            <a:r>
              <a:rPr lang="en-US" altLang="zh-CN" dirty="0" err="1"/>
              <a:t>Q.rear</a:t>
            </a:r>
            <a:endParaRPr lang="en-US" altLang="zh-CN" dirty="0"/>
          </a:p>
          <a:p>
            <a:pPr eaLnBrk="1" hangingPunct="1">
              <a:buFontTx/>
              <a:buNone/>
            </a:pPr>
            <a:r>
              <a:rPr lang="en-US" altLang="zh-CN" dirty="0">
                <a:latin typeface="楷体_GB2312" pitchFamily="49" charset="-122"/>
                <a:ea typeface="楷体_GB2312" pitchFamily="49" charset="-122"/>
              </a:rPr>
              <a:t>    </a:t>
            </a:r>
            <a:r>
              <a:rPr lang="zh-CN" altLang="en-US" b="1" dirty="0">
                <a:latin typeface="楷体_GB2312" pitchFamily="49" charset="-122"/>
                <a:ea typeface="楷体_GB2312" pitchFamily="49" charset="-122"/>
              </a:rPr>
              <a:t>出列操作</a:t>
            </a:r>
            <a:r>
              <a:rPr lang="en-US" altLang="zh-CN" b="1" dirty="0">
                <a:latin typeface="楷体_GB2312" pitchFamily="49" charset="-122"/>
                <a:ea typeface="楷体_GB2312" pitchFamily="49" charset="-122"/>
              </a:rPr>
              <a:t>:</a:t>
            </a:r>
            <a:r>
              <a:rPr lang="en-US" altLang="zh-CN" dirty="0">
                <a:latin typeface="楷体_GB2312" pitchFamily="49" charset="-122"/>
                <a:ea typeface="楷体_GB2312" pitchFamily="49" charset="-122"/>
              </a:rPr>
              <a:t>    </a:t>
            </a:r>
          </a:p>
          <a:p>
            <a:pPr eaLnBrk="1" hangingPunct="1">
              <a:buFontTx/>
              <a:buNone/>
            </a:pPr>
            <a:r>
              <a:rPr lang="en-US" altLang="zh-CN" dirty="0">
                <a:latin typeface="楷体_GB2312" pitchFamily="49" charset="-122"/>
                <a:ea typeface="楷体_GB2312" pitchFamily="49" charset="-122"/>
              </a:rPr>
              <a:t>   </a:t>
            </a:r>
            <a:r>
              <a:rPr lang="en-US" altLang="zh-CN" dirty="0" err="1" smtClean="0">
                <a:ea typeface="楷体_GB2312" pitchFamily="49" charset="-122"/>
              </a:rPr>
              <a:t>ch</a:t>
            </a:r>
            <a:r>
              <a:rPr lang="en-US" altLang="zh-CN" dirty="0" smtClean="0">
                <a:ea typeface="楷体_GB2312" pitchFamily="49" charset="-122"/>
              </a:rPr>
              <a:t> </a:t>
            </a:r>
            <a:r>
              <a:rPr lang="en-US" altLang="zh-CN" dirty="0">
                <a:ea typeface="楷体_GB2312" pitchFamily="49" charset="-122"/>
              </a:rPr>
              <a:t>= </a:t>
            </a:r>
            <a:r>
              <a:rPr lang="en-US" altLang="zh-CN" dirty="0" err="1"/>
              <a:t>Q.</a:t>
            </a:r>
            <a:r>
              <a:rPr lang="en-US" altLang="zh-CN" dirty="0" err="1">
                <a:ea typeface="楷体_GB2312" pitchFamily="49" charset="-122"/>
              </a:rPr>
              <a:t>queue</a:t>
            </a:r>
            <a:r>
              <a:rPr lang="en-US" altLang="zh-CN" dirty="0">
                <a:ea typeface="楷体_GB2312" pitchFamily="49" charset="-122"/>
              </a:rPr>
              <a:t>[</a:t>
            </a:r>
            <a:r>
              <a:rPr lang="en-US" altLang="zh-CN" dirty="0" err="1"/>
              <a:t>Q.</a:t>
            </a:r>
            <a:r>
              <a:rPr lang="en-US" altLang="zh-CN" dirty="0" err="1">
                <a:ea typeface="楷体_GB2312" pitchFamily="49" charset="-122"/>
              </a:rPr>
              <a:t>front</a:t>
            </a:r>
            <a:r>
              <a:rPr lang="en-US" altLang="zh-CN" dirty="0">
                <a:ea typeface="楷体_GB2312" pitchFamily="49" charset="-122"/>
              </a:rPr>
              <a:t>];     </a:t>
            </a:r>
            <a:r>
              <a:rPr lang="en-US" altLang="zh-CN" dirty="0" err="1"/>
              <a:t>Q.</a:t>
            </a:r>
            <a:r>
              <a:rPr lang="en-US" altLang="zh-CN" dirty="0" err="1">
                <a:ea typeface="楷体_GB2312" pitchFamily="49" charset="-122"/>
              </a:rPr>
              <a:t>front</a:t>
            </a:r>
            <a:r>
              <a:rPr lang="en-US" altLang="zh-CN" dirty="0">
                <a:ea typeface="楷体_GB2312" pitchFamily="49" charset="-122"/>
              </a:rPr>
              <a:t>++;</a:t>
            </a:r>
          </a:p>
          <a:p>
            <a:pPr eaLnBrk="1" hangingPunct="1">
              <a:lnSpc>
                <a:spcPct val="95000"/>
              </a:lnSpc>
              <a:buFontTx/>
              <a:buNone/>
            </a:pPr>
            <a:r>
              <a:rPr lang="en-US" altLang="zh-CN" dirty="0">
                <a:ea typeface="楷体_GB2312" pitchFamily="49" charset="-122"/>
              </a:rPr>
              <a:t>      </a:t>
            </a:r>
            <a:r>
              <a:rPr lang="en-US" altLang="zh-CN" dirty="0" err="1">
                <a:ea typeface="楷体_GB2312" pitchFamily="49" charset="-122"/>
              </a:rPr>
              <a:t>ch</a:t>
            </a:r>
            <a:r>
              <a:rPr lang="en-US" altLang="zh-CN" dirty="0">
                <a:ea typeface="楷体_GB2312" pitchFamily="49" charset="-122"/>
              </a:rPr>
              <a:t> = </a:t>
            </a:r>
            <a:r>
              <a:rPr lang="en-US" altLang="zh-CN" dirty="0" err="1"/>
              <a:t>Q.</a:t>
            </a:r>
            <a:r>
              <a:rPr lang="en-US" altLang="zh-CN" dirty="0" err="1">
                <a:ea typeface="楷体_GB2312" pitchFamily="49" charset="-122"/>
              </a:rPr>
              <a:t>queue</a:t>
            </a:r>
            <a:r>
              <a:rPr lang="en-US" altLang="zh-CN" dirty="0">
                <a:ea typeface="楷体_GB2312" pitchFamily="49" charset="-122"/>
              </a:rPr>
              <a:t>[</a:t>
            </a:r>
            <a:r>
              <a:rPr lang="en-US" altLang="zh-CN" dirty="0" err="1"/>
              <a:t>Q.</a:t>
            </a:r>
            <a:r>
              <a:rPr lang="en-US" altLang="zh-CN" dirty="0" err="1">
                <a:ea typeface="楷体_GB2312" pitchFamily="49" charset="-122"/>
              </a:rPr>
              <a:t>front</a:t>
            </a:r>
            <a:r>
              <a:rPr lang="en-US" altLang="zh-CN" dirty="0">
                <a:ea typeface="楷体_GB2312" pitchFamily="49" charset="-122"/>
              </a:rPr>
              <a:t>];     </a:t>
            </a:r>
            <a:r>
              <a:rPr lang="en-US" altLang="zh-CN" dirty="0" err="1"/>
              <a:t>Q.</a:t>
            </a:r>
            <a:r>
              <a:rPr lang="en-US" altLang="zh-CN" dirty="0" err="1">
                <a:ea typeface="楷体_GB2312" pitchFamily="49" charset="-122"/>
              </a:rPr>
              <a:t>front</a:t>
            </a:r>
            <a:r>
              <a:rPr lang="en-US" altLang="zh-CN" dirty="0">
                <a:ea typeface="楷体_GB2312" pitchFamily="49" charset="-122"/>
              </a:rPr>
              <a:t>++;</a:t>
            </a:r>
          </a:p>
          <a:p>
            <a:pPr eaLnBrk="1" hangingPunct="1">
              <a:lnSpc>
                <a:spcPct val="95000"/>
              </a:lnSpc>
              <a:buFontTx/>
              <a:buNone/>
            </a:pPr>
            <a:r>
              <a:rPr lang="en-US" altLang="zh-CN" dirty="0">
                <a:ea typeface="楷体_GB2312" pitchFamily="49" charset="-122"/>
              </a:rPr>
              <a:t>      </a:t>
            </a:r>
            <a:r>
              <a:rPr lang="en-US" altLang="zh-CN" dirty="0" err="1">
                <a:ea typeface="楷体_GB2312" pitchFamily="49" charset="-122"/>
              </a:rPr>
              <a:t>ch</a:t>
            </a:r>
            <a:r>
              <a:rPr lang="en-US" altLang="zh-CN" dirty="0">
                <a:ea typeface="楷体_GB2312" pitchFamily="49" charset="-122"/>
              </a:rPr>
              <a:t> = </a:t>
            </a:r>
            <a:r>
              <a:rPr lang="en-US" altLang="zh-CN" dirty="0" err="1"/>
              <a:t>Q.</a:t>
            </a:r>
            <a:r>
              <a:rPr lang="en-US" altLang="zh-CN" dirty="0" err="1">
                <a:ea typeface="楷体_GB2312" pitchFamily="49" charset="-122"/>
              </a:rPr>
              <a:t>queue</a:t>
            </a:r>
            <a:r>
              <a:rPr lang="en-US" altLang="zh-CN" dirty="0">
                <a:ea typeface="楷体_GB2312" pitchFamily="49" charset="-122"/>
              </a:rPr>
              <a:t>[</a:t>
            </a:r>
            <a:r>
              <a:rPr lang="en-US" altLang="zh-CN" dirty="0" err="1"/>
              <a:t>Q.</a:t>
            </a:r>
            <a:r>
              <a:rPr lang="en-US" altLang="zh-CN" dirty="0" err="1">
                <a:ea typeface="楷体_GB2312" pitchFamily="49" charset="-122"/>
              </a:rPr>
              <a:t>front</a:t>
            </a:r>
            <a:r>
              <a:rPr lang="en-US" altLang="zh-CN" dirty="0">
                <a:ea typeface="楷体_GB2312" pitchFamily="49" charset="-122"/>
              </a:rPr>
              <a:t>];     </a:t>
            </a:r>
            <a:r>
              <a:rPr lang="en-US" altLang="zh-CN" dirty="0" err="1"/>
              <a:t>Q.</a:t>
            </a:r>
            <a:r>
              <a:rPr lang="en-US" altLang="zh-CN" dirty="0" err="1">
                <a:ea typeface="楷体_GB2312" pitchFamily="49" charset="-122"/>
              </a:rPr>
              <a:t>front</a:t>
            </a:r>
            <a:r>
              <a:rPr lang="en-US" altLang="zh-CN" dirty="0">
                <a:ea typeface="楷体_GB2312" pitchFamily="49" charset="-122"/>
              </a:rPr>
              <a:t>++;</a:t>
            </a:r>
          </a:p>
        </p:txBody>
      </p:sp>
      <p:sp>
        <p:nvSpPr>
          <p:cNvPr id="97284" name="Rectangle 3"/>
          <p:cNvSpPr>
            <a:spLocks noChangeArrowheads="1"/>
          </p:cNvSpPr>
          <p:nvPr/>
        </p:nvSpPr>
        <p:spPr bwMode="auto">
          <a:xfrm>
            <a:off x="23622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85" name="Rectangle 4"/>
          <p:cNvSpPr>
            <a:spLocks noChangeArrowheads="1"/>
          </p:cNvSpPr>
          <p:nvPr/>
        </p:nvSpPr>
        <p:spPr bwMode="auto">
          <a:xfrm>
            <a:off x="28194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86" name="Rectangle 5"/>
          <p:cNvSpPr>
            <a:spLocks noChangeArrowheads="1"/>
          </p:cNvSpPr>
          <p:nvPr/>
        </p:nvSpPr>
        <p:spPr bwMode="auto">
          <a:xfrm>
            <a:off x="32766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87" name="Rectangle 6"/>
          <p:cNvSpPr>
            <a:spLocks noChangeArrowheads="1"/>
          </p:cNvSpPr>
          <p:nvPr/>
        </p:nvSpPr>
        <p:spPr bwMode="auto">
          <a:xfrm>
            <a:off x="37338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D</a:t>
            </a:r>
          </a:p>
        </p:txBody>
      </p:sp>
      <p:sp>
        <p:nvSpPr>
          <p:cNvPr id="97288" name="Rectangle 7"/>
          <p:cNvSpPr>
            <a:spLocks noChangeArrowheads="1"/>
          </p:cNvSpPr>
          <p:nvPr/>
        </p:nvSpPr>
        <p:spPr bwMode="auto">
          <a:xfrm>
            <a:off x="41910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E</a:t>
            </a:r>
          </a:p>
        </p:txBody>
      </p:sp>
      <p:sp>
        <p:nvSpPr>
          <p:cNvPr id="97289" name="Rectangle 8"/>
          <p:cNvSpPr>
            <a:spLocks noChangeArrowheads="1"/>
          </p:cNvSpPr>
          <p:nvPr/>
        </p:nvSpPr>
        <p:spPr bwMode="auto">
          <a:xfrm>
            <a:off x="46482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90" name="Rectangle 9"/>
          <p:cNvSpPr>
            <a:spLocks noChangeArrowheads="1"/>
          </p:cNvSpPr>
          <p:nvPr/>
        </p:nvSpPr>
        <p:spPr bwMode="auto">
          <a:xfrm>
            <a:off x="51054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91" name="Rectangle 10"/>
          <p:cNvSpPr>
            <a:spLocks noChangeArrowheads="1"/>
          </p:cNvSpPr>
          <p:nvPr/>
        </p:nvSpPr>
        <p:spPr bwMode="auto">
          <a:xfrm>
            <a:off x="5562600" y="1447800"/>
            <a:ext cx="457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7292" name="Line 11"/>
          <p:cNvSpPr>
            <a:spLocks noChangeShapeType="1"/>
          </p:cNvSpPr>
          <p:nvPr/>
        </p:nvSpPr>
        <p:spPr bwMode="auto">
          <a:xfrm flipV="1">
            <a:off x="3959225" y="20574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3" name="Line 12"/>
          <p:cNvSpPr>
            <a:spLocks noChangeShapeType="1"/>
          </p:cNvSpPr>
          <p:nvPr/>
        </p:nvSpPr>
        <p:spPr bwMode="auto">
          <a:xfrm flipV="1">
            <a:off x="4876800" y="20574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35178854"/>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A1349C4-B164-4A8D-8714-BE93F1B36C60}" type="slidenum">
              <a:rPr lang="en-US" altLang="zh-CN" sz="1400"/>
              <a:pPr/>
              <a:t>113</a:t>
            </a:fld>
            <a:endParaRPr lang="en-US" altLang="zh-CN" sz="1400"/>
          </a:p>
        </p:txBody>
      </p:sp>
      <p:sp>
        <p:nvSpPr>
          <p:cNvPr id="98307" name="Rectangle 2"/>
          <p:cNvSpPr>
            <a:spLocks noGrp="1" noChangeArrowheads="1"/>
          </p:cNvSpPr>
          <p:nvPr>
            <p:ph/>
          </p:nvPr>
        </p:nvSpPr>
        <p:spPr>
          <a:xfrm>
            <a:off x="0" y="304800"/>
            <a:ext cx="5638800" cy="6324600"/>
          </a:xfrm>
        </p:spPr>
        <p:txBody>
          <a:bodyPr/>
          <a:lstStyle/>
          <a:p>
            <a:pPr eaLnBrk="1" hangingPunct="1">
              <a:buFontTx/>
              <a:buNone/>
            </a:pPr>
            <a:r>
              <a:rPr lang="en-US" altLang="zh-CN" sz="3600" b="1" dirty="0"/>
              <a:t>(d)</a:t>
            </a:r>
            <a:r>
              <a:rPr lang="zh-CN" altLang="en-US" sz="3600" dirty="0">
                <a:latin typeface="楷体_GB2312" pitchFamily="49" charset="-122"/>
                <a:ea typeface="楷体_GB2312" pitchFamily="49" charset="-122"/>
              </a:rPr>
              <a:t>元素</a:t>
            </a:r>
            <a:r>
              <a:rPr lang="en-US" altLang="zh-CN" sz="3600" dirty="0">
                <a:ea typeface="楷体_GB2312" pitchFamily="49" charset="-122"/>
              </a:rPr>
              <a:t>F,G,H,I </a:t>
            </a:r>
            <a:r>
              <a:rPr lang="zh-CN" altLang="en-US" sz="3600" dirty="0">
                <a:latin typeface="楷体_GB2312" pitchFamily="49" charset="-122"/>
                <a:ea typeface="楷体_GB2312" pitchFamily="49" charset="-122"/>
              </a:rPr>
              <a:t>继续入列</a:t>
            </a:r>
            <a:r>
              <a:rPr lang="en-US" altLang="zh-CN" sz="3600"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eaLnBrk="1" hangingPunct="1">
              <a:buFontTx/>
              <a:buNone/>
            </a:pPr>
            <a:endParaRPr lang="en-US" altLang="zh-CN" dirty="0">
              <a:latin typeface="楷体_GB2312" pitchFamily="49" charset="-122"/>
              <a:ea typeface="楷体_GB2312" pitchFamily="49" charset="-122"/>
            </a:endParaRPr>
          </a:p>
          <a:p>
            <a:pPr eaLnBrk="1" hangingPunct="1">
              <a:buFontTx/>
              <a:buNone/>
            </a:pPr>
            <a:endParaRPr lang="en-US" altLang="zh-CN" dirty="0">
              <a:latin typeface="楷体_GB2312" pitchFamily="49" charset="-122"/>
              <a:ea typeface="楷体_GB2312" pitchFamily="49" charset="-122"/>
            </a:endParaRPr>
          </a:p>
          <a:p>
            <a:pPr eaLnBrk="1" hangingPunct="1">
              <a:buFontTx/>
              <a:buNone/>
            </a:pPr>
            <a:r>
              <a:rPr lang="en-US" altLang="zh-CN" dirty="0"/>
              <a:t>  </a:t>
            </a:r>
            <a:r>
              <a:rPr lang="zh-CN" altLang="en-US" b="1" dirty="0">
                <a:latin typeface="楷体_GB2312" pitchFamily="49" charset="-122"/>
                <a:ea typeface="楷体_GB2312" pitchFamily="49" charset="-122"/>
              </a:rPr>
              <a:t>入列操作</a:t>
            </a:r>
            <a:r>
              <a:rPr lang="en-US" altLang="zh-CN" b="1" dirty="0">
                <a:latin typeface="楷体_GB2312" pitchFamily="49" charset="-122"/>
                <a:ea typeface="楷体_GB2312" pitchFamily="49" charset="-122"/>
              </a:rPr>
              <a:t>:</a:t>
            </a:r>
            <a:r>
              <a:rPr lang="en-US" altLang="zh-CN" b="1" dirty="0"/>
              <a:t> </a:t>
            </a:r>
          </a:p>
          <a:p>
            <a:pPr eaLnBrk="1" hangingPunct="1">
              <a:buFontTx/>
              <a:buNone/>
            </a:pPr>
            <a:r>
              <a:rPr lang="en-US" altLang="zh-CN" b="1" dirty="0"/>
              <a:t>   </a:t>
            </a:r>
            <a:r>
              <a:rPr lang="en-US" altLang="zh-CN" b="1" dirty="0" err="1"/>
              <a:t>Q.queue</a:t>
            </a:r>
            <a:r>
              <a:rPr lang="en-US" altLang="zh-CN" b="1" dirty="0"/>
              <a:t>[</a:t>
            </a:r>
            <a:r>
              <a:rPr lang="en-US" altLang="zh-CN" b="1" dirty="0" err="1"/>
              <a:t>Q.rear</a:t>
            </a:r>
            <a:r>
              <a:rPr lang="en-US" altLang="zh-CN" b="1" dirty="0"/>
              <a:t>]=‘F’;       </a:t>
            </a:r>
            <a:r>
              <a:rPr lang="en-US" altLang="zh-CN" b="1" dirty="0" err="1"/>
              <a:t>Q.rear</a:t>
            </a:r>
            <a:r>
              <a:rPr lang="en-US" altLang="zh-CN" b="1" dirty="0"/>
              <a:t>++;      </a:t>
            </a:r>
            <a:r>
              <a:rPr lang="en-US" altLang="zh-CN" b="1" dirty="0" err="1"/>
              <a:t>Q.queue</a:t>
            </a:r>
            <a:r>
              <a:rPr lang="en-US" altLang="zh-CN" b="1" dirty="0"/>
              <a:t>[</a:t>
            </a:r>
            <a:r>
              <a:rPr lang="en-US" altLang="zh-CN" b="1" dirty="0" err="1"/>
              <a:t>Q.rear</a:t>
            </a:r>
            <a:r>
              <a:rPr lang="en-US" altLang="zh-CN" b="1" dirty="0"/>
              <a:t>]=‘G’;</a:t>
            </a:r>
          </a:p>
          <a:p>
            <a:pPr eaLnBrk="1" hangingPunct="1">
              <a:lnSpc>
                <a:spcPct val="90000"/>
              </a:lnSpc>
              <a:buFontTx/>
              <a:buNone/>
            </a:pPr>
            <a:r>
              <a:rPr lang="en-US" altLang="zh-CN" b="1" dirty="0"/>
              <a:t>   </a:t>
            </a:r>
            <a:r>
              <a:rPr lang="en-US" altLang="zh-CN" b="1" dirty="0" err="1"/>
              <a:t>Q.rear</a:t>
            </a:r>
            <a:r>
              <a:rPr lang="en-US" altLang="zh-CN" b="1" dirty="0"/>
              <a:t>++;</a:t>
            </a:r>
          </a:p>
          <a:p>
            <a:pPr eaLnBrk="1" hangingPunct="1">
              <a:lnSpc>
                <a:spcPct val="90000"/>
              </a:lnSpc>
              <a:buFontTx/>
              <a:buNone/>
            </a:pPr>
            <a:r>
              <a:rPr lang="en-US" altLang="zh-CN" b="1" dirty="0"/>
              <a:t>   </a:t>
            </a:r>
            <a:r>
              <a:rPr lang="en-US" altLang="zh-CN" b="1" dirty="0" err="1"/>
              <a:t>Q.queue</a:t>
            </a:r>
            <a:r>
              <a:rPr lang="en-US" altLang="zh-CN" b="1" dirty="0"/>
              <a:t>[</a:t>
            </a:r>
            <a:r>
              <a:rPr lang="en-US" altLang="zh-CN" b="1" dirty="0" err="1"/>
              <a:t>Q.rear</a:t>
            </a:r>
            <a:r>
              <a:rPr lang="en-US" altLang="zh-CN" b="1" dirty="0"/>
              <a:t>]=‘H’;</a:t>
            </a:r>
          </a:p>
          <a:p>
            <a:pPr eaLnBrk="1" hangingPunct="1">
              <a:lnSpc>
                <a:spcPct val="90000"/>
              </a:lnSpc>
              <a:buFontTx/>
              <a:buNone/>
            </a:pPr>
            <a:r>
              <a:rPr lang="en-US" altLang="zh-CN" dirty="0"/>
              <a:t>   </a:t>
            </a:r>
            <a:r>
              <a:rPr lang="en-US" altLang="zh-CN" b="1" dirty="0" err="1"/>
              <a:t>Q.rear</a:t>
            </a:r>
            <a:r>
              <a:rPr lang="en-US" altLang="zh-CN" b="1" dirty="0"/>
              <a:t>++;</a:t>
            </a:r>
          </a:p>
        </p:txBody>
      </p:sp>
      <p:sp>
        <p:nvSpPr>
          <p:cNvPr id="98308" name="Rectangle 3"/>
          <p:cNvSpPr>
            <a:spLocks noChangeArrowheads="1"/>
          </p:cNvSpPr>
          <p:nvPr/>
        </p:nvSpPr>
        <p:spPr bwMode="auto">
          <a:xfrm>
            <a:off x="30480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8309" name="Rectangle 4"/>
          <p:cNvSpPr>
            <a:spLocks noChangeArrowheads="1"/>
          </p:cNvSpPr>
          <p:nvPr/>
        </p:nvSpPr>
        <p:spPr bwMode="auto">
          <a:xfrm>
            <a:off x="35814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8310" name="Rectangle 5"/>
          <p:cNvSpPr>
            <a:spLocks noChangeArrowheads="1"/>
          </p:cNvSpPr>
          <p:nvPr/>
        </p:nvSpPr>
        <p:spPr bwMode="auto">
          <a:xfrm>
            <a:off x="41148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98311" name="Rectangle 6"/>
          <p:cNvSpPr>
            <a:spLocks noChangeArrowheads="1"/>
          </p:cNvSpPr>
          <p:nvPr/>
        </p:nvSpPr>
        <p:spPr bwMode="auto">
          <a:xfrm>
            <a:off x="46482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D</a:t>
            </a:r>
          </a:p>
        </p:txBody>
      </p:sp>
      <p:sp>
        <p:nvSpPr>
          <p:cNvPr id="98312" name="Rectangle 7"/>
          <p:cNvSpPr>
            <a:spLocks noChangeArrowheads="1"/>
          </p:cNvSpPr>
          <p:nvPr/>
        </p:nvSpPr>
        <p:spPr bwMode="auto">
          <a:xfrm>
            <a:off x="51816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E</a:t>
            </a:r>
          </a:p>
        </p:txBody>
      </p:sp>
      <p:sp>
        <p:nvSpPr>
          <p:cNvPr id="98313" name="Rectangle 8"/>
          <p:cNvSpPr>
            <a:spLocks noChangeArrowheads="1"/>
          </p:cNvSpPr>
          <p:nvPr/>
        </p:nvSpPr>
        <p:spPr bwMode="auto">
          <a:xfrm>
            <a:off x="57150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F</a:t>
            </a:r>
          </a:p>
        </p:txBody>
      </p:sp>
      <p:sp>
        <p:nvSpPr>
          <p:cNvPr id="98314" name="Rectangle 9"/>
          <p:cNvSpPr>
            <a:spLocks noChangeArrowheads="1"/>
          </p:cNvSpPr>
          <p:nvPr/>
        </p:nvSpPr>
        <p:spPr bwMode="auto">
          <a:xfrm>
            <a:off x="62484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G</a:t>
            </a:r>
          </a:p>
        </p:txBody>
      </p:sp>
      <p:sp>
        <p:nvSpPr>
          <p:cNvPr id="98315" name="Rectangle 10"/>
          <p:cNvSpPr>
            <a:spLocks noChangeArrowheads="1"/>
          </p:cNvSpPr>
          <p:nvPr/>
        </p:nvSpPr>
        <p:spPr bwMode="auto">
          <a:xfrm>
            <a:off x="6781800" y="1371600"/>
            <a:ext cx="533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H</a:t>
            </a:r>
          </a:p>
        </p:txBody>
      </p:sp>
      <p:sp>
        <p:nvSpPr>
          <p:cNvPr id="98316" name="Line 11"/>
          <p:cNvSpPr>
            <a:spLocks noChangeShapeType="1"/>
          </p:cNvSpPr>
          <p:nvPr/>
        </p:nvSpPr>
        <p:spPr bwMode="auto">
          <a:xfrm flipV="1">
            <a:off x="4914900" y="19812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317" name="Line 12"/>
          <p:cNvSpPr>
            <a:spLocks noChangeShapeType="1"/>
          </p:cNvSpPr>
          <p:nvPr/>
        </p:nvSpPr>
        <p:spPr bwMode="auto">
          <a:xfrm flipV="1">
            <a:off x="7505700" y="19812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9597" name="Text Box 13"/>
          <p:cNvSpPr txBox="1">
            <a:spLocks noChangeArrowheads="1"/>
          </p:cNvSpPr>
          <p:nvPr/>
        </p:nvSpPr>
        <p:spPr bwMode="auto">
          <a:xfrm>
            <a:off x="4900534" y="3270354"/>
            <a:ext cx="4191000"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20000"/>
              </a:spcBef>
            </a:pPr>
            <a:r>
              <a:rPr lang="en-US" altLang="zh-CN" sz="2800" b="1" dirty="0"/>
              <a:t>‘I’</a:t>
            </a:r>
            <a:r>
              <a:rPr lang="zh-CN" altLang="en-US" sz="2800" b="1" dirty="0">
                <a:latin typeface="楷体_GB2312" pitchFamily="49" charset="-122"/>
                <a:ea typeface="楷体_GB2312" pitchFamily="49" charset="-122"/>
              </a:rPr>
              <a:t>不能进入队列</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因</a:t>
            </a:r>
          </a:p>
          <a:p>
            <a:pPr eaLnBrk="1" hangingPunct="1">
              <a:lnSpc>
                <a:spcPct val="90000"/>
              </a:lnSpc>
              <a:spcBef>
                <a:spcPct val="20000"/>
              </a:spcBef>
            </a:pPr>
            <a:r>
              <a:rPr lang="en-US" altLang="zh-CN" sz="2800" b="1" dirty="0"/>
              <a:t>Q.</a:t>
            </a:r>
            <a:r>
              <a:rPr lang="en-US" altLang="zh-CN" sz="2800" b="1" dirty="0">
                <a:ea typeface="楷体_GB2312" pitchFamily="49" charset="-122"/>
              </a:rPr>
              <a:t> rear= 8,</a:t>
            </a:r>
            <a:r>
              <a:rPr lang="zh-CN" altLang="en-US" sz="2800" b="1" dirty="0">
                <a:latin typeface="楷体_GB2312" pitchFamily="49" charset="-122"/>
                <a:ea typeface="楷体_GB2312" pitchFamily="49" charset="-122"/>
              </a:rPr>
              <a:t>此时队列已满</a:t>
            </a:r>
            <a:r>
              <a:rPr lang="en-US" altLang="zh-CN" sz="2800" b="1" dirty="0">
                <a:latin typeface="楷体_GB2312" pitchFamily="49" charset="-122"/>
                <a:ea typeface="楷体_GB2312" pitchFamily="49" charset="-122"/>
              </a:rPr>
              <a:t>.</a:t>
            </a:r>
          </a:p>
          <a:p>
            <a:pPr eaLnBrk="1" hangingPunct="1">
              <a:lnSpc>
                <a:spcPct val="90000"/>
              </a:lnSpc>
              <a:spcBef>
                <a:spcPct val="20000"/>
              </a:spcBef>
            </a:pPr>
            <a:endParaRPr lang="en-US" altLang="zh-CN" sz="2800" b="1" dirty="0">
              <a:latin typeface="楷体_GB2312" pitchFamily="49" charset="-122"/>
              <a:ea typeface="楷体_GB2312" pitchFamily="49" charset="-122"/>
            </a:endParaRPr>
          </a:p>
          <a:p>
            <a:pPr eaLnBrk="1" hangingPunct="1">
              <a:lnSpc>
                <a:spcPct val="90000"/>
              </a:lnSpc>
              <a:spcBef>
                <a:spcPct val="20000"/>
              </a:spcBef>
            </a:pPr>
            <a:r>
              <a:rPr lang="zh-CN" altLang="en-US" sz="2800" b="1" dirty="0">
                <a:latin typeface="楷体_GB2312" pitchFamily="49" charset="-122"/>
                <a:ea typeface="楷体_GB2312" pitchFamily="49" charset="-122"/>
              </a:rPr>
              <a:t>状态特征为</a:t>
            </a:r>
            <a:r>
              <a:rPr lang="en-US" altLang="zh-CN" sz="2800" b="1" dirty="0">
                <a:latin typeface="楷体_GB2312" pitchFamily="49" charset="-122"/>
                <a:ea typeface="楷体_GB2312" pitchFamily="49" charset="-122"/>
              </a:rPr>
              <a:t>:</a:t>
            </a:r>
          </a:p>
          <a:p>
            <a:pPr eaLnBrk="1" hangingPunct="1">
              <a:lnSpc>
                <a:spcPct val="90000"/>
              </a:lnSpc>
              <a:spcBef>
                <a:spcPct val="20000"/>
              </a:spcBef>
            </a:pPr>
            <a:r>
              <a:rPr lang="en-US" altLang="zh-CN" sz="2800" b="1" dirty="0" err="1">
                <a:solidFill>
                  <a:schemeClr val="hlink"/>
                </a:solidFill>
              </a:rPr>
              <a:t>Q</a:t>
            </a:r>
            <a:r>
              <a:rPr lang="en-US" altLang="zh-CN" dirty="0" err="1">
                <a:solidFill>
                  <a:schemeClr val="hlink"/>
                </a:solidFill>
                <a:ea typeface="楷体_GB2312" pitchFamily="49" charset="-122"/>
              </a:rPr>
              <a:t>.</a:t>
            </a:r>
            <a:r>
              <a:rPr lang="en-US" altLang="zh-CN" sz="2800" b="1" dirty="0" err="1">
                <a:solidFill>
                  <a:schemeClr val="hlink"/>
                </a:solidFill>
                <a:ea typeface="楷体_GB2312" pitchFamily="49" charset="-122"/>
              </a:rPr>
              <a:t>rear</a:t>
            </a:r>
            <a:r>
              <a:rPr lang="en-US" altLang="zh-CN" sz="2800" b="1" dirty="0">
                <a:solidFill>
                  <a:schemeClr val="hlink"/>
                </a:solidFill>
                <a:ea typeface="楷体_GB2312" pitchFamily="49" charset="-122"/>
              </a:rPr>
              <a:t>=MAXQSIZE</a:t>
            </a:r>
          </a:p>
          <a:p>
            <a:pPr eaLnBrk="1" hangingPunct="1">
              <a:spcBef>
                <a:spcPct val="50000"/>
              </a:spcBef>
            </a:pPr>
            <a:endParaRPr lang="en-US" altLang="zh-CN" b="1" dirty="0">
              <a:solidFill>
                <a:schemeClr val="accent1"/>
              </a:solidFill>
              <a:ea typeface="楷体_GB2312" pitchFamily="49" charset="-122"/>
            </a:endParaRPr>
          </a:p>
        </p:txBody>
      </p:sp>
      <p:sp>
        <p:nvSpPr>
          <p:cNvPr id="98319" name="Text Box 14"/>
          <p:cNvSpPr txBox="1">
            <a:spLocks noChangeArrowheads="1"/>
          </p:cNvSpPr>
          <p:nvPr/>
        </p:nvSpPr>
        <p:spPr bwMode="auto">
          <a:xfrm>
            <a:off x="4429125" y="2139950"/>
            <a:ext cx="1552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a:t>Q.front</a:t>
            </a:r>
          </a:p>
        </p:txBody>
      </p:sp>
      <p:sp>
        <p:nvSpPr>
          <p:cNvPr id="98320" name="Text Box 15"/>
          <p:cNvSpPr txBox="1">
            <a:spLocks noChangeArrowheads="1"/>
          </p:cNvSpPr>
          <p:nvPr/>
        </p:nvSpPr>
        <p:spPr bwMode="auto">
          <a:xfrm>
            <a:off x="7102475" y="2105025"/>
            <a:ext cx="1470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a:t>Q.rear</a:t>
            </a:r>
          </a:p>
        </p:txBody>
      </p:sp>
    </p:spTree>
    <p:extLst>
      <p:ext uri="{BB962C8B-B14F-4D97-AF65-F5344CB8AC3E}">
        <p14:creationId xmlns:p14="http://schemas.microsoft.com/office/powerpoint/2010/main" val="41053299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9597">
                                            <p:txEl>
                                              <p:pRg st="0" end="0"/>
                                            </p:txEl>
                                          </p:spTgt>
                                        </p:tgtEl>
                                        <p:attrNameLst>
                                          <p:attrName>style.visibility</p:attrName>
                                        </p:attrNameLst>
                                      </p:cBhvr>
                                      <p:to>
                                        <p:strVal val="visible"/>
                                      </p:to>
                                    </p:set>
                                    <p:animEffect transition="in" filter="box(in)">
                                      <p:cBhvr>
                                        <p:cTn id="7" dur="500"/>
                                        <p:tgtEl>
                                          <p:spTgt spid="5795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79597">
                                            <p:txEl>
                                              <p:pRg st="1" end="1"/>
                                            </p:txEl>
                                          </p:spTgt>
                                        </p:tgtEl>
                                        <p:attrNameLst>
                                          <p:attrName>style.visibility</p:attrName>
                                        </p:attrNameLst>
                                      </p:cBhvr>
                                      <p:to>
                                        <p:strVal val="visible"/>
                                      </p:to>
                                    </p:set>
                                    <p:animEffect transition="in" filter="box(in)">
                                      <p:cBhvr>
                                        <p:cTn id="12" dur="500"/>
                                        <p:tgtEl>
                                          <p:spTgt spid="57959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79597">
                                            <p:txEl>
                                              <p:pRg st="3" end="3"/>
                                            </p:txEl>
                                          </p:spTgt>
                                        </p:tgtEl>
                                        <p:attrNameLst>
                                          <p:attrName>style.visibility</p:attrName>
                                        </p:attrNameLst>
                                      </p:cBhvr>
                                      <p:to>
                                        <p:strVal val="visible"/>
                                      </p:to>
                                    </p:set>
                                    <p:animEffect transition="in" filter="box(in)">
                                      <p:cBhvr>
                                        <p:cTn id="17" dur="500"/>
                                        <p:tgtEl>
                                          <p:spTgt spid="57959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79597">
                                            <p:txEl>
                                              <p:pRg st="4" end="4"/>
                                            </p:txEl>
                                          </p:spTgt>
                                        </p:tgtEl>
                                        <p:attrNameLst>
                                          <p:attrName>style.visibility</p:attrName>
                                        </p:attrNameLst>
                                      </p:cBhvr>
                                      <p:to>
                                        <p:strVal val="visible"/>
                                      </p:to>
                                    </p:set>
                                    <p:animEffect transition="in" filter="box(in)">
                                      <p:cBhvr>
                                        <p:cTn id="22" dur="500"/>
                                        <p:tgtEl>
                                          <p:spTgt spid="57959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97" grpId="0" build="p"/>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A72FC67-7EE2-4E63-AB71-7638233CE21B}" type="slidenum">
              <a:rPr lang="en-US" altLang="zh-CN" sz="1400"/>
              <a:pPr/>
              <a:t>114</a:t>
            </a:fld>
            <a:endParaRPr lang="en-US" altLang="zh-CN" sz="1400"/>
          </a:p>
        </p:txBody>
      </p:sp>
      <p:sp>
        <p:nvSpPr>
          <p:cNvPr id="99331" name="Text Box 2"/>
          <p:cNvSpPr txBox="1">
            <a:spLocks noChangeArrowheads="1"/>
          </p:cNvSpPr>
          <p:nvPr/>
        </p:nvSpPr>
        <p:spPr bwMode="auto">
          <a:xfrm>
            <a:off x="1691680" y="228599"/>
            <a:ext cx="472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4000" b="1" dirty="0">
                <a:solidFill>
                  <a:srgbClr val="A50021"/>
                </a:solidFill>
                <a:ea typeface="楷体_GB2312" pitchFamily="49" charset="-122"/>
              </a:rPr>
              <a:t>入队列算法</a:t>
            </a:r>
          </a:p>
        </p:txBody>
      </p:sp>
      <p:sp>
        <p:nvSpPr>
          <p:cNvPr id="99332" name="Text Box 3"/>
          <p:cNvSpPr txBox="1">
            <a:spLocks noChangeArrowheads="1"/>
          </p:cNvSpPr>
          <p:nvPr/>
        </p:nvSpPr>
        <p:spPr bwMode="auto">
          <a:xfrm>
            <a:off x="228600" y="990600"/>
            <a:ext cx="8686800" cy="570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30000"/>
              </a:spcBef>
            </a:pPr>
            <a:r>
              <a:rPr lang="en-US" altLang="zh-CN" b="1" dirty="0">
                <a:ea typeface="楷体_GB2312" pitchFamily="49" charset="-122"/>
              </a:rPr>
              <a:t>status </a:t>
            </a:r>
            <a:r>
              <a:rPr lang="en-US" altLang="zh-CN" b="1" dirty="0" err="1">
                <a:ea typeface="楷体_GB2312" pitchFamily="49" charset="-122"/>
              </a:rPr>
              <a:t>EnQueue</a:t>
            </a:r>
            <a:r>
              <a:rPr lang="en-US" altLang="zh-CN" b="1" dirty="0">
                <a:ea typeface="楷体_GB2312" pitchFamily="49" charset="-122"/>
              </a:rPr>
              <a:t>(</a:t>
            </a:r>
            <a:r>
              <a:rPr lang="en-US" altLang="zh-CN" b="1" dirty="0" err="1">
                <a:ea typeface="楷体_GB2312" pitchFamily="49" charset="-122"/>
              </a:rPr>
              <a:t>SeQueuetp</a:t>
            </a:r>
            <a:r>
              <a:rPr lang="en-US" altLang="zh-CN" b="1" dirty="0">
                <a:ea typeface="楷体_GB2312" pitchFamily="49" charset="-122"/>
              </a:rPr>
              <a:t>  &amp;Q, </a:t>
            </a:r>
            <a:r>
              <a:rPr lang="en-US" altLang="zh-CN" b="1" dirty="0" err="1">
                <a:ea typeface="楷体_GB2312" pitchFamily="49" charset="-122"/>
              </a:rPr>
              <a:t>elemtype</a:t>
            </a:r>
            <a:r>
              <a:rPr lang="en-US" altLang="zh-CN" b="1" dirty="0">
                <a:ea typeface="楷体_GB2312" pitchFamily="49" charset="-122"/>
              </a:rPr>
              <a:t> x)</a:t>
            </a:r>
          </a:p>
          <a:p>
            <a:pPr eaLnBrk="1" hangingPunct="1">
              <a:spcBef>
                <a:spcPct val="30000"/>
              </a:spcBef>
            </a:pPr>
            <a:r>
              <a:rPr lang="en-US" altLang="zh-CN" b="1" dirty="0">
                <a:ea typeface="楷体_GB2312" pitchFamily="49" charset="-122"/>
              </a:rPr>
              <a:t>     { </a:t>
            </a:r>
          </a:p>
          <a:p>
            <a:pPr eaLnBrk="1" hangingPunct="1">
              <a:spcBef>
                <a:spcPct val="30000"/>
              </a:spcBef>
            </a:pPr>
            <a:r>
              <a:rPr lang="en-US" altLang="zh-CN" b="1" dirty="0">
                <a:ea typeface="楷体_GB2312" pitchFamily="49" charset="-122"/>
              </a:rPr>
              <a:t>           if (</a:t>
            </a:r>
            <a:r>
              <a:rPr lang="en-US" altLang="zh-CN" b="1" dirty="0" err="1">
                <a:solidFill>
                  <a:schemeClr val="hlink"/>
                </a:solidFill>
                <a:ea typeface="楷体_GB2312" pitchFamily="49" charset="-122"/>
              </a:rPr>
              <a:t>Q.rear</a:t>
            </a:r>
            <a:r>
              <a:rPr lang="en-US" altLang="zh-CN" b="1" dirty="0">
                <a:solidFill>
                  <a:schemeClr val="hlink"/>
                </a:solidFill>
                <a:ea typeface="楷体_GB2312" pitchFamily="49" charset="-122"/>
              </a:rPr>
              <a:t>==MAXQSIZE</a:t>
            </a:r>
            <a:r>
              <a:rPr lang="en-US" altLang="zh-CN" b="1" dirty="0">
                <a:ea typeface="楷体_GB2312" pitchFamily="49" charset="-122"/>
              </a:rPr>
              <a:t>)</a:t>
            </a:r>
          </a:p>
          <a:p>
            <a:pPr eaLnBrk="1" hangingPunct="1">
              <a:spcBef>
                <a:spcPct val="30000"/>
              </a:spcBef>
            </a:pPr>
            <a:r>
              <a:rPr lang="en-US" altLang="zh-CN" b="1" dirty="0">
                <a:ea typeface="楷体_GB2312" pitchFamily="49" charset="-122"/>
              </a:rPr>
              <a:t>                return  error;            </a:t>
            </a:r>
            <a:r>
              <a:rPr lang="en-US" altLang="zh-CN" sz="2800" b="1" dirty="0">
                <a:solidFill>
                  <a:srgbClr val="006600"/>
                </a:solidFill>
                <a:ea typeface="楷体_GB2312" pitchFamily="49" charset="-122"/>
              </a:rPr>
              <a:t>//</a:t>
            </a:r>
            <a:r>
              <a:rPr lang="zh-CN" altLang="en-US" sz="2800" b="1" dirty="0">
                <a:solidFill>
                  <a:srgbClr val="006600"/>
                </a:solidFill>
                <a:ea typeface="楷体_GB2312" pitchFamily="49" charset="-122"/>
              </a:rPr>
              <a:t>队列已满</a:t>
            </a:r>
          </a:p>
          <a:p>
            <a:pPr eaLnBrk="1" hangingPunct="1">
              <a:spcBef>
                <a:spcPct val="30000"/>
              </a:spcBef>
            </a:pPr>
            <a:r>
              <a:rPr lang="zh-CN" altLang="en-US" b="1" dirty="0">
                <a:ea typeface="楷体_GB2312" pitchFamily="49" charset="-122"/>
              </a:rPr>
              <a:t>           </a:t>
            </a:r>
            <a:r>
              <a:rPr lang="en-US" altLang="zh-CN" b="1" dirty="0">
                <a:ea typeface="楷体_GB2312" pitchFamily="49" charset="-122"/>
              </a:rPr>
              <a:t>else { </a:t>
            </a:r>
            <a:r>
              <a:rPr lang="en-US" altLang="zh-CN" b="1" dirty="0" err="1">
                <a:ea typeface="楷体_GB2312" pitchFamily="49" charset="-122"/>
              </a:rPr>
              <a:t>Q.queue</a:t>
            </a:r>
            <a:r>
              <a:rPr lang="en-US" altLang="zh-CN" b="1" dirty="0">
                <a:ea typeface="楷体_GB2312" pitchFamily="49" charset="-122"/>
              </a:rPr>
              <a:t>[</a:t>
            </a:r>
            <a:r>
              <a:rPr lang="en-US" altLang="zh-CN" b="1" dirty="0" err="1">
                <a:ea typeface="楷体_GB2312" pitchFamily="49" charset="-122"/>
              </a:rPr>
              <a:t>Q.rear</a:t>
            </a:r>
            <a:r>
              <a:rPr lang="en-US" altLang="zh-CN" b="1" dirty="0">
                <a:ea typeface="楷体_GB2312" pitchFamily="49" charset="-122"/>
              </a:rPr>
              <a:t>]=x;</a:t>
            </a:r>
          </a:p>
          <a:p>
            <a:pPr eaLnBrk="1" hangingPunct="1">
              <a:spcBef>
                <a:spcPct val="30000"/>
              </a:spcBef>
            </a:pPr>
            <a:r>
              <a:rPr lang="en-US" altLang="zh-CN" b="1" dirty="0">
                <a:ea typeface="楷体_GB2312" pitchFamily="49" charset="-122"/>
              </a:rPr>
              <a:t>                     </a:t>
            </a:r>
            <a:r>
              <a:rPr lang="en-US" altLang="zh-CN" b="1" dirty="0" err="1">
                <a:ea typeface="楷体_GB2312" pitchFamily="49" charset="-122"/>
              </a:rPr>
              <a:t>Q.rear</a:t>
            </a:r>
            <a:r>
              <a:rPr lang="en-US" altLang="zh-CN" b="1" dirty="0">
                <a:ea typeface="楷体_GB2312" pitchFamily="49" charset="-122"/>
              </a:rPr>
              <a:t>++;                      </a:t>
            </a:r>
          </a:p>
          <a:p>
            <a:pPr eaLnBrk="1" hangingPunct="1">
              <a:spcBef>
                <a:spcPct val="30000"/>
              </a:spcBef>
            </a:pPr>
            <a:r>
              <a:rPr lang="en-US" altLang="zh-CN" b="1" dirty="0">
                <a:ea typeface="楷体_GB2312" pitchFamily="49" charset="-122"/>
              </a:rPr>
              <a:t>                     return  ok;</a:t>
            </a:r>
          </a:p>
          <a:p>
            <a:pPr eaLnBrk="1" hangingPunct="1">
              <a:spcBef>
                <a:spcPct val="30000"/>
              </a:spcBef>
            </a:pPr>
            <a:r>
              <a:rPr lang="en-US" altLang="zh-CN" b="1" dirty="0">
                <a:ea typeface="楷体_GB2312" pitchFamily="49" charset="-122"/>
              </a:rPr>
              <a:t>                   }</a:t>
            </a:r>
          </a:p>
          <a:p>
            <a:pPr eaLnBrk="1" hangingPunct="1">
              <a:spcBef>
                <a:spcPct val="30000"/>
              </a:spcBef>
            </a:pPr>
            <a:r>
              <a:rPr lang="en-US" altLang="zh-CN" b="1" dirty="0">
                <a:ea typeface="楷体_GB2312" pitchFamily="49" charset="-122"/>
              </a:rPr>
              <a:t>     }</a:t>
            </a:r>
          </a:p>
        </p:txBody>
      </p:sp>
    </p:spTree>
    <p:extLst>
      <p:ext uri="{BB962C8B-B14F-4D97-AF65-F5344CB8AC3E}">
        <p14:creationId xmlns:p14="http://schemas.microsoft.com/office/powerpoint/2010/main" val="34664986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B52F39A-041B-4B8C-A6D5-31B9B2F220BB}" type="slidenum">
              <a:rPr lang="en-US" altLang="zh-CN" sz="1400"/>
              <a:pPr/>
              <a:t>115</a:t>
            </a:fld>
            <a:endParaRPr lang="en-US" altLang="zh-CN" sz="1400"/>
          </a:p>
        </p:txBody>
      </p:sp>
      <p:sp>
        <p:nvSpPr>
          <p:cNvPr id="100355" name="Text Box 2"/>
          <p:cNvSpPr txBox="1">
            <a:spLocks noChangeArrowheads="1"/>
          </p:cNvSpPr>
          <p:nvPr/>
        </p:nvSpPr>
        <p:spPr bwMode="auto">
          <a:xfrm>
            <a:off x="1331640" y="294806"/>
            <a:ext cx="472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4000" b="1">
                <a:solidFill>
                  <a:srgbClr val="A50021"/>
                </a:solidFill>
                <a:ea typeface="楷体_GB2312" pitchFamily="49" charset="-122"/>
              </a:rPr>
              <a:t>出队列算法</a:t>
            </a:r>
          </a:p>
        </p:txBody>
      </p:sp>
      <p:sp>
        <p:nvSpPr>
          <p:cNvPr id="100356" name="Text Box 3"/>
          <p:cNvSpPr txBox="1">
            <a:spLocks noChangeArrowheads="1"/>
          </p:cNvSpPr>
          <p:nvPr/>
        </p:nvSpPr>
        <p:spPr bwMode="auto">
          <a:xfrm>
            <a:off x="152400" y="1143000"/>
            <a:ext cx="8763000" cy="570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30000"/>
              </a:spcBef>
            </a:pPr>
            <a:r>
              <a:rPr lang="en-US" altLang="zh-CN" b="1" dirty="0">
                <a:ea typeface="楷体_GB2312" pitchFamily="49" charset="-122"/>
              </a:rPr>
              <a:t>status </a:t>
            </a:r>
            <a:r>
              <a:rPr lang="en-US" altLang="zh-CN" b="1" dirty="0" err="1">
                <a:ea typeface="楷体_GB2312" pitchFamily="49" charset="-122"/>
              </a:rPr>
              <a:t>DeQueue</a:t>
            </a:r>
            <a:r>
              <a:rPr lang="en-US" altLang="zh-CN" b="1" dirty="0">
                <a:ea typeface="楷体_GB2312" pitchFamily="49" charset="-122"/>
              </a:rPr>
              <a:t>(</a:t>
            </a:r>
            <a:r>
              <a:rPr lang="en-US" altLang="zh-CN" sz="2800" b="1" dirty="0" err="1">
                <a:ea typeface="楷体_GB2312" pitchFamily="49" charset="-122"/>
              </a:rPr>
              <a:t>SeQueuetp</a:t>
            </a:r>
            <a:r>
              <a:rPr lang="en-US" altLang="zh-CN" sz="2800" b="1" dirty="0">
                <a:ea typeface="楷体_GB2312" pitchFamily="49" charset="-122"/>
              </a:rPr>
              <a:t>  &amp;Q</a:t>
            </a:r>
            <a:r>
              <a:rPr lang="en-US" altLang="zh-CN" b="1" dirty="0">
                <a:ea typeface="楷体_GB2312" pitchFamily="49" charset="-122"/>
              </a:rPr>
              <a:t>, </a:t>
            </a:r>
            <a:r>
              <a:rPr lang="en-US" altLang="zh-CN" sz="2800" b="1" dirty="0" err="1">
                <a:ea typeface="楷体_GB2312" pitchFamily="49" charset="-122"/>
              </a:rPr>
              <a:t>elemtype</a:t>
            </a:r>
            <a:r>
              <a:rPr lang="en-US" altLang="zh-CN" sz="2800" b="1" dirty="0">
                <a:ea typeface="楷体_GB2312" pitchFamily="49" charset="-122"/>
              </a:rPr>
              <a:t> &amp;e</a:t>
            </a:r>
            <a:r>
              <a:rPr lang="en-US" altLang="zh-CN" b="1" dirty="0">
                <a:ea typeface="楷体_GB2312" pitchFamily="49" charset="-122"/>
              </a:rPr>
              <a:t>)</a:t>
            </a:r>
          </a:p>
          <a:p>
            <a:pPr eaLnBrk="1" hangingPunct="1">
              <a:spcBef>
                <a:spcPct val="30000"/>
              </a:spcBef>
            </a:pPr>
            <a:r>
              <a:rPr lang="en-US" altLang="zh-CN" b="1" dirty="0">
                <a:ea typeface="楷体_GB2312" pitchFamily="49" charset="-122"/>
              </a:rPr>
              <a:t>     { </a:t>
            </a:r>
          </a:p>
          <a:p>
            <a:pPr eaLnBrk="1" hangingPunct="1">
              <a:spcBef>
                <a:spcPct val="30000"/>
              </a:spcBef>
            </a:pPr>
            <a:r>
              <a:rPr lang="en-US" altLang="zh-CN" b="1" dirty="0">
                <a:ea typeface="楷体_GB2312" pitchFamily="49" charset="-122"/>
              </a:rPr>
              <a:t>           if (</a:t>
            </a:r>
            <a:r>
              <a:rPr lang="en-US" altLang="zh-CN" b="1" dirty="0" err="1">
                <a:solidFill>
                  <a:schemeClr val="hlink"/>
                </a:solidFill>
                <a:ea typeface="楷体_GB2312" pitchFamily="49" charset="-122"/>
              </a:rPr>
              <a:t>Q.front</a:t>
            </a:r>
            <a:r>
              <a:rPr lang="en-US" altLang="zh-CN" b="1" dirty="0">
                <a:solidFill>
                  <a:schemeClr val="hlink"/>
                </a:solidFill>
                <a:ea typeface="楷体_GB2312" pitchFamily="49" charset="-122"/>
              </a:rPr>
              <a:t> == </a:t>
            </a:r>
            <a:r>
              <a:rPr lang="en-US" altLang="zh-CN" b="1" dirty="0" err="1">
                <a:solidFill>
                  <a:schemeClr val="hlink"/>
                </a:solidFill>
                <a:ea typeface="楷体_GB2312" pitchFamily="49" charset="-122"/>
              </a:rPr>
              <a:t>Q.rear</a:t>
            </a:r>
            <a:r>
              <a:rPr lang="en-US" altLang="zh-CN" b="1" dirty="0">
                <a:ea typeface="楷体_GB2312" pitchFamily="49" charset="-122"/>
              </a:rPr>
              <a:t>)</a:t>
            </a:r>
          </a:p>
          <a:p>
            <a:pPr eaLnBrk="1" hangingPunct="1">
              <a:spcBef>
                <a:spcPct val="30000"/>
              </a:spcBef>
            </a:pPr>
            <a:r>
              <a:rPr lang="en-US" altLang="zh-CN" b="1" dirty="0">
                <a:ea typeface="楷体_GB2312" pitchFamily="49" charset="-122"/>
              </a:rPr>
              <a:t>                return  (NULL);          </a:t>
            </a:r>
            <a:r>
              <a:rPr lang="en-US" altLang="zh-CN" sz="2800" b="1" dirty="0">
                <a:solidFill>
                  <a:srgbClr val="006600"/>
                </a:solidFill>
                <a:ea typeface="楷体_GB2312" pitchFamily="49" charset="-122"/>
              </a:rPr>
              <a:t>//</a:t>
            </a:r>
            <a:r>
              <a:rPr lang="zh-CN" altLang="en-US" sz="2800" b="1" dirty="0">
                <a:solidFill>
                  <a:srgbClr val="006600"/>
                </a:solidFill>
                <a:ea typeface="楷体_GB2312" pitchFamily="49" charset="-122"/>
              </a:rPr>
              <a:t>队列空</a:t>
            </a:r>
          </a:p>
          <a:p>
            <a:pPr eaLnBrk="1" hangingPunct="1">
              <a:spcBef>
                <a:spcPct val="30000"/>
              </a:spcBef>
            </a:pPr>
            <a:r>
              <a:rPr lang="zh-CN" altLang="en-US" b="1" dirty="0">
                <a:ea typeface="楷体_GB2312" pitchFamily="49" charset="-122"/>
              </a:rPr>
              <a:t>           </a:t>
            </a:r>
            <a:r>
              <a:rPr lang="en-US" altLang="zh-CN" b="1" dirty="0">
                <a:ea typeface="楷体_GB2312" pitchFamily="49" charset="-122"/>
              </a:rPr>
              <a:t>else { e = </a:t>
            </a:r>
            <a:r>
              <a:rPr lang="en-US" altLang="zh-CN" b="1" dirty="0" err="1">
                <a:ea typeface="楷体_GB2312" pitchFamily="49" charset="-122"/>
              </a:rPr>
              <a:t>Q.queue</a:t>
            </a:r>
            <a:r>
              <a:rPr lang="en-US" altLang="zh-CN" b="1" dirty="0">
                <a:ea typeface="楷体_GB2312" pitchFamily="49" charset="-122"/>
              </a:rPr>
              <a:t>[</a:t>
            </a:r>
            <a:r>
              <a:rPr lang="en-US" altLang="zh-CN" b="1" dirty="0" err="1">
                <a:ea typeface="楷体_GB2312" pitchFamily="49" charset="-122"/>
              </a:rPr>
              <a:t>Q.front</a:t>
            </a:r>
            <a:r>
              <a:rPr lang="en-US" altLang="zh-CN" b="1" dirty="0">
                <a:ea typeface="楷体_GB2312" pitchFamily="49" charset="-122"/>
              </a:rPr>
              <a:t>];</a:t>
            </a:r>
          </a:p>
          <a:p>
            <a:pPr eaLnBrk="1" hangingPunct="1">
              <a:spcBef>
                <a:spcPct val="30000"/>
              </a:spcBef>
            </a:pPr>
            <a:r>
              <a:rPr lang="en-US" altLang="zh-CN" b="1" dirty="0">
                <a:ea typeface="楷体_GB2312" pitchFamily="49" charset="-122"/>
              </a:rPr>
              <a:t>                    </a:t>
            </a:r>
            <a:r>
              <a:rPr lang="en-US" altLang="zh-CN" b="1" dirty="0" err="1">
                <a:ea typeface="楷体_GB2312" pitchFamily="49" charset="-122"/>
              </a:rPr>
              <a:t>Q.front</a:t>
            </a:r>
            <a:r>
              <a:rPr lang="en-US" altLang="zh-CN" b="1" dirty="0">
                <a:ea typeface="楷体_GB2312" pitchFamily="49" charset="-122"/>
              </a:rPr>
              <a:t>++;                      </a:t>
            </a:r>
          </a:p>
          <a:p>
            <a:pPr eaLnBrk="1" hangingPunct="1">
              <a:spcBef>
                <a:spcPct val="30000"/>
              </a:spcBef>
            </a:pPr>
            <a:r>
              <a:rPr lang="en-US" altLang="zh-CN" b="1" dirty="0">
                <a:ea typeface="楷体_GB2312" pitchFamily="49" charset="-122"/>
              </a:rPr>
              <a:t>                     return  OK;</a:t>
            </a:r>
          </a:p>
          <a:p>
            <a:pPr eaLnBrk="1" hangingPunct="1">
              <a:spcBef>
                <a:spcPct val="30000"/>
              </a:spcBef>
            </a:pPr>
            <a:r>
              <a:rPr lang="en-US" altLang="zh-CN" b="1" dirty="0">
                <a:ea typeface="楷体_GB2312" pitchFamily="49" charset="-122"/>
              </a:rPr>
              <a:t>                  }</a:t>
            </a:r>
          </a:p>
          <a:p>
            <a:pPr eaLnBrk="1" hangingPunct="1">
              <a:spcBef>
                <a:spcPct val="30000"/>
              </a:spcBef>
            </a:pPr>
            <a:r>
              <a:rPr lang="en-US" altLang="zh-CN" b="1" dirty="0">
                <a:ea typeface="楷体_GB2312" pitchFamily="49" charset="-122"/>
              </a:rPr>
              <a:t>     }</a:t>
            </a:r>
          </a:p>
        </p:txBody>
      </p:sp>
    </p:spTree>
    <p:extLst>
      <p:ext uri="{BB962C8B-B14F-4D97-AF65-F5344CB8AC3E}">
        <p14:creationId xmlns:p14="http://schemas.microsoft.com/office/powerpoint/2010/main" val="22638644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864B242-3E8B-436D-B057-099D421B5565}" type="slidenum">
              <a:rPr lang="en-US" altLang="zh-CN" sz="1400"/>
              <a:pPr/>
              <a:t>116</a:t>
            </a:fld>
            <a:endParaRPr lang="en-US" altLang="zh-CN" sz="1400"/>
          </a:p>
        </p:txBody>
      </p:sp>
      <p:sp>
        <p:nvSpPr>
          <p:cNvPr id="101379" name="Rectangle 2"/>
          <p:cNvSpPr>
            <a:spLocks noGrp="1" noChangeArrowheads="1"/>
          </p:cNvSpPr>
          <p:nvPr>
            <p:ph/>
          </p:nvPr>
        </p:nvSpPr>
        <p:spPr>
          <a:xfrm>
            <a:off x="0" y="0"/>
            <a:ext cx="9144000" cy="6858000"/>
          </a:xfrm>
        </p:spPr>
        <p:txBody>
          <a:bodyPr/>
          <a:lstStyle/>
          <a:p>
            <a:pPr marL="860425" indent="-860425" eaLnBrk="1" hangingPunct="1">
              <a:buFontTx/>
              <a:buNone/>
            </a:pPr>
            <a:r>
              <a:rPr lang="en-US" altLang="zh-CN" dirty="0">
                <a:latin typeface="楷体_GB2312" pitchFamily="49" charset="-122"/>
                <a:ea typeface="楷体_GB2312" pitchFamily="49" charset="-122"/>
              </a:rPr>
              <a:t> </a:t>
            </a:r>
          </a:p>
          <a:p>
            <a:pPr marL="860425" indent="-860425" eaLnBrk="1" hangingPunct="1">
              <a:buFontTx/>
              <a:buNone/>
            </a:pPr>
            <a:r>
              <a:rPr lang="en-US" altLang="zh-CN" sz="3600" b="1" dirty="0">
                <a:latin typeface="楷体_GB2312" pitchFamily="49" charset="-122"/>
                <a:ea typeface="楷体_GB2312" pitchFamily="49" charset="-122"/>
              </a:rPr>
              <a:t> (e)</a:t>
            </a:r>
            <a:r>
              <a:rPr lang="zh-CN" altLang="en-US" sz="3600" dirty="0">
                <a:latin typeface="楷体_GB2312" pitchFamily="49" charset="-122"/>
                <a:ea typeface="楷体_GB2312" pitchFamily="49" charset="-122"/>
              </a:rPr>
              <a:t>元素</a:t>
            </a:r>
            <a:r>
              <a:rPr lang="en-US" altLang="zh-CN" sz="3600" dirty="0">
                <a:ea typeface="楷体_GB2312" pitchFamily="49" charset="-122"/>
              </a:rPr>
              <a:t>D,E,F,G,H</a:t>
            </a:r>
            <a:r>
              <a:rPr lang="zh-CN" altLang="en-US" sz="3600" dirty="0">
                <a:latin typeface="楷体_GB2312" pitchFamily="49" charset="-122"/>
                <a:ea typeface="楷体_GB2312" pitchFamily="49" charset="-122"/>
              </a:rPr>
              <a:t>出列后</a:t>
            </a:r>
            <a:r>
              <a:rPr lang="en-US" altLang="zh-CN" sz="3600" dirty="0">
                <a:latin typeface="楷体_GB2312" pitchFamily="49" charset="-122"/>
                <a:ea typeface="楷体_GB2312" pitchFamily="49" charset="-122"/>
              </a:rPr>
              <a:t>,</a:t>
            </a:r>
            <a:r>
              <a:rPr lang="zh-CN" altLang="en-US" sz="3600" dirty="0">
                <a:latin typeface="楷体_GB2312" pitchFamily="49" charset="-122"/>
                <a:ea typeface="楷体_GB2312" pitchFamily="49" charset="-122"/>
              </a:rPr>
              <a:t>队列之状态</a:t>
            </a:r>
            <a:r>
              <a:rPr lang="en-US" altLang="zh-CN" sz="3600" dirty="0">
                <a:latin typeface="楷体_GB2312" pitchFamily="49" charset="-122"/>
                <a:ea typeface="楷体_GB2312" pitchFamily="49" charset="-122"/>
              </a:rPr>
              <a:t>:</a:t>
            </a:r>
          </a:p>
          <a:p>
            <a:pPr marL="860425" indent="-860425" eaLnBrk="1" hangingPunct="1">
              <a:buFontTx/>
              <a:buNone/>
            </a:pPr>
            <a:endParaRPr lang="en-US" altLang="zh-CN" dirty="0">
              <a:latin typeface="楷体_GB2312" pitchFamily="49" charset="-122"/>
              <a:ea typeface="楷体_GB2312" pitchFamily="49" charset="-122"/>
            </a:endParaRPr>
          </a:p>
          <a:p>
            <a:pPr marL="860425" indent="-860425" eaLnBrk="1" hangingPunct="1">
              <a:buFontTx/>
              <a:buNone/>
            </a:pPr>
            <a:endParaRPr lang="en-US" altLang="zh-CN" dirty="0">
              <a:latin typeface="楷体_GB2312" pitchFamily="49" charset="-122"/>
              <a:ea typeface="楷体_GB2312" pitchFamily="49" charset="-122"/>
            </a:endParaRPr>
          </a:p>
          <a:p>
            <a:pPr marL="860425" indent="-860425" eaLnBrk="1" hangingPunct="1">
              <a:buFontTx/>
              <a:buNone/>
            </a:pP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Q.</a:t>
            </a:r>
            <a:r>
              <a:rPr lang="en-US" altLang="zh-CN" dirty="0" err="1">
                <a:ea typeface="楷体_GB2312" pitchFamily="49" charset="-122"/>
              </a:rPr>
              <a:t>rear</a:t>
            </a:r>
            <a:endParaRPr lang="en-US" altLang="zh-CN" dirty="0">
              <a:ea typeface="楷体_GB2312" pitchFamily="49" charset="-122"/>
            </a:endParaRPr>
          </a:p>
          <a:p>
            <a:pPr marL="860425" indent="-860425" eaLnBrk="1" hangingPunct="1">
              <a:buFontTx/>
              <a:buNone/>
            </a:pPr>
            <a:r>
              <a:rPr lang="en-US" altLang="zh-CN" dirty="0">
                <a:ea typeface="楷体_GB2312" pitchFamily="49" charset="-122"/>
              </a:rPr>
              <a:t>                                                    </a:t>
            </a:r>
            <a:r>
              <a:rPr lang="en-US" altLang="zh-CN" dirty="0" err="1">
                <a:latin typeface="楷体_GB2312" pitchFamily="49" charset="-122"/>
                <a:ea typeface="楷体_GB2312" pitchFamily="49" charset="-122"/>
              </a:rPr>
              <a:t>Q.</a:t>
            </a:r>
            <a:r>
              <a:rPr lang="en-US" altLang="zh-CN" dirty="0" err="1">
                <a:ea typeface="楷体_GB2312" pitchFamily="49" charset="-122"/>
              </a:rPr>
              <a:t>front</a:t>
            </a:r>
            <a:endParaRPr lang="en-US" altLang="zh-CN" dirty="0">
              <a:latin typeface="楷体_GB2312" pitchFamily="49" charset="-122"/>
              <a:ea typeface="楷体_GB2312" pitchFamily="49" charset="-122"/>
            </a:endParaRPr>
          </a:p>
          <a:p>
            <a:pPr marL="860425" indent="-860425" eaLnBrk="1" hangingPunct="1">
              <a:buFontTx/>
              <a:buNone/>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状态特征</a:t>
            </a:r>
            <a:r>
              <a:rPr lang="en-US" altLang="zh-CN" b="1" dirty="0">
                <a:latin typeface="楷体_GB2312" pitchFamily="49" charset="-122"/>
                <a:ea typeface="楷体_GB2312" pitchFamily="49" charset="-122"/>
              </a:rPr>
              <a:t>:</a:t>
            </a:r>
            <a:r>
              <a:rPr lang="en-US" altLang="zh-CN" dirty="0">
                <a:latin typeface="楷体_GB2312" pitchFamily="49" charset="-122"/>
                <a:ea typeface="楷体_GB2312" pitchFamily="49" charset="-122"/>
              </a:rPr>
              <a:t> </a:t>
            </a:r>
            <a:r>
              <a:rPr lang="en-US" altLang="zh-CN" dirty="0" err="1">
                <a:solidFill>
                  <a:schemeClr val="hlink"/>
                </a:solidFill>
                <a:latin typeface="楷体_GB2312" pitchFamily="49" charset="-122"/>
                <a:ea typeface="楷体_GB2312" pitchFamily="49" charset="-122"/>
              </a:rPr>
              <a:t>Q.</a:t>
            </a:r>
            <a:r>
              <a:rPr lang="en-US" altLang="zh-CN" dirty="0" err="1">
                <a:solidFill>
                  <a:schemeClr val="hlink"/>
                </a:solidFill>
                <a:ea typeface="楷体_GB2312" pitchFamily="49" charset="-122"/>
              </a:rPr>
              <a:t>front</a:t>
            </a:r>
            <a:r>
              <a:rPr lang="en-US" altLang="zh-CN" dirty="0">
                <a:solidFill>
                  <a:schemeClr val="hlink"/>
                </a:solidFill>
                <a:ea typeface="楷体_GB2312" pitchFamily="49" charset="-122"/>
              </a:rPr>
              <a:t> = </a:t>
            </a:r>
            <a:r>
              <a:rPr lang="en-US" altLang="zh-CN" dirty="0" err="1">
                <a:solidFill>
                  <a:schemeClr val="hlink"/>
                </a:solidFill>
                <a:latin typeface="楷体_GB2312" pitchFamily="49" charset="-122"/>
                <a:ea typeface="楷体_GB2312" pitchFamily="49" charset="-122"/>
              </a:rPr>
              <a:t>Q.</a:t>
            </a:r>
            <a:r>
              <a:rPr lang="en-US" altLang="zh-CN" dirty="0" err="1">
                <a:solidFill>
                  <a:schemeClr val="hlink"/>
                </a:solidFill>
                <a:ea typeface="楷体_GB2312" pitchFamily="49" charset="-122"/>
              </a:rPr>
              <a:t>rear</a:t>
            </a:r>
            <a:endParaRPr lang="en-US" altLang="zh-CN" dirty="0">
              <a:solidFill>
                <a:schemeClr val="hlink"/>
              </a:solidFill>
              <a:latin typeface="楷体_GB2312" pitchFamily="49" charset="-122"/>
              <a:ea typeface="楷体_GB2312" pitchFamily="49" charset="-122"/>
            </a:endParaRPr>
          </a:p>
          <a:p>
            <a:pPr marL="860425" indent="-860425" eaLnBrk="1" hangingPunct="1">
              <a:buFontTx/>
              <a:buNone/>
            </a:pPr>
            <a:r>
              <a:rPr lang="en-US" altLang="zh-CN" dirty="0">
                <a:latin typeface="楷体_GB2312" pitchFamily="49" charset="-122"/>
                <a:ea typeface="楷体_GB2312" pitchFamily="49" charset="-122"/>
              </a:rPr>
              <a:t>  </a:t>
            </a:r>
            <a:r>
              <a:rPr lang="en-US" altLang="zh-CN" b="1" dirty="0">
                <a:latin typeface="楷体_GB2312" pitchFamily="49" charset="-122"/>
                <a:ea typeface="楷体_GB2312" pitchFamily="49" charset="-122"/>
              </a:rPr>
              <a:t>1)</a:t>
            </a:r>
            <a:r>
              <a:rPr lang="zh-CN" altLang="en-US" dirty="0">
                <a:latin typeface="楷体_GB2312" pitchFamily="49" charset="-122"/>
                <a:ea typeface="楷体_GB2312" pitchFamily="49" charset="-122"/>
              </a:rPr>
              <a:t>队列中无元素，是空队列；</a:t>
            </a:r>
          </a:p>
          <a:p>
            <a:pPr marL="860425" indent="-860425" eaLnBrk="1" hangingPunct="1">
              <a:buFontTx/>
              <a:buNone/>
            </a:pPr>
            <a:r>
              <a:rPr lang="zh-CN" altLang="en-US" dirty="0">
                <a:latin typeface="楷体_GB2312" pitchFamily="49" charset="-122"/>
                <a:ea typeface="楷体_GB2312" pitchFamily="49" charset="-122"/>
              </a:rPr>
              <a:t>  </a:t>
            </a:r>
            <a:r>
              <a:rPr lang="en-US" altLang="zh-CN" b="1" dirty="0">
                <a:latin typeface="楷体_GB2312" pitchFamily="49" charset="-122"/>
                <a:ea typeface="楷体_GB2312" pitchFamily="49" charset="-122"/>
              </a:rPr>
              <a:t>2)</a:t>
            </a:r>
            <a:r>
              <a:rPr lang="zh-CN" altLang="en-US" dirty="0">
                <a:latin typeface="楷体_GB2312" pitchFamily="49" charset="-122"/>
                <a:ea typeface="楷体_GB2312" pitchFamily="49" charset="-122"/>
              </a:rPr>
              <a:t>因</a:t>
            </a:r>
            <a:r>
              <a:rPr lang="en-US" altLang="zh-CN" dirty="0">
                <a:ea typeface="楷体_GB2312" pitchFamily="49" charset="-122"/>
              </a:rPr>
              <a:t>rear = </a:t>
            </a:r>
            <a:r>
              <a:rPr lang="en-US" altLang="zh-CN" dirty="0" err="1">
                <a:ea typeface="楷体_GB2312" pitchFamily="49" charset="-122"/>
              </a:rPr>
              <a:t>maxqsize</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此时队列被看作满，不能执行入队列操作，即溢出。</a:t>
            </a:r>
          </a:p>
        </p:txBody>
      </p:sp>
      <p:grpSp>
        <p:nvGrpSpPr>
          <p:cNvPr id="101380" name="Group 14"/>
          <p:cNvGrpSpPr>
            <a:grpSpLocks/>
          </p:cNvGrpSpPr>
          <p:nvPr/>
        </p:nvGrpSpPr>
        <p:grpSpPr bwMode="auto">
          <a:xfrm>
            <a:off x="2895600" y="1600200"/>
            <a:ext cx="4035425" cy="1447800"/>
            <a:chOff x="1824" y="1008"/>
            <a:chExt cx="2542" cy="912"/>
          </a:xfrm>
        </p:grpSpPr>
        <p:sp>
          <p:nvSpPr>
            <p:cNvPr id="101381" name="Rectangle 15"/>
            <p:cNvSpPr>
              <a:spLocks noChangeArrowheads="1"/>
            </p:cNvSpPr>
            <p:nvPr/>
          </p:nvSpPr>
          <p:spPr bwMode="auto">
            <a:xfrm>
              <a:off x="1824"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2" name="Rectangle 16"/>
            <p:cNvSpPr>
              <a:spLocks noChangeArrowheads="1"/>
            </p:cNvSpPr>
            <p:nvPr/>
          </p:nvSpPr>
          <p:spPr bwMode="auto">
            <a:xfrm>
              <a:off x="2112"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3" name="Rectangle 17"/>
            <p:cNvSpPr>
              <a:spLocks noChangeArrowheads="1"/>
            </p:cNvSpPr>
            <p:nvPr/>
          </p:nvSpPr>
          <p:spPr bwMode="auto">
            <a:xfrm>
              <a:off x="2400"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4" name="Rectangle 18"/>
            <p:cNvSpPr>
              <a:spLocks noChangeArrowheads="1"/>
            </p:cNvSpPr>
            <p:nvPr/>
          </p:nvSpPr>
          <p:spPr bwMode="auto">
            <a:xfrm>
              <a:off x="2688"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5" name="Rectangle 19"/>
            <p:cNvSpPr>
              <a:spLocks noChangeArrowheads="1"/>
            </p:cNvSpPr>
            <p:nvPr/>
          </p:nvSpPr>
          <p:spPr bwMode="auto">
            <a:xfrm>
              <a:off x="2976"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6" name="Rectangle 20"/>
            <p:cNvSpPr>
              <a:spLocks noChangeArrowheads="1"/>
            </p:cNvSpPr>
            <p:nvPr/>
          </p:nvSpPr>
          <p:spPr bwMode="auto">
            <a:xfrm>
              <a:off x="3264"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7" name="Rectangle 21"/>
            <p:cNvSpPr>
              <a:spLocks noChangeArrowheads="1"/>
            </p:cNvSpPr>
            <p:nvPr/>
          </p:nvSpPr>
          <p:spPr bwMode="auto">
            <a:xfrm>
              <a:off x="3552"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8" name="Rectangle 22"/>
            <p:cNvSpPr>
              <a:spLocks noChangeArrowheads="1"/>
            </p:cNvSpPr>
            <p:nvPr/>
          </p:nvSpPr>
          <p:spPr bwMode="auto">
            <a:xfrm>
              <a:off x="3840"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1389" name="Line 23"/>
            <p:cNvSpPr>
              <a:spLocks noChangeShapeType="1"/>
            </p:cNvSpPr>
            <p:nvPr/>
          </p:nvSpPr>
          <p:spPr bwMode="auto">
            <a:xfrm flipV="1">
              <a:off x="4224" y="134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390" name="Line 24"/>
            <p:cNvSpPr>
              <a:spLocks noChangeShapeType="1"/>
            </p:cNvSpPr>
            <p:nvPr/>
          </p:nvSpPr>
          <p:spPr bwMode="auto">
            <a:xfrm flipV="1">
              <a:off x="4366" y="1344"/>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143929402"/>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02"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089EE80E-6AE1-4D08-BFB7-B312C4E08640}" type="slidenum">
              <a:rPr lang="en-US" altLang="zh-CN" sz="1400"/>
              <a:pPr/>
              <a:t>117</a:t>
            </a:fld>
            <a:endParaRPr lang="en-US" altLang="zh-CN" sz="1400"/>
          </a:p>
        </p:txBody>
      </p:sp>
      <p:sp>
        <p:nvSpPr>
          <p:cNvPr id="583682" name="Rectangle 2"/>
          <p:cNvSpPr>
            <a:spLocks noGrp="1" noChangeArrowheads="1"/>
          </p:cNvSpPr>
          <p:nvPr>
            <p:ph type="ctrTitle"/>
          </p:nvPr>
        </p:nvSpPr>
        <p:spPr>
          <a:xfrm>
            <a:off x="0" y="0"/>
            <a:ext cx="6172200" cy="1143000"/>
          </a:xfrm>
        </p:spPr>
        <p:txBody>
          <a:bodyPr anchor="ctr"/>
          <a:lstStyle/>
          <a:p>
            <a:pPr eaLnBrk="1" hangingPunct="1"/>
            <a:r>
              <a:rPr lang="zh-CN" altLang="en-US" sz="4400">
                <a:solidFill>
                  <a:schemeClr val="hlink"/>
                </a:solidFill>
                <a:ea typeface="楷体_GB2312" pitchFamily="49" charset="-122"/>
              </a:rPr>
              <a:t>问题：在非循环队列中</a:t>
            </a:r>
          </a:p>
        </p:txBody>
      </p:sp>
      <p:sp>
        <p:nvSpPr>
          <p:cNvPr id="583683" name="Text Box 3"/>
          <p:cNvSpPr txBox="1">
            <a:spLocks noChangeArrowheads="1"/>
          </p:cNvSpPr>
          <p:nvPr/>
        </p:nvSpPr>
        <p:spPr bwMode="auto">
          <a:xfrm>
            <a:off x="0" y="144780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当</a:t>
            </a:r>
            <a:r>
              <a:rPr lang="en-US" altLang="zh-CN" sz="3600" b="1">
                <a:solidFill>
                  <a:schemeClr val="hlink"/>
                </a:solidFill>
                <a:ea typeface="楷体_GB2312" pitchFamily="49" charset="-122"/>
              </a:rPr>
              <a:t>q.front=q.rear</a:t>
            </a:r>
            <a:r>
              <a:rPr lang="en-US" altLang="zh-CN" sz="3600" b="1">
                <a:solidFill>
                  <a:srgbClr val="000000"/>
                </a:solidFill>
                <a:ea typeface="楷体_GB2312" pitchFamily="49" charset="-122"/>
              </a:rPr>
              <a:t>&lt;&gt;</a:t>
            </a:r>
            <a:r>
              <a:rPr lang="en-US" altLang="zh-CN" sz="3600" b="1">
                <a:solidFill>
                  <a:schemeClr val="hlink"/>
                </a:solidFill>
                <a:ea typeface="楷体_GB2312" pitchFamily="49" charset="-122"/>
              </a:rPr>
              <a:t>0</a:t>
            </a:r>
            <a:r>
              <a:rPr lang="zh-CN" altLang="en-US" sz="3600" b="1">
                <a:solidFill>
                  <a:schemeClr val="hlink"/>
                </a:solidFill>
                <a:ea typeface="楷体_GB2312" pitchFamily="49" charset="-122"/>
              </a:rPr>
              <a:t>时</a:t>
            </a:r>
            <a:r>
              <a:rPr lang="en-US" altLang="zh-CN" sz="3600" b="1">
                <a:solidFill>
                  <a:schemeClr val="hlink"/>
                </a:solidFill>
                <a:ea typeface="楷体_GB2312" pitchFamily="49" charset="-122"/>
              </a:rPr>
              <a:t>,</a:t>
            </a:r>
            <a:r>
              <a:rPr lang="zh-CN" altLang="en-US" sz="3600" b="1">
                <a:solidFill>
                  <a:schemeClr val="hlink"/>
                </a:solidFill>
                <a:ea typeface="楷体_GB2312" pitchFamily="49" charset="-122"/>
              </a:rPr>
              <a:t>能否断定队列为空？</a:t>
            </a:r>
          </a:p>
        </p:txBody>
      </p:sp>
      <p:sp>
        <p:nvSpPr>
          <p:cNvPr id="583684" name="Text Box 4"/>
          <p:cNvSpPr txBox="1">
            <a:spLocks noChangeArrowheads="1"/>
          </p:cNvSpPr>
          <p:nvPr/>
        </p:nvSpPr>
        <p:spPr bwMode="auto">
          <a:xfrm>
            <a:off x="0" y="301625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当</a:t>
            </a:r>
            <a:r>
              <a:rPr lang="en-US" altLang="zh-CN" sz="3600" b="1">
                <a:solidFill>
                  <a:schemeClr val="hlink"/>
                </a:solidFill>
                <a:ea typeface="楷体_GB2312" pitchFamily="49" charset="-122"/>
              </a:rPr>
              <a:t>q.rear=0</a:t>
            </a:r>
            <a:r>
              <a:rPr lang="zh-CN" altLang="en-US" sz="3600" b="1">
                <a:solidFill>
                  <a:schemeClr val="hlink"/>
                </a:solidFill>
                <a:ea typeface="楷体_GB2312" pitchFamily="49" charset="-122"/>
              </a:rPr>
              <a:t>时</a:t>
            </a:r>
            <a:r>
              <a:rPr lang="en-US" altLang="zh-CN" sz="3600" b="1">
                <a:solidFill>
                  <a:schemeClr val="hlink"/>
                </a:solidFill>
                <a:ea typeface="楷体_GB2312" pitchFamily="49" charset="-122"/>
              </a:rPr>
              <a:t>, </a:t>
            </a:r>
            <a:r>
              <a:rPr lang="zh-CN" altLang="en-US" sz="3600" b="1">
                <a:solidFill>
                  <a:schemeClr val="hlink"/>
                </a:solidFill>
                <a:ea typeface="楷体_GB2312" pitchFamily="49" charset="-122"/>
              </a:rPr>
              <a:t>能否断定队列为空？</a:t>
            </a:r>
            <a:endParaRPr lang="zh-CN" altLang="en-US" sz="4800" b="1"/>
          </a:p>
        </p:txBody>
      </p:sp>
      <p:sp>
        <p:nvSpPr>
          <p:cNvPr id="583685" name="Text Box 5"/>
          <p:cNvSpPr txBox="1">
            <a:spLocks noChangeArrowheads="1"/>
          </p:cNvSpPr>
          <p:nvPr/>
        </p:nvSpPr>
        <p:spPr bwMode="auto">
          <a:xfrm>
            <a:off x="0" y="469265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当</a:t>
            </a:r>
            <a:r>
              <a:rPr lang="en-US" altLang="zh-CN" sz="3600" b="1">
                <a:solidFill>
                  <a:schemeClr val="hlink"/>
                </a:solidFill>
                <a:ea typeface="楷体_GB2312" pitchFamily="49" charset="-122"/>
              </a:rPr>
              <a:t>q.front=0</a:t>
            </a:r>
            <a:r>
              <a:rPr lang="zh-CN" altLang="en-US" sz="3600" b="1">
                <a:solidFill>
                  <a:schemeClr val="hlink"/>
                </a:solidFill>
                <a:ea typeface="楷体_GB2312" pitchFamily="49" charset="-122"/>
              </a:rPr>
              <a:t>时</a:t>
            </a:r>
            <a:r>
              <a:rPr lang="en-US" altLang="zh-CN" sz="3600" b="1">
                <a:solidFill>
                  <a:schemeClr val="hlink"/>
                </a:solidFill>
                <a:ea typeface="楷体_GB2312" pitchFamily="49" charset="-122"/>
              </a:rPr>
              <a:t>,</a:t>
            </a:r>
            <a:r>
              <a:rPr lang="zh-CN" altLang="en-US" sz="3600" b="1">
                <a:solidFill>
                  <a:schemeClr val="hlink"/>
                </a:solidFill>
                <a:ea typeface="楷体_GB2312" pitchFamily="49" charset="-122"/>
              </a:rPr>
              <a:t>能否断定队列为空？</a:t>
            </a:r>
            <a:endParaRPr lang="zh-CN" altLang="en-US" sz="4800" b="1"/>
          </a:p>
        </p:txBody>
      </p:sp>
      <p:sp>
        <p:nvSpPr>
          <p:cNvPr id="583686" name="Text Box 6"/>
          <p:cNvSpPr txBox="1">
            <a:spLocks noChangeArrowheads="1"/>
          </p:cNvSpPr>
          <p:nvPr/>
        </p:nvSpPr>
        <p:spPr bwMode="auto">
          <a:xfrm>
            <a:off x="914400" y="55626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不能</a:t>
            </a:r>
          </a:p>
        </p:txBody>
      </p:sp>
      <p:sp>
        <p:nvSpPr>
          <p:cNvPr id="583687" name="Text Box 7"/>
          <p:cNvSpPr txBox="1">
            <a:spLocks noChangeArrowheads="1"/>
          </p:cNvSpPr>
          <p:nvPr/>
        </p:nvSpPr>
        <p:spPr bwMode="auto">
          <a:xfrm>
            <a:off x="914400" y="38862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能</a:t>
            </a:r>
          </a:p>
        </p:txBody>
      </p:sp>
      <p:sp>
        <p:nvSpPr>
          <p:cNvPr id="583688" name="Text Box 8"/>
          <p:cNvSpPr txBox="1">
            <a:spLocks noChangeArrowheads="1"/>
          </p:cNvSpPr>
          <p:nvPr/>
        </p:nvSpPr>
        <p:spPr bwMode="auto">
          <a:xfrm>
            <a:off x="914400" y="21336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600" b="1">
                <a:solidFill>
                  <a:schemeClr val="hlink"/>
                </a:solidFill>
                <a:ea typeface="楷体_GB2312" pitchFamily="49" charset="-122"/>
              </a:rPr>
              <a:t>能</a:t>
            </a:r>
          </a:p>
        </p:txBody>
      </p:sp>
    </p:spTree>
    <p:extLst>
      <p:ext uri="{BB962C8B-B14F-4D97-AF65-F5344CB8AC3E}">
        <p14:creationId xmlns:p14="http://schemas.microsoft.com/office/powerpoint/2010/main" val="2280036977"/>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3682">
                                            <p:txEl>
                                              <p:pRg st="0" end="0"/>
                                            </p:txEl>
                                          </p:spTgt>
                                        </p:tgtEl>
                                        <p:attrNameLst>
                                          <p:attrName>style.visibility</p:attrName>
                                        </p:attrNameLst>
                                      </p:cBhvr>
                                      <p:to>
                                        <p:strVal val="visible"/>
                                      </p:to>
                                    </p:set>
                                    <p:animEffect transition="in" filter="dissolve">
                                      <p:cBhvr>
                                        <p:cTn id="7" dur="500"/>
                                        <p:tgtEl>
                                          <p:spTgt spid="5836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683">
                                            <p:txEl>
                                              <p:pRg st="0" end="0"/>
                                            </p:txEl>
                                          </p:spTgt>
                                        </p:tgtEl>
                                        <p:attrNameLst>
                                          <p:attrName>style.visibility</p:attrName>
                                        </p:attrNameLst>
                                      </p:cBhvr>
                                      <p:to>
                                        <p:strVal val="visible"/>
                                      </p:to>
                                    </p:set>
                                    <p:animEffect transition="in" filter="dissolve">
                                      <p:cBhvr>
                                        <p:cTn id="12" dur="500"/>
                                        <p:tgtEl>
                                          <p:spTgt spid="5836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688">
                                            <p:txEl>
                                              <p:pRg st="0" end="0"/>
                                            </p:txEl>
                                          </p:spTgt>
                                        </p:tgtEl>
                                        <p:attrNameLst>
                                          <p:attrName>style.visibility</p:attrName>
                                        </p:attrNameLst>
                                      </p:cBhvr>
                                      <p:to>
                                        <p:strVal val="visible"/>
                                      </p:to>
                                    </p:set>
                                    <p:animEffect transition="in" filter="dissolve">
                                      <p:cBhvr>
                                        <p:cTn id="17" dur="500"/>
                                        <p:tgtEl>
                                          <p:spTgt spid="58368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3684">
                                            <p:txEl>
                                              <p:pRg st="0" end="0"/>
                                            </p:txEl>
                                          </p:spTgt>
                                        </p:tgtEl>
                                        <p:attrNameLst>
                                          <p:attrName>style.visibility</p:attrName>
                                        </p:attrNameLst>
                                      </p:cBhvr>
                                      <p:to>
                                        <p:strVal val="visible"/>
                                      </p:to>
                                    </p:set>
                                    <p:animEffect transition="in" filter="dissolve">
                                      <p:cBhvr>
                                        <p:cTn id="22" dur="500"/>
                                        <p:tgtEl>
                                          <p:spTgt spid="58368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83687"/>
                                        </p:tgtEl>
                                        <p:attrNameLst>
                                          <p:attrName>style.visibility</p:attrName>
                                        </p:attrNameLst>
                                      </p:cBhvr>
                                      <p:to>
                                        <p:strVal val="visible"/>
                                      </p:to>
                                    </p:set>
                                    <p:animEffect transition="in" filter="randombar(horizontal)">
                                      <p:cBhvr>
                                        <p:cTn id="27" dur="500"/>
                                        <p:tgtEl>
                                          <p:spTgt spid="5836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83685">
                                            <p:txEl>
                                              <p:pRg st="0" end="0"/>
                                            </p:txEl>
                                          </p:spTgt>
                                        </p:tgtEl>
                                        <p:attrNameLst>
                                          <p:attrName>style.visibility</p:attrName>
                                        </p:attrNameLst>
                                      </p:cBhvr>
                                      <p:to>
                                        <p:strVal val="visible"/>
                                      </p:to>
                                    </p:set>
                                    <p:animEffect transition="in" filter="dissolve">
                                      <p:cBhvr>
                                        <p:cTn id="32" dur="500"/>
                                        <p:tgtEl>
                                          <p:spTgt spid="583685">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8368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2" grpId="0" build="p" autoUpdateAnimBg="0"/>
      <p:bldP spid="583683" grpId="0" build="p" autoUpdateAnimBg="0"/>
      <p:bldP spid="583684" grpId="0" build="p" autoUpdateAnimBg="0"/>
      <p:bldP spid="583685" grpId="0" build="p" autoUpdateAnimBg="0"/>
      <p:bldP spid="583686" grpId="0" build="p" autoUpdateAnimBg="0"/>
      <p:bldP spid="583687" grpId="0" autoUpdateAnimBg="0"/>
      <p:bldP spid="583688"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E96D7215-A7EB-4884-A5FD-A8D04B812AF4}" type="slidenum">
              <a:rPr lang="en-US" altLang="zh-CN" sz="1400"/>
              <a:pPr/>
              <a:t>118</a:t>
            </a:fld>
            <a:endParaRPr lang="en-US" altLang="zh-CN" sz="1400"/>
          </a:p>
        </p:txBody>
      </p:sp>
      <p:sp>
        <p:nvSpPr>
          <p:cNvPr id="584706" name="Rectangle 2"/>
          <p:cNvSpPr>
            <a:spLocks noGrp="1" noChangeArrowheads="1"/>
          </p:cNvSpPr>
          <p:nvPr>
            <p:ph type="body" idx="1"/>
          </p:nvPr>
        </p:nvSpPr>
        <p:spPr>
          <a:xfrm>
            <a:off x="296863" y="954088"/>
            <a:ext cx="8153400" cy="4545012"/>
          </a:xfrm>
        </p:spPr>
        <p:txBody>
          <a:bodyPr/>
          <a:lstStyle/>
          <a:p>
            <a:pPr eaLnBrk="1" hangingPunct="1">
              <a:lnSpc>
                <a:spcPct val="95000"/>
              </a:lnSpc>
            </a:pPr>
            <a:r>
              <a:rPr lang="en-US" altLang="zh-CN" sz="2800" b="1" dirty="0">
                <a:ea typeface="楷体_GB2312" pitchFamily="49" charset="-122"/>
              </a:rPr>
              <a:t>rear=</a:t>
            </a:r>
            <a:r>
              <a:rPr lang="en-US" altLang="zh-CN" sz="2800" b="1" dirty="0" err="1">
                <a:ea typeface="楷体_GB2312" pitchFamily="49" charset="-122"/>
              </a:rPr>
              <a:t>maxqsize</a:t>
            </a:r>
            <a:r>
              <a:rPr lang="zh-CN" altLang="en-US" sz="2800" b="1" dirty="0">
                <a:latin typeface="楷体_GB2312" pitchFamily="49" charset="-122"/>
                <a:ea typeface="楷体_GB2312" pitchFamily="49" charset="-122"/>
              </a:rPr>
              <a:t>不一定说明队列中有</a:t>
            </a:r>
            <a:r>
              <a:rPr lang="en-US" altLang="zh-CN" sz="2800" b="1" dirty="0" err="1">
                <a:ea typeface="楷体_GB2312" pitchFamily="49" charset="-122"/>
              </a:rPr>
              <a:t>maxqsize</a:t>
            </a:r>
            <a:r>
              <a:rPr lang="zh-CN" altLang="en-US" sz="2800" b="1" dirty="0">
                <a:latin typeface="楷体_GB2312" pitchFamily="49" charset="-122"/>
                <a:ea typeface="楷体_GB2312" pitchFamily="49" charset="-122"/>
              </a:rPr>
              <a:t>个元素</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如上例实际上还有可用空间</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称</a:t>
            </a:r>
            <a:r>
              <a:rPr lang="zh-CN" altLang="en-US" sz="2800" b="1" dirty="0">
                <a:solidFill>
                  <a:schemeClr val="hlink"/>
                </a:solidFill>
                <a:latin typeface="楷体_GB2312" pitchFamily="49" charset="-122"/>
                <a:ea typeface="楷体_GB2312" pitchFamily="49" charset="-122"/>
              </a:rPr>
              <a:t>假溢出</a:t>
            </a:r>
            <a:r>
              <a:rPr lang="zh-CN" altLang="en-US" sz="2800"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eaLnBrk="1" hangingPunct="1">
              <a:lnSpc>
                <a:spcPct val="95000"/>
              </a:lnSpc>
            </a:pPr>
            <a:r>
              <a:rPr lang="zh-CN" altLang="en-US" sz="2800" b="1" dirty="0">
                <a:latin typeface="楷体_GB2312" pitchFamily="49" charset="-122"/>
                <a:ea typeface="楷体_GB2312" pitchFamily="49" charset="-122"/>
              </a:rPr>
              <a:t>解决</a:t>
            </a:r>
            <a:r>
              <a:rPr lang="zh-CN" altLang="en-US" sz="2800" b="1" dirty="0">
                <a:solidFill>
                  <a:schemeClr val="hlink"/>
                </a:solidFill>
                <a:ea typeface="楷体_GB2312" pitchFamily="49" charset="-122"/>
              </a:rPr>
              <a:t>“</a:t>
            </a:r>
            <a:r>
              <a:rPr lang="zh-CN" altLang="en-US" sz="2800" b="1" dirty="0">
                <a:solidFill>
                  <a:schemeClr val="hlink"/>
                </a:solidFill>
                <a:latin typeface="楷体_GB2312" pitchFamily="49" charset="-122"/>
                <a:ea typeface="楷体_GB2312" pitchFamily="49" charset="-122"/>
              </a:rPr>
              <a:t>假溢出</a:t>
            </a:r>
            <a:r>
              <a:rPr lang="zh-CN" altLang="en-US" sz="2800" b="1" dirty="0">
                <a:solidFill>
                  <a:schemeClr val="hlink"/>
                </a:solidFill>
                <a:ea typeface="楷体_GB2312" pitchFamily="49" charset="-122"/>
              </a:rPr>
              <a:t>”</a:t>
            </a:r>
            <a:r>
              <a:rPr lang="zh-CN" altLang="en-US" sz="2800" b="1" dirty="0">
                <a:latin typeface="楷体_GB2312" pitchFamily="49" charset="-122"/>
                <a:ea typeface="楷体_GB2312" pitchFamily="49" charset="-122"/>
              </a:rPr>
              <a:t>的办法一般有两种：</a:t>
            </a:r>
          </a:p>
          <a:p>
            <a:pPr lvl="1" eaLnBrk="1" hangingPunct="1">
              <a:lnSpc>
                <a:spcPct val="95000"/>
              </a:lnSpc>
            </a:pPr>
            <a:r>
              <a:rPr lang="zh-CN" altLang="en-US" b="1" dirty="0">
                <a:latin typeface="楷体_GB2312" pitchFamily="49" charset="-122"/>
                <a:ea typeface="楷体_GB2312" pitchFamily="49" charset="-122"/>
              </a:rPr>
              <a:t>将整个</a:t>
            </a:r>
            <a:r>
              <a:rPr lang="zh-CN" altLang="en-US" b="1" dirty="0">
                <a:solidFill>
                  <a:schemeClr val="hlink"/>
                </a:solidFill>
                <a:latin typeface="楷体_GB2312" pitchFamily="49" charset="-122"/>
                <a:ea typeface="楷体_GB2312" pitchFamily="49" charset="-122"/>
              </a:rPr>
              <a:t>队列左移</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使队列的第一个元素重新位于</a:t>
            </a:r>
            <a:r>
              <a:rPr lang="en-US" altLang="zh-CN" b="1" dirty="0">
                <a:ea typeface="楷体_GB2312" pitchFamily="49" charset="-122"/>
              </a:rPr>
              <a:t>queue[0]</a:t>
            </a:r>
            <a:r>
              <a:rPr lang="zh-CN" altLang="en-US" b="1" dirty="0">
                <a:ea typeface="楷体_GB2312" pitchFamily="49" charset="-122"/>
              </a:rPr>
              <a:t>，</a:t>
            </a:r>
            <a:r>
              <a:rPr lang="zh-CN" altLang="en-US" b="1" dirty="0">
                <a:latin typeface="楷体_GB2312" pitchFamily="49" charset="-122"/>
                <a:ea typeface="楷体_GB2312" pitchFamily="49" charset="-122"/>
              </a:rPr>
              <a:t>且置</a:t>
            </a:r>
            <a:r>
              <a:rPr lang="en-US" altLang="zh-CN" b="1" dirty="0">
                <a:ea typeface="楷体_GB2312" pitchFamily="49" charset="-122"/>
              </a:rPr>
              <a:t>front= 0</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但会引起大量元素的移动，增加算法的运行时间；</a:t>
            </a:r>
          </a:p>
          <a:p>
            <a:pPr lvl="1" eaLnBrk="1" hangingPunct="1">
              <a:lnSpc>
                <a:spcPct val="95000"/>
              </a:lnSpc>
            </a:pPr>
            <a:r>
              <a:rPr lang="zh-CN" altLang="en-US" b="1" dirty="0">
                <a:latin typeface="楷体_GB2312" pitchFamily="49" charset="-122"/>
                <a:ea typeface="楷体_GB2312" pitchFamily="49" charset="-122"/>
              </a:rPr>
              <a:t>设想</a:t>
            </a:r>
            <a:r>
              <a:rPr lang="en-US" altLang="zh-CN" b="1" dirty="0">
                <a:ea typeface="楷体_GB2312" pitchFamily="49" charset="-122"/>
              </a:rPr>
              <a:t>queue[0]</a:t>
            </a:r>
            <a:r>
              <a:rPr lang="zh-CN" altLang="en-US" b="1" dirty="0">
                <a:latin typeface="楷体_GB2312" pitchFamily="49" charset="-122"/>
                <a:ea typeface="楷体_GB2312" pitchFamily="49" charset="-122"/>
              </a:rPr>
              <a:t>接在</a:t>
            </a:r>
            <a:r>
              <a:rPr lang="en-US" altLang="zh-CN" b="1" dirty="0">
                <a:ea typeface="楷体_GB2312" pitchFamily="49" charset="-122"/>
              </a:rPr>
              <a:t>queue[</a:t>
            </a:r>
            <a:r>
              <a:rPr lang="en-US" altLang="zh-CN" b="1" dirty="0" err="1">
                <a:ea typeface="楷体_GB2312" pitchFamily="49" charset="-122"/>
              </a:rPr>
              <a:t>maxqsize</a:t>
            </a:r>
            <a:r>
              <a:rPr lang="en-US" altLang="zh-CN" b="1" dirty="0">
                <a:ea typeface="楷体_GB2312" pitchFamily="49" charset="-122"/>
              </a:rPr>
              <a:t> -1]</a:t>
            </a:r>
            <a:r>
              <a:rPr lang="zh-CN" altLang="en-US" b="1" dirty="0">
                <a:latin typeface="楷体_GB2312" pitchFamily="49" charset="-122"/>
                <a:ea typeface="楷体_GB2312" pitchFamily="49" charset="-122"/>
              </a:rPr>
              <a:t>之后</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使一维数组</a:t>
            </a:r>
            <a:r>
              <a:rPr lang="en-US" altLang="zh-CN" b="1" dirty="0">
                <a:ea typeface="楷体_GB2312" pitchFamily="49" charset="-122"/>
              </a:rPr>
              <a:t>queue</a:t>
            </a:r>
            <a:r>
              <a:rPr lang="zh-CN" altLang="en-US" b="1" dirty="0">
                <a:latin typeface="楷体_GB2312" pitchFamily="49" charset="-122"/>
                <a:ea typeface="楷体_GB2312" pitchFamily="49" charset="-122"/>
              </a:rPr>
              <a:t>成为一个</a:t>
            </a:r>
            <a:r>
              <a:rPr lang="zh-CN" altLang="en-US" b="1" dirty="0">
                <a:solidFill>
                  <a:schemeClr val="hlink"/>
                </a:solidFill>
                <a:latin typeface="楷体_GB2312" pitchFamily="49" charset="-122"/>
                <a:ea typeface="楷体_GB2312" pitchFamily="49" charset="-122"/>
              </a:rPr>
              <a:t>首尾相接的环</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使得</a:t>
            </a:r>
            <a:r>
              <a:rPr lang="en-US" altLang="zh-CN" b="1" dirty="0">
                <a:latin typeface="楷体_GB2312" pitchFamily="49" charset="-122"/>
                <a:ea typeface="楷体_GB2312" pitchFamily="49" charset="-122"/>
              </a:rPr>
              <a:t>:</a:t>
            </a:r>
          </a:p>
          <a:p>
            <a:pPr lvl="1" eaLnBrk="1" hangingPunct="1">
              <a:lnSpc>
                <a:spcPct val="95000"/>
              </a:lnSpc>
              <a:buFontTx/>
              <a:buNone/>
            </a:pPr>
            <a:r>
              <a:rPr lang="en-US" altLang="zh-CN" b="1" dirty="0">
                <a:ea typeface="楷体_GB2312" pitchFamily="49" charset="-122"/>
              </a:rPr>
              <a:t>       if  </a:t>
            </a:r>
            <a:r>
              <a:rPr lang="en-US" altLang="zh-CN" b="1" dirty="0" err="1">
                <a:solidFill>
                  <a:srgbClr val="A50021"/>
                </a:solidFill>
                <a:ea typeface="楷体_GB2312" pitchFamily="49" charset="-122"/>
              </a:rPr>
              <a:t>Q.rear</a:t>
            </a:r>
            <a:r>
              <a:rPr lang="en-US" altLang="zh-CN" b="1" dirty="0">
                <a:solidFill>
                  <a:srgbClr val="A50021"/>
                </a:solidFill>
                <a:ea typeface="楷体_GB2312" pitchFamily="49" charset="-122"/>
              </a:rPr>
              <a:t> +1=</a:t>
            </a:r>
            <a:r>
              <a:rPr lang="en-US" altLang="zh-CN" b="1" dirty="0" err="1">
                <a:solidFill>
                  <a:srgbClr val="A50021"/>
                </a:solidFill>
                <a:ea typeface="楷体_GB2312" pitchFamily="49" charset="-122"/>
              </a:rPr>
              <a:t>maxqsize</a:t>
            </a:r>
            <a:r>
              <a:rPr lang="en-US" altLang="zh-CN" b="1" dirty="0">
                <a:ea typeface="楷体_GB2312" pitchFamily="49" charset="-122"/>
              </a:rPr>
              <a:t> </a:t>
            </a:r>
            <a:br>
              <a:rPr lang="en-US" altLang="zh-CN" b="1" dirty="0">
                <a:ea typeface="楷体_GB2312" pitchFamily="49" charset="-122"/>
              </a:rPr>
            </a:br>
            <a:r>
              <a:rPr lang="en-US" altLang="zh-CN" b="1" dirty="0">
                <a:ea typeface="楷体_GB2312" pitchFamily="49" charset="-122"/>
              </a:rPr>
              <a:t>        </a:t>
            </a:r>
            <a:r>
              <a:rPr lang="en-US" altLang="zh-CN" b="1" dirty="0" err="1">
                <a:ea typeface="楷体_GB2312" pitchFamily="49" charset="-122"/>
              </a:rPr>
              <a:t>Q.rear</a:t>
            </a:r>
            <a:r>
              <a:rPr lang="en-US" altLang="zh-CN" b="1" dirty="0">
                <a:ea typeface="楷体_GB2312" pitchFamily="49" charset="-122"/>
              </a:rPr>
              <a:t>=0</a:t>
            </a:r>
            <a:r>
              <a:rPr lang="zh-CN" altLang="en-US" b="1" dirty="0">
                <a:ea typeface="楷体_GB2312" pitchFamily="49" charset="-122"/>
              </a:rPr>
              <a:t>；</a:t>
            </a:r>
          </a:p>
        </p:txBody>
      </p:sp>
      <p:sp>
        <p:nvSpPr>
          <p:cNvPr id="103428" name="Rectangle 3"/>
          <p:cNvSpPr>
            <a:spLocks noGrp="1" noChangeArrowheads="1"/>
          </p:cNvSpPr>
          <p:nvPr>
            <p:ph type="title"/>
          </p:nvPr>
        </p:nvSpPr>
        <p:spPr>
          <a:xfrm>
            <a:off x="250825" y="142875"/>
            <a:ext cx="7772400" cy="608013"/>
          </a:xfrm>
        </p:spPr>
        <p:txBody>
          <a:bodyPr/>
          <a:lstStyle/>
          <a:p>
            <a:pPr eaLnBrk="1" hangingPunct="1"/>
            <a:r>
              <a:rPr lang="zh-CN" altLang="en-US" b="1">
                <a:solidFill>
                  <a:srgbClr val="A50021"/>
                </a:solidFill>
                <a:latin typeface="楷体_GB2312" pitchFamily="49" charset="-122"/>
                <a:ea typeface="楷体_GB2312" pitchFamily="49" charset="-122"/>
              </a:rPr>
              <a:t>假溢出</a:t>
            </a:r>
            <a:endParaRPr lang="zh-CN" altLang="en-US" sz="4800" b="1" u="sng">
              <a:solidFill>
                <a:srgbClr val="A50021"/>
              </a:solidFill>
              <a:latin typeface="楷体_GB2312" pitchFamily="49" charset="-122"/>
              <a:ea typeface="楷体_GB2312" pitchFamily="49" charset="-122"/>
            </a:endParaRPr>
          </a:p>
        </p:txBody>
      </p:sp>
      <p:grpSp>
        <p:nvGrpSpPr>
          <p:cNvPr id="103429" name="Group 4"/>
          <p:cNvGrpSpPr>
            <a:grpSpLocks/>
          </p:cNvGrpSpPr>
          <p:nvPr/>
        </p:nvGrpSpPr>
        <p:grpSpPr bwMode="auto">
          <a:xfrm>
            <a:off x="4976813" y="4824413"/>
            <a:ext cx="4035425" cy="1447800"/>
            <a:chOff x="1824" y="1008"/>
            <a:chExt cx="2542" cy="912"/>
          </a:xfrm>
        </p:grpSpPr>
        <p:sp>
          <p:nvSpPr>
            <p:cNvPr id="103431" name="Rectangle 5"/>
            <p:cNvSpPr>
              <a:spLocks noChangeArrowheads="1"/>
            </p:cNvSpPr>
            <p:nvPr/>
          </p:nvSpPr>
          <p:spPr bwMode="auto">
            <a:xfrm>
              <a:off x="1824"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2" name="Rectangle 6"/>
            <p:cNvSpPr>
              <a:spLocks noChangeArrowheads="1"/>
            </p:cNvSpPr>
            <p:nvPr/>
          </p:nvSpPr>
          <p:spPr bwMode="auto">
            <a:xfrm>
              <a:off x="2112"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3" name="Rectangle 7"/>
            <p:cNvSpPr>
              <a:spLocks noChangeArrowheads="1"/>
            </p:cNvSpPr>
            <p:nvPr/>
          </p:nvSpPr>
          <p:spPr bwMode="auto">
            <a:xfrm>
              <a:off x="2400"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4" name="Rectangle 8"/>
            <p:cNvSpPr>
              <a:spLocks noChangeArrowheads="1"/>
            </p:cNvSpPr>
            <p:nvPr/>
          </p:nvSpPr>
          <p:spPr bwMode="auto">
            <a:xfrm>
              <a:off x="2688"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5" name="Rectangle 9"/>
            <p:cNvSpPr>
              <a:spLocks noChangeArrowheads="1"/>
            </p:cNvSpPr>
            <p:nvPr/>
          </p:nvSpPr>
          <p:spPr bwMode="auto">
            <a:xfrm>
              <a:off x="2976"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6" name="Rectangle 10"/>
            <p:cNvSpPr>
              <a:spLocks noChangeArrowheads="1"/>
            </p:cNvSpPr>
            <p:nvPr/>
          </p:nvSpPr>
          <p:spPr bwMode="auto">
            <a:xfrm>
              <a:off x="3264"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7" name="Rectangle 11"/>
            <p:cNvSpPr>
              <a:spLocks noChangeArrowheads="1"/>
            </p:cNvSpPr>
            <p:nvPr/>
          </p:nvSpPr>
          <p:spPr bwMode="auto">
            <a:xfrm>
              <a:off x="3552"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8" name="Rectangle 12"/>
            <p:cNvSpPr>
              <a:spLocks noChangeArrowheads="1"/>
            </p:cNvSpPr>
            <p:nvPr/>
          </p:nvSpPr>
          <p:spPr bwMode="auto">
            <a:xfrm>
              <a:off x="3840" y="1008"/>
              <a:ext cx="28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3439" name="Line 13"/>
            <p:cNvSpPr>
              <a:spLocks noChangeShapeType="1"/>
            </p:cNvSpPr>
            <p:nvPr/>
          </p:nvSpPr>
          <p:spPr bwMode="auto">
            <a:xfrm flipV="1">
              <a:off x="4224" y="134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40" name="Line 14"/>
            <p:cNvSpPr>
              <a:spLocks noChangeShapeType="1"/>
            </p:cNvSpPr>
            <p:nvPr/>
          </p:nvSpPr>
          <p:spPr bwMode="auto">
            <a:xfrm flipV="1">
              <a:off x="4366" y="1344"/>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430" name="Rectangle 15"/>
          <p:cNvSpPr>
            <a:spLocks noChangeArrowheads="1"/>
          </p:cNvSpPr>
          <p:nvPr/>
        </p:nvSpPr>
        <p:spPr bwMode="auto">
          <a:xfrm>
            <a:off x="7704138" y="5408613"/>
            <a:ext cx="14398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a:t>Q.rear                                              Q.front</a:t>
            </a:r>
          </a:p>
        </p:txBody>
      </p:sp>
    </p:spTree>
    <p:extLst>
      <p:ext uri="{BB962C8B-B14F-4D97-AF65-F5344CB8AC3E}">
        <p14:creationId xmlns:p14="http://schemas.microsoft.com/office/powerpoint/2010/main" val="11499384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4706">
                                            <p:txEl>
                                              <p:pRg st="0" end="0"/>
                                            </p:txEl>
                                          </p:spTgt>
                                        </p:tgtEl>
                                        <p:attrNameLst>
                                          <p:attrName>style.visibility</p:attrName>
                                        </p:attrNameLst>
                                      </p:cBhvr>
                                      <p:to>
                                        <p:strVal val="visible"/>
                                      </p:to>
                                    </p:set>
                                    <p:animEffect transition="in" filter="checkerboard(across)">
                                      <p:cBhvr>
                                        <p:cTn id="7" dur="500"/>
                                        <p:tgtEl>
                                          <p:spTgt spid="5847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4706">
                                            <p:txEl>
                                              <p:pRg st="1" end="1"/>
                                            </p:txEl>
                                          </p:spTgt>
                                        </p:tgtEl>
                                        <p:attrNameLst>
                                          <p:attrName>style.visibility</p:attrName>
                                        </p:attrNameLst>
                                      </p:cBhvr>
                                      <p:to>
                                        <p:strVal val="visible"/>
                                      </p:to>
                                    </p:set>
                                    <p:animEffect transition="in" filter="checkerboard(across)">
                                      <p:cBhvr>
                                        <p:cTn id="12" dur="500"/>
                                        <p:tgtEl>
                                          <p:spTgt spid="58470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84706">
                                            <p:txEl>
                                              <p:pRg st="2" end="2"/>
                                            </p:txEl>
                                          </p:spTgt>
                                        </p:tgtEl>
                                        <p:attrNameLst>
                                          <p:attrName>style.visibility</p:attrName>
                                        </p:attrNameLst>
                                      </p:cBhvr>
                                      <p:to>
                                        <p:strVal val="visible"/>
                                      </p:to>
                                    </p:set>
                                    <p:animEffect transition="in" filter="checkerboard(across)">
                                      <p:cBhvr>
                                        <p:cTn id="17" dur="500"/>
                                        <p:tgtEl>
                                          <p:spTgt spid="58470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84706">
                                            <p:txEl>
                                              <p:pRg st="3" end="3"/>
                                            </p:txEl>
                                          </p:spTgt>
                                        </p:tgtEl>
                                        <p:attrNameLst>
                                          <p:attrName>style.visibility</p:attrName>
                                        </p:attrNameLst>
                                      </p:cBhvr>
                                      <p:to>
                                        <p:strVal val="visible"/>
                                      </p:to>
                                    </p:set>
                                    <p:animEffect transition="in" filter="checkerboard(across)">
                                      <p:cBhvr>
                                        <p:cTn id="22" dur="500"/>
                                        <p:tgtEl>
                                          <p:spTgt spid="58470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84706">
                                            <p:txEl>
                                              <p:pRg st="4" end="4"/>
                                            </p:txEl>
                                          </p:spTgt>
                                        </p:tgtEl>
                                        <p:attrNameLst>
                                          <p:attrName>style.visibility</p:attrName>
                                        </p:attrNameLst>
                                      </p:cBhvr>
                                      <p:to>
                                        <p:strVal val="visible"/>
                                      </p:to>
                                    </p:set>
                                    <p:animEffect transition="in" filter="checkerboard(across)">
                                      <p:cBhvr>
                                        <p:cTn id="27" dur="500"/>
                                        <p:tgtEl>
                                          <p:spTgt spid="5847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6" grpId="0" build="p" bldLvl="2"/>
    </p:bld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78B138C8-D03F-40D1-B1A4-22107E05AFF4}" type="slidenum">
              <a:rPr lang="en-US" altLang="zh-CN" sz="1400"/>
              <a:pPr/>
              <a:t>119</a:t>
            </a:fld>
            <a:endParaRPr lang="en-US" altLang="zh-CN" sz="1400"/>
          </a:p>
        </p:txBody>
      </p:sp>
      <p:sp>
        <p:nvSpPr>
          <p:cNvPr id="104451" name="Text Box 2"/>
          <p:cNvSpPr txBox="1">
            <a:spLocks noChangeArrowheads="1"/>
          </p:cNvSpPr>
          <p:nvPr/>
        </p:nvSpPr>
        <p:spPr bwMode="auto">
          <a:xfrm>
            <a:off x="250825" y="1377950"/>
            <a:ext cx="472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4000" b="1">
                <a:solidFill>
                  <a:srgbClr val="A50021"/>
                </a:solidFill>
                <a:ea typeface="楷体_GB2312" pitchFamily="49" charset="-122"/>
              </a:rPr>
              <a:t>入队列算法</a:t>
            </a:r>
          </a:p>
        </p:txBody>
      </p:sp>
      <p:sp>
        <p:nvSpPr>
          <p:cNvPr id="585731" name="Text Box 3"/>
          <p:cNvSpPr txBox="1">
            <a:spLocks noChangeArrowheads="1"/>
          </p:cNvSpPr>
          <p:nvPr/>
        </p:nvSpPr>
        <p:spPr bwMode="auto">
          <a:xfrm>
            <a:off x="384555" y="2156189"/>
            <a:ext cx="819289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pPr>
            <a:r>
              <a:rPr lang="en-US" altLang="zh-CN" b="1" dirty="0">
                <a:ea typeface="楷体_GB2312" pitchFamily="49" charset="-122"/>
              </a:rPr>
              <a:t>Status </a:t>
            </a:r>
            <a:r>
              <a:rPr lang="en-US" altLang="zh-CN" b="1" dirty="0" err="1">
                <a:ea typeface="楷体_GB2312" pitchFamily="49" charset="-122"/>
              </a:rPr>
              <a:t>EnQueue</a:t>
            </a:r>
            <a:r>
              <a:rPr lang="en-US" altLang="zh-CN" b="1" dirty="0">
                <a:ea typeface="楷体_GB2312" pitchFamily="49" charset="-122"/>
              </a:rPr>
              <a:t>(</a:t>
            </a:r>
            <a:r>
              <a:rPr lang="en-US" altLang="zh-CN" b="1" dirty="0" err="1">
                <a:ea typeface="楷体_GB2312" pitchFamily="49" charset="-122"/>
              </a:rPr>
              <a:t>SeQueuetp</a:t>
            </a:r>
            <a:r>
              <a:rPr lang="en-US" altLang="zh-CN" b="1" dirty="0">
                <a:ea typeface="楷体_GB2312" pitchFamily="49" charset="-122"/>
              </a:rPr>
              <a:t>  &amp;Q, </a:t>
            </a:r>
            <a:r>
              <a:rPr lang="en-US" altLang="zh-CN" b="1" dirty="0" err="1">
                <a:ea typeface="楷体_GB2312" pitchFamily="49" charset="-122"/>
              </a:rPr>
              <a:t>elemtype</a:t>
            </a:r>
            <a:r>
              <a:rPr lang="en-US" altLang="zh-CN" b="1" dirty="0">
                <a:ea typeface="楷体_GB2312" pitchFamily="49" charset="-122"/>
              </a:rPr>
              <a:t> x)</a:t>
            </a:r>
          </a:p>
          <a:p>
            <a:pPr eaLnBrk="1" hangingPunct="1">
              <a:spcBef>
                <a:spcPct val="10000"/>
              </a:spcBef>
            </a:pPr>
            <a:r>
              <a:rPr lang="en-US" altLang="zh-CN" b="1" dirty="0">
                <a:ea typeface="楷体_GB2312" pitchFamily="49" charset="-122"/>
              </a:rPr>
              <a:t>{ </a:t>
            </a:r>
          </a:p>
          <a:p>
            <a:pPr eaLnBrk="1" hangingPunct="1">
              <a:spcBef>
                <a:spcPct val="10000"/>
              </a:spcBef>
            </a:pPr>
            <a:r>
              <a:rPr lang="en-US" altLang="zh-CN" b="1" dirty="0">
                <a:ea typeface="楷体_GB2312" pitchFamily="49" charset="-122"/>
              </a:rPr>
              <a:t>     </a:t>
            </a:r>
            <a:r>
              <a:rPr lang="en-US" altLang="zh-CN" b="1" dirty="0" err="1">
                <a:ea typeface="楷体_GB2312" pitchFamily="49" charset="-122"/>
              </a:rPr>
              <a:t>Q.queue</a:t>
            </a:r>
            <a:r>
              <a:rPr lang="en-US" altLang="zh-CN" b="1" dirty="0">
                <a:ea typeface="楷体_GB2312" pitchFamily="49" charset="-122"/>
              </a:rPr>
              <a:t>[</a:t>
            </a:r>
            <a:r>
              <a:rPr lang="en-US" altLang="zh-CN" b="1" dirty="0" err="1">
                <a:ea typeface="楷体_GB2312" pitchFamily="49" charset="-122"/>
              </a:rPr>
              <a:t>Q.rear</a:t>
            </a:r>
            <a:r>
              <a:rPr lang="en-US" altLang="zh-CN" b="1" dirty="0">
                <a:ea typeface="楷体_GB2312" pitchFamily="49" charset="-122"/>
              </a:rPr>
              <a:t>]=x;            </a:t>
            </a:r>
          </a:p>
          <a:p>
            <a:pPr eaLnBrk="1" hangingPunct="1">
              <a:spcBef>
                <a:spcPct val="10000"/>
              </a:spcBef>
            </a:pPr>
            <a:r>
              <a:rPr lang="en-US" altLang="zh-CN" b="1" dirty="0">
                <a:ea typeface="楷体_GB2312" pitchFamily="49" charset="-122"/>
              </a:rPr>
              <a:t>    …</a:t>
            </a:r>
          </a:p>
          <a:p>
            <a:pPr eaLnBrk="1" hangingPunct="1">
              <a:spcBef>
                <a:spcPct val="10000"/>
              </a:spcBef>
            </a:pPr>
            <a:r>
              <a:rPr lang="en-US" altLang="zh-CN" b="1" dirty="0">
                <a:ea typeface="楷体_GB2312" pitchFamily="49" charset="-122"/>
              </a:rPr>
              <a:t>     return  ok;</a:t>
            </a:r>
          </a:p>
          <a:p>
            <a:pPr eaLnBrk="1" hangingPunct="1">
              <a:spcBef>
                <a:spcPct val="10000"/>
              </a:spcBef>
            </a:pPr>
            <a:r>
              <a:rPr lang="en-US" altLang="zh-CN" b="1" dirty="0">
                <a:ea typeface="楷体_GB2312" pitchFamily="49" charset="-122"/>
              </a:rPr>
              <a:t> }</a:t>
            </a:r>
          </a:p>
        </p:txBody>
      </p:sp>
      <p:sp>
        <p:nvSpPr>
          <p:cNvPr id="585732" name="Text Box 4"/>
          <p:cNvSpPr txBox="1">
            <a:spLocks noChangeArrowheads="1"/>
          </p:cNvSpPr>
          <p:nvPr/>
        </p:nvSpPr>
        <p:spPr bwMode="auto">
          <a:xfrm>
            <a:off x="1015241" y="4943637"/>
            <a:ext cx="4230688" cy="519112"/>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rgbClr val="006600"/>
                </a:solidFill>
                <a:ea typeface="楷体_GB2312" pitchFamily="49" charset="-122"/>
              </a:rPr>
              <a:t>//</a:t>
            </a:r>
            <a:r>
              <a:rPr lang="zh-CN" altLang="en-US" sz="2800" b="1" dirty="0">
                <a:solidFill>
                  <a:srgbClr val="006600"/>
                </a:solidFill>
                <a:ea typeface="楷体_GB2312" pitchFamily="49" charset="-122"/>
              </a:rPr>
              <a:t>没有判断队列是否已满</a:t>
            </a:r>
          </a:p>
        </p:txBody>
      </p:sp>
      <p:sp>
        <p:nvSpPr>
          <p:cNvPr id="104454" name="Text Box 5"/>
          <p:cNvSpPr txBox="1">
            <a:spLocks noChangeArrowheads="1"/>
          </p:cNvSpPr>
          <p:nvPr/>
        </p:nvSpPr>
        <p:spPr bwMode="auto">
          <a:xfrm>
            <a:off x="0" y="693738"/>
            <a:ext cx="464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4000" b="1" dirty="0">
                <a:solidFill>
                  <a:srgbClr val="993300"/>
                </a:solidFill>
                <a:latin typeface="楷体_GB2312" pitchFamily="49" charset="-122"/>
                <a:ea typeface="楷体_GB2312" pitchFamily="49" charset="-122"/>
              </a:rPr>
              <a:t>（</a:t>
            </a:r>
            <a:r>
              <a:rPr lang="en-US" altLang="zh-CN" sz="4000" b="1" dirty="0">
                <a:solidFill>
                  <a:srgbClr val="993300"/>
                </a:solidFill>
                <a:latin typeface="楷体_GB2312" pitchFamily="49" charset="-122"/>
                <a:ea typeface="楷体_GB2312" pitchFamily="49" charset="-122"/>
              </a:rPr>
              <a:t>2</a:t>
            </a:r>
            <a:r>
              <a:rPr lang="zh-CN" altLang="en-US" sz="4000" b="1" dirty="0">
                <a:solidFill>
                  <a:srgbClr val="993300"/>
                </a:solidFill>
                <a:latin typeface="楷体_GB2312" pitchFamily="49" charset="-122"/>
                <a:ea typeface="楷体_GB2312" pitchFamily="49" charset="-122"/>
              </a:rPr>
              <a:t>）循环队列</a:t>
            </a:r>
          </a:p>
        </p:txBody>
      </p:sp>
      <p:sp>
        <p:nvSpPr>
          <p:cNvPr id="585735" name="Rectangle 7"/>
          <p:cNvSpPr>
            <a:spLocks noChangeArrowheads="1"/>
          </p:cNvSpPr>
          <p:nvPr/>
        </p:nvSpPr>
        <p:spPr bwMode="auto">
          <a:xfrm>
            <a:off x="903262" y="3791342"/>
            <a:ext cx="5938998" cy="584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10000"/>
              </a:spcBef>
            </a:pPr>
            <a:r>
              <a:rPr lang="en-US" altLang="zh-CN" sz="3200" b="1" dirty="0" err="1">
                <a:solidFill>
                  <a:schemeClr val="hlink"/>
                </a:solidFill>
              </a:rPr>
              <a:t>Q.rear</a:t>
            </a:r>
            <a:r>
              <a:rPr lang="en-US" altLang="zh-CN" sz="3200" b="1" dirty="0">
                <a:solidFill>
                  <a:schemeClr val="hlink"/>
                </a:solidFill>
              </a:rPr>
              <a:t>=(Q.rear+1) % </a:t>
            </a:r>
            <a:r>
              <a:rPr lang="en-US" altLang="zh-CN" sz="3200" b="1" dirty="0" err="1">
                <a:solidFill>
                  <a:schemeClr val="hlink"/>
                </a:solidFill>
              </a:rPr>
              <a:t>maxqsize</a:t>
            </a:r>
            <a:r>
              <a:rPr lang="en-US" altLang="zh-CN" sz="3200" b="1" dirty="0"/>
              <a:t>;</a:t>
            </a:r>
            <a:r>
              <a:rPr lang="en-US" altLang="zh-CN" sz="3200" dirty="0"/>
              <a:t> </a:t>
            </a:r>
          </a:p>
        </p:txBody>
      </p:sp>
    </p:spTree>
    <p:extLst>
      <p:ext uri="{BB962C8B-B14F-4D97-AF65-F5344CB8AC3E}">
        <p14:creationId xmlns:p14="http://schemas.microsoft.com/office/powerpoint/2010/main" val="29884285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85731"/>
                                        </p:tgtEl>
                                        <p:attrNameLst>
                                          <p:attrName>style.visibility</p:attrName>
                                        </p:attrNameLst>
                                      </p:cBhvr>
                                      <p:to>
                                        <p:strVal val="visible"/>
                                      </p:to>
                                    </p:set>
                                    <p:animEffect transition="in" filter="box(in)">
                                      <p:cBhvr>
                                        <p:cTn id="7" dur="500"/>
                                        <p:tgtEl>
                                          <p:spTgt spid="5857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9" presetClass="entr" presetSubtype="10" fill="hold" grpId="0" nodeType="clickEffect">
                                  <p:stCondLst>
                                    <p:cond delay="0"/>
                                  </p:stCondLst>
                                  <p:childTnLst>
                                    <p:set>
                                      <p:cBhvr>
                                        <p:cTn id="11" dur="1" fill="hold">
                                          <p:stCondLst>
                                            <p:cond delay="0"/>
                                          </p:stCondLst>
                                        </p:cTn>
                                        <p:tgtEl>
                                          <p:spTgt spid="585735"/>
                                        </p:tgtEl>
                                        <p:attrNameLst>
                                          <p:attrName>style.visibility</p:attrName>
                                        </p:attrNameLst>
                                      </p:cBhvr>
                                      <p:to>
                                        <p:strVal val="visible"/>
                                      </p:to>
                                    </p:set>
                                    <p:anim calcmode="lin" valueType="num">
                                      <p:cBhvr>
                                        <p:cTn id="12" dur="5000" fill="hold"/>
                                        <p:tgtEl>
                                          <p:spTgt spid="585735"/>
                                        </p:tgtEl>
                                        <p:attrNameLst>
                                          <p:attrName>ppt_w</p:attrName>
                                        </p:attrNameLst>
                                      </p:cBhvr>
                                      <p:tavLst>
                                        <p:tav tm="0" fmla="#ppt_w*sin(2.5*pi*$)">
                                          <p:val>
                                            <p:fltVal val="0"/>
                                          </p:val>
                                        </p:tav>
                                        <p:tav tm="100000">
                                          <p:val>
                                            <p:fltVal val="1"/>
                                          </p:val>
                                        </p:tav>
                                      </p:tavLst>
                                    </p:anim>
                                    <p:anim calcmode="lin" valueType="num">
                                      <p:cBhvr>
                                        <p:cTn id="13" dur="5000" fill="hold"/>
                                        <p:tgtEl>
                                          <p:spTgt spid="585735"/>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85732"/>
                                        </p:tgtEl>
                                        <p:attrNameLst>
                                          <p:attrName>style.visibility</p:attrName>
                                        </p:attrNameLst>
                                      </p:cBhvr>
                                      <p:to>
                                        <p:strVal val="visible"/>
                                      </p:to>
                                    </p:set>
                                    <p:animEffect transition="in" filter="dissolve">
                                      <p:cBhvr>
                                        <p:cTn id="18" dur="500"/>
                                        <p:tgtEl>
                                          <p:spTgt spid="585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p:bldP spid="585732" grpId="0" animBg="1"/>
      <p:bldP spid="585735" grpId="0" animBg="1"/>
    </p:bld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C23F5502-6C2F-48EB-9012-C29805B47A9B}" type="slidenum">
              <a:rPr lang="en-US" altLang="zh-CN" sz="1400"/>
              <a:pPr/>
              <a:t>120</a:t>
            </a:fld>
            <a:endParaRPr lang="en-US" altLang="zh-CN" sz="1400"/>
          </a:p>
        </p:txBody>
      </p:sp>
      <p:sp>
        <p:nvSpPr>
          <p:cNvPr id="105475" name="Text Box 2"/>
          <p:cNvSpPr txBox="1">
            <a:spLocks noChangeArrowheads="1"/>
          </p:cNvSpPr>
          <p:nvPr/>
        </p:nvSpPr>
        <p:spPr bwMode="auto">
          <a:xfrm>
            <a:off x="296863" y="1444487"/>
            <a:ext cx="31051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000" b="1" dirty="0">
                <a:solidFill>
                  <a:srgbClr val="A50021"/>
                </a:solidFill>
                <a:ea typeface="楷体_GB2312" pitchFamily="49" charset="-122"/>
              </a:rPr>
              <a:t>出队列算法</a:t>
            </a:r>
          </a:p>
        </p:txBody>
      </p:sp>
      <p:sp>
        <p:nvSpPr>
          <p:cNvPr id="586755" name="Text Box 3"/>
          <p:cNvSpPr txBox="1">
            <a:spLocks noChangeArrowheads="1"/>
          </p:cNvSpPr>
          <p:nvPr/>
        </p:nvSpPr>
        <p:spPr bwMode="auto">
          <a:xfrm>
            <a:off x="236148" y="2062738"/>
            <a:ext cx="8991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30000"/>
              </a:spcBef>
            </a:pPr>
            <a:r>
              <a:rPr lang="en-US" altLang="zh-CN" b="1" dirty="0">
                <a:ea typeface="楷体_GB2312" pitchFamily="49" charset="-122"/>
              </a:rPr>
              <a:t>Status </a:t>
            </a:r>
            <a:r>
              <a:rPr lang="en-US" altLang="zh-CN" b="1" dirty="0" err="1">
                <a:ea typeface="楷体_GB2312" pitchFamily="49" charset="-122"/>
              </a:rPr>
              <a:t>DeQueue</a:t>
            </a:r>
            <a:r>
              <a:rPr lang="en-US" altLang="zh-CN" b="1" dirty="0">
                <a:ea typeface="楷体_GB2312" pitchFamily="49" charset="-122"/>
              </a:rPr>
              <a:t>(</a:t>
            </a:r>
            <a:r>
              <a:rPr lang="en-US" altLang="zh-CN" b="1" dirty="0" err="1">
                <a:ea typeface="楷体_GB2312" pitchFamily="49" charset="-122"/>
              </a:rPr>
              <a:t>SeQueuetp</a:t>
            </a:r>
            <a:r>
              <a:rPr lang="en-US" altLang="zh-CN" b="1" dirty="0">
                <a:ea typeface="楷体_GB2312" pitchFamily="49" charset="-122"/>
              </a:rPr>
              <a:t>  Q, </a:t>
            </a:r>
            <a:r>
              <a:rPr lang="en-US" altLang="zh-CN" b="1" dirty="0" err="1">
                <a:ea typeface="楷体_GB2312" pitchFamily="49" charset="-122"/>
              </a:rPr>
              <a:t>elemtype</a:t>
            </a:r>
            <a:r>
              <a:rPr lang="en-US" altLang="zh-CN" b="1" dirty="0">
                <a:ea typeface="楷体_GB2312" pitchFamily="49" charset="-122"/>
              </a:rPr>
              <a:t> &amp;e)</a:t>
            </a:r>
          </a:p>
          <a:p>
            <a:pPr eaLnBrk="1" hangingPunct="1">
              <a:spcBef>
                <a:spcPct val="30000"/>
              </a:spcBef>
            </a:pPr>
            <a:r>
              <a:rPr lang="en-US" altLang="zh-CN" b="1" dirty="0">
                <a:ea typeface="楷体_GB2312" pitchFamily="49" charset="-122"/>
              </a:rPr>
              <a:t>     { </a:t>
            </a:r>
          </a:p>
          <a:p>
            <a:pPr eaLnBrk="1" hangingPunct="1">
              <a:spcBef>
                <a:spcPct val="30000"/>
              </a:spcBef>
            </a:pPr>
            <a:r>
              <a:rPr lang="en-US" altLang="zh-CN" b="1" dirty="0">
                <a:ea typeface="楷体_GB2312" pitchFamily="49" charset="-122"/>
              </a:rPr>
              <a:t>        e=</a:t>
            </a:r>
            <a:r>
              <a:rPr lang="en-US" altLang="zh-CN" b="1" dirty="0" err="1">
                <a:ea typeface="楷体_GB2312" pitchFamily="49" charset="-122"/>
              </a:rPr>
              <a:t>Q.queue</a:t>
            </a:r>
            <a:r>
              <a:rPr lang="en-US" altLang="zh-CN" b="1" dirty="0">
                <a:ea typeface="楷体_GB2312" pitchFamily="49" charset="-122"/>
              </a:rPr>
              <a:t>[</a:t>
            </a:r>
            <a:r>
              <a:rPr lang="en-US" altLang="zh-CN" b="1" dirty="0" err="1">
                <a:ea typeface="楷体_GB2312" pitchFamily="49" charset="-122"/>
              </a:rPr>
              <a:t>Q.front</a:t>
            </a:r>
            <a:r>
              <a:rPr lang="en-US" altLang="zh-CN" b="1" dirty="0">
                <a:ea typeface="楷体_GB2312" pitchFamily="49" charset="-122"/>
              </a:rPr>
              <a:t>];</a:t>
            </a:r>
          </a:p>
          <a:p>
            <a:pPr eaLnBrk="1" hangingPunct="1">
              <a:spcBef>
                <a:spcPct val="30000"/>
              </a:spcBef>
            </a:pPr>
            <a:r>
              <a:rPr lang="en-US" altLang="zh-CN" b="1" dirty="0">
                <a:ea typeface="楷体_GB2312" pitchFamily="49" charset="-122"/>
              </a:rPr>
              <a:t>        …</a:t>
            </a:r>
          </a:p>
          <a:p>
            <a:pPr eaLnBrk="1" hangingPunct="1">
              <a:spcBef>
                <a:spcPct val="30000"/>
              </a:spcBef>
            </a:pPr>
            <a:r>
              <a:rPr lang="en-US" altLang="zh-CN" b="1" dirty="0">
                <a:ea typeface="楷体_GB2312" pitchFamily="49" charset="-122"/>
              </a:rPr>
              <a:t>        return  OK;</a:t>
            </a:r>
          </a:p>
          <a:p>
            <a:pPr eaLnBrk="1" hangingPunct="1">
              <a:spcBef>
                <a:spcPct val="30000"/>
              </a:spcBef>
            </a:pPr>
            <a:r>
              <a:rPr lang="en-US" altLang="zh-CN" b="1" dirty="0">
                <a:ea typeface="楷体_GB2312" pitchFamily="49" charset="-122"/>
              </a:rPr>
              <a:t>     }</a:t>
            </a:r>
          </a:p>
        </p:txBody>
      </p:sp>
      <p:sp>
        <p:nvSpPr>
          <p:cNvPr id="586758" name="Text Box 6"/>
          <p:cNvSpPr txBox="1">
            <a:spLocks noChangeArrowheads="1"/>
          </p:cNvSpPr>
          <p:nvPr/>
        </p:nvSpPr>
        <p:spPr bwMode="auto">
          <a:xfrm>
            <a:off x="1106398" y="5319210"/>
            <a:ext cx="4230687" cy="519112"/>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rgbClr val="006600"/>
                </a:solidFill>
                <a:ea typeface="楷体_GB2312" pitchFamily="49" charset="-122"/>
              </a:rPr>
              <a:t>//</a:t>
            </a:r>
            <a:r>
              <a:rPr lang="zh-CN" altLang="en-US" sz="2800" b="1" dirty="0">
                <a:solidFill>
                  <a:srgbClr val="006600"/>
                </a:solidFill>
                <a:ea typeface="楷体_GB2312" pitchFamily="49" charset="-122"/>
              </a:rPr>
              <a:t>没有判断队列是否已空</a:t>
            </a:r>
          </a:p>
        </p:txBody>
      </p:sp>
      <p:sp>
        <p:nvSpPr>
          <p:cNvPr id="586759" name="Rectangle 7"/>
          <p:cNvSpPr>
            <a:spLocks noChangeArrowheads="1"/>
          </p:cNvSpPr>
          <p:nvPr/>
        </p:nvSpPr>
        <p:spPr bwMode="auto">
          <a:xfrm>
            <a:off x="999152" y="4003516"/>
            <a:ext cx="6208303" cy="584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30000"/>
              </a:spcBef>
            </a:pPr>
            <a:r>
              <a:rPr lang="en-US" altLang="zh-CN" sz="3200" b="1" dirty="0" err="1">
                <a:solidFill>
                  <a:schemeClr val="hlink"/>
                </a:solidFill>
              </a:rPr>
              <a:t>Q.front</a:t>
            </a:r>
            <a:r>
              <a:rPr lang="en-US" altLang="zh-CN" sz="3200" b="1" dirty="0">
                <a:solidFill>
                  <a:schemeClr val="hlink"/>
                </a:solidFill>
              </a:rPr>
              <a:t>=(Q.front+1) % </a:t>
            </a:r>
            <a:r>
              <a:rPr lang="en-US" altLang="zh-CN" sz="3200" b="1" dirty="0" err="1">
                <a:solidFill>
                  <a:schemeClr val="hlink"/>
                </a:solidFill>
              </a:rPr>
              <a:t>maxqsize</a:t>
            </a:r>
            <a:r>
              <a:rPr lang="en-US" altLang="zh-CN" sz="3200" b="1" dirty="0"/>
              <a:t>;</a:t>
            </a:r>
            <a:r>
              <a:rPr lang="en-US" altLang="zh-CN" sz="3200" dirty="0"/>
              <a:t> </a:t>
            </a:r>
          </a:p>
        </p:txBody>
      </p:sp>
      <p:sp>
        <p:nvSpPr>
          <p:cNvPr id="7" name="Text Box 5"/>
          <p:cNvSpPr txBox="1">
            <a:spLocks noChangeArrowheads="1"/>
          </p:cNvSpPr>
          <p:nvPr/>
        </p:nvSpPr>
        <p:spPr bwMode="auto">
          <a:xfrm>
            <a:off x="0" y="693738"/>
            <a:ext cx="464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4000" b="1" dirty="0">
                <a:solidFill>
                  <a:srgbClr val="993300"/>
                </a:solidFill>
                <a:latin typeface="楷体_GB2312" pitchFamily="49" charset="-122"/>
                <a:ea typeface="楷体_GB2312" pitchFamily="49" charset="-122"/>
              </a:rPr>
              <a:t>（</a:t>
            </a:r>
            <a:r>
              <a:rPr lang="en-US" altLang="zh-CN" sz="4000" b="1" dirty="0">
                <a:solidFill>
                  <a:srgbClr val="993300"/>
                </a:solidFill>
                <a:latin typeface="楷体_GB2312" pitchFamily="49" charset="-122"/>
                <a:ea typeface="楷体_GB2312" pitchFamily="49" charset="-122"/>
              </a:rPr>
              <a:t>2</a:t>
            </a:r>
            <a:r>
              <a:rPr lang="zh-CN" altLang="en-US" sz="4000" b="1" dirty="0">
                <a:solidFill>
                  <a:srgbClr val="993300"/>
                </a:solidFill>
                <a:latin typeface="楷体_GB2312" pitchFamily="49" charset="-122"/>
                <a:ea typeface="楷体_GB2312" pitchFamily="49" charset="-122"/>
              </a:rPr>
              <a:t>）循环队列</a:t>
            </a:r>
          </a:p>
        </p:txBody>
      </p:sp>
    </p:spTree>
    <p:extLst>
      <p:ext uri="{BB962C8B-B14F-4D97-AF65-F5344CB8AC3E}">
        <p14:creationId xmlns:p14="http://schemas.microsoft.com/office/powerpoint/2010/main" val="4017764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6755"/>
                                        </p:tgtEl>
                                        <p:attrNameLst>
                                          <p:attrName>style.visibility</p:attrName>
                                        </p:attrNameLst>
                                      </p:cBhvr>
                                      <p:to>
                                        <p:strVal val="visible"/>
                                      </p:to>
                                    </p:set>
                                    <p:animEffect transition="in" filter="dissolve">
                                      <p:cBhvr>
                                        <p:cTn id="7" dur="500"/>
                                        <p:tgtEl>
                                          <p:spTgt spid="5867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9" presetClass="entr" presetSubtype="10" fill="hold" grpId="0" nodeType="clickEffect">
                                  <p:stCondLst>
                                    <p:cond delay="0"/>
                                  </p:stCondLst>
                                  <p:childTnLst>
                                    <p:set>
                                      <p:cBhvr>
                                        <p:cTn id="11" dur="1" fill="hold">
                                          <p:stCondLst>
                                            <p:cond delay="0"/>
                                          </p:stCondLst>
                                        </p:cTn>
                                        <p:tgtEl>
                                          <p:spTgt spid="586759"/>
                                        </p:tgtEl>
                                        <p:attrNameLst>
                                          <p:attrName>style.visibility</p:attrName>
                                        </p:attrNameLst>
                                      </p:cBhvr>
                                      <p:to>
                                        <p:strVal val="visible"/>
                                      </p:to>
                                    </p:set>
                                    <p:anim calcmode="lin" valueType="num">
                                      <p:cBhvr>
                                        <p:cTn id="12" dur="5000" fill="hold"/>
                                        <p:tgtEl>
                                          <p:spTgt spid="586759"/>
                                        </p:tgtEl>
                                        <p:attrNameLst>
                                          <p:attrName>ppt_w</p:attrName>
                                        </p:attrNameLst>
                                      </p:cBhvr>
                                      <p:tavLst>
                                        <p:tav tm="0" fmla="#ppt_w*sin(2.5*pi*$)">
                                          <p:val>
                                            <p:fltVal val="0"/>
                                          </p:val>
                                        </p:tav>
                                        <p:tav tm="100000">
                                          <p:val>
                                            <p:fltVal val="1"/>
                                          </p:val>
                                        </p:tav>
                                      </p:tavLst>
                                    </p:anim>
                                    <p:anim calcmode="lin" valueType="num">
                                      <p:cBhvr>
                                        <p:cTn id="13" dur="5000" fill="hold"/>
                                        <p:tgtEl>
                                          <p:spTgt spid="586759"/>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86758"/>
                                        </p:tgtEl>
                                        <p:attrNameLst>
                                          <p:attrName>style.visibility</p:attrName>
                                        </p:attrNameLst>
                                      </p:cBhvr>
                                      <p:to>
                                        <p:strVal val="visible"/>
                                      </p:to>
                                    </p:set>
                                    <p:animEffect transition="in" filter="dissolve">
                                      <p:cBhvr>
                                        <p:cTn id="18" dur="500"/>
                                        <p:tgtEl>
                                          <p:spTgt spid="586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5" grpId="0"/>
      <p:bldP spid="586758" grpId="0" animBg="1"/>
      <p:bldP spid="586759" grpId="0" animBg="1"/>
    </p:bld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BF8A08B-26E7-4F4E-8B6B-A94B0388E8D7}" type="slidenum">
              <a:rPr lang="en-US" altLang="zh-CN" sz="1400"/>
              <a:pPr/>
              <a:t>121</a:t>
            </a:fld>
            <a:endParaRPr lang="en-US" altLang="zh-CN" sz="1400"/>
          </a:p>
        </p:txBody>
      </p:sp>
      <p:sp>
        <p:nvSpPr>
          <p:cNvPr id="106499" name="Oval 2"/>
          <p:cNvSpPr>
            <a:spLocks noChangeArrowheads="1"/>
          </p:cNvSpPr>
          <p:nvPr/>
        </p:nvSpPr>
        <p:spPr bwMode="auto">
          <a:xfrm>
            <a:off x="1344613" y="2327275"/>
            <a:ext cx="1481137" cy="14557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00" name="Oval 3"/>
          <p:cNvSpPr>
            <a:spLocks noChangeArrowheads="1"/>
          </p:cNvSpPr>
          <p:nvPr/>
        </p:nvSpPr>
        <p:spPr bwMode="auto">
          <a:xfrm>
            <a:off x="1771650" y="2776538"/>
            <a:ext cx="609600" cy="609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01" name="Line 4"/>
          <p:cNvSpPr>
            <a:spLocks noChangeShapeType="1"/>
          </p:cNvSpPr>
          <p:nvPr/>
        </p:nvSpPr>
        <p:spPr bwMode="auto">
          <a:xfrm>
            <a:off x="1323975" y="3062288"/>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2" name="Line 5"/>
          <p:cNvSpPr>
            <a:spLocks noChangeShapeType="1"/>
          </p:cNvSpPr>
          <p:nvPr/>
        </p:nvSpPr>
        <p:spPr bwMode="auto">
          <a:xfrm>
            <a:off x="2381250" y="306705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3" name="Line 6"/>
          <p:cNvSpPr>
            <a:spLocks noChangeShapeType="1"/>
          </p:cNvSpPr>
          <p:nvPr/>
        </p:nvSpPr>
        <p:spPr bwMode="auto">
          <a:xfrm>
            <a:off x="1676400" y="2438400"/>
            <a:ext cx="228600"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4" name="Line 7"/>
          <p:cNvSpPr>
            <a:spLocks noChangeShapeType="1"/>
          </p:cNvSpPr>
          <p:nvPr/>
        </p:nvSpPr>
        <p:spPr bwMode="auto">
          <a:xfrm flipH="1">
            <a:off x="2257425" y="2452688"/>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5" name="Line 8"/>
          <p:cNvSpPr>
            <a:spLocks noChangeShapeType="1"/>
          </p:cNvSpPr>
          <p:nvPr/>
        </p:nvSpPr>
        <p:spPr bwMode="auto">
          <a:xfrm flipH="1">
            <a:off x="1704975" y="3338513"/>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6" name="Line 9"/>
          <p:cNvSpPr>
            <a:spLocks noChangeShapeType="1"/>
          </p:cNvSpPr>
          <p:nvPr/>
        </p:nvSpPr>
        <p:spPr bwMode="auto">
          <a:xfrm>
            <a:off x="2243138" y="3324225"/>
            <a:ext cx="228600"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07" name="Text Box 10"/>
          <p:cNvSpPr txBox="1">
            <a:spLocks noChangeArrowheads="1"/>
          </p:cNvSpPr>
          <p:nvPr/>
        </p:nvSpPr>
        <p:spPr bwMode="auto">
          <a:xfrm>
            <a:off x="1371600" y="2590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J5</a:t>
            </a:r>
          </a:p>
        </p:txBody>
      </p:sp>
      <p:sp>
        <p:nvSpPr>
          <p:cNvPr id="106508" name="Text Box 11"/>
          <p:cNvSpPr txBox="1">
            <a:spLocks noChangeArrowheads="1"/>
          </p:cNvSpPr>
          <p:nvPr/>
        </p:nvSpPr>
        <p:spPr bwMode="auto">
          <a:xfrm>
            <a:off x="1828800" y="23622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J6</a:t>
            </a:r>
          </a:p>
        </p:txBody>
      </p:sp>
      <p:sp>
        <p:nvSpPr>
          <p:cNvPr id="106509" name="Text Box 12"/>
          <p:cNvSpPr txBox="1">
            <a:spLocks noChangeArrowheads="1"/>
          </p:cNvSpPr>
          <p:nvPr/>
        </p:nvSpPr>
        <p:spPr bwMode="auto">
          <a:xfrm>
            <a:off x="1371600" y="31242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J4</a:t>
            </a:r>
          </a:p>
        </p:txBody>
      </p:sp>
      <p:sp>
        <p:nvSpPr>
          <p:cNvPr id="106510" name="Rectangle 32"/>
          <p:cNvSpPr>
            <a:spLocks noChangeArrowheads="1"/>
          </p:cNvSpPr>
          <p:nvPr/>
        </p:nvSpPr>
        <p:spPr bwMode="auto">
          <a:xfrm>
            <a:off x="823913" y="3429000"/>
            <a:ext cx="304800" cy="228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11" name="Line 33"/>
          <p:cNvSpPr>
            <a:spLocks noChangeShapeType="1"/>
          </p:cNvSpPr>
          <p:nvPr/>
        </p:nvSpPr>
        <p:spPr bwMode="auto">
          <a:xfrm flipV="1">
            <a:off x="976313" y="3276600"/>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12" name="Rectangle 34"/>
          <p:cNvSpPr>
            <a:spLocks noChangeArrowheads="1"/>
          </p:cNvSpPr>
          <p:nvPr/>
        </p:nvSpPr>
        <p:spPr bwMode="auto">
          <a:xfrm>
            <a:off x="366713" y="3733800"/>
            <a:ext cx="1157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Q.front</a:t>
            </a:r>
          </a:p>
        </p:txBody>
      </p:sp>
      <p:sp>
        <p:nvSpPr>
          <p:cNvPr id="106513" name="Rectangle 35"/>
          <p:cNvSpPr>
            <a:spLocks noChangeArrowheads="1"/>
          </p:cNvSpPr>
          <p:nvPr/>
        </p:nvSpPr>
        <p:spPr bwMode="auto">
          <a:xfrm>
            <a:off x="2971800" y="2133600"/>
            <a:ext cx="304800" cy="228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14" name="Line 36"/>
          <p:cNvSpPr>
            <a:spLocks noChangeShapeType="1"/>
          </p:cNvSpPr>
          <p:nvPr/>
        </p:nvSpPr>
        <p:spPr bwMode="auto">
          <a:xfrm flipH="1">
            <a:off x="2667000" y="2209800"/>
            <a:ext cx="457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15" name="Rectangle 37"/>
          <p:cNvSpPr>
            <a:spLocks noChangeArrowheads="1"/>
          </p:cNvSpPr>
          <p:nvPr/>
        </p:nvSpPr>
        <p:spPr bwMode="auto">
          <a:xfrm>
            <a:off x="2362200" y="1676400"/>
            <a:ext cx="105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Q.rear</a:t>
            </a:r>
          </a:p>
        </p:txBody>
      </p:sp>
      <p:sp>
        <p:nvSpPr>
          <p:cNvPr id="106516" name="Text Box 53"/>
          <p:cNvSpPr txBox="1">
            <a:spLocks noChangeArrowheads="1"/>
          </p:cNvSpPr>
          <p:nvPr/>
        </p:nvSpPr>
        <p:spPr bwMode="auto">
          <a:xfrm>
            <a:off x="1066800" y="495300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800" b="1"/>
              <a:t>一般情况</a:t>
            </a:r>
          </a:p>
        </p:txBody>
      </p:sp>
      <p:sp>
        <p:nvSpPr>
          <p:cNvPr id="587830" name="Text Box 54"/>
          <p:cNvSpPr txBox="1">
            <a:spLocks noChangeArrowheads="1"/>
          </p:cNvSpPr>
          <p:nvPr/>
        </p:nvSpPr>
        <p:spPr bwMode="auto">
          <a:xfrm>
            <a:off x="3041650" y="4959350"/>
            <a:ext cx="3105150"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2800" b="1"/>
              <a:t>队列满</a:t>
            </a:r>
          </a:p>
          <a:p>
            <a:pPr eaLnBrk="1" hangingPunct="1">
              <a:spcBef>
                <a:spcPct val="50000"/>
              </a:spcBef>
            </a:pPr>
            <a:r>
              <a:rPr lang="en-US" altLang="zh-CN" b="1">
                <a:solidFill>
                  <a:schemeClr val="hlink"/>
                </a:solidFill>
              </a:rPr>
              <a:t>Q.front= Q.rear</a:t>
            </a:r>
          </a:p>
        </p:txBody>
      </p:sp>
      <p:sp>
        <p:nvSpPr>
          <p:cNvPr id="587831" name="Text Box 55"/>
          <p:cNvSpPr txBox="1">
            <a:spLocks noChangeArrowheads="1"/>
          </p:cNvSpPr>
          <p:nvPr/>
        </p:nvSpPr>
        <p:spPr bwMode="auto">
          <a:xfrm>
            <a:off x="6057900" y="4953000"/>
            <a:ext cx="3086100"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2800" b="1"/>
              <a:t>队列空</a:t>
            </a:r>
          </a:p>
          <a:p>
            <a:pPr eaLnBrk="1" hangingPunct="1">
              <a:spcBef>
                <a:spcPct val="50000"/>
              </a:spcBef>
            </a:pPr>
            <a:r>
              <a:rPr lang="en-US" altLang="zh-CN" b="1">
                <a:solidFill>
                  <a:schemeClr val="hlink"/>
                </a:solidFill>
              </a:rPr>
              <a:t>Q.front= Q.rear</a:t>
            </a:r>
            <a:endParaRPr lang="en-US" altLang="zh-CN" b="1"/>
          </a:p>
        </p:txBody>
      </p:sp>
      <p:sp>
        <p:nvSpPr>
          <p:cNvPr id="106519" name="Text Box 56"/>
          <p:cNvSpPr txBox="1">
            <a:spLocks noChangeArrowheads="1"/>
          </p:cNvSpPr>
          <p:nvPr/>
        </p:nvSpPr>
        <p:spPr bwMode="auto">
          <a:xfrm>
            <a:off x="296863" y="368300"/>
            <a:ext cx="868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4000" b="1" dirty="0">
                <a:solidFill>
                  <a:srgbClr val="A50021"/>
                </a:solidFill>
                <a:ea typeface="楷体_GB2312" pitchFamily="49" charset="-122"/>
              </a:rPr>
              <a:t>在循环队列中如何判定队满和队空？</a:t>
            </a:r>
          </a:p>
        </p:txBody>
      </p:sp>
      <p:grpSp>
        <p:nvGrpSpPr>
          <p:cNvPr id="587853" name="Group 77"/>
          <p:cNvGrpSpPr>
            <a:grpSpLocks/>
          </p:cNvGrpSpPr>
          <p:nvPr/>
        </p:nvGrpSpPr>
        <p:grpSpPr bwMode="auto">
          <a:xfrm>
            <a:off x="2743200" y="2403475"/>
            <a:ext cx="2895600" cy="2320925"/>
            <a:chOff x="1728" y="1514"/>
            <a:chExt cx="1824" cy="1462"/>
          </a:xfrm>
        </p:grpSpPr>
        <p:sp>
          <p:nvSpPr>
            <p:cNvPr id="106536" name="Oval 57"/>
            <p:cNvSpPr>
              <a:spLocks noChangeArrowheads="1"/>
            </p:cNvSpPr>
            <p:nvPr/>
          </p:nvSpPr>
          <p:spPr bwMode="auto">
            <a:xfrm>
              <a:off x="2509" y="1514"/>
              <a:ext cx="933" cy="9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37" name="Oval 58"/>
            <p:cNvSpPr>
              <a:spLocks noChangeArrowheads="1"/>
            </p:cNvSpPr>
            <p:nvPr/>
          </p:nvSpPr>
          <p:spPr bwMode="auto">
            <a:xfrm>
              <a:off x="2778" y="1797"/>
              <a:ext cx="384" cy="38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38" name="Line 59"/>
            <p:cNvSpPr>
              <a:spLocks noChangeShapeType="1"/>
            </p:cNvSpPr>
            <p:nvPr/>
          </p:nvSpPr>
          <p:spPr bwMode="auto">
            <a:xfrm>
              <a:off x="2496" y="1977"/>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39" name="Line 60"/>
            <p:cNvSpPr>
              <a:spLocks noChangeShapeType="1"/>
            </p:cNvSpPr>
            <p:nvPr/>
          </p:nvSpPr>
          <p:spPr bwMode="auto">
            <a:xfrm>
              <a:off x="3162" y="198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40" name="Line 61"/>
            <p:cNvSpPr>
              <a:spLocks noChangeShapeType="1"/>
            </p:cNvSpPr>
            <p:nvPr/>
          </p:nvSpPr>
          <p:spPr bwMode="auto">
            <a:xfrm>
              <a:off x="2718" y="1584"/>
              <a:ext cx="144" cy="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41" name="Line 62"/>
            <p:cNvSpPr>
              <a:spLocks noChangeShapeType="1"/>
            </p:cNvSpPr>
            <p:nvPr/>
          </p:nvSpPr>
          <p:spPr bwMode="auto">
            <a:xfrm flipH="1">
              <a:off x="3084" y="1593"/>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42" name="Line 63"/>
            <p:cNvSpPr>
              <a:spLocks noChangeShapeType="1"/>
            </p:cNvSpPr>
            <p:nvPr/>
          </p:nvSpPr>
          <p:spPr bwMode="auto">
            <a:xfrm flipH="1">
              <a:off x="2736" y="2151"/>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43" name="Line 64"/>
            <p:cNvSpPr>
              <a:spLocks noChangeShapeType="1"/>
            </p:cNvSpPr>
            <p:nvPr/>
          </p:nvSpPr>
          <p:spPr bwMode="auto">
            <a:xfrm>
              <a:off x="3075" y="2142"/>
              <a:ext cx="144" cy="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44" name="Text Box 65"/>
            <p:cNvSpPr txBox="1">
              <a:spLocks noChangeArrowheads="1"/>
            </p:cNvSpPr>
            <p:nvPr/>
          </p:nvSpPr>
          <p:spPr bwMode="auto">
            <a:xfrm>
              <a:off x="2526" y="168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J5</a:t>
              </a:r>
            </a:p>
          </p:txBody>
        </p:sp>
        <p:sp>
          <p:nvSpPr>
            <p:cNvPr id="106545" name="Text Box 66"/>
            <p:cNvSpPr txBox="1">
              <a:spLocks noChangeArrowheads="1"/>
            </p:cNvSpPr>
            <p:nvPr/>
          </p:nvSpPr>
          <p:spPr bwMode="auto">
            <a:xfrm>
              <a:off x="2814" y="153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J6</a:t>
              </a:r>
            </a:p>
          </p:txBody>
        </p:sp>
        <p:sp>
          <p:nvSpPr>
            <p:cNvPr id="106546" name="Text Box 67"/>
            <p:cNvSpPr txBox="1">
              <a:spLocks noChangeArrowheads="1"/>
            </p:cNvSpPr>
            <p:nvPr/>
          </p:nvSpPr>
          <p:spPr bwMode="auto">
            <a:xfrm>
              <a:off x="3120" y="168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J7</a:t>
              </a:r>
            </a:p>
          </p:txBody>
        </p:sp>
        <p:sp>
          <p:nvSpPr>
            <p:cNvPr id="106547" name="Text Box 68"/>
            <p:cNvSpPr txBox="1">
              <a:spLocks noChangeArrowheads="1"/>
            </p:cNvSpPr>
            <p:nvPr/>
          </p:nvSpPr>
          <p:spPr bwMode="auto">
            <a:xfrm>
              <a:off x="3099"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J8</a:t>
              </a:r>
            </a:p>
          </p:txBody>
        </p:sp>
        <p:sp>
          <p:nvSpPr>
            <p:cNvPr id="106548" name="Text Box 69"/>
            <p:cNvSpPr txBox="1">
              <a:spLocks noChangeArrowheads="1"/>
            </p:cNvSpPr>
            <p:nvPr/>
          </p:nvSpPr>
          <p:spPr bwMode="auto">
            <a:xfrm>
              <a:off x="2826" y="216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J9</a:t>
              </a:r>
            </a:p>
          </p:txBody>
        </p:sp>
        <p:sp>
          <p:nvSpPr>
            <p:cNvPr id="106549" name="Text Box 70"/>
            <p:cNvSpPr txBox="1">
              <a:spLocks noChangeArrowheads="1"/>
            </p:cNvSpPr>
            <p:nvPr/>
          </p:nvSpPr>
          <p:spPr bwMode="auto">
            <a:xfrm>
              <a:off x="2529" y="1971"/>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b="1"/>
                <a:t>J4</a:t>
              </a:r>
            </a:p>
          </p:txBody>
        </p:sp>
        <p:sp>
          <p:nvSpPr>
            <p:cNvPr id="106550" name="Rectangle 71"/>
            <p:cNvSpPr>
              <a:spLocks noChangeArrowheads="1"/>
            </p:cNvSpPr>
            <p:nvPr/>
          </p:nvSpPr>
          <p:spPr bwMode="auto">
            <a:xfrm>
              <a:off x="2148" y="2199"/>
              <a:ext cx="19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51" name="Line 72"/>
            <p:cNvSpPr>
              <a:spLocks noChangeShapeType="1"/>
            </p:cNvSpPr>
            <p:nvPr/>
          </p:nvSpPr>
          <p:spPr bwMode="auto">
            <a:xfrm flipV="1">
              <a:off x="2244" y="2103"/>
              <a:ext cx="24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52" name="Rectangle 73"/>
            <p:cNvSpPr>
              <a:spLocks noChangeArrowheads="1"/>
            </p:cNvSpPr>
            <p:nvPr/>
          </p:nvSpPr>
          <p:spPr bwMode="auto">
            <a:xfrm>
              <a:off x="1728" y="2352"/>
              <a:ext cx="7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Q.front</a:t>
              </a:r>
            </a:p>
          </p:txBody>
        </p:sp>
        <p:sp>
          <p:nvSpPr>
            <p:cNvPr id="106553" name="Rectangle 74"/>
            <p:cNvSpPr>
              <a:spLocks noChangeArrowheads="1"/>
            </p:cNvSpPr>
            <p:nvPr/>
          </p:nvSpPr>
          <p:spPr bwMode="auto">
            <a:xfrm>
              <a:off x="2448" y="2544"/>
              <a:ext cx="19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54" name="Line 75"/>
            <p:cNvSpPr>
              <a:spLocks noChangeShapeType="1"/>
            </p:cNvSpPr>
            <p:nvPr/>
          </p:nvSpPr>
          <p:spPr bwMode="auto">
            <a:xfrm flipV="1">
              <a:off x="2544" y="2304"/>
              <a:ext cx="96"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55" name="Rectangle 76"/>
            <p:cNvSpPr>
              <a:spLocks noChangeArrowheads="1"/>
            </p:cNvSpPr>
            <p:nvPr/>
          </p:nvSpPr>
          <p:spPr bwMode="auto">
            <a:xfrm>
              <a:off x="2112" y="2688"/>
              <a:ext cx="6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Q.rear</a:t>
              </a:r>
            </a:p>
          </p:txBody>
        </p:sp>
      </p:grpSp>
      <p:grpSp>
        <p:nvGrpSpPr>
          <p:cNvPr id="587868" name="Group 92"/>
          <p:cNvGrpSpPr>
            <a:grpSpLocks/>
          </p:cNvGrpSpPr>
          <p:nvPr/>
        </p:nvGrpSpPr>
        <p:grpSpPr bwMode="auto">
          <a:xfrm>
            <a:off x="6532563" y="1600200"/>
            <a:ext cx="2611437" cy="2217738"/>
            <a:chOff x="4115" y="1008"/>
            <a:chExt cx="1645" cy="1397"/>
          </a:xfrm>
        </p:grpSpPr>
        <p:sp>
          <p:nvSpPr>
            <p:cNvPr id="106522" name="Oval 78"/>
            <p:cNvSpPr>
              <a:spLocks noChangeArrowheads="1"/>
            </p:cNvSpPr>
            <p:nvPr/>
          </p:nvSpPr>
          <p:spPr bwMode="auto">
            <a:xfrm>
              <a:off x="4128" y="1488"/>
              <a:ext cx="933" cy="9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23" name="Oval 79"/>
            <p:cNvSpPr>
              <a:spLocks noChangeArrowheads="1"/>
            </p:cNvSpPr>
            <p:nvPr/>
          </p:nvSpPr>
          <p:spPr bwMode="auto">
            <a:xfrm>
              <a:off x="4397" y="1771"/>
              <a:ext cx="384" cy="38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24" name="Line 80"/>
            <p:cNvSpPr>
              <a:spLocks noChangeShapeType="1"/>
            </p:cNvSpPr>
            <p:nvPr/>
          </p:nvSpPr>
          <p:spPr bwMode="auto">
            <a:xfrm>
              <a:off x="4115" y="1951"/>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25" name="Line 81"/>
            <p:cNvSpPr>
              <a:spLocks noChangeShapeType="1"/>
            </p:cNvSpPr>
            <p:nvPr/>
          </p:nvSpPr>
          <p:spPr bwMode="auto">
            <a:xfrm>
              <a:off x="4781" y="195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26" name="Line 82"/>
            <p:cNvSpPr>
              <a:spLocks noChangeShapeType="1"/>
            </p:cNvSpPr>
            <p:nvPr/>
          </p:nvSpPr>
          <p:spPr bwMode="auto">
            <a:xfrm>
              <a:off x="4337" y="1558"/>
              <a:ext cx="144" cy="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27" name="Line 83"/>
            <p:cNvSpPr>
              <a:spLocks noChangeShapeType="1"/>
            </p:cNvSpPr>
            <p:nvPr/>
          </p:nvSpPr>
          <p:spPr bwMode="auto">
            <a:xfrm flipH="1">
              <a:off x="4703" y="1567"/>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28" name="Line 84"/>
            <p:cNvSpPr>
              <a:spLocks noChangeShapeType="1"/>
            </p:cNvSpPr>
            <p:nvPr/>
          </p:nvSpPr>
          <p:spPr bwMode="auto">
            <a:xfrm flipH="1">
              <a:off x="4355" y="2125"/>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29" name="Line 85"/>
            <p:cNvSpPr>
              <a:spLocks noChangeShapeType="1"/>
            </p:cNvSpPr>
            <p:nvPr/>
          </p:nvSpPr>
          <p:spPr bwMode="auto">
            <a:xfrm>
              <a:off x="4694" y="2116"/>
              <a:ext cx="144" cy="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30" name="Rectangle 86"/>
            <p:cNvSpPr>
              <a:spLocks noChangeArrowheads="1"/>
            </p:cNvSpPr>
            <p:nvPr/>
          </p:nvSpPr>
          <p:spPr bwMode="auto">
            <a:xfrm>
              <a:off x="5031" y="1248"/>
              <a:ext cx="19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31" name="Rectangle 87"/>
            <p:cNvSpPr>
              <a:spLocks noChangeArrowheads="1"/>
            </p:cNvSpPr>
            <p:nvPr/>
          </p:nvSpPr>
          <p:spPr bwMode="auto">
            <a:xfrm>
              <a:off x="4695" y="1008"/>
              <a:ext cx="7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Q.front</a:t>
              </a:r>
            </a:p>
          </p:txBody>
        </p:sp>
        <p:sp>
          <p:nvSpPr>
            <p:cNvPr id="106532" name="Rectangle 88"/>
            <p:cNvSpPr>
              <a:spLocks noChangeArrowheads="1"/>
            </p:cNvSpPr>
            <p:nvPr/>
          </p:nvSpPr>
          <p:spPr bwMode="auto">
            <a:xfrm>
              <a:off x="5328" y="1680"/>
              <a:ext cx="192"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06533" name="Rectangle 89"/>
            <p:cNvSpPr>
              <a:spLocks noChangeArrowheads="1"/>
            </p:cNvSpPr>
            <p:nvPr/>
          </p:nvSpPr>
          <p:spPr bwMode="auto">
            <a:xfrm>
              <a:off x="5096" y="1392"/>
              <a:ext cx="6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b="1"/>
                <a:t>Q.rear</a:t>
              </a:r>
            </a:p>
          </p:txBody>
        </p:sp>
        <p:sp>
          <p:nvSpPr>
            <p:cNvPr id="106534" name="Line 90"/>
            <p:cNvSpPr>
              <a:spLocks noChangeShapeType="1"/>
            </p:cNvSpPr>
            <p:nvPr/>
          </p:nvSpPr>
          <p:spPr bwMode="auto">
            <a:xfrm flipH="1">
              <a:off x="5088" y="1776"/>
              <a:ext cx="33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535" name="Line 91"/>
            <p:cNvSpPr>
              <a:spLocks noChangeShapeType="1"/>
            </p:cNvSpPr>
            <p:nvPr/>
          </p:nvSpPr>
          <p:spPr bwMode="auto">
            <a:xfrm flipH="1">
              <a:off x="4944" y="1296"/>
              <a:ext cx="19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115901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7853"/>
                                        </p:tgtEl>
                                        <p:attrNameLst>
                                          <p:attrName>style.visibility</p:attrName>
                                        </p:attrNameLst>
                                      </p:cBhvr>
                                      <p:to>
                                        <p:strVal val="visible"/>
                                      </p:to>
                                    </p:set>
                                    <p:animEffect transition="in" filter="dissolve">
                                      <p:cBhvr>
                                        <p:cTn id="7" dur="500"/>
                                        <p:tgtEl>
                                          <p:spTgt spid="587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587830"/>
                                        </p:tgtEl>
                                        <p:attrNameLst>
                                          <p:attrName>style.visibility</p:attrName>
                                        </p:attrNameLst>
                                      </p:cBhvr>
                                      <p:to>
                                        <p:strVal val="visible"/>
                                      </p:to>
                                    </p:set>
                                    <p:anim calcmode="lin" valueType="num">
                                      <p:cBhvr>
                                        <p:cTn id="12" dur="1000" fill="hold"/>
                                        <p:tgtEl>
                                          <p:spTgt spid="587830"/>
                                        </p:tgtEl>
                                        <p:attrNameLst>
                                          <p:attrName>ppt_w</p:attrName>
                                        </p:attrNameLst>
                                      </p:cBhvr>
                                      <p:tavLst>
                                        <p:tav tm="0">
                                          <p:val>
                                            <p:fltVal val="0"/>
                                          </p:val>
                                        </p:tav>
                                        <p:tav tm="100000">
                                          <p:val>
                                            <p:strVal val="#ppt_w"/>
                                          </p:val>
                                        </p:tav>
                                      </p:tavLst>
                                    </p:anim>
                                    <p:anim calcmode="lin" valueType="num">
                                      <p:cBhvr>
                                        <p:cTn id="13" dur="1000" fill="hold"/>
                                        <p:tgtEl>
                                          <p:spTgt spid="587830"/>
                                        </p:tgtEl>
                                        <p:attrNameLst>
                                          <p:attrName>ppt_h</p:attrName>
                                        </p:attrNameLst>
                                      </p:cBhvr>
                                      <p:tavLst>
                                        <p:tav tm="0">
                                          <p:val>
                                            <p:fltVal val="0"/>
                                          </p:val>
                                        </p:tav>
                                        <p:tav tm="100000">
                                          <p:val>
                                            <p:strVal val="#ppt_h"/>
                                          </p:val>
                                        </p:tav>
                                      </p:tavLst>
                                    </p:anim>
                                    <p:anim calcmode="lin" valueType="num">
                                      <p:cBhvr>
                                        <p:cTn id="14" dur="1000" fill="hold"/>
                                        <p:tgtEl>
                                          <p:spTgt spid="587830"/>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58783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587868"/>
                                        </p:tgtEl>
                                        <p:attrNameLst>
                                          <p:attrName>style.visibility</p:attrName>
                                        </p:attrNameLst>
                                      </p:cBhvr>
                                      <p:to>
                                        <p:strVal val="visible"/>
                                      </p:to>
                                    </p:set>
                                    <p:animEffect transition="in" filter="dissolve">
                                      <p:cBhvr>
                                        <p:cTn id="20" dur="500"/>
                                        <p:tgtEl>
                                          <p:spTgt spid="5878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7831"/>
                                        </p:tgtEl>
                                        <p:attrNameLst>
                                          <p:attrName>style.visibility</p:attrName>
                                        </p:attrNameLst>
                                      </p:cBhvr>
                                      <p:to>
                                        <p:strVal val="visible"/>
                                      </p:to>
                                    </p:set>
                                    <p:anim calcmode="lin" valueType="num">
                                      <p:cBhvr additive="base">
                                        <p:cTn id="25" dur="500" fill="hold"/>
                                        <p:tgtEl>
                                          <p:spTgt spid="587831"/>
                                        </p:tgtEl>
                                        <p:attrNameLst>
                                          <p:attrName>ppt_x</p:attrName>
                                        </p:attrNameLst>
                                      </p:cBhvr>
                                      <p:tavLst>
                                        <p:tav tm="0">
                                          <p:val>
                                            <p:strVal val="#ppt_x"/>
                                          </p:val>
                                        </p:tav>
                                        <p:tav tm="100000">
                                          <p:val>
                                            <p:strVal val="#ppt_x"/>
                                          </p:val>
                                        </p:tav>
                                      </p:tavLst>
                                    </p:anim>
                                    <p:anim calcmode="lin" valueType="num">
                                      <p:cBhvr additive="base">
                                        <p:cTn id="26" dur="500" fill="hold"/>
                                        <p:tgtEl>
                                          <p:spTgt spid="5878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830" grpId="0"/>
      <p:bldP spid="587831" grpId="0"/>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05BBD54-A658-49AB-8962-4D475BCA1207}" type="slidenum">
              <a:rPr lang="en-US" altLang="zh-CN" sz="1400"/>
              <a:pPr/>
              <a:t>122</a:t>
            </a:fld>
            <a:endParaRPr lang="en-US" altLang="zh-CN" sz="1400"/>
          </a:p>
        </p:txBody>
      </p:sp>
      <p:sp>
        <p:nvSpPr>
          <p:cNvPr id="588802" name="Text Box 2"/>
          <p:cNvSpPr txBox="1">
            <a:spLocks noChangeArrowheads="1"/>
          </p:cNvSpPr>
          <p:nvPr/>
        </p:nvSpPr>
        <p:spPr bwMode="auto">
          <a:xfrm>
            <a:off x="341313" y="0"/>
            <a:ext cx="8534400" cy="604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5000"/>
              </a:lnSpc>
              <a:spcBef>
                <a:spcPct val="50000"/>
              </a:spcBef>
            </a:pPr>
            <a:r>
              <a:rPr lang="zh-CN" altLang="en-US" b="1">
                <a:ea typeface="楷体_GB2312" pitchFamily="49" charset="-122"/>
              </a:rPr>
              <a:t>两种方法</a:t>
            </a:r>
            <a:r>
              <a:rPr lang="zh-CN" altLang="en-US" sz="2800" b="1">
                <a:ea typeface="楷体_GB2312" pitchFamily="49" charset="-122"/>
              </a:rPr>
              <a:t>：</a:t>
            </a:r>
          </a:p>
          <a:p>
            <a:pPr eaLnBrk="1" hangingPunct="1">
              <a:lnSpc>
                <a:spcPct val="105000"/>
              </a:lnSpc>
              <a:spcBef>
                <a:spcPct val="50000"/>
              </a:spcBef>
            </a:pPr>
            <a:r>
              <a:rPr lang="zh-CN" altLang="en-US" sz="2800" b="1"/>
              <a:t>        </a:t>
            </a:r>
            <a:r>
              <a:rPr lang="zh-CN" altLang="en-US" b="1">
                <a:ea typeface="楷体_GB2312" pitchFamily="49" charset="-122"/>
              </a:rPr>
              <a:t>⑴</a:t>
            </a:r>
            <a:r>
              <a:rPr lang="zh-CN" altLang="en-US" sz="2800" b="1"/>
              <a:t> </a:t>
            </a:r>
            <a:r>
              <a:rPr lang="zh-CN" altLang="en-US" sz="2800" b="1">
                <a:ea typeface="楷体_GB2312" pitchFamily="49" charset="-122"/>
              </a:rPr>
              <a:t>设置一个</a:t>
            </a:r>
            <a:r>
              <a:rPr lang="zh-CN" altLang="en-US" sz="2800" b="1">
                <a:solidFill>
                  <a:schemeClr val="hlink"/>
                </a:solidFill>
                <a:ea typeface="楷体_GB2312" pitchFamily="49" charset="-122"/>
              </a:rPr>
              <a:t>标志</a:t>
            </a:r>
            <a:r>
              <a:rPr lang="en-US" altLang="zh-CN" sz="2800" b="1">
                <a:solidFill>
                  <a:schemeClr val="hlink"/>
                </a:solidFill>
                <a:ea typeface="楷体_GB2312" pitchFamily="49" charset="-122"/>
              </a:rPr>
              <a:t>flag</a:t>
            </a:r>
            <a:r>
              <a:rPr lang="zh-CN" altLang="en-US" sz="2800" b="1">
                <a:ea typeface="楷体_GB2312" pitchFamily="49" charset="-122"/>
              </a:rPr>
              <a:t>，以区别队列是满还是空。其基本思想是：该标志用于标记在队列中执行的最后一次操作。</a:t>
            </a:r>
            <a:r>
              <a:rPr lang="en-US" altLang="zh-CN" sz="2800" b="1">
                <a:solidFill>
                  <a:schemeClr val="hlink"/>
                </a:solidFill>
                <a:ea typeface="楷体_GB2312" pitchFamily="49" charset="-122"/>
              </a:rPr>
              <a:t>flag</a:t>
            </a:r>
            <a:r>
              <a:rPr lang="zh-CN" altLang="en-US" sz="2800" b="1">
                <a:solidFill>
                  <a:schemeClr val="hlink"/>
                </a:solidFill>
                <a:ea typeface="楷体_GB2312" pitchFamily="49" charset="-122"/>
              </a:rPr>
              <a:t>初始化为“</a:t>
            </a:r>
            <a:r>
              <a:rPr lang="en-US" altLang="zh-CN" sz="2800" b="1">
                <a:solidFill>
                  <a:schemeClr val="hlink"/>
                </a:solidFill>
                <a:ea typeface="楷体_GB2312" pitchFamily="49" charset="-122"/>
              </a:rPr>
              <a:t>delete”</a:t>
            </a:r>
            <a:r>
              <a:rPr lang="zh-CN" altLang="en-US" sz="2800" b="1">
                <a:ea typeface="楷体_GB2312" pitchFamily="49" charset="-122"/>
              </a:rPr>
              <a:t>。在每一次</a:t>
            </a:r>
            <a:r>
              <a:rPr lang="zh-CN" altLang="en-US" sz="2800" b="1">
                <a:solidFill>
                  <a:schemeClr val="hlink"/>
                </a:solidFill>
                <a:ea typeface="楷体_GB2312" pitchFamily="49" charset="-122"/>
              </a:rPr>
              <a:t>插入</a:t>
            </a:r>
            <a:r>
              <a:rPr lang="zh-CN" altLang="en-US" sz="2800" b="1">
                <a:ea typeface="楷体_GB2312" pitchFamily="49" charset="-122"/>
              </a:rPr>
              <a:t>操作后，该</a:t>
            </a:r>
            <a:r>
              <a:rPr lang="zh-CN" altLang="en-US" sz="2800" b="1">
                <a:solidFill>
                  <a:schemeClr val="hlink"/>
                </a:solidFill>
                <a:ea typeface="楷体_GB2312" pitchFamily="49" charset="-122"/>
              </a:rPr>
              <a:t>标志被置为“</a:t>
            </a:r>
            <a:r>
              <a:rPr lang="en-US" altLang="zh-CN" sz="2800" b="1">
                <a:solidFill>
                  <a:schemeClr val="hlink"/>
                </a:solidFill>
                <a:ea typeface="楷体_GB2312" pitchFamily="49" charset="-122"/>
              </a:rPr>
              <a:t>entry</a:t>
            </a:r>
            <a:r>
              <a:rPr lang="en-US" altLang="zh-CN" sz="2800" b="1">
                <a:ea typeface="楷体_GB2312" pitchFamily="49" charset="-122"/>
              </a:rPr>
              <a:t>”</a:t>
            </a:r>
            <a:r>
              <a:rPr lang="zh-CN" altLang="en-US" sz="2800" b="1">
                <a:ea typeface="楷体_GB2312" pitchFamily="49" charset="-122"/>
              </a:rPr>
              <a:t>；在每一次</a:t>
            </a:r>
            <a:r>
              <a:rPr lang="zh-CN" altLang="en-US" sz="2800" b="1">
                <a:solidFill>
                  <a:schemeClr val="hlink"/>
                </a:solidFill>
                <a:ea typeface="楷体_GB2312" pitchFamily="49" charset="-122"/>
              </a:rPr>
              <a:t>删除</a:t>
            </a:r>
            <a:r>
              <a:rPr lang="zh-CN" altLang="en-US" sz="2800" b="1">
                <a:ea typeface="楷体_GB2312" pitchFamily="49" charset="-122"/>
              </a:rPr>
              <a:t>操作后，该</a:t>
            </a:r>
            <a:r>
              <a:rPr lang="zh-CN" altLang="en-US" sz="2800" b="1">
                <a:solidFill>
                  <a:schemeClr val="hlink"/>
                </a:solidFill>
                <a:ea typeface="楷体_GB2312" pitchFamily="49" charset="-122"/>
              </a:rPr>
              <a:t>标志被置为“</a:t>
            </a:r>
            <a:r>
              <a:rPr lang="en-US" altLang="zh-CN" sz="2800" b="1">
                <a:solidFill>
                  <a:schemeClr val="hlink"/>
                </a:solidFill>
                <a:ea typeface="楷体_GB2312" pitchFamily="49" charset="-122"/>
              </a:rPr>
              <a:t>delete</a:t>
            </a:r>
            <a:r>
              <a:rPr lang="en-US" altLang="zh-CN" sz="2800" b="1">
                <a:ea typeface="楷体_GB2312" pitchFamily="49" charset="-122"/>
              </a:rPr>
              <a:t>”</a:t>
            </a:r>
            <a:r>
              <a:rPr lang="zh-CN" altLang="en-US" sz="2800" b="1">
                <a:ea typeface="楷体_GB2312" pitchFamily="49" charset="-122"/>
              </a:rPr>
              <a:t>。当出现</a:t>
            </a:r>
            <a:r>
              <a:rPr lang="en-US" altLang="zh-CN" sz="2800" b="1">
                <a:ea typeface="楷体_GB2312" pitchFamily="49" charset="-122"/>
              </a:rPr>
              <a:t>front=rear</a:t>
            </a:r>
            <a:r>
              <a:rPr lang="zh-CN" altLang="en-US" sz="2800" b="1">
                <a:ea typeface="楷体_GB2312" pitchFamily="49" charset="-122"/>
              </a:rPr>
              <a:t>时，通过检查</a:t>
            </a:r>
            <a:r>
              <a:rPr lang="en-US" altLang="zh-CN" sz="2800" b="1">
                <a:ea typeface="楷体_GB2312" pitchFamily="49" charset="-122"/>
              </a:rPr>
              <a:t>flag</a:t>
            </a:r>
            <a:r>
              <a:rPr lang="zh-CN" altLang="en-US" sz="2800" b="1">
                <a:ea typeface="楷体_GB2312" pitchFamily="49" charset="-122"/>
              </a:rPr>
              <a:t>的值即可确定此时队列是满还是空。如果</a:t>
            </a:r>
            <a:r>
              <a:rPr lang="en-US" altLang="zh-CN" sz="2800" b="1">
                <a:ea typeface="楷体_GB2312" pitchFamily="49" charset="-122"/>
              </a:rPr>
              <a:t>flag</a:t>
            </a:r>
            <a:r>
              <a:rPr lang="zh-CN" altLang="en-US" sz="2800" b="1">
                <a:ea typeface="楷体_GB2312" pitchFamily="49" charset="-122"/>
              </a:rPr>
              <a:t>此时为“</a:t>
            </a:r>
            <a:r>
              <a:rPr lang="en-US" altLang="zh-CN" sz="2800" b="1">
                <a:ea typeface="楷体_GB2312" pitchFamily="49" charset="-122"/>
              </a:rPr>
              <a:t>entry”</a:t>
            </a:r>
            <a:r>
              <a:rPr lang="zh-CN" altLang="en-US" sz="2800" b="1">
                <a:ea typeface="楷体_GB2312" pitchFamily="49" charset="-122"/>
              </a:rPr>
              <a:t>，则可判断队列是满的，否则队列是空的。</a:t>
            </a:r>
          </a:p>
          <a:p>
            <a:pPr eaLnBrk="1" hangingPunct="1">
              <a:lnSpc>
                <a:spcPct val="105000"/>
              </a:lnSpc>
              <a:spcBef>
                <a:spcPct val="50000"/>
              </a:spcBef>
            </a:pPr>
            <a:r>
              <a:rPr lang="zh-CN" altLang="en-US" sz="2800" b="1">
                <a:ea typeface="楷体_GB2312" pitchFamily="49" charset="-122"/>
              </a:rPr>
              <a:t>        不过标志</a:t>
            </a:r>
            <a:r>
              <a:rPr lang="en-US" altLang="zh-CN" sz="2800" b="1">
                <a:ea typeface="楷体_GB2312" pitchFamily="49" charset="-122"/>
              </a:rPr>
              <a:t>flag</a:t>
            </a:r>
            <a:r>
              <a:rPr lang="zh-CN" altLang="en-US" sz="2800" b="1">
                <a:ea typeface="楷体_GB2312" pitchFamily="49" charset="-122"/>
              </a:rPr>
              <a:t>的使用</a:t>
            </a:r>
            <a:r>
              <a:rPr lang="zh-CN" altLang="en-US" sz="2800" b="1">
                <a:solidFill>
                  <a:schemeClr val="hlink"/>
                </a:solidFill>
                <a:ea typeface="楷体_GB2312" pitchFamily="49" charset="-122"/>
              </a:rPr>
              <a:t>减慢了</a:t>
            </a:r>
            <a:r>
              <a:rPr lang="zh-CN" altLang="en-US" sz="2800" b="1">
                <a:ea typeface="楷体_GB2312" pitchFamily="49" charset="-122"/>
              </a:rPr>
              <a:t>队列插入和删除的</a:t>
            </a:r>
            <a:r>
              <a:rPr lang="zh-CN" altLang="en-US" sz="2800" b="1">
                <a:solidFill>
                  <a:schemeClr val="hlink"/>
                </a:solidFill>
                <a:ea typeface="楷体_GB2312" pitchFamily="49" charset="-122"/>
              </a:rPr>
              <a:t>速度</a:t>
            </a:r>
            <a:r>
              <a:rPr lang="zh-CN" altLang="en-US" sz="2800" b="1">
                <a:ea typeface="楷体_GB2312" pitchFamily="49" charset="-122"/>
              </a:rPr>
              <a:t>。由于在采用队列的问题中，进队列和出队列操作是很频繁用到的，减少时间的花费是很重要的，因此常常采用下面的方法。</a:t>
            </a:r>
          </a:p>
        </p:txBody>
      </p:sp>
    </p:spTree>
    <p:extLst>
      <p:ext uri="{BB962C8B-B14F-4D97-AF65-F5344CB8AC3E}">
        <p14:creationId xmlns:p14="http://schemas.microsoft.com/office/powerpoint/2010/main" val="636933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8802">
                                            <p:txEl>
                                              <p:pRg st="0" end="0"/>
                                            </p:txEl>
                                          </p:spTgt>
                                        </p:tgtEl>
                                        <p:attrNameLst>
                                          <p:attrName>style.visibility</p:attrName>
                                        </p:attrNameLst>
                                      </p:cBhvr>
                                      <p:to>
                                        <p:strVal val="visible"/>
                                      </p:to>
                                    </p:set>
                                    <p:animEffect transition="in" filter="checkerboard(across)">
                                      <p:cBhvr>
                                        <p:cTn id="7" dur="500"/>
                                        <p:tgtEl>
                                          <p:spTgt spid="5888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8802">
                                            <p:txEl>
                                              <p:pRg st="1" end="1"/>
                                            </p:txEl>
                                          </p:spTgt>
                                        </p:tgtEl>
                                        <p:attrNameLst>
                                          <p:attrName>style.visibility</p:attrName>
                                        </p:attrNameLst>
                                      </p:cBhvr>
                                      <p:to>
                                        <p:strVal val="visible"/>
                                      </p:to>
                                    </p:set>
                                    <p:animEffect transition="in" filter="checkerboard(across)">
                                      <p:cBhvr>
                                        <p:cTn id="12" dur="500"/>
                                        <p:tgtEl>
                                          <p:spTgt spid="5888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88802">
                                            <p:txEl>
                                              <p:pRg st="2" end="2"/>
                                            </p:txEl>
                                          </p:spTgt>
                                        </p:tgtEl>
                                        <p:attrNameLst>
                                          <p:attrName>style.visibility</p:attrName>
                                        </p:attrNameLst>
                                      </p:cBhvr>
                                      <p:to>
                                        <p:strVal val="visible"/>
                                      </p:to>
                                    </p:set>
                                    <p:animEffect transition="in" filter="checkerboard(across)">
                                      <p:cBhvr>
                                        <p:cTn id="17" dur="500"/>
                                        <p:tgtEl>
                                          <p:spTgt spid="58880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2" grpId="0" build="p"/>
    </p:bld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8AFA9544-6A49-4833-9433-BCF1524A0FB8}" type="slidenum">
              <a:rPr lang="en-US" altLang="zh-CN" sz="1400"/>
              <a:pPr/>
              <a:t>123</a:t>
            </a:fld>
            <a:endParaRPr lang="en-US" altLang="zh-CN" sz="1400"/>
          </a:p>
        </p:txBody>
      </p:sp>
      <p:sp>
        <p:nvSpPr>
          <p:cNvPr id="108547" name="Text Box 2"/>
          <p:cNvSpPr txBox="1">
            <a:spLocks noChangeArrowheads="1"/>
          </p:cNvSpPr>
          <p:nvPr/>
        </p:nvSpPr>
        <p:spPr bwMode="auto">
          <a:xfrm>
            <a:off x="431800" y="323850"/>
            <a:ext cx="76962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spcBef>
                <a:spcPct val="50000"/>
              </a:spcBef>
            </a:pPr>
            <a:r>
              <a:rPr lang="en-US" altLang="zh-CN" b="1" dirty="0">
                <a:ea typeface="楷体_GB2312" pitchFamily="49" charset="-122"/>
              </a:rPr>
              <a:t>⑵</a:t>
            </a:r>
            <a:r>
              <a:rPr lang="en-US" altLang="zh-CN" sz="2800" b="1" dirty="0">
                <a:ea typeface="楷体_GB2312" pitchFamily="49" charset="-122"/>
              </a:rPr>
              <a:t> </a:t>
            </a:r>
            <a:r>
              <a:rPr lang="zh-CN" altLang="en-US" sz="2800" b="1" dirty="0">
                <a:ea typeface="楷体_GB2312" pitchFamily="49" charset="-122"/>
              </a:rPr>
              <a:t>少用一个数据元素空间，以队尾指针加</a:t>
            </a:r>
            <a:r>
              <a:rPr lang="en-US" altLang="zh-CN" sz="2800" b="1" dirty="0">
                <a:ea typeface="楷体_GB2312" pitchFamily="49" charset="-122"/>
              </a:rPr>
              <a:t>1</a:t>
            </a:r>
            <a:r>
              <a:rPr lang="zh-CN" altLang="en-US" sz="2800" b="1" dirty="0">
                <a:ea typeface="楷体_GB2312" pitchFamily="49" charset="-122"/>
              </a:rPr>
              <a:t>等于队头指针来表示队列</a:t>
            </a:r>
            <a:r>
              <a:rPr lang="zh-CN" altLang="en-US" sz="2800" b="1" dirty="0">
                <a:solidFill>
                  <a:schemeClr val="hlink"/>
                </a:solidFill>
                <a:ea typeface="楷体_GB2312" pitchFamily="49" charset="-122"/>
              </a:rPr>
              <a:t>满</a:t>
            </a:r>
            <a:r>
              <a:rPr lang="zh-CN" altLang="en-US" sz="2800" b="1" dirty="0">
                <a:ea typeface="楷体_GB2312" pitchFamily="49" charset="-122"/>
              </a:rPr>
              <a:t>。判别公式为：                </a:t>
            </a:r>
            <a:r>
              <a:rPr lang="en-US" altLang="zh-CN" sz="2800" b="1" dirty="0">
                <a:solidFill>
                  <a:schemeClr val="hlink"/>
                </a:solidFill>
                <a:ea typeface="楷体_GB2312" pitchFamily="49" charset="-122"/>
              </a:rPr>
              <a:t>(rear+1)%MAXQSIZE=front</a:t>
            </a:r>
          </a:p>
        </p:txBody>
      </p:sp>
      <p:sp>
        <p:nvSpPr>
          <p:cNvPr id="589869" name="Text Box 45"/>
          <p:cNvSpPr txBox="1">
            <a:spLocks noChangeArrowheads="1"/>
          </p:cNvSpPr>
          <p:nvPr/>
        </p:nvSpPr>
        <p:spPr bwMode="auto">
          <a:xfrm>
            <a:off x="341313" y="2663825"/>
            <a:ext cx="7829550" cy="342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spcBef>
                <a:spcPct val="50000"/>
              </a:spcBef>
            </a:pPr>
            <a:r>
              <a:rPr lang="zh-CN" altLang="en-US" sz="2800" b="1" dirty="0">
                <a:ea typeface="楷体_GB2312" pitchFamily="49" charset="-122"/>
              </a:rPr>
              <a:t>这样规定后，在数组中队尾指针所指的位置始终是空的，即有</a:t>
            </a:r>
            <a:r>
              <a:rPr lang="en-US" altLang="zh-CN" sz="2800" b="1" dirty="0">
                <a:ea typeface="楷体_GB2312" pitchFamily="49" charset="-122"/>
              </a:rPr>
              <a:t>MAXQSIZE</a:t>
            </a:r>
            <a:r>
              <a:rPr lang="zh-CN" altLang="en-US" sz="2800" b="1" dirty="0">
                <a:ea typeface="楷体_GB2312" pitchFamily="49" charset="-122"/>
              </a:rPr>
              <a:t>个分量的循环空间只能表示长度不超过</a:t>
            </a:r>
            <a:r>
              <a:rPr lang="en-US" altLang="zh-CN" sz="2800" b="1" dirty="0">
                <a:ea typeface="楷体_GB2312" pitchFamily="49" charset="-122"/>
              </a:rPr>
              <a:t>MAXQSIZE-1</a:t>
            </a:r>
            <a:r>
              <a:rPr lang="zh-CN" altLang="en-US" sz="2800" b="1" dirty="0">
                <a:ea typeface="楷体_GB2312" pitchFamily="49" charset="-122"/>
              </a:rPr>
              <a:t>的队列，但可以避免另外再设标志。此时</a:t>
            </a:r>
            <a:r>
              <a:rPr lang="en-US" altLang="zh-CN" sz="2800" b="1" dirty="0">
                <a:solidFill>
                  <a:schemeClr val="hlink"/>
                </a:solidFill>
                <a:ea typeface="楷体_GB2312" pitchFamily="49" charset="-122"/>
              </a:rPr>
              <a:t>rear=front</a:t>
            </a:r>
            <a:r>
              <a:rPr lang="zh-CN" altLang="en-US" sz="2800" b="1" dirty="0">
                <a:ea typeface="楷体_GB2312" pitchFamily="49" charset="-122"/>
              </a:rPr>
              <a:t>的条件还可用来判断队列是否为</a:t>
            </a:r>
            <a:r>
              <a:rPr lang="zh-CN" altLang="en-US" sz="2800" b="1" dirty="0">
                <a:solidFill>
                  <a:schemeClr val="hlink"/>
                </a:solidFill>
                <a:ea typeface="楷体_GB2312" pitchFamily="49" charset="-122"/>
              </a:rPr>
              <a:t>空</a:t>
            </a:r>
            <a:r>
              <a:rPr lang="zh-CN" altLang="en-US" sz="2800" b="1" dirty="0">
                <a:ea typeface="楷体_GB2312" pitchFamily="49" charset="-122"/>
              </a:rPr>
              <a:t>。这时，入队列和出对列算法如下：</a:t>
            </a:r>
          </a:p>
        </p:txBody>
      </p:sp>
    </p:spTree>
    <p:extLst>
      <p:ext uri="{BB962C8B-B14F-4D97-AF65-F5344CB8AC3E}">
        <p14:creationId xmlns:p14="http://schemas.microsoft.com/office/powerpoint/2010/main" val="3478852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9869"/>
                                        </p:tgtEl>
                                        <p:attrNameLst>
                                          <p:attrName>style.visibility</p:attrName>
                                        </p:attrNameLst>
                                      </p:cBhvr>
                                      <p:to>
                                        <p:strVal val="visible"/>
                                      </p:to>
                                    </p:set>
                                    <p:animEffect transition="in" filter="checkerboard(across)">
                                      <p:cBhvr>
                                        <p:cTn id="7" dur="500"/>
                                        <p:tgtEl>
                                          <p:spTgt spid="589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69" grpId="0"/>
    </p:bld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4B8C527-7AA9-40E1-AC56-F5CAB4F90EE5}" type="slidenum">
              <a:rPr lang="en-US" altLang="zh-CN" sz="1400"/>
              <a:pPr/>
              <a:t>124</a:t>
            </a:fld>
            <a:endParaRPr lang="en-US" altLang="zh-CN" sz="1400"/>
          </a:p>
        </p:txBody>
      </p:sp>
      <p:sp>
        <p:nvSpPr>
          <p:cNvPr id="109571" name="Text Box 2"/>
          <p:cNvSpPr txBox="1">
            <a:spLocks noChangeArrowheads="1"/>
          </p:cNvSpPr>
          <p:nvPr/>
        </p:nvSpPr>
        <p:spPr bwMode="auto">
          <a:xfrm>
            <a:off x="476250" y="323850"/>
            <a:ext cx="8229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100763" indent="-6100763">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4000" b="1">
                <a:solidFill>
                  <a:srgbClr val="A50021"/>
                </a:solidFill>
                <a:ea typeface="楷体_GB2312" pitchFamily="49" charset="-122"/>
              </a:rPr>
              <a:t>循环队列的入队算法</a:t>
            </a:r>
            <a:endParaRPr lang="zh-CN" altLang="en-US" sz="2800" b="1">
              <a:ea typeface="楷体_GB2312" pitchFamily="49" charset="-122"/>
            </a:endParaRPr>
          </a:p>
        </p:txBody>
      </p:sp>
      <p:sp>
        <p:nvSpPr>
          <p:cNvPr id="590851" name="Text Box 3"/>
          <p:cNvSpPr txBox="1">
            <a:spLocks noChangeArrowheads="1"/>
          </p:cNvSpPr>
          <p:nvPr/>
        </p:nvSpPr>
        <p:spPr bwMode="auto">
          <a:xfrm>
            <a:off x="341313" y="1314450"/>
            <a:ext cx="8229600" cy="530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100763" indent="-6100763">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ea typeface="楷体_GB2312" pitchFamily="49" charset="-122"/>
              </a:rPr>
              <a:t>Status </a:t>
            </a:r>
            <a:r>
              <a:rPr lang="en-US" altLang="zh-CN" sz="2800" b="1" dirty="0" err="1">
                <a:ea typeface="楷体_GB2312" pitchFamily="49" charset="-122"/>
              </a:rPr>
              <a:t>EncycQue</a:t>
            </a:r>
            <a:r>
              <a:rPr lang="en-US" altLang="zh-CN" sz="2800" b="1" dirty="0">
                <a:ea typeface="楷体_GB2312" pitchFamily="49" charset="-122"/>
              </a:rPr>
              <a:t>(</a:t>
            </a:r>
            <a:r>
              <a:rPr lang="en-US" altLang="zh-CN" sz="2800" b="1" dirty="0" err="1">
                <a:ea typeface="楷体_GB2312" pitchFamily="49" charset="-122"/>
              </a:rPr>
              <a:t>SeQueuetp</a:t>
            </a:r>
            <a:r>
              <a:rPr lang="en-US" altLang="zh-CN" sz="2800" b="1" dirty="0">
                <a:ea typeface="楷体_GB2312" pitchFamily="49" charset="-122"/>
              </a:rPr>
              <a:t> Q</a:t>
            </a:r>
            <a:r>
              <a:rPr lang="zh-CN" altLang="en-US" sz="2800" b="1" dirty="0">
                <a:ea typeface="楷体_GB2312" pitchFamily="49" charset="-122"/>
              </a:rPr>
              <a:t>，</a:t>
            </a:r>
            <a:r>
              <a:rPr lang="en-US" altLang="zh-CN" sz="2800" b="1" dirty="0" err="1">
                <a:ea typeface="楷体_GB2312" pitchFamily="49" charset="-122"/>
              </a:rPr>
              <a:t>elemtype</a:t>
            </a:r>
            <a:r>
              <a:rPr lang="en-US" altLang="zh-CN" sz="2800" b="1" dirty="0">
                <a:ea typeface="楷体_GB2312" pitchFamily="49" charset="-122"/>
              </a:rPr>
              <a:t> x)</a:t>
            </a:r>
          </a:p>
          <a:p>
            <a:pPr eaLnBrk="1" hangingPunct="1">
              <a:spcBef>
                <a:spcPct val="40000"/>
              </a:spcBef>
            </a:pPr>
            <a:r>
              <a:rPr lang="en-US" altLang="zh-CN" sz="2800" b="1" dirty="0">
                <a:ea typeface="楷体_GB2312" pitchFamily="49" charset="-122"/>
              </a:rPr>
              <a:t>      { if (</a:t>
            </a:r>
            <a:r>
              <a:rPr lang="en-US" altLang="zh-CN" sz="2800" b="1" dirty="0">
                <a:solidFill>
                  <a:schemeClr val="hlink"/>
                </a:solidFill>
                <a:ea typeface="楷体_GB2312" pitchFamily="49" charset="-122"/>
              </a:rPr>
              <a:t>(Q.rear+1)%MAXQSIZE==</a:t>
            </a:r>
            <a:r>
              <a:rPr lang="en-US" altLang="zh-CN" sz="2800" b="1" dirty="0" err="1">
                <a:solidFill>
                  <a:schemeClr val="hlink"/>
                </a:solidFill>
                <a:ea typeface="楷体_GB2312" pitchFamily="49" charset="-122"/>
              </a:rPr>
              <a:t>Q.front</a:t>
            </a:r>
            <a:r>
              <a:rPr lang="en-US" altLang="zh-CN" sz="2800" b="1" dirty="0">
                <a:ea typeface="楷体_GB2312" pitchFamily="49" charset="-122"/>
              </a:rPr>
              <a:t>)</a:t>
            </a:r>
          </a:p>
          <a:p>
            <a:pPr eaLnBrk="1" hangingPunct="1">
              <a:spcBef>
                <a:spcPct val="40000"/>
              </a:spcBef>
            </a:pPr>
            <a:r>
              <a:rPr lang="en-US" altLang="zh-CN" sz="2800" b="1" dirty="0">
                <a:ea typeface="楷体_GB2312" pitchFamily="49" charset="-122"/>
              </a:rPr>
              <a:t>              return error;          // </a:t>
            </a:r>
            <a:r>
              <a:rPr lang="zh-CN" altLang="en-US" sz="2800" b="1" dirty="0">
                <a:ea typeface="楷体_GB2312" pitchFamily="49" charset="-122"/>
              </a:rPr>
              <a:t>队列满</a:t>
            </a:r>
          </a:p>
          <a:p>
            <a:pPr eaLnBrk="1" hangingPunct="1">
              <a:spcBef>
                <a:spcPct val="40000"/>
              </a:spcBef>
            </a:pPr>
            <a:r>
              <a:rPr lang="zh-CN" altLang="en-US" sz="2800" b="1" dirty="0">
                <a:ea typeface="楷体_GB2312" pitchFamily="49" charset="-122"/>
              </a:rPr>
              <a:t>        </a:t>
            </a:r>
            <a:r>
              <a:rPr lang="en-US" altLang="zh-CN" sz="2800" b="1" dirty="0">
                <a:ea typeface="楷体_GB2312" pitchFamily="49" charset="-122"/>
              </a:rPr>
              <a:t>else { </a:t>
            </a:r>
            <a:r>
              <a:rPr lang="en-US" altLang="zh-CN" sz="2800" b="1" dirty="0" err="1">
                <a:ea typeface="楷体_GB2312" pitchFamily="49" charset="-122"/>
              </a:rPr>
              <a:t>Q.queue</a:t>
            </a:r>
            <a:r>
              <a:rPr lang="en-US" altLang="zh-CN" sz="2800" b="1" dirty="0">
                <a:ea typeface="楷体_GB2312" pitchFamily="49" charset="-122"/>
              </a:rPr>
              <a:t>[</a:t>
            </a:r>
            <a:r>
              <a:rPr lang="en-US" altLang="zh-CN" sz="2800" b="1" dirty="0" err="1">
                <a:ea typeface="楷体_GB2312" pitchFamily="49" charset="-122"/>
              </a:rPr>
              <a:t>Q.rear</a:t>
            </a:r>
            <a:r>
              <a:rPr lang="en-US" altLang="zh-CN" sz="2800" b="1" dirty="0">
                <a:ea typeface="楷体_GB2312" pitchFamily="49" charset="-122"/>
              </a:rPr>
              <a:t>]=x;</a:t>
            </a:r>
          </a:p>
          <a:p>
            <a:pPr eaLnBrk="1" hangingPunct="1">
              <a:spcBef>
                <a:spcPct val="40000"/>
              </a:spcBef>
            </a:pPr>
            <a:r>
              <a:rPr lang="en-US" altLang="zh-CN" sz="2800" b="1" dirty="0">
                <a:ea typeface="楷体_GB2312" pitchFamily="49" charset="-122"/>
              </a:rPr>
              <a:t>                  </a:t>
            </a:r>
            <a:r>
              <a:rPr lang="en-US" altLang="zh-CN" sz="2800" b="1" dirty="0" err="1">
                <a:ea typeface="楷体_GB2312" pitchFamily="49" charset="-122"/>
              </a:rPr>
              <a:t>Q.rear</a:t>
            </a:r>
            <a:r>
              <a:rPr lang="en-US" altLang="zh-CN" sz="2800" b="1" dirty="0">
                <a:ea typeface="楷体_GB2312" pitchFamily="49" charset="-122"/>
              </a:rPr>
              <a:t>=(Q.rear+1)%MAXQSIZE;</a:t>
            </a:r>
          </a:p>
          <a:p>
            <a:pPr eaLnBrk="1" hangingPunct="1">
              <a:spcBef>
                <a:spcPct val="40000"/>
              </a:spcBef>
            </a:pPr>
            <a:r>
              <a:rPr lang="en-US" altLang="zh-CN" sz="2800" b="1" dirty="0">
                <a:ea typeface="楷体_GB2312" pitchFamily="49" charset="-122"/>
              </a:rPr>
              <a:t>                                          </a:t>
            </a:r>
            <a:r>
              <a:rPr lang="en-US" altLang="zh-CN" sz="2800" b="1" dirty="0">
                <a:solidFill>
                  <a:srgbClr val="006600"/>
                </a:solidFill>
                <a:ea typeface="楷体_GB2312" pitchFamily="49" charset="-122"/>
              </a:rPr>
              <a:t>// </a:t>
            </a:r>
            <a:r>
              <a:rPr lang="zh-CN" altLang="en-US" sz="2800" b="1" dirty="0">
                <a:solidFill>
                  <a:srgbClr val="006600"/>
                </a:solidFill>
                <a:ea typeface="楷体_GB2312" pitchFamily="49" charset="-122"/>
              </a:rPr>
              <a:t>队尾指 针循环加</a:t>
            </a:r>
            <a:r>
              <a:rPr lang="en-US" altLang="zh-CN" sz="2800" b="1" dirty="0">
                <a:solidFill>
                  <a:srgbClr val="006600"/>
                </a:solidFill>
                <a:ea typeface="楷体_GB2312" pitchFamily="49" charset="-122"/>
              </a:rPr>
              <a:t>1</a:t>
            </a:r>
          </a:p>
          <a:p>
            <a:pPr eaLnBrk="1" hangingPunct="1">
              <a:spcBef>
                <a:spcPct val="40000"/>
              </a:spcBef>
            </a:pPr>
            <a:r>
              <a:rPr lang="en-US" altLang="zh-CN" sz="2800" b="1" dirty="0">
                <a:ea typeface="楷体_GB2312" pitchFamily="49" charset="-122"/>
              </a:rPr>
              <a:t>                  return OK;</a:t>
            </a:r>
          </a:p>
          <a:p>
            <a:pPr eaLnBrk="1" hangingPunct="1">
              <a:spcBef>
                <a:spcPct val="40000"/>
              </a:spcBef>
            </a:pPr>
            <a:r>
              <a:rPr lang="en-US" altLang="zh-CN" sz="2800" b="1" dirty="0">
                <a:ea typeface="楷体_GB2312" pitchFamily="49" charset="-122"/>
              </a:rPr>
              <a:t>                }</a:t>
            </a:r>
          </a:p>
          <a:p>
            <a:pPr eaLnBrk="1" hangingPunct="1">
              <a:spcBef>
                <a:spcPct val="40000"/>
              </a:spcBef>
            </a:pPr>
            <a:r>
              <a:rPr lang="en-US" altLang="zh-CN" sz="2800" b="1" dirty="0">
                <a:ea typeface="楷体_GB2312" pitchFamily="49" charset="-122"/>
              </a:rPr>
              <a:t>       }</a:t>
            </a:r>
          </a:p>
        </p:txBody>
      </p:sp>
    </p:spTree>
    <p:extLst>
      <p:ext uri="{BB962C8B-B14F-4D97-AF65-F5344CB8AC3E}">
        <p14:creationId xmlns:p14="http://schemas.microsoft.com/office/powerpoint/2010/main" val="172345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0851"/>
                                        </p:tgtEl>
                                        <p:attrNameLst>
                                          <p:attrName>style.visibility</p:attrName>
                                        </p:attrNameLst>
                                      </p:cBhvr>
                                      <p:to>
                                        <p:strVal val="visible"/>
                                      </p:to>
                                    </p:set>
                                    <p:animEffect transition="in" filter="box(in)">
                                      <p:cBhvr>
                                        <p:cTn id="7" dur="500"/>
                                        <p:tgtEl>
                                          <p:spTgt spid="590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1" grpId="0"/>
    </p:bld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A8ADE04F-FB94-4C0E-BBC4-1745948C6628}" type="slidenum">
              <a:rPr lang="en-US" altLang="zh-CN" sz="1400"/>
              <a:pPr/>
              <a:t>125</a:t>
            </a:fld>
            <a:endParaRPr lang="en-US" altLang="zh-CN" sz="1400"/>
          </a:p>
        </p:txBody>
      </p:sp>
      <p:sp>
        <p:nvSpPr>
          <p:cNvPr id="110595" name="Text Box 2"/>
          <p:cNvSpPr txBox="1">
            <a:spLocks noChangeArrowheads="1"/>
          </p:cNvSpPr>
          <p:nvPr/>
        </p:nvSpPr>
        <p:spPr bwMode="auto">
          <a:xfrm>
            <a:off x="152400" y="517525"/>
            <a:ext cx="8763000" cy="603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25000"/>
              </a:spcBef>
            </a:pPr>
            <a:r>
              <a:rPr lang="zh-CN" altLang="en-US" sz="4000" b="1" dirty="0">
                <a:solidFill>
                  <a:srgbClr val="A50021"/>
                </a:solidFill>
                <a:ea typeface="楷体_GB2312" pitchFamily="49" charset="-122"/>
              </a:rPr>
              <a:t>循环队列的出队算法</a:t>
            </a:r>
          </a:p>
          <a:p>
            <a:pPr eaLnBrk="1" hangingPunct="1">
              <a:spcBef>
                <a:spcPct val="25000"/>
              </a:spcBef>
            </a:pPr>
            <a:r>
              <a:rPr lang="zh-CN" altLang="en-US" sz="2800" b="1" dirty="0">
                <a:ea typeface="楷体_GB2312" pitchFamily="49" charset="-122"/>
              </a:rPr>
              <a:t> </a:t>
            </a:r>
            <a:r>
              <a:rPr lang="en-US" altLang="zh-CN" sz="2800" b="1" dirty="0">
                <a:ea typeface="楷体_GB2312" pitchFamily="49" charset="-122"/>
              </a:rPr>
              <a:t>Status </a:t>
            </a:r>
            <a:r>
              <a:rPr lang="en-US" altLang="zh-CN" sz="2800" b="1" dirty="0" err="1">
                <a:ea typeface="楷体_GB2312" pitchFamily="49" charset="-122"/>
              </a:rPr>
              <a:t>DelcycQue</a:t>
            </a:r>
            <a:r>
              <a:rPr lang="en-US" altLang="zh-CN" sz="2800" b="1" dirty="0">
                <a:ea typeface="楷体_GB2312" pitchFamily="49" charset="-122"/>
              </a:rPr>
              <a:t>(</a:t>
            </a:r>
            <a:r>
              <a:rPr lang="en-US" altLang="zh-CN" sz="2800" b="1" dirty="0" err="1">
                <a:ea typeface="楷体_GB2312" pitchFamily="49" charset="-122"/>
              </a:rPr>
              <a:t>SeQueuetp</a:t>
            </a:r>
            <a:r>
              <a:rPr lang="en-US" altLang="zh-CN" sz="2800" b="1" dirty="0">
                <a:ea typeface="楷体_GB2312" pitchFamily="49" charset="-122"/>
              </a:rPr>
              <a:t> &amp;Q, </a:t>
            </a:r>
            <a:r>
              <a:rPr lang="en-US" altLang="zh-CN" sz="2800" b="1" dirty="0" err="1">
                <a:ea typeface="楷体_GB2312" pitchFamily="49" charset="-122"/>
              </a:rPr>
              <a:t>elemtype</a:t>
            </a:r>
            <a:r>
              <a:rPr lang="en-US" altLang="zh-CN" sz="2800" b="1" dirty="0">
                <a:ea typeface="楷体_GB2312" pitchFamily="49" charset="-122"/>
              </a:rPr>
              <a:t> &amp;e)</a:t>
            </a:r>
          </a:p>
          <a:p>
            <a:pPr eaLnBrk="1" hangingPunct="1">
              <a:spcBef>
                <a:spcPct val="25000"/>
              </a:spcBef>
            </a:pPr>
            <a:r>
              <a:rPr lang="en-US" altLang="zh-CN" sz="2800" b="1" dirty="0">
                <a:ea typeface="楷体_GB2312" pitchFamily="49" charset="-122"/>
              </a:rPr>
              <a:t>    {  if (</a:t>
            </a:r>
            <a:r>
              <a:rPr lang="en-US" altLang="zh-CN" sz="2800" b="1" dirty="0" err="1">
                <a:solidFill>
                  <a:schemeClr val="hlink"/>
                </a:solidFill>
                <a:ea typeface="楷体_GB2312" pitchFamily="49" charset="-122"/>
              </a:rPr>
              <a:t>Q.front</a:t>
            </a:r>
            <a:r>
              <a:rPr lang="en-US" altLang="zh-CN" sz="2800" b="1" dirty="0">
                <a:solidFill>
                  <a:schemeClr val="hlink"/>
                </a:solidFill>
                <a:ea typeface="楷体_GB2312" pitchFamily="49" charset="-122"/>
              </a:rPr>
              <a:t>==</a:t>
            </a:r>
            <a:r>
              <a:rPr lang="en-US" altLang="zh-CN" sz="2800" b="1" dirty="0" err="1">
                <a:solidFill>
                  <a:schemeClr val="hlink"/>
                </a:solidFill>
                <a:ea typeface="楷体_GB2312" pitchFamily="49" charset="-122"/>
              </a:rPr>
              <a:t>Q.rear</a:t>
            </a:r>
            <a:r>
              <a:rPr lang="en-US" altLang="zh-CN" sz="2800" b="1" dirty="0">
                <a:ea typeface="楷体_GB2312" pitchFamily="49" charset="-122"/>
              </a:rPr>
              <a:t>)</a:t>
            </a:r>
          </a:p>
          <a:p>
            <a:pPr eaLnBrk="1" hangingPunct="1">
              <a:spcBef>
                <a:spcPct val="25000"/>
              </a:spcBef>
            </a:pPr>
            <a:r>
              <a:rPr lang="en-US" altLang="zh-CN" sz="2800" b="1" dirty="0">
                <a:ea typeface="楷体_GB2312" pitchFamily="49" charset="-122"/>
              </a:rPr>
              <a:t>           return(NULL);                //</a:t>
            </a:r>
            <a:r>
              <a:rPr lang="zh-CN" altLang="en-US" sz="2800" b="1" dirty="0">
                <a:ea typeface="楷体_GB2312" pitchFamily="49" charset="-122"/>
              </a:rPr>
              <a:t>队列空</a:t>
            </a:r>
          </a:p>
          <a:p>
            <a:pPr eaLnBrk="1" hangingPunct="1">
              <a:spcBef>
                <a:spcPct val="25000"/>
              </a:spcBef>
            </a:pPr>
            <a:r>
              <a:rPr lang="zh-CN" altLang="en-US" sz="2800" b="1" dirty="0">
                <a:ea typeface="楷体_GB2312" pitchFamily="49" charset="-122"/>
              </a:rPr>
              <a:t>       </a:t>
            </a:r>
            <a:r>
              <a:rPr lang="en-US" altLang="zh-CN" sz="2800" b="1" dirty="0">
                <a:ea typeface="楷体_GB2312" pitchFamily="49" charset="-122"/>
              </a:rPr>
              <a:t>else</a:t>
            </a:r>
          </a:p>
          <a:p>
            <a:pPr eaLnBrk="1" hangingPunct="1">
              <a:spcBef>
                <a:spcPct val="25000"/>
              </a:spcBef>
            </a:pPr>
            <a:r>
              <a:rPr lang="en-US" altLang="zh-CN" sz="2800" b="1" dirty="0">
                <a:ea typeface="楷体_GB2312" pitchFamily="49" charset="-122"/>
              </a:rPr>
              <a:t>           { e= </a:t>
            </a:r>
            <a:r>
              <a:rPr lang="en-US" altLang="zh-CN" sz="2800" b="1" dirty="0" err="1">
                <a:ea typeface="楷体_GB2312" pitchFamily="49" charset="-122"/>
              </a:rPr>
              <a:t>Q.queue</a:t>
            </a:r>
            <a:r>
              <a:rPr lang="en-US" altLang="zh-CN" sz="2800" b="1" dirty="0">
                <a:ea typeface="楷体_GB2312" pitchFamily="49" charset="-122"/>
              </a:rPr>
              <a:t>[</a:t>
            </a:r>
            <a:r>
              <a:rPr lang="en-US" altLang="zh-CN" sz="2800" b="1" dirty="0" err="1">
                <a:ea typeface="楷体_GB2312" pitchFamily="49" charset="-122"/>
              </a:rPr>
              <a:t>Q.front</a:t>
            </a:r>
            <a:r>
              <a:rPr lang="en-US" altLang="zh-CN" sz="2800" b="1" dirty="0">
                <a:ea typeface="楷体_GB2312" pitchFamily="49" charset="-122"/>
              </a:rPr>
              <a:t>]</a:t>
            </a:r>
          </a:p>
          <a:p>
            <a:pPr eaLnBrk="1" hangingPunct="1">
              <a:spcBef>
                <a:spcPct val="25000"/>
              </a:spcBef>
            </a:pPr>
            <a:r>
              <a:rPr lang="en-US" altLang="zh-CN" sz="2800" b="1" dirty="0">
                <a:ea typeface="楷体_GB2312" pitchFamily="49" charset="-122"/>
              </a:rPr>
              <a:t>             </a:t>
            </a:r>
            <a:r>
              <a:rPr lang="en-US" altLang="zh-CN" sz="2800" b="1" dirty="0" err="1">
                <a:ea typeface="楷体_GB2312" pitchFamily="49" charset="-122"/>
              </a:rPr>
              <a:t>Q.front</a:t>
            </a:r>
            <a:r>
              <a:rPr lang="en-US" altLang="zh-CN" sz="2800" b="1" dirty="0">
                <a:ea typeface="楷体_GB2312" pitchFamily="49" charset="-122"/>
              </a:rPr>
              <a:t>=(Q.front+1)%MAXQSIZE;</a:t>
            </a:r>
          </a:p>
          <a:p>
            <a:pPr eaLnBrk="1" hangingPunct="1">
              <a:spcBef>
                <a:spcPct val="25000"/>
              </a:spcBef>
            </a:pPr>
            <a:r>
              <a:rPr lang="en-US" altLang="zh-CN" sz="2800" b="1" dirty="0">
                <a:ea typeface="楷体_GB2312" pitchFamily="49" charset="-122"/>
              </a:rPr>
              <a:t>                                                //</a:t>
            </a:r>
            <a:r>
              <a:rPr lang="zh-CN" altLang="en-US" sz="2800" b="1" dirty="0">
                <a:ea typeface="楷体_GB2312" pitchFamily="49" charset="-122"/>
              </a:rPr>
              <a:t>队头指针循环加</a:t>
            </a:r>
            <a:r>
              <a:rPr lang="en-US" altLang="zh-CN" sz="2800" b="1" dirty="0">
                <a:ea typeface="楷体_GB2312" pitchFamily="49" charset="-122"/>
              </a:rPr>
              <a:t>1</a:t>
            </a:r>
          </a:p>
          <a:p>
            <a:pPr eaLnBrk="1" hangingPunct="1">
              <a:spcBef>
                <a:spcPct val="25000"/>
              </a:spcBef>
            </a:pPr>
            <a:r>
              <a:rPr lang="en-US" altLang="zh-CN" sz="2400" b="1" dirty="0">
                <a:solidFill>
                  <a:schemeClr val="accent1"/>
                </a:solidFill>
                <a:ea typeface="楷体_GB2312" pitchFamily="49" charset="-122"/>
              </a:rPr>
              <a:t>                </a:t>
            </a:r>
            <a:r>
              <a:rPr lang="en-US" altLang="zh-CN" sz="2800" b="1" dirty="0">
                <a:ea typeface="楷体_GB2312" pitchFamily="49" charset="-122"/>
              </a:rPr>
              <a:t>return OK;</a:t>
            </a:r>
          </a:p>
          <a:p>
            <a:pPr eaLnBrk="1" hangingPunct="1">
              <a:spcBef>
                <a:spcPct val="25000"/>
              </a:spcBef>
            </a:pPr>
            <a:r>
              <a:rPr lang="en-US" altLang="zh-CN" sz="2400" b="1" dirty="0">
                <a:ea typeface="楷体_GB2312" pitchFamily="49" charset="-122"/>
              </a:rPr>
              <a:t>              </a:t>
            </a:r>
            <a:r>
              <a:rPr lang="en-US" altLang="zh-CN" sz="2800" b="1" dirty="0">
                <a:ea typeface="楷体_GB2312" pitchFamily="49" charset="-122"/>
              </a:rPr>
              <a:t>}</a:t>
            </a:r>
          </a:p>
          <a:p>
            <a:pPr eaLnBrk="1" hangingPunct="1">
              <a:spcBef>
                <a:spcPct val="25000"/>
              </a:spcBef>
            </a:pPr>
            <a:r>
              <a:rPr lang="en-US" altLang="zh-CN" sz="2800" b="1" dirty="0">
                <a:ea typeface="楷体_GB2312" pitchFamily="49" charset="-122"/>
              </a:rPr>
              <a:t>     }  </a:t>
            </a:r>
          </a:p>
        </p:txBody>
      </p:sp>
    </p:spTree>
    <p:extLst>
      <p:ext uri="{BB962C8B-B14F-4D97-AF65-F5344CB8AC3E}">
        <p14:creationId xmlns:p14="http://schemas.microsoft.com/office/powerpoint/2010/main" val="12669114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1BF0B7A9-BCF6-4F93-AFC6-6ED1A6B72CD9}" type="slidenum">
              <a:rPr lang="en-US" altLang="zh-CN" sz="1400"/>
              <a:pPr/>
              <a:t>126</a:t>
            </a:fld>
            <a:endParaRPr lang="en-US" altLang="zh-CN" sz="1400"/>
          </a:p>
        </p:txBody>
      </p:sp>
      <p:sp>
        <p:nvSpPr>
          <p:cNvPr id="111619" name="Rectangle 2"/>
          <p:cNvSpPr>
            <a:spLocks noChangeArrowheads="1"/>
          </p:cNvSpPr>
          <p:nvPr/>
        </p:nvSpPr>
        <p:spPr bwMode="auto">
          <a:xfrm>
            <a:off x="685800" y="2286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en-US" altLang="zh-CN" sz="4400" b="1" dirty="0">
                <a:solidFill>
                  <a:srgbClr val="A50021"/>
                </a:solidFill>
                <a:latin typeface="楷体_GB2312" pitchFamily="49" charset="-122"/>
                <a:ea typeface="楷体_GB2312" pitchFamily="49" charset="-122"/>
              </a:rPr>
              <a:t>2</a:t>
            </a:r>
            <a:r>
              <a:rPr lang="zh-CN" altLang="en-US" sz="4400" b="1" dirty="0">
                <a:solidFill>
                  <a:srgbClr val="A50021"/>
                </a:solidFill>
                <a:latin typeface="楷体_GB2312" pitchFamily="49" charset="-122"/>
                <a:ea typeface="楷体_GB2312" pitchFamily="49" charset="-122"/>
              </a:rPr>
              <a:t>、队列的链式存储结构</a:t>
            </a:r>
            <a:endParaRPr lang="zh-CN" altLang="en-US" sz="4800" b="1" dirty="0">
              <a:solidFill>
                <a:srgbClr val="A50021"/>
              </a:solidFill>
              <a:latin typeface="楷体_GB2312" pitchFamily="49" charset="-122"/>
              <a:ea typeface="楷体_GB2312" pitchFamily="49" charset="-122"/>
            </a:endParaRPr>
          </a:p>
        </p:txBody>
      </p:sp>
      <p:sp>
        <p:nvSpPr>
          <p:cNvPr id="593923" name="Text Box 3"/>
          <p:cNvSpPr txBox="1">
            <a:spLocks noChangeArrowheads="1"/>
          </p:cNvSpPr>
          <p:nvPr/>
        </p:nvSpPr>
        <p:spPr bwMode="auto">
          <a:xfrm>
            <a:off x="533400" y="1066800"/>
            <a:ext cx="8153400" cy="54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对于在使用中数据</a:t>
            </a:r>
            <a:r>
              <a:rPr lang="zh-CN" altLang="en-US" sz="2800" b="1">
                <a:solidFill>
                  <a:schemeClr val="hlink"/>
                </a:solidFill>
                <a:ea typeface="楷体_GB2312" pitchFamily="49" charset="-122"/>
              </a:rPr>
              <a:t>元素变动较大</a:t>
            </a:r>
            <a:r>
              <a:rPr lang="zh-CN" altLang="en-US" sz="2800" b="1">
                <a:ea typeface="楷体_GB2312" pitchFamily="49" charset="-122"/>
              </a:rPr>
              <a:t>的数据结构来说，用</a:t>
            </a:r>
            <a:r>
              <a:rPr lang="zh-CN" altLang="en-US" sz="2800" b="1">
                <a:solidFill>
                  <a:schemeClr val="hlink"/>
                </a:solidFill>
                <a:ea typeface="楷体_GB2312" pitchFamily="49" charset="-122"/>
              </a:rPr>
              <a:t>链式存储结构</a:t>
            </a:r>
            <a:r>
              <a:rPr lang="zh-CN" altLang="en-US" sz="2800" b="1">
                <a:ea typeface="楷体_GB2312" pitchFamily="49" charset="-122"/>
              </a:rPr>
              <a:t>比用顺序存储结构更</a:t>
            </a:r>
            <a:r>
              <a:rPr lang="zh-CN" altLang="en-US" sz="2800" b="1">
                <a:solidFill>
                  <a:schemeClr val="hlink"/>
                </a:solidFill>
                <a:ea typeface="楷体_GB2312" pitchFamily="49" charset="-122"/>
              </a:rPr>
              <a:t>有利</a:t>
            </a:r>
            <a:r>
              <a:rPr lang="zh-CN" altLang="en-US" sz="2800" b="1">
                <a:ea typeface="楷体_GB2312" pitchFamily="49" charset="-122"/>
              </a:rPr>
              <a:t>。显然，队列也是这样一种数据结构。</a:t>
            </a:r>
          </a:p>
          <a:p>
            <a:pPr eaLnBrk="1" hangingPunct="1">
              <a:spcBef>
                <a:spcPct val="50000"/>
              </a:spcBef>
            </a:pPr>
            <a:r>
              <a:rPr lang="zh-CN" altLang="en-US" sz="2800" b="1">
                <a:ea typeface="楷体_GB2312" pitchFamily="49" charset="-122"/>
              </a:rPr>
              <a:t>        用链表表示的队列简称链队列。一个链队列显然需要两个分别</a:t>
            </a:r>
            <a:r>
              <a:rPr lang="zh-CN" altLang="en-US" sz="2800" b="1">
                <a:solidFill>
                  <a:srgbClr val="993300"/>
                </a:solidFill>
                <a:ea typeface="楷体_GB2312" pitchFamily="49" charset="-122"/>
              </a:rPr>
              <a:t>指示队头和队尾的指针</a:t>
            </a:r>
            <a:r>
              <a:rPr lang="zh-CN" altLang="en-US" sz="2800" b="1">
                <a:ea typeface="楷体_GB2312" pitchFamily="49" charset="-122"/>
              </a:rPr>
              <a:t>才能唯一确定。为了操作方便起见，我们也给链队列添加一</a:t>
            </a:r>
            <a:r>
              <a:rPr lang="zh-CN" altLang="en-US" sz="2800" b="1">
                <a:solidFill>
                  <a:srgbClr val="993300"/>
                </a:solidFill>
                <a:ea typeface="楷体_GB2312" pitchFamily="49" charset="-122"/>
              </a:rPr>
              <a:t>个头结点</a:t>
            </a:r>
            <a:r>
              <a:rPr lang="zh-CN" altLang="en-US" sz="2800" b="1">
                <a:ea typeface="楷体_GB2312" pitchFamily="49" charset="-122"/>
              </a:rPr>
              <a:t>，并令头指针指向头结点。</a:t>
            </a:r>
          </a:p>
          <a:p>
            <a:pPr eaLnBrk="1" hangingPunct="1">
              <a:spcBef>
                <a:spcPct val="50000"/>
              </a:spcBef>
            </a:pPr>
            <a:r>
              <a:rPr lang="zh-CN" altLang="en-US" sz="2800" b="1">
                <a:ea typeface="楷体_GB2312" pitchFamily="49" charset="-122"/>
              </a:rPr>
              <a:t>        由此，空的链队列的判定条件为头指针与尾指针均指向头结点。</a:t>
            </a:r>
          </a:p>
          <a:p>
            <a:pPr eaLnBrk="1" hangingPunct="1">
              <a:spcBef>
                <a:spcPct val="50000"/>
              </a:spcBef>
            </a:pPr>
            <a:r>
              <a:rPr lang="zh-CN" altLang="en-US" sz="2800" b="1">
                <a:ea typeface="楷体_GB2312" pitchFamily="49" charset="-122"/>
              </a:rPr>
              <a:t>        </a:t>
            </a:r>
            <a:r>
              <a:rPr lang="zh-CN" altLang="en-US" sz="2800" b="1">
                <a:solidFill>
                  <a:srgbClr val="993300"/>
                </a:solidFill>
                <a:ea typeface="楷体_GB2312" pitchFamily="49" charset="-122"/>
              </a:rPr>
              <a:t>链队列的操作即为单链表的插入和删除操作的特殊情况，只是尚需修改尾指针和头指针</a:t>
            </a:r>
            <a:r>
              <a:rPr lang="zh-CN" altLang="en-US" sz="2800" b="1">
                <a:ea typeface="楷体_GB2312" pitchFamily="49" charset="-122"/>
              </a:rPr>
              <a:t>。</a:t>
            </a:r>
          </a:p>
        </p:txBody>
      </p:sp>
    </p:spTree>
    <p:extLst>
      <p:ext uri="{BB962C8B-B14F-4D97-AF65-F5344CB8AC3E}">
        <p14:creationId xmlns:p14="http://schemas.microsoft.com/office/powerpoint/2010/main" val="759281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3923">
                                            <p:txEl>
                                              <p:pRg st="0" end="0"/>
                                            </p:txEl>
                                          </p:spTgt>
                                        </p:tgtEl>
                                        <p:attrNameLst>
                                          <p:attrName>style.visibility</p:attrName>
                                        </p:attrNameLst>
                                      </p:cBhvr>
                                      <p:to>
                                        <p:strVal val="visible"/>
                                      </p:to>
                                    </p:set>
                                    <p:animEffect transition="in" filter="box(in)">
                                      <p:cBhvr>
                                        <p:cTn id="7" dur="500"/>
                                        <p:tgtEl>
                                          <p:spTgt spid="593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3923">
                                            <p:txEl>
                                              <p:pRg st="1" end="1"/>
                                            </p:txEl>
                                          </p:spTgt>
                                        </p:tgtEl>
                                        <p:attrNameLst>
                                          <p:attrName>style.visibility</p:attrName>
                                        </p:attrNameLst>
                                      </p:cBhvr>
                                      <p:to>
                                        <p:strVal val="visible"/>
                                      </p:to>
                                    </p:set>
                                    <p:animEffect transition="in" filter="box(in)">
                                      <p:cBhvr>
                                        <p:cTn id="12" dur="500"/>
                                        <p:tgtEl>
                                          <p:spTgt spid="5939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93923">
                                            <p:txEl>
                                              <p:pRg st="2" end="2"/>
                                            </p:txEl>
                                          </p:spTgt>
                                        </p:tgtEl>
                                        <p:attrNameLst>
                                          <p:attrName>style.visibility</p:attrName>
                                        </p:attrNameLst>
                                      </p:cBhvr>
                                      <p:to>
                                        <p:strVal val="visible"/>
                                      </p:to>
                                    </p:set>
                                    <p:animEffect transition="in" filter="box(in)">
                                      <p:cBhvr>
                                        <p:cTn id="17" dur="500"/>
                                        <p:tgtEl>
                                          <p:spTgt spid="5939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93923">
                                            <p:txEl>
                                              <p:pRg st="3" end="3"/>
                                            </p:txEl>
                                          </p:spTgt>
                                        </p:tgtEl>
                                        <p:attrNameLst>
                                          <p:attrName>style.visibility</p:attrName>
                                        </p:attrNameLst>
                                      </p:cBhvr>
                                      <p:to>
                                        <p:strVal val="visible"/>
                                      </p:to>
                                    </p:set>
                                    <p:animEffect transition="in" filter="box(in)">
                                      <p:cBhvr>
                                        <p:cTn id="22" dur="500"/>
                                        <p:tgtEl>
                                          <p:spTgt spid="5939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3" grpId="0" build="p"/>
    </p:bldLst>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52A9C6D-2D32-4D3B-81DC-6030B0BC9C6A}" type="slidenum">
              <a:rPr lang="en-US" altLang="zh-CN" sz="1400"/>
              <a:pPr/>
              <a:t>127</a:t>
            </a:fld>
            <a:endParaRPr lang="en-US" altLang="zh-CN" sz="1400"/>
          </a:p>
        </p:txBody>
      </p:sp>
      <p:sp>
        <p:nvSpPr>
          <p:cNvPr id="594946" name="Rectangle 2"/>
          <p:cNvSpPr>
            <a:spLocks noGrp="1" noChangeArrowheads="1"/>
          </p:cNvSpPr>
          <p:nvPr>
            <p:ph type="body" idx="1"/>
          </p:nvPr>
        </p:nvSpPr>
        <p:spPr>
          <a:xfrm>
            <a:off x="206375" y="1042988"/>
            <a:ext cx="5986463" cy="2386012"/>
          </a:xfrm>
        </p:spPr>
        <p:txBody>
          <a:bodyPr/>
          <a:lstStyle/>
          <a:p>
            <a:pPr eaLnBrk="1" hangingPunct="1">
              <a:lnSpc>
                <a:spcPct val="90000"/>
              </a:lnSpc>
              <a:buFontTx/>
              <a:buNone/>
            </a:pPr>
            <a:r>
              <a:rPr lang="zh-CN" altLang="en-US" sz="2800" b="1" dirty="0"/>
              <a:t>结点结构</a:t>
            </a:r>
            <a:r>
              <a:rPr lang="en-US" altLang="zh-CN" sz="2800" b="1" dirty="0"/>
              <a:t>: </a:t>
            </a:r>
            <a:r>
              <a:rPr lang="en-US" altLang="zh-CN" sz="2400" b="1" dirty="0">
                <a:solidFill>
                  <a:srgbClr val="006600"/>
                </a:solidFill>
              </a:rPr>
              <a:t>//</a:t>
            </a:r>
            <a:r>
              <a:rPr lang="zh-CN" altLang="en-US" sz="2400" b="1" dirty="0">
                <a:solidFill>
                  <a:srgbClr val="006600"/>
                </a:solidFill>
                <a:latin typeface="楷体_GB2312" pitchFamily="49" charset="-122"/>
                <a:ea typeface="楷体_GB2312" pitchFamily="49" charset="-122"/>
              </a:rPr>
              <a:t>定义链队列中的一个</a:t>
            </a:r>
            <a:r>
              <a:rPr lang="zh-CN" altLang="en-US" sz="2400" b="1" dirty="0">
                <a:solidFill>
                  <a:srgbClr val="A50021"/>
                </a:solidFill>
                <a:latin typeface="楷体_GB2312" pitchFamily="49" charset="-122"/>
                <a:ea typeface="楷体_GB2312" pitchFamily="49" charset="-122"/>
              </a:rPr>
              <a:t>结点</a:t>
            </a:r>
            <a:r>
              <a:rPr lang="zh-CN" altLang="en-US" sz="2400" b="1" dirty="0">
                <a:solidFill>
                  <a:srgbClr val="006600"/>
                </a:solidFill>
                <a:latin typeface="楷体_GB2312" pitchFamily="49" charset="-122"/>
                <a:ea typeface="楷体_GB2312" pitchFamily="49" charset="-122"/>
              </a:rPr>
              <a:t>结构</a:t>
            </a:r>
            <a:endParaRPr lang="zh-CN" altLang="en-US" sz="2800" b="1" dirty="0"/>
          </a:p>
          <a:p>
            <a:pPr eaLnBrk="1" hangingPunct="1">
              <a:lnSpc>
                <a:spcPct val="90000"/>
              </a:lnSpc>
              <a:spcBef>
                <a:spcPct val="50000"/>
              </a:spcBef>
              <a:buFontTx/>
              <a:buNone/>
            </a:pPr>
            <a:r>
              <a:rPr lang="zh-CN" altLang="en-US" sz="2400" b="1" dirty="0"/>
              <a:t>  </a:t>
            </a:r>
            <a:r>
              <a:rPr lang="en-US" altLang="zh-CN" sz="2400" b="1" dirty="0" err="1"/>
              <a:t>typedef</a:t>
            </a:r>
            <a:r>
              <a:rPr lang="en-US" altLang="zh-CN" sz="2400" b="1" dirty="0"/>
              <a:t> </a:t>
            </a:r>
            <a:r>
              <a:rPr lang="en-US" altLang="zh-CN" sz="2400" b="1" dirty="0" err="1"/>
              <a:t>struct</a:t>
            </a:r>
            <a:r>
              <a:rPr lang="en-US" altLang="zh-CN" sz="2400" b="1" dirty="0"/>
              <a:t>  </a:t>
            </a:r>
            <a:r>
              <a:rPr lang="en-US" altLang="zh-CN" sz="2400" b="1" dirty="0" err="1"/>
              <a:t>qnode</a:t>
            </a:r>
            <a:r>
              <a:rPr lang="en-US" altLang="zh-CN" sz="2400" b="1" dirty="0"/>
              <a:t> </a:t>
            </a:r>
          </a:p>
          <a:p>
            <a:pPr eaLnBrk="1" hangingPunct="1">
              <a:lnSpc>
                <a:spcPct val="90000"/>
              </a:lnSpc>
              <a:buFontTx/>
              <a:buNone/>
            </a:pPr>
            <a:r>
              <a:rPr lang="en-US" altLang="zh-CN" sz="2400" b="1" dirty="0"/>
              <a:t>  { </a:t>
            </a:r>
            <a:r>
              <a:rPr lang="en-US" altLang="zh-CN" sz="2400" b="1" dirty="0" err="1"/>
              <a:t>elemtype</a:t>
            </a:r>
            <a:r>
              <a:rPr lang="en-US" altLang="zh-CN" sz="2400" b="1" dirty="0"/>
              <a:t>   data ;</a:t>
            </a:r>
          </a:p>
          <a:p>
            <a:pPr eaLnBrk="1" hangingPunct="1">
              <a:lnSpc>
                <a:spcPct val="90000"/>
              </a:lnSpc>
              <a:buFontTx/>
              <a:buNone/>
            </a:pPr>
            <a:r>
              <a:rPr lang="en-US" altLang="zh-CN" sz="2400" b="1" dirty="0"/>
              <a:t>     </a:t>
            </a:r>
            <a:r>
              <a:rPr lang="en-US" altLang="zh-CN" sz="2400" b="1" dirty="0" err="1"/>
              <a:t>struct</a:t>
            </a:r>
            <a:r>
              <a:rPr lang="en-US" altLang="zh-CN" sz="2400" b="1" dirty="0"/>
              <a:t>    </a:t>
            </a:r>
            <a:r>
              <a:rPr lang="en-US" altLang="zh-CN" sz="2400" b="1" dirty="0" err="1"/>
              <a:t>qnode</a:t>
            </a:r>
            <a:r>
              <a:rPr lang="en-US" altLang="zh-CN" sz="2400" b="1" dirty="0"/>
              <a:t>  * next ;</a:t>
            </a:r>
          </a:p>
          <a:p>
            <a:pPr eaLnBrk="1" hangingPunct="1">
              <a:lnSpc>
                <a:spcPct val="90000"/>
              </a:lnSpc>
              <a:spcBef>
                <a:spcPct val="50000"/>
              </a:spcBef>
              <a:buFontTx/>
              <a:buNone/>
            </a:pPr>
            <a:r>
              <a:rPr lang="en-US" altLang="zh-CN" sz="2400" b="1" dirty="0"/>
              <a:t>   } </a:t>
            </a:r>
            <a:r>
              <a:rPr lang="en-US" altLang="zh-CN" sz="2400" b="1" dirty="0" err="1"/>
              <a:t>qnode</a:t>
            </a:r>
            <a:r>
              <a:rPr lang="en-US" altLang="zh-CN" sz="2400" b="1" dirty="0"/>
              <a:t>, *</a:t>
            </a:r>
            <a:r>
              <a:rPr lang="en-US" altLang="zh-CN" sz="2400" b="1" dirty="0" err="1"/>
              <a:t>QueuePtr</a:t>
            </a:r>
            <a:r>
              <a:rPr lang="en-US" altLang="zh-CN" sz="2400" b="1" dirty="0"/>
              <a:t>; </a:t>
            </a:r>
            <a:endParaRPr lang="en-US" altLang="zh-CN" sz="2400" b="1" dirty="0">
              <a:solidFill>
                <a:srgbClr val="006600"/>
              </a:solidFill>
              <a:latin typeface="楷体_GB2312" pitchFamily="49" charset="-122"/>
              <a:ea typeface="楷体_GB2312" pitchFamily="49" charset="-122"/>
            </a:endParaRPr>
          </a:p>
        </p:txBody>
      </p:sp>
      <p:sp>
        <p:nvSpPr>
          <p:cNvPr id="112644" name="Text Box 3"/>
          <p:cNvSpPr txBox="1">
            <a:spLocks noChangeArrowheads="1"/>
          </p:cNvSpPr>
          <p:nvPr/>
        </p:nvSpPr>
        <p:spPr bwMode="auto">
          <a:xfrm>
            <a:off x="161925" y="188913"/>
            <a:ext cx="4949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3600" b="1">
                <a:solidFill>
                  <a:schemeClr val="hlink"/>
                </a:solidFill>
              </a:rPr>
              <a:t>链队列的</a:t>
            </a:r>
            <a:r>
              <a:rPr lang="en-US" altLang="zh-CN" sz="3600" b="1">
                <a:solidFill>
                  <a:schemeClr val="hlink"/>
                </a:solidFill>
              </a:rPr>
              <a:t>c</a:t>
            </a:r>
            <a:r>
              <a:rPr lang="zh-CN" altLang="en-US" sz="3600" b="1">
                <a:solidFill>
                  <a:schemeClr val="hlink"/>
                </a:solidFill>
              </a:rPr>
              <a:t>语言描述：</a:t>
            </a:r>
            <a:endParaRPr lang="zh-CN" altLang="en-US" sz="3600" b="1">
              <a:solidFill>
                <a:schemeClr val="hlink"/>
              </a:solidFill>
              <a:ea typeface="楷体_GB2312" pitchFamily="49" charset="-122"/>
            </a:endParaRPr>
          </a:p>
        </p:txBody>
      </p:sp>
      <p:grpSp>
        <p:nvGrpSpPr>
          <p:cNvPr id="112645" name="Group 28"/>
          <p:cNvGrpSpPr>
            <a:grpSpLocks/>
          </p:cNvGrpSpPr>
          <p:nvPr/>
        </p:nvGrpSpPr>
        <p:grpSpPr bwMode="auto">
          <a:xfrm>
            <a:off x="5702300" y="1828800"/>
            <a:ext cx="3505200" cy="4435475"/>
            <a:chOff x="3168" y="1008"/>
            <a:chExt cx="2208" cy="2794"/>
          </a:xfrm>
        </p:grpSpPr>
        <p:sp>
          <p:nvSpPr>
            <p:cNvPr id="112647" name="Rectangle 5"/>
            <p:cNvSpPr>
              <a:spLocks noChangeArrowheads="1"/>
            </p:cNvSpPr>
            <p:nvPr/>
          </p:nvSpPr>
          <p:spPr bwMode="auto">
            <a:xfrm>
              <a:off x="3840" y="1296"/>
              <a:ext cx="960"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2648" name="Rectangle 6"/>
            <p:cNvSpPr>
              <a:spLocks noChangeArrowheads="1"/>
            </p:cNvSpPr>
            <p:nvPr/>
          </p:nvSpPr>
          <p:spPr bwMode="auto">
            <a:xfrm>
              <a:off x="3840" y="1728"/>
              <a:ext cx="960"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2649" name="Rectangle 7"/>
            <p:cNvSpPr>
              <a:spLocks noChangeArrowheads="1"/>
            </p:cNvSpPr>
            <p:nvPr/>
          </p:nvSpPr>
          <p:spPr bwMode="auto">
            <a:xfrm>
              <a:off x="3840" y="2160"/>
              <a:ext cx="960"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2650" name="Rectangle 8"/>
            <p:cNvSpPr>
              <a:spLocks noChangeArrowheads="1"/>
            </p:cNvSpPr>
            <p:nvPr/>
          </p:nvSpPr>
          <p:spPr bwMode="auto">
            <a:xfrm>
              <a:off x="3840" y="3312"/>
              <a:ext cx="960"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2651" name="Line 9"/>
            <p:cNvSpPr>
              <a:spLocks noChangeShapeType="1"/>
            </p:cNvSpPr>
            <p:nvPr/>
          </p:nvSpPr>
          <p:spPr bwMode="auto">
            <a:xfrm>
              <a:off x="4368" y="129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2" name="Line 10"/>
            <p:cNvSpPr>
              <a:spLocks noChangeShapeType="1"/>
            </p:cNvSpPr>
            <p:nvPr/>
          </p:nvSpPr>
          <p:spPr bwMode="auto">
            <a:xfrm>
              <a:off x="4368" y="172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3" name="Line 11"/>
            <p:cNvSpPr>
              <a:spLocks noChangeShapeType="1"/>
            </p:cNvSpPr>
            <p:nvPr/>
          </p:nvSpPr>
          <p:spPr bwMode="auto">
            <a:xfrm>
              <a:off x="4368" y="216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4" name="Line 12"/>
            <p:cNvSpPr>
              <a:spLocks noChangeShapeType="1"/>
            </p:cNvSpPr>
            <p:nvPr/>
          </p:nvSpPr>
          <p:spPr bwMode="auto">
            <a:xfrm>
              <a:off x="4368" y="3312"/>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5" name="Text Box 13"/>
            <p:cNvSpPr txBox="1">
              <a:spLocks noChangeArrowheads="1"/>
            </p:cNvSpPr>
            <p:nvPr/>
          </p:nvSpPr>
          <p:spPr bwMode="auto">
            <a:xfrm>
              <a:off x="3888" y="1008"/>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a:t>data   next</a:t>
              </a:r>
            </a:p>
          </p:txBody>
        </p:sp>
        <p:sp>
          <p:nvSpPr>
            <p:cNvPr id="112656" name="Line 14"/>
            <p:cNvSpPr>
              <a:spLocks noChangeShapeType="1"/>
            </p:cNvSpPr>
            <p:nvPr/>
          </p:nvSpPr>
          <p:spPr bwMode="auto">
            <a:xfrm>
              <a:off x="4560" y="144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7" name="Line 15"/>
            <p:cNvSpPr>
              <a:spLocks noChangeShapeType="1"/>
            </p:cNvSpPr>
            <p:nvPr/>
          </p:nvSpPr>
          <p:spPr bwMode="auto">
            <a:xfrm>
              <a:off x="4560" y="1872"/>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8" name="Line 16"/>
            <p:cNvSpPr>
              <a:spLocks noChangeShapeType="1"/>
            </p:cNvSpPr>
            <p:nvPr/>
          </p:nvSpPr>
          <p:spPr bwMode="auto">
            <a:xfrm>
              <a:off x="4560" y="2304"/>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9" name="Line 17"/>
            <p:cNvSpPr>
              <a:spLocks noChangeShapeType="1"/>
            </p:cNvSpPr>
            <p:nvPr/>
          </p:nvSpPr>
          <p:spPr bwMode="auto">
            <a:xfrm>
              <a:off x="4560" y="2640"/>
              <a:ext cx="0" cy="384"/>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0" name="Line 18"/>
            <p:cNvSpPr>
              <a:spLocks noChangeShapeType="1"/>
            </p:cNvSpPr>
            <p:nvPr/>
          </p:nvSpPr>
          <p:spPr bwMode="auto">
            <a:xfrm>
              <a:off x="4560" y="3024"/>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1" name="Text Box 19"/>
            <p:cNvSpPr txBox="1">
              <a:spLocks noChangeArrowheads="1"/>
            </p:cNvSpPr>
            <p:nvPr/>
          </p:nvSpPr>
          <p:spPr bwMode="auto">
            <a:xfrm>
              <a:off x="4464" y="340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400"/>
                <a:t>^</a:t>
              </a:r>
            </a:p>
          </p:txBody>
        </p:sp>
        <p:sp>
          <p:nvSpPr>
            <p:cNvPr id="112662" name="Line 20"/>
            <p:cNvSpPr>
              <a:spLocks noChangeShapeType="1"/>
            </p:cNvSpPr>
            <p:nvPr/>
          </p:nvSpPr>
          <p:spPr bwMode="auto">
            <a:xfrm flipV="1">
              <a:off x="3504" y="1440"/>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3" name="Text Box 21"/>
            <p:cNvSpPr txBox="1">
              <a:spLocks noChangeArrowheads="1"/>
            </p:cNvSpPr>
            <p:nvPr/>
          </p:nvSpPr>
          <p:spPr bwMode="auto">
            <a:xfrm>
              <a:off x="3168" y="1248"/>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000"/>
                <a:t>Q.front</a:t>
              </a:r>
            </a:p>
          </p:txBody>
        </p:sp>
        <p:sp>
          <p:nvSpPr>
            <p:cNvPr id="112664" name="Line 22"/>
            <p:cNvSpPr>
              <a:spLocks noChangeShapeType="1"/>
            </p:cNvSpPr>
            <p:nvPr/>
          </p:nvSpPr>
          <p:spPr bwMode="auto">
            <a:xfrm>
              <a:off x="3552" y="345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5" name="Line 23"/>
            <p:cNvSpPr>
              <a:spLocks noChangeShapeType="1"/>
            </p:cNvSpPr>
            <p:nvPr/>
          </p:nvSpPr>
          <p:spPr bwMode="auto">
            <a:xfrm>
              <a:off x="3552" y="3456"/>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6" name="Text Box 24"/>
            <p:cNvSpPr txBox="1">
              <a:spLocks noChangeArrowheads="1"/>
            </p:cNvSpPr>
            <p:nvPr/>
          </p:nvSpPr>
          <p:spPr bwMode="auto">
            <a:xfrm>
              <a:off x="3360" y="3552"/>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000"/>
                <a:t>Q.rear</a:t>
              </a:r>
            </a:p>
          </p:txBody>
        </p:sp>
        <p:sp>
          <p:nvSpPr>
            <p:cNvPr id="112667" name="Text Box 25"/>
            <p:cNvSpPr txBox="1">
              <a:spLocks noChangeArrowheads="1"/>
            </p:cNvSpPr>
            <p:nvPr/>
          </p:nvSpPr>
          <p:spPr bwMode="auto">
            <a:xfrm>
              <a:off x="4800" y="172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b="1">
                  <a:solidFill>
                    <a:schemeClr val="accent2"/>
                  </a:solidFill>
                  <a:ea typeface="楷体_GB2312" pitchFamily="49" charset="-122"/>
                </a:rPr>
                <a:t>队头</a:t>
              </a:r>
              <a:endParaRPr lang="zh-CN" altLang="en-US" sz="2400" b="1"/>
            </a:p>
          </p:txBody>
        </p:sp>
        <p:sp>
          <p:nvSpPr>
            <p:cNvPr id="112668" name="Text Box 26"/>
            <p:cNvSpPr txBox="1">
              <a:spLocks noChangeArrowheads="1"/>
            </p:cNvSpPr>
            <p:nvPr/>
          </p:nvSpPr>
          <p:spPr bwMode="auto">
            <a:xfrm>
              <a:off x="4800" y="331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b="1">
                  <a:solidFill>
                    <a:schemeClr val="accent2"/>
                  </a:solidFill>
                  <a:ea typeface="楷体_GB2312" pitchFamily="49" charset="-122"/>
                </a:rPr>
                <a:t>队尾</a:t>
              </a:r>
              <a:endParaRPr lang="zh-CN" altLang="en-US" sz="2400" b="1"/>
            </a:p>
          </p:txBody>
        </p:sp>
        <p:sp>
          <p:nvSpPr>
            <p:cNvPr id="112669" name="Rectangle 27" descr="浅色上对角线"/>
            <p:cNvSpPr>
              <a:spLocks noChangeArrowheads="1"/>
            </p:cNvSpPr>
            <p:nvPr/>
          </p:nvSpPr>
          <p:spPr bwMode="auto">
            <a:xfrm>
              <a:off x="3840" y="1296"/>
              <a:ext cx="528" cy="288"/>
            </a:xfrm>
            <a:prstGeom prst="rect">
              <a:avLst/>
            </a:prstGeom>
            <a:pattFill prst="ltUpDiag">
              <a:fgClr>
                <a:schemeClr val="tx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sp>
        <p:nvSpPr>
          <p:cNvPr id="594973" name="Rectangle 29"/>
          <p:cNvSpPr>
            <a:spLocks noChangeArrowheads="1"/>
          </p:cNvSpPr>
          <p:nvPr/>
        </p:nvSpPr>
        <p:spPr bwMode="auto">
          <a:xfrm>
            <a:off x="250825" y="3698875"/>
            <a:ext cx="5986463" cy="288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50000"/>
              </a:spcBef>
            </a:pPr>
            <a:r>
              <a:rPr lang="zh-CN" altLang="en-US" sz="2800" b="1" dirty="0"/>
              <a:t>队列结构</a:t>
            </a:r>
            <a:r>
              <a:rPr lang="en-US" altLang="zh-CN" sz="2800" b="1" dirty="0"/>
              <a:t>:</a:t>
            </a:r>
            <a:r>
              <a:rPr lang="en-US" altLang="zh-CN" b="1" dirty="0">
                <a:solidFill>
                  <a:srgbClr val="006600"/>
                </a:solidFill>
              </a:rPr>
              <a:t>//</a:t>
            </a:r>
            <a:r>
              <a:rPr lang="zh-CN" altLang="en-US" b="1" dirty="0">
                <a:solidFill>
                  <a:srgbClr val="006600"/>
                </a:solidFill>
                <a:latin typeface="楷体_GB2312" pitchFamily="49" charset="-122"/>
                <a:ea typeface="楷体_GB2312" pitchFamily="49" charset="-122"/>
              </a:rPr>
              <a:t>定义</a:t>
            </a:r>
            <a:r>
              <a:rPr lang="zh-CN" altLang="en-US" b="1" dirty="0">
                <a:solidFill>
                  <a:srgbClr val="A50021"/>
                </a:solidFill>
                <a:latin typeface="楷体_GB2312" pitchFamily="49" charset="-122"/>
                <a:ea typeface="楷体_GB2312" pitchFamily="49" charset="-122"/>
              </a:rPr>
              <a:t>链队列</a:t>
            </a:r>
            <a:r>
              <a:rPr lang="zh-CN" altLang="en-US" b="1" dirty="0">
                <a:solidFill>
                  <a:srgbClr val="006600"/>
                </a:solidFill>
                <a:latin typeface="楷体_GB2312" pitchFamily="49" charset="-122"/>
                <a:ea typeface="楷体_GB2312" pitchFamily="49" charset="-122"/>
              </a:rPr>
              <a:t>结构</a:t>
            </a:r>
          </a:p>
          <a:p>
            <a:pPr marL="342900" indent="-342900" eaLnBrk="1" hangingPunct="1">
              <a:spcBef>
                <a:spcPct val="50000"/>
              </a:spcBef>
            </a:pPr>
            <a:r>
              <a:rPr lang="en-US" altLang="zh-CN" b="1" dirty="0" err="1"/>
              <a:t>typedef</a:t>
            </a:r>
            <a:r>
              <a:rPr lang="en-US" altLang="zh-CN" b="1" dirty="0"/>
              <a:t> </a:t>
            </a:r>
            <a:r>
              <a:rPr lang="en-US" altLang="zh-CN" b="1" dirty="0" err="1"/>
              <a:t>struct</a:t>
            </a:r>
            <a:r>
              <a:rPr lang="en-US" altLang="zh-CN" b="1" dirty="0"/>
              <a:t>    </a:t>
            </a:r>
          </a:p>
          <a:p>
            <a:pPr marL="342900" indent="-342900" eaLnBrk="1" hangingPunct="1">
              <a:spcBef>
                <a:spcPct val="20000"/>
              </a:spcBef>
            </a:pPr>
            <a:r>
              <a:rPr lang="en-US" altLang="zh-CN" b="1" dirty="0"/>
              <a:t> { </a:t>
            </a:r>
            <a:r>
              <a:rPr lang="en-US" altLang="zh-CN" b="1" dirty="0" err="1"/>
              <a:t>QueuePtr</a:t>
            </a:r>
            <a:r>
              <a:rPr lang="en-US" altLang="zh-CN" b="1" dirty="0"/>
              <a:t>  front ;</a:t>
            </a:r>
          </a:p>
          <a:p>
            <a:pPr marL="342900" indent="-342900" eaLnBrk="1" hangingPunct="1">
              <a:spcBef>
                <a:spcPct val="20000"/>
              </a:spcBef>
            </a:pPr>
            <a:r>
              <a:rPr lang="en-US" altLang="zh-CN" b="1" dirty="0"/>
              <a:t>    </a:t>
            </a:r>
            <a:r>
              <a:rPr lang="en-US" altLang="zh-CN" b="1" dirty="0" err="1"/>
              <a:t>QueuePtr</a:t>
            </a:r>
            <a:r>
              <a:rPr lang="en-US" altLang="zh-CN" b="1" dirty="0"/>
              <a:t> rear ;</a:t>
            </a:r>
          </a:p>
          <a:p>
            <a:pPr marL="342900" indent="-342900" eaLnBrk="1" hangingPunct="1">
              <a:spcBef>
                <a:spcPct val="20000"/>
              </a:spcBef>
            </a:pPr>
            <a:r>
              <a:rPr lang="en-US" altLang="zh-CN" b="1" dirty="0"/>
              <a:t>  } </a:t>
            </a:r>
            <a:r>
              <a:rPr lang="en-US" altLang="zh-CN" b="1" dirty="0" err="1"/>
              <a:t>LinkQueue</a:t>
            </a:r>
            <a:r>
              <a:rPr lang="en-US" altLang="zh-CN" b="1" dirty="0"/>
              <a:t>;        </a:t>
            </a:r>
          </a:p>
        </p:txBody>
      </p:sp>
    </p:spTree>
    <p:extLst>
      <p:ext uri="{BB962C8B-B14F-4D97-AF65-F5344CB8AC3E}">
        <p14:creationId xmlns:p14="http://schemas.microsoft.com/office/powerpoint/2010/main" val="9688464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4946"/>
                                        </p:tgtEl>
                                        <p:attrNameLst>
                                          <p:attrName>style.visibility</p:attrName>
                                        </p:attrNameLst>
                                      </p:cBhvr>
                                      <p:to>
                                        <p:strVal val="visible"/>
                                      </p:to>
                                    </p:set>
                                    <p:animEffect transition="in" filter="box(in)">
                                      <p:cBhvr>
                                        <p:cTn id="7" dur="500"/>
                                        <p:tgtEl>
                                          <p:spTgt spid="594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4973"/>
                                        </p:tgtEl>
                                        <p:attrNameLst>
                                          <p:attrName>style.visibility</p:attrName>
                                        </p:attrNameLst>
                                      </p:cBhvr>
                                      <p:to>
                                        <p:strVal val="visible"/>
                                      </p:to>
                                    </p:set>
                                    <p:animEffect transition="in" filter="box(in)">
                                      <p:cBhvr>
                                        <p:cTn id="12" dur="500"/>
                                        <p:tgtEl>
                                          <p:spTgt spid="594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6" grpId="0"/>
      <p:bldP spid="594973" grpId="0"/>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BE89C4F0-736D-4496-B57E-195E31069637}" type="slidenum">
              <a:rPr lang="en-US" altLang="zh-CN" sz="1400"/>
              <a:pPr/>
              <a:t>128</a:t>
            </a:fld>
            <a:endParaRPr lang="en-US" altLang="zh-CN" sz="1400"/>
          </a:p>
        </p:txBody>
      </p:sp>
      <p:sp>
        <p:nvSpPr>
          <p:cNvPr id="113667" name="Rectangle 3"/>
          <p:cNvSpPr>
            <a:spLocks noGrp="1" noChangeArrowheads="1"/>
          </p:cNvSpPr>
          <p:nvPr>
            <p:ph/>
          </p:nvPr>
        </p:nvSpPr>
        <p:spPr/>
        <p:txBody>
          <a:bodyPr/>
          <a:lstStyle/>
          <a:p>
            <a:pPr algn="ctr" eaLnBrk="1" hangingPunct="1">
              <a:buFontTx/>
              <a:buNone/>
            </a:pPr>
            <a:r>
              <a:rPr lang="en-US" altLang="zh-CN">
                <a:solidFill>
                  <a:srgbClr val="A50021"/>
                </a:solidFill>
              </a:rPr>
              <a:t> </a:t>
            </a:r>
            <a:r>
              <a:rPr lang="zh-CN" altLang="en-US" sz="3600" b="1">
                <a:solidFill>
                  <a:srgbClr val="A50021"/>
                </a:solidFill>
                <a:ea typeface="楷体_GB2312" pitchFamily="49" charset="-122"/>
              </a:rPr>
              <a:t>链队列的示意图：</a:t>
            </a:r>
            <a:endParaRPr lang="zh-CN" altLang="en-US">
              <a:solidFill>
                <a:srgbClr val="A50021"/>
              </a:solidFill>
            </a:endParaRPr>
          </a:p>
          <a:p>
            <a:pPr eaLnBrk="1" hangingPunct="1">
              <a:buFontTx/>
              <a:buNone/>
            </a:pPr>
            <a:endParaRPr lang="zh-CN" altLang="en-US"/>
          </a:p>
          <a:p>
            <a:pPr eaLnBrk="1" hangingPunct="1">
              <a:buFontTx/>
              <a:buNone/>
            </a:pPr>
            <a:endParaRPr lang="zh-CN" altLang="en-US"/>
          </a:p>
          <a:p>
            <a:pPr eaLnBrk="1" hangingPunct="1">
              <a:buFontTx/>
              <a:buNone/>
            </a:pPr>
            <a:r>
              <a:rPr lang="zh-CN" altLang="en-US"/>
              <a:t>                         </a:t>
            </a:r>
            <a:r>
              <a:rPr lang="en-US" altLang="zh-CN" sz="2800" b="1">
                <a:latin typeface="楷体_GB2312" pitchFamily="49" charset="-122"/>
                <a:ea typeface="楷体_GB2312" pitchFamily="49" charset="-122"/>
              </a:rPr>
              <a:t>(a) </a:t>
            </a:r>
            <a:r>
              <a:rPr lang="zh-CN" altLang="en-US" sz="2800" b="1">
                <a:latin typeface="楷体_GB2312" pitchFamily="49" charset="-122"/>
                <a:ea typeface="楷体_GB2312" pitchFamily="49" charset="-122"/>
              </a:rPr>
              <a:t>空链队列</a:t>
            </a:r>
          </a:p>
          <a:p>
            <a:pPr eaLnBrk="1" hangingPunct="1">
              <a:buFontTx/>
              <a:buNone/>
            </a:pPr>
            <a:endParaRPr lang="zh-CN" altLang="en-US"/>
          </a:p>
          <a:p>
            <a:pPr eaLnBrk="1" hangingPunct="1">
              <a:buFontTx/>
              <a:buNone/>
            </a:pPr>
            <a:endParaRPr lang="zh-CN" altLang="en-US"/>
          </a:p>
          <a:p>
            <a:pPr eaLnBrk="1" hangingPunct="1">
              <a:buFontTx/>
              <a:buNone/>
            </a:pPr>
            <a:r>
              <a:rPr lang="zh-CN" altLang="en-US"/>
              <a:t>        </a:t>
            </a:r>
          </a:p>
        </p:txBody>
      </p:sp>
      <p:sp>
        <p:nvSpPr>
          <p:cNvPr id="113668" name="Rectangle 4"/>
          <p:cNvSpPr>
            <a:spLocks noChangeArrowheads="1"/>
          </p:cNvSpPr>
          <p:nvPr/>
        </p:nvSpPr>
        <p:spPr bwMode="auto">
          <a:xfrm>
            <a:off x="2514600" y="1524000"/>
            <a:ext cx="1295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front</a:t>
            </a:r>
          </a:p>
        </p:txBody>
      </p:sp>
      <p:sp>
        <p:nvSpPr>
          <p:cNvPr id="113669" name="Rectangle 5"/>
          <p:cNvSpPr>
            <a:spLocks noChangeArrowheads="1"/>
          </p:cNvSpPr>
          <p:nvPr/>
        </p:nvSpPr>
        <p:spPr bwMode="auto">
          <a:xfrm>
            <a:off x="2514600" y="1981200"/>
            <a:ext cx="1295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rear</a:t>
            </a:r>
          </a:p>
        </p:txBody>
      </p:sp>
      <p:sp>
        <p:nvSpPr>
          <p:cNvPr id="113670" name="Line 6"/>
          <p:cNvSpPr>
            <a:spLocks noChangeShapeType="1"/>
          </p:cNvSpPr>
          <p:nvPr/>
        </p:nvSpPr>
        <p:spPr bwMode="auto">
          <a:xfrm flipH="1">
            <a:off x="3429000" y="2133600"/>
            <a:ext cx="22860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71" name="Rectangle 24"/>
          <p:cNvSpPr>
            <a:spLocks noChangeArrowheads="1"/>
          </p:cNvSpPr>
          <p:nvPr/>
        </p:nvSpPr>
        <p:spPr bwMode="auto">
          <a:xfrm>
            <a:off x="3067050" y="5054600"/>
            <a:ext cx="2689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latin typeface="楷体_GB2312" pitchFamily="49" charset="-122"/>
                <a:ea typeface="楷体_GB2312" pitchFamily="49" charset="-122"/>
              </a:rPr>
              <a:t>(b) </a:t>
            </a:r>
            <a:r>
              <a:rPr lang="zh-CN" altLang="en-US" sz="2800" b="1">
                <a:latin typeface="楷体_GB2312" pitchFamily="49" charset="-122"/>
                <a:ea typeface="楷体_GB2312" pitchFamily="49" charset="-122"/>
              </a:rPr>
              <a:t>非空链队列</a:t>
            </a:r>
            <a:endParaRPr lang="zh-CN" altLang="en-US" sz="2000" b="1">
              <a:latin typeface="楷体_GB2312" pitchFamily="49" charset="-122"/>
              <a:ea typeface="楷体_GB2312" pitchFamily="49" charset="-122"/>
            </a:endParaRPr>
          </a:p>
        </p:txBody>
      </p:sp>
      <p:sp>
        <p:nvSpPr>
          <p:cNvPr id="113672" name="Rectangle 25"/>
          <p:cNvSpPr>
            <a:spLocks noChangeArrowheads="1"/>
          </p:cNvSpPr>
          <p:nvPr/>
        </p:nvSpPr>
        <p:spPr bwMode="auto">
          <a:xfrm>
            <a:off x="1981200" y="1524000"/>
            <a:ext cx="477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3200"/>
              <a:t>Q</a:t>
            </a:r>
          </a:p>
        </p:txBody>
      </p:sp>
      <p:sp>
        <p:nvSpPr>
          <p:cNvPr id="113673" name="Line 26"/>
          <p:cNvSpPr>
            <a:spLocks noChangeShapeType="1"/>
          </p:cNvSpPr>
          <p:nvPr/>
        </p:nvSpPr>
        <p:spPr bwMode="auto">
          <a:xfrm flipH="1">
            <a:off x="3429000" y="1828800"/>
            <a:ext cx="22860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74" name="Rectangle 27" descr="宽上对角线"/>
          <p:cNvSpPr>
            <a:spLocks noChangeArrowheads="1"/>
          </p:cNvSpPr>
          <p:nvPr/>
        </p:nvSpPr>
        <p:spPr bwMode="auto">
          <a:xfrm>
            <a:off x="5715000" y="1752600"/>
            <a:ext cx="609600" cy="457200"/>
          </a:xfrm>
          <a:prstGeom prst="rect">
            <a:avLst/>
          </a:prstGeom>
          <a:pattFill prst="wdUpDiag">
            <a:fgClr>
              <a:srgbClr val="FF9933"/>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3675" name="Rectangle 28"/>
          <p:cNvSpPr>
            <a:spLocks noChangeArrowheads="1"/>
          </p:cNvSpPr>
          <p:nvPr/>
        </p:nvSpPr>
        <p:spPr bwMode="auto">
          <a:xfrm>
            <a:off x="6324600" y="17526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a:t>
            </a:r>
          </a:p>
        </p:txBody>
      </p:sp>
      <p:sp>
        <p:nvSpPr>
          <p:cNvPr id="113676" name="Text Box 29"/>
          <p:cNvSpPr txBox="1">
            <a:spLocks noChangeArrowheads="1"/>
          </p:cNvSpPr>
          <p:nvPr/>
        </p:nvSpPr>
        <p:spPr bwMode="auto">
          <a:xfrm>
            <a:off x="5715000" y="1328738"/>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a:ea typeface="楷体_GB2312" pitchFamily="49" charset="-122"/>
              </a:rPr>
              <a:t>头结点</a:t>
            </a:r>
          </a:p>
        </p:txBody>
      </p:sp>
      <p:sp>
        <p:nvSpPr>
          <p:cNvPr id="113677" name="Rectangle 33"/>
          <p:cNvSpPr>
            <a:spLocks noChangeArrowheads="1"/>
          </p:cNvSpPr>
          <p:nvPr/>
        </p:nvSpPr>
        <p:spPr bwMode="auto">
          <a:xfrm>
            <a:off x="5276850" y="37338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3678" name="Rectangle 34"/>
          <p:cNvSpPr>
            <a:spLocks noChangeArrowheads="1"/>
          </p:cNvSpPr>
          <p:nvPr/>
        </p:nvSpPr>
        <p:spPr bwMode="auto">
          <a:xfrm>
            <a:off x="933450" y="3733800"/>
            <a:ext cx="1295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front</a:t>
            </a:r>
          </a:p>
        </p:txBody>
      </p:sp>
      <p:sp>
        <p:nvSpPr>
          <p:cNvPr id="113679" name="Rectangle 35"/>
          <p:cNvSpPr>
            <a:spLocks noChangeArrowheads="1"/>
          </p:cNvSpPr>
          <p:nvPr/>
        </p:nvSpPr>
        <p:spPr bwMode="auto">
          <a:xfrm>
            <a:off x="933450" y="4191000"/>
            <a:ext cx="1295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rear</a:t>
            </a:r>
          </a:p>
        </p:txBody>
      </p:sp>
      <p:sp>
        <p:nvSpPr>
          <p:cNvPr id="113680" name="Rectangle 36" descr="宽上对角线"/>
          <p:cNvSpPr>
            <a:spLocks noChangeArrowheads="1"/>
          </p:cNvSpPr>
          <p:nvPr/>
        </p:nvSpPr>
        <p:spPr bwMode="auto">
          <a:xfrm>
            <a:off x="2914650" y="3733800"/>
            <a:ext cx="609600" cy="457200"/>
          </a:xfrm>
          <a:prstGeom prst="rect">
            <a:avLst/>
          </a:prstGeom>
          <a:pattFill prst="wdUpDiag">
            <a:fgClr>
              <a:srgbClr val="FF9933"/>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3681" name="Rectangle 37"/>
          <p:cNvSpPr>
            <a:spLocks noChangeArrowheads="1"/>
          </p:cNvSpPr>
          <p:nvPr/>
        </p:nvSpPr>
        <p:spPr bwMode="auto">
          <a:xfrm>
            <a:off x="3524250" y="37338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3682" name="Rectangle 38"/>
          <p:cNvSpPr>
            <a:spLocks noChangeArrowheads="1"/>
          </p:cNvSpPr>
          <p:nvPr/>
        </p:nvSpPr>
        <p:spPr bwMode="auto">
          <a:xfrm>
            <a:off x="4667250" y="37338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3200" b="1" baseline="-25000"/>
              <a:t>1</a:t>
            </a:r>
          </a:p>
        </p:txBody>
      </p:sp>
      <p:sp>
        <p:nvSpPr>
          <p:cNvPr id="113683" name="Rectangle 39"/>
          <p:cNvSpPr>
            <a:spLocks noChangeArrowheads="1"/>
          </p:cNvSpPr>
          <p:nvPr/>
        </p:nvSpPr>
        <p:spPr bwMode="auto">
          <a:xfrm>
            <a:off x="5276850" y="37338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3684" name="Rectangle 40"/>
          <p:cNvSpPr>
            <a:spLocks noChangeArrowheads="1"/>
          </p:cNvSpPr>
          <p:nvPr/>
        </p:nvSpPr>
        <p:spPr bwMode="auto">
          <a:xfrm>
            <a:off x="6953250" y="37338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3200" b="1"/>
              <a:t>a</a:t>
            </a:r>
            <a:r>
              <a:rPr lang="en-US" altLang="zh-CN" sz="1800" b="1"/>
              <a:t>n</a:t>
            </a:r>
            <a:endParaRPr lang="en-US" altLang="zh-CN" sz="3200" b="1"/>
          </a:p>
        </p:txBody>
      </p:sp>
      <p:sp>
        <p:nvSpPr>
          <p:cNvPr id="113685" name="Rectangle 41"/>
          <p:cNvSpPr>
            <a:spLocks noChangeArrowheads="1"/>
          </p:cNvSpPr>
          <p:nvPr/>
        </p:nvSpPr>
        <p:spPr bwMode="auto">
          <a:xfrm>
            <a:off x="7562850" y="37338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a:t>
            </a:r>
          </a:p>
        </p:txBody>
      </p:sp>
      <p:sp>
        <p:nvSpPr>
          <p:cNvPr id="113686" name="Line 42"/>
          <p:cNvSpPr>
            <a:spLocks noChangeShapeType="1"/>
          </p:cNvSpPr>
          <p:nvPr/>
        </p:nvSpPr>
        <p:spPr bwMode="auto">
          <a:xfrm>
            <a:off x="2000250" y="39624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7" name="Line 43"/>
          <p:cNvSpPr>
            <a:spLocks noChangeShapeType="1"/>
          </p:cNvSpPr>
          <p:nvPr/>
        </p:nvSpPr>
        <p:spPr bwMode="auto">
          <a:xfrm>
            <a:off x="3752850" y="39624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8" name="Line 44"/>
          <p:cNvSpPr>
            <a:spLocks noChangeShapeType="1"/>
          </p:cNvSpPr>
          <p:nvPr/>
        </p:nvSpPr>
        <p:spPr bwMode="auto">
          <a:xfrm>
            <a:off x="5429250" y="3962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9" name="Line 45"/>
          <p:cNvSpPr>
            <a:spLocks noChangeShapeType="1"/>
          </p:cNvSpPr>
          <p:nvPr/>
        </p:nvSpPr>
        <p:spPr bwMode="auto">
          <a:xfrm>
            <a:off x="5962650" y="3962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90" name="Line 46"/>
          <p:cNvSpPr>
            <a:spLocks noChangeShapeType="1"/>
          </p:cNvSpPr>
          <p:nvPr/>
        </p:nvSpPr>
        <p:spPr bwMode="auto">
          <a:xfrm>
            <a:off x="6191250" y="36576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91" name="Line 47"/>
          <p:cNvSpPr>
            <a:spLocks noChangeShapeType="1"/>
          </p:cNvSpPr>
          <p:nvPr/>
        </p:nvSpPr>
        <p:spPr bwMode="auto">
          <a:xfrm>
            <a:off x="6191250" y="3962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92" name="Line 48"/>
          <p:cNvSpPr>
            <a:spLocks noChangeShapeType="1"/>
          </p:cNvSpPr>
          <p:nvPr/>
        </p:nvSpPr>
        <p:spPr bwMode="auto">
          <a:xfrm>
            <a:off x="6343650" y="39624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13693" name="AutoShape 49"/>
          <p:cNvCxnSpPr>
            <a:cxnSpLocks noChangeShapeType="1"/>
            <a:stCxn id="113679" idx="3"/>
            <a:endCxn id="113684" idx="2"/>
          </p:cNvCxnSpPr>
          <p:nvPr/>
        </p:nvCxnSpPr>
        <p:spPr bwMode="auto">
          <a:xfrm flipV="1">
            <a:off x="2228850" y="4191000"/>
            <a:ext cx="5029200" cy="2286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694" name="Rectangle 50"/>
          <p:cNvSpPr>
            <a:spLocks noChangeArrowheads="1"/>
          </p:cNvSpPr>
          <p:nvPr/>
        </p:nvSpPr>
        <p:spPr bwMode="auto">
          <a:xfrm>
            <a:off x="476250" y="3733800"/>
            <a:ext cx="477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3200"/>
              <a:t>Q</a:t>
            </a:r>
          </a:p>
        </p:txBody>
      </p:sp>
      <p:sp>
        <p:nvSpPr>
          <p:cNvPr id="113695" name="Text Box 51"/>
          <p:cNvSpPr txBox="1">
            <a:spLocks noChangeArrowheads="1"/>
          </p:cNvSpPr>
          <p:nvPr/>
        </p:nvSpPr>
        <p:spPr bwMode="auto">
          <a:xfrm>
            <a:off x="2847975" y="329565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a:ea typeface="楷体_GB2312" pitchFamily="49" charset="-122"/>
              </a:rPr>
              <a:t>头结点</a:t>
            </a:r>
          </a:p>
        </p:txBody>
      </p:sp>
      <p:sp>
        <p:nvSpPr>
          <p:cNvPr id="113696" name="Text Box 52"/>
          <p:cNvSpPr txBox="1">
            <a:spLocks noChangeArrowheads="1"/>
          </p:cNvSpPr>
          <p:nvPr/>
        </p:nvSpPr>
        <p:spPr bwMode="auto">
          <a:xfrm>
            <a:off x="4443413" y="332422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a:ea typeface="楷体_GB2312" pitchFamily="49" charset="-122"/>
              </a:rPr>
              <a:t>队头结点</a:t>
            </a:r>
          </a:p>
        </p:txBody>
      </p:sp>
      <p:sp>
        <p:nvSpPr>
          <p:cNvPr id="113697" name="Text Box 53"/>
          <p:cNvSpPr txBox="1">
            <a:spLocks noChangeArrowheads="1"/>
          </p:cNvSpPr>
          <p:nvPr/>
        </p:nvSpPr>
        <p:spPr bwMode="auto">
          <a:xfrm>
            <a:off x="6815138" y="3319463"/>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2400">
                <a:ea typeface="楷体_GB2312" pitchFamily="49" charset="-122"/>
              </a:rPr>
              <a:t>队尾结点</a:t>
            </a:r>
          </a:p>
        </p:txBody>
      </p:sp>
    </p:spTree>
    <p:extLst>
      <p:ext uri="{BB962C8B-B14F-4D97-AF65-F5344CB8AC3E}">
        <p14:creationId xmlns:p14="http://schemas.microsoft.com/office/powerpoint/2010/main" val="2062351485"/>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EF16328D-5F55-4D3E-AE80-516486A37CE4}" type="slidenum">
              <a:rPr lang="en-US" altLang="zh-CN" sz="1400"/>
              <a:pPr/>
              <a:t>129</a:t>
            </a:fld>
            <a:endParaRPr lang="en-US" altLang="zh-CN" sz="1400"/>
          </a:p>
        </p:txBody>
      </p:sp>
      <p:sp>
        <p:nvSpPr>
          <p:cNvPr id="114691" name="Rectangle 2"/>
          <p:cNvSpPr>
            <a:spLocks noChangeArrowheads="1"/>
          </p:cNvSpPr>
          <p:nvPr/>
        </p:nvSpPr>
        <p:spPr bwMode="auto">
          <a:xfrm>
            <a:off x="685800" y="687388"/>
            <a:ext cx="777240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zh-CN" altLang="en-US" sz="4400" b="1">
                <a:solidFill>
                  <a:srgbClr val="A50021"/>
                </a:solidFill>
                <a:latin typeface="楷体_GB2312" pitchFamily="49" charset="-122"/>
                <a:ea typeface="楷体_GB2312" pitchFamily="49" charset="-122"/>
              </a:rPr>
              <a:t>链队列的初始化算法</a:t>
            </a:r>
            <a:endParaRPr lang="zh-CN" altLang="en-US" sz="4800" b="1">
              <a:solidFill>
                <a:srgbClr val="A50021"/>
              </a:solidFill>
              <a:latin typeface="楷体_GB2312" pitchFamily="49" charset="-122"/>
              <a:ea typeface="楷体_GB2312" pitchFamily="49" charset="-122"/>
            </a:endParaRPr>
          </a:p>
        </p:txBody>
      </p:sp>
      <p:sp>
        <p:nvSpPr>
          <p:cNvPr id="114692" name="Text Box 3"/>
          <p:cNvSpPr txBox="1">
            <a:spLocks noChangeArrowheads="1"/>
          </p:cNvSpPr>
          <p:nvPr/>
        </p:nvSpPr>
        <p:spPr bwMode="auto">
          <a:xfrm>
            <a:off x="296863" y="1449388"/>
            <a:ext cx="8229600" cy="436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ea typeface="楷体_GB2312" pitchFamily="49" charset="-122"/>
              </a:rPr>
              <a:t>Status </a:t>
            </a:r>
            <a:r>
              <a:rPr lang="en-US" altLang="zh-CN" sz="2800" b="1" dirty="0" err="1">
                <a:ea typeface="楷体_GB2312" pitchFamily="49" charset="-122"/>
              </a:rPr>
              <a:t>InitQueue</a:t>
            </a:r>
            <a:r>
              <a:rPr lang="en-US" altLang="zh-CN" sz="2800" b="1" dirty="0">
                <a:ea typeface="楷体_GB2312" pitchFamily="49" charset="-122"/>
              </a:rPr>
              <a:t>(</a:t>
            </a:r>
            <a:r>
              <a:rPr lang="en-US" altLang="zh-CN" sz="2800" b="1" dirty="0" err="1">
                <a:ea typeface="楷体_GB2312" pitchFamily="49" charset="-122"/>
              </a:rPr>
              <a:t>LinkQueue</a:t>
            </a:r>
            <a:r>
              <a:rPr lang="en-US" altLang="zh-CN" sz="2800" b="1" dirty="0">
                <a:ea typeface="楷体_GB2312" pitchFamily="49" charset="-122"/>
              </a:rPr>
              <a:t> Q)</a:t>
            </a:r>
          </a:p>
          <a:p>
            <a:pPr eaLnBrk="1" hangingPunct="1">
              <a:spcBef>
                <a:spcPct val="50000"/>
              </a:spcBef>
            </a:pPr>
            <a:r>
              <a:rPr lang="en-US" altLang="zh-CN" sz="2800" b="1" dirty="0">
                <a:ea typeface="楷体_GB2312" pitchFamily="49" charset="-122"/>
              </a:rPr>
              <a:t>   {</a:t>
            </a:r>
          </a:p>
          <a:p>
            <a:pPr eaLnBrk="1" hangingPunct="1">
              <a:spcBef>
                <a:spcPct val="50000"/>
              </a:spcBef>
            </a:pPr>
            <a:endParaRPr lang="en-US" altLang="zh-CN" sz="2800" b="1" dirty="0">
              <a:ea typeface="楷体_GB2312" pitchFamily="49" charset="-122"/>
            </a:endParaRPr>
          </a:p>
          <a:p>
            <a:pPr eaLnBrk="1" hangingPunct="1">
              <a:spcBef>
                <a:spcPct val="50000"/>
              </a:spcBef>
            </a:pPr>
            <a:endParaRPr lang="en-US" altLang="zh-CN" sz="2800" b="1" dirty="0">
              <a:ea typeface="楷体_GB2312" pitchFamily="49" charset="-122"/>
            </a:endParaRPr>
          </a:p>
          <a:p>
            <a:pPr eaLnBrk="1" hangingPunct="1">
              <a:spcBef>
                <a:spcPct val="50000"/>
              </a:spcBef>
            </a:pPr>
            <a:endParaRPr lang="en-US" altLang="zh-CN" sz="2800" b="1" dirty="0">
              <a:ea typeface="楷体_GB2312" pitchFamily="49" charset="-122"/>
            </a:endParaRPr>
          </a:p>
          <a:p>
            <a:pPr eaLnBrk="1" hangingPunct="1">
              <a:spcBef>
                <a:spcPct val="50000"/>
              </a:spcBef>
            </a:pPr>
            <a:endParaRPr lang="en-US" altLang="zh-CN" sz="2800" b="1" dirty="0">
              <a:ea typeface="楷体_GB2312" pitchFamily="49" charset="-122"/>
            </a:endParaRPr>
          </a:p>
          <a:p>
            <a:pPr eaLnBrk="1" hangingPunct="1">
              <a:spcBef>
                <a:spcPct val="50000"/>
              </a:spcBef>
            </a:pPr>
            <a:r>
              <a:rPr lang="en-US" altLang="zh-CN" sz="2800" b="1" dirty="0">
                <a:ea typeface="楷体_GB2312" pitchFamily="49" charset="-122"/>
              </a:rPr>
              <a:t>}</a:t>
            </a:r>
          </a:p>
        </p:txBody>
      </p:sp>
      <p:sp>
        <p:nvSpPr>
          <p:cNvPr id="597003" name="Text Box 11"/>
          <p:cNvSpPr txBox="1">
            <a:spLocks noChangeArrowheads="1"/>
          </p:cNvSpPr>
          <p:nvPr/>
        </p:nvSpPr>
        <p:spPr bwMode="auto">
          <a:xfrm>
            <a:off x="611188" y="2259013"/>
            <a:ext cx="8229600" cy="308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dirty="0">
                <a:ea typeface="楷体_GB2312" pitchFamily="49" charset="-122"/>
              </a:rPr>
              <a:t>    </a:t>
            </a:r>
            <a:r>
              <a:rPr lang="en-US" altLang="zh-CN" sz="2800" b="1" dirty="0" err="1">
                <a:ea typeface="楷体_GB2312" pitchFamily="49" charset="-122"/>
              </a:rPr>
              <a:t>Q.front</a:t>
            </a:r>
            <a:r>
              <a:rPr lang="en-US" altLang="zh-CN" sz="2800" b="1" dirty="0">
                <a:ea typeface="楷体_GB2312" pitchFamily="49" charset="-122"/>
              </a:rPr>
              <a:t>=(</a:t>
            </a:r>
            <a:r>
              <a:rPr lang="en-US" altLang="zh-CN" sz="2800" b="1" dirty="0" err="1">
                <a:ea typeface="楷体_GB2312" pitchFamily="49" charset="-122"/>
              </a:rPr>
              <a:t>QueuePtr</a:t>
            </a:r>
            <a:r>
              <a:rPr lang="en-US" altLang="zh-CN" sz="2800" b="1" dirty="0">
                <a:ea typeface="楷体_GB2312" pitchFamily="49" charset="-122"/>
              </a:rPr>
              <a:t>)</a:t>
            </a:r>
            <a:r>
              <a:rPr lang="en-US" altLang="zh-CN" sz="2800" b="1" dirty="0" err="1">
                <a:ea typeface="楷体_GB2312" pitchFamily="49" charset="-122"/>
              </a:rPr>
              <a:t>malloc</a:t>
            </a:r>
            <a:r>
              <a:rPr lang="en-US" altLang="zh-CN" sz="2800" b="1" dirty="0">
                <a:ea typeface="楷体_GB2312" pitchFamily="49" charset="-122"/>
              </a:rPr>
              <a:t>(</a:t>
            </a:r>
            <a:r>
              <a:rPr lang="en-US" altLang="zh-CN" sz="2800" b="1" dirty="0" err="1">
                <a:ea typeface="楷体_GB2312" pitchFamily="49" charset="-122"/>
              </a:rPr>
              <a:t>sizeof</a:t>
            </a:r>
            <a:r>
              <a:rPr lang="en-US" altLang="zh-CN" sz="2800" b="1" dirty="0">
                <a:ea typeface="楷体_GB2312" pitchFamily="49" charset="-122"/>
              </a:rPr>
              <a:t>(</a:t>
            </a:r>
            <a:r>
              <a:rPr lang="en-US" altLang="zh-CN" sz="2800" b="1" dirty="0" err="1">
                <a:ea typeface="楷体_GB2312" pitchFamily="49" charset="-122"/>
              </a:rPr>
              <a:t>qnode</a:t>
            </a:r>
            <a:r>
              <a:rPr lang="en-US" altLang="zh-CN" sz="2800" b="1" dirty="0">
                <a:ea typeface="楷体_GB2312" pitchFamily="49" charset="-122"/>
              </a:rPr>
              <a:t>));</a:t>
            </a:r>
          </a:p>
          <a:p>
            <a:pPr lvl="1" eaLnBrk="1" hangingPunct="1">
              <a:spcBef>
                <a:spcPct val="50000"/>
              </a:spcBef>
            </a:pPr>
            <a:r>
              <a:rPr lang="en-US" altLang="zh-CN" b="1" dirty="0">
                <a:ea typeface="楷体_GB2312" pitchFamily="49" charset="-122"/>
              </a:rPr>
              <a:t>                                   </a:t>
            </a:r>
            <a:r>
              <a:rPr lang="en-US" altLang="zh-CN" b="1" dirty="0">
                <a:solidFill>
                  <a:srgbClr val="006600"/>
                </a:solidFill>
                <a:ea typeface="楷体_GB2312" pitchFamily="49" charset="-122"/>
              </a:rPr>
              <a:t>//</a:t>
            </a:r>
            <a:r>
              <a:rPr lang="zh-CN" altLang="en-US" sz="2400" b="1" dirty="0">
                <a:solidFill>
                  <a:srgbClr val="006600"/>
                </a:solidFill>
                <a:latin typeface="楷体_GB2312" pitchFamily="49" charset="-122"/>
                <a:ea typeface="楷体_GB2312" pitchFamily="49" charset="-122"/>
              </a:rPr>
              <a:t>产生一个头结点</a:t>
            </a:r>
          </a:p>
          <a:p>
            <a:pPr lvl="1" eaLnBrk="1" hangingPunct="1">
              <a:spcBef>
                <a:spcPct val="50000"/>
              </a:spcBef>
            </a:pPr>
            <a:r>
              <a:rPr lang="en-US" altLang="zh-CN" b="1" dirty="0">
                <a:ea typeface="楷体_GB2312" pitchFamily="49" charset="-122"/>
              </a:rPr>
              <a:t>if(!</a:t>
            </a:r>
            <a:r>
              <a:rPr lang="en-US" altLang="zh-CN" b="1" dirty="0" err="1">
                <a:ea typeface="楷体_GB2312" pitchFamily="49" charset="-122"/>
              </a:rPr>
              <a:t>Q.front</a:t>
            </a:r>
            <a:r>
              <a:rPr lang="en-US" altLang="zh-CN" b="1" dirty="0">
                <a:ea typeface="楷体_GB2312" pitchFamily="49" charset="-122"/>
              </a:rPr>
              <a:t>) exit(OVERFLOW);     </a:t>
            </a:r>
            <a:r>
              <a:rPr lang="en-US" altLang="zh-CN" sz="2400" b="1" dirty="0">
                <a:solidFill>
                  <a:schemeClr val="folHlink"/>
                </a:solidFill>
                <a:ea typeface="楷体_GB2312" pitchFamily="49" charset="-122"/>
              </a:rPr>
              <a:t>//</a:t>
            </a:r>
            <a:r>
              <a:rPr lang="zh-CN" altLang="en-US" sz="2400" b="1" dirty="0">
                <a:solidFill>
                  <a:schemeClr val="folHlink"/>
                </a:solidFill>
                <a:ea typeface="楷体_GB2312" pitchFamily="49" charset="-122"/>
              </a:rPr>
              <a:t>存储分配失败</a:t>
            </a:r>
            <a:endParaRPr lang="zh-CN" altLang="en-US" b="1" dirty="0">
              <a:ea typeface="楷体_GB2312" pitchFamily="49" charset="-122"/>
            </a:endParaRPr>
          </a:p>
          <a:p>
            <a:pPr eaLnBrk="1" hangingPunct="1">
              <a:spcBef>
                <a:spcPct val="50000"/>
              </a:spcBef>
            </a:pPr>
            <a:r>
              <a:rPr lang="zh-CN" altLang="en-US" sz="2800" b="1" dirty="0">
                <a:ea typeface="楷体_GB2312" pitchFamily="49" charset="-122"/>
              </a:rPr>
              <a:t>     </a:t>
            </a:r>
            <a:r>
              <a:rPr lang="en-US" altLang="zh-CN" sz="2800" b="1" dirty="0" err="1">
                <a:ea typeface="楷体_GB2312" pitchFamily="49" charset="-122"/>
              </a:rPr>
              <a:t>Q.rear</a:t>
            </a:r>
            <a:r>
              <a:rPr lang="en-US" altLang="zh-CN" sz="2800" b="1" dirty="0">
                <a:ea typeface="楷体_GB2312" pitchFamily="49" charset="-122"/>
              </a:rPr>
              <a:t>= </a:t>
            </a:r>
            <a:r>
              <a:rPr lang="en-US" altLang="zh-CN" sz="2800" b="1" dirty="0" err="1">
                <a:ea typeface="楷体_GB2312" pitchFamily="49" charset="-122"/>
              </a:rPr>
              <a:t>Q.front</a:t>
            </a:r>
            <a:r>
              <a:rPr lang="en-US" altLang="zh-CN" sz="2800" b="1" dirty="0">
                <a:ea typeface="楷体_GB2312" pitchFamily="49" charset="-122"/>
              </a:rPr>
              <a:t>;       </a:t>
            </a:r>
            <a:r>
              <a:rPr lang="en-US" altLang="zh-CN" sz="2800" b="1" dirty="0">
                <a:solidFill>
                  <a:srgbClr val="006600"/>
                </a:solidFill>
                <a:ea typeface="楷体_GB2312" pitchFamily="49" charset="-122"/>
              </a:rPr>
              <a:t>//</a:t>
            </a:r>
            <a:r>
              <a:rPr lang="zh-CN" altLang="en-US" sz="2400" b="1" dirty="0">
                <a:solidFill>
                  <a:srgbClr val="006600"/>
                </a:solidFill>
                <a:ea typeface="楷体_GB2312" pitchFamily="49" charset="-122"/>
              </a:rPr>
              <a:t>头、尾指针均指向头结点</a:t>
            </a:r>
          </a:p>
          <a:p>
            <a:pPr lvl="1" eaLnBrk="1" hangingPunct="1">
              <a:spcBef>
                <a:spcPct val="50000"/>
              </a:spcBef>
            </a:pPr>
            <a:r>
              <a:rPr lang="en-US" altLang="zh-CN" b="1" dirty="0" err="1">
                <a:ea typeface="楷体_GB2312" pitchFamily="49" charset="-122"/>
              </a:rPr>
              <a:t>Q.front</a:t>
            </a:r>
            <a:r>
              <a:rPr lang="en-US" altLang="zh-CN" b="1" dirty="0">
                <a:ea typeface="楷体_GB2312" pitchFamily="49" charset="-122"/>
              </a:rPr>
              <a:t> </a:t>
            </a:r>
            <a:r>
              <a:rPr lang="en-US" altLang="zh-CN" sz="2000" b="1" dirty="0">
                <a:sym typeface="Symbol" pitchFamily="18" charset="2"/>
              </a:rPr>
              <a:t></a:t>
            </a:r>
            <a:r>
              <a:rPr lang="en-US" altLang="zh-CN" b="1" dirty="0">
                <a:ea typeface="楷体_GB2312" pitchFamily="49" charset="-122"/>
              </a:rPr>
              <a:t> next=NULL;</a:t>
            </a:r>
          </a:p>
        </p:txBody>
      </p:sp>
    </p:spTree>
    <p:extLst>
      <p:ext uri="{BB962C8B-B14F-4D97-AF65-F5344CB8AC3E}">
        <p14:creationId xmlns:p14="http://schemas.microsoft.com/office/powerpoint/2010/main" val="1868463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7003">
                                            <p:txEl>
                                              <p:pRg st="0" end="0"/>
                                            </p:txEl>
                                          </p:spTgt>
                                        </p:tgtEl>
                                        <p:attrNameLst>
                                          <p:attrName>style.visibility</p:attrName>
                                        </p:attrNameLst>
                                      </p:cBhvr>
                                      <p:to>
                                        <p:strVal val="visible"/>
                                      </p:to>
                                    </p:set>
                                    <p:animEffect transition="in" filter="checkerboard(across)">
                                      <p:cBhvr>
                                        <p:cTn id="7" dur="500"/>
                                        <p:tgtEl>
                                          <p:spTgt spid="597003">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97003">
                                            <p:txEl>
                                              <p:pRg st="1" end="1"/>
                                            </p:txEl>
                                          </p:spTgt>
                                        </p:tgtEl>
                                        <p:attrNameLst>
                                          <p:attrName>style.visibility</p:attrName>
                                        </p:attrNameLst>
                                      </p:cBhvr>
                                      <p:to>
                                        <p:strVal val="visible"/>
                                      </p:to>
                                    </p:set>
                                    <p:animEffect transition="in" filter="checkerboard(across)">
                                      <p:cBhvr>
                                        <p:cTn id="10" dur="500"/>
                                        <p:tgtEl>
                                          <p:spTgt spid="597003">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97003">
                                            <p:txEl>
                                              <p:pRg st="2" end="2"/>
                                            </p:txEl>
                                          </p:spTgt>
                                        </p:tgtEl>
                                        <p:attrNameLst>
                                          <p:attrName>style.visibility</p:attrName>
                                        </p:attrNameLst>
                                      </p:cBhvr>
                                      <p:to>
                                        <p:strVal val="visible"/>
                                      </p:to>
                                    </p:set>
                                    <p:animEffect transition="in" filter="checkerboard(across)">
                                      <p:cBhvr>
                                        <p:cTn id="13" dur="500"/>
                                        <p:tgtEl>
                                          <p:spTgt spid="59700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97003">
                                            <p:txEl>
                                              <p:pRg st="3" end="3"/>
                                            </p:txEl>
                                          </p:spTgt>
                                        </p:tgtEl>
                                        <p:attrNameLst>
                                          <p:attrName>style.visibility</p:attrName>
                                        </p:attrNameLst>
                                      </p:cBhvr>
                                      <p:to>
                                        <p:strVal val="visible"/>
                                      </p:to>
                                    </p:set>
                                    <p:animEffect transition="in" filter="checkerboard(across)">
                                      <p:cBhvr>
                                        <p:cTn id="18" dur="500"/>
                                        <p:tgtEl>
                                          <p:spTgt spid="597003">
                                            <p:txEl>
                                              <p:pRg st="3" end="3"/>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597003">
                                            <p:txEl>
                                              <p:pRg st="4" end="4"/>
                                            </p:txEl>
                                          </p:spTgt>
                                        </p:tgtEl>
                                        <p:attrNameLst>
                                          <p:attrName>style.visibility</p:attrName>
                                        </p:attrNameLst>
                                      </p:cBhvr>
                                      <p:to>
                                        <p:strVal val="visible"/>
                                      </p:to>
                                    </p:set>
                                    <p:animEffect transition="in" filter="checkerboard(across)">
                                      <p:cBhvr>
                                        <p:cTn id="21" dur="500"/>
                                        <p:tgtEl>
                                          <p:spTgt spid="597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03" grpId="0" build="p"/>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BEF7BA85-6AB2-440D-8FBC-58A0D60D1C8D}" type="slidenum">
              <a:rPr lang="en-US" altLang="zh-CN" sz="1400"/>
              <a:pPr/>
              <a:t>130</a:t>
            </a:fld>
            <a:endParaRPr lang="en-US" altLang="zh-CN" sz="1400"/>
          </a:p>
        </p:txBody>
      </p:sp>
      <p:sp>
        <p:nvSpPr>
          <p:cNvPr id="115715" name="Rectangle 2"/>
          <p:cNvSpPr>
            <a:spLocks noGrp="1" noChangeArrowheads="1"/>
          </p:cNvSpPr>
          <p:nvPr>
            <p:ph type="ctrTitle"/>
          </p:nvPr>
        </p:nvSpPr>
        <p:spPr>
          <a:xfrm>
            <a:off x="701675" y="233363"/>
            <a:ext cx="7772400" cy="609600"/>
          </a:xfrm>
        </p:spPr>
        <p:txBody>
          <a:bodyPr anchor="ctr"/>
          <a:lstStyle/>
          <a:p>
            <a:pPr eaLnBrk="1" hangingPunct="1"/>
            <a:r>
              <a:rPr lang="zh-CN" altLang="en-US" sz="4400" b="1">
                <a:solidFill>
                  <a:srgbClr val="A50021"/>
                </a:solidFill>
                <a:ea typeface="楷体_GB2312" pitchFamily="49" charset="-122"/>
              </a:rPr>
              <a:t>销毁链队列算法</a:t>
            </a:r>
          </a:p>
        </p:txBody>
      </p:sp>
      <p:sp>
        <p:nvSpPr>
          <p:cNvPr id="598019" name="Rectangle 3"/>
          <p:cNvSpPr>
            <a:spLocks noGrp="1" noChangeArrowheads="1"/>
          </p:cNvSpPr>
          <p:nvPr>
            <p:ph type="subTitle" idx="1"/>
          </p:nvPr>
        </p:nvSpPr>
        <p:spPr>
          <a:xfrm>
            <a:off x="431800" y="954088"/>
            <a:ext cx="8458200" cy="4724400"/>
          </a:xfrm>
        </p:spPr>
        <p:txBody>
          <a:bodyPr/>
          <a:lstStyle/>
          <a:p>
            <a:pPr algn="l" eaLnBrk="1" hangingPunct="1"/>
            <a:r>
              <a:rPr lang="en-US" altLang="zh-CN" sz="3200" b="1" dirty="0"/>
              <a:t>Status </a:t>
            </a:r>
            <a:r>
              <a:rPr lang="en-US" altLang="zh-CN" sz="3200" b="1" dirty="0" err="1"/>
              <a:t>DestroyQueue</a:t>
            </a:r>
            <a:r>
              <a:rPr lang="en-US" altLang="zh-CN" sz="3200" b="1" dirty="0"/>
              <a:t>(</a:t>
            </a:r>
            <a:r>
              <a:rPr lang="en-US" altLang="zh-CN" sz="3200" b="1" dirty="0" err="1"/>
              <a:t>LinkQueue</a:t>
            </a:r>
            <a:r>
              <a:rPr lang="en-US" altLang="zh-CN" sz="3200" b="1" dirty="0"/>
              <a:t> &amp;Q)</a:t>
            </a:r>
          </a:p>
          <a:p>
            <a:pPr algn="l" eaLnBrk="1" hangingPunct="1"/>
            <a:r>
              <a:rPr lang="en-US" altLang="zh-CN" b="1" dirty="0"/>
              <a:t>{    </a:t>
            </a:r>
            <a:r>
              <a:rPr lang="en-US" altLang="zh-CN" sz="3200" b="1" dirty="0"/>
              <a:t>while(</a:t>
            </a:r>
            <a:r>
              <a:rPr lang="en-US" altLang="zh-CN" sz="3200" b="1" dirty="0" err="1"/>
              <a:t>Q.front</a:t>
            </a:r>
            <a:r>
              <a:rPr lang="en-US" altLang="zh-CN" sz="3200" b="1" dirty="0"/>
              <a:t>) </a:t>
            </a:r>
            <a:r>
              <a:rPr lang="en-US" altLang="zh-CN" sz="2400" b="1" dirty="0">
                <a:solidFill>
                  <a:srgbClr val="006600"/>
                </a:solidFill>
                <a:latin typeface="楷体_GB2312" pitchFamily="49" charset="-122"/>
                <a:ea typeface="楷体_GB2312" pitchFamily="49" charset="-122"/>
              </a:rPr>
              <a:t>//</a:t>
            </a:r>
            <a:r>
              <a:rPr lang="zh-CN" altLang="en-US" sz="2400" b="1" dirty="0">
                <a:solidFill>
                  <a:srgbClr val="006600"/>
                </a:solidFill>
                <a:latin typeface="楷体_GB2312" pitchFamily="49" charset="-122"/>
                <a:ea typeface="楷体_GB2312" pitchFamily="49" charset="-122"/>
              </a:rPr>
              <a:t>从头结点开始往后删结点</a:t>
            </a:r>
          </a:p>
          <a:p>
            <a:pPr algn="l" eaLnBrk="1" hangingPunct="1"/>
            <a:r>
              <a:rPr lang="zh-CN" altLang="en-US" sz="3200" b="1" dirty="0"/>
              <a:t>    </a:t>
            </a:r>
            <a:r>
              <a:rPr lang="en-US" altLang="zh-CN" b="1" dirty="0"/>
              <a:t>{</a:t>
            </a:r>
            <a:r>
              <a:rPr lang="zh-CN" altLang="en-US" sz="3200" b="1" dirty="0"/>
              <a:t>    </a:t>
            </a:r>
            <a:r>
              <a:rPr lang="en-US" altLang="zh-CN" sz="3200" b="1" dirty="0" err="1"/>
              <a:t>Q.rear</a:t>
            </a:r>
            <a:r>
              <a:rPr lang="en-US" altLang="zh-CN" sz="3200" b="1" dirty="0"/>
              <a:t>=</a:t>
            </a:r>
            <a:r>
              <a:rPr lang="en-US" altLang="zh-CN" sz="3200" b="1" dirty="0" err="1"/>
              <a:t>Q.front</a:t>
            </a:r>
            <a:r>
              <a:rPr lang="en-US" altLang="zh-CN" sz="3200" b="1" dirty="0"/>
              <a:t>-&gt;next;</a:t>
            </a:r>
          </a:p>
          <a:p>
            <a:pPr algn="l" eaLnBrk="1" hangingPunct="1"/>
            <a:r>
              <a:rPr lang="en-US" altLang="zh-CN" sz="3200" b="1" dirty="0"/>
              <a:t>        free(</a:t>
            </a:r>
            <a:r>
              <a:rPr lang="en-US" altLang="zh-CN" sz="3200" b="1" dirty="0" err="1"/>
              <a:t>Q.front</a:t>
            </a:r>
            <a:r>
              <a:rPr lang="en-US" altLang="zh-CN" sz="3200" b="1" dirty="0"/>
              <a:t>);</a:t>
            </a:r>
          </a:p>
          <a:p>
            <a:pPr algn="l" eaLnBrk="1" hangingPunct="1"/>
            <a:r>
              <a:rPr lang="en-US" altLang="zh-CN" sz="3200" b="1" dirty="0"/>
              <a:t>        </a:t>
            </a:r>
            <a:r>
              <a:rPr lang="en-US" altLang="zh-CN" sz="3200" b="1" dirty="0" err="1"/>
              <a:t>Q.front</a:t>
            </a:r>
            <a:r>
              <a:rPr lang="en-US" altLang="zh-CN" sz="3200" b="1" dirty="0"/>
              <a:t>=</a:t>
            </a:r>
            <a:r>
              <a:rPr lang="en-US" altLang="zh-CN" sz="3200" b="1" dirty="0" err="1"/>
              <a:t>Q.rear</a:t>
            </a:r>
            <a:r>
              <a:rPr lang="en-US" altLang="zh-CN" sz="3200" b="1" dirty="0"/>
              <a:t>;</a:t>
            </a:r>
          </a:p>
          <a:p>
            <a:pPr algn="l" eaLnBrk="1" hangingPunct="1"/>
            <a:r>
              <a:rPr lang="en-US" altLang="zh-CN" sz="3200" b="1" dirty="0"/>
              <a:t>    }</a:t>
            </a:r>
          </a:p>
          <a:p>
            <a:pPr algn="l" eaLnBrk="1" hangingPunct="1"/>
            <a:r>
              <a:rPr lang="en-US" altLang="zh-CN" sz="3200" b="1" dirty="0"/>
              <a:t>    return OK;</a:t>
            </a:r>
          </a:p>
          <a:p>
            <a:pPr algn="l" eaLnBrk="1" hangingPunct="1"/>
            <a:r>
              <a:rPr lang="en-US" altLang="zh-CN" sz="3200" b="1" dirty="0"/>
              <a:t>}</a:t>
            </a:r>
          </a:p>
        </p:txBody>
      </p:sp>
    </p:spTree>
    <p:extLst>
      <p:ext uri="{BB962C8B-B14F-4D97-AF65-F5344CB8AC3E}">
        <p14:creationId xmlns:p14="http://schemas.microsoft.com/office/powerpoint/2010/main" val="33271696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8019"/>
                                        </p:tgtEl>
                                        <p:attrNameLst>
                                          <p:attrName>style.visibility</p:attrName>
                                        </p:attrNameLst>
                                      </p:cBhvr>
                                      <p:to>
                                        <p:strVal val="visible"/>
                                      </p:to>
                                    </p:set>
                                    <p:animEffect transition="in" filter="checkerboard(across)">
                                      <p:cBhvr>
                                        <p:cTn id="7" dur="500"/>
                                        <p:tgtEl>
                                          <p:spTgt spid="598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灯片编号占位符 5"/>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F9C7EF87-FE0F-437E-B105-7E19B823E322}" type="slidenum">
              <a:rPr lang="en-US" altLang="zh-CN" sz="1400"/>
              <a:pPr/>
              <a:t>131</a:t>
            </a:fld>
            <a:endParaRPr lang="en-US" altLang="zh-CN" sz="1400"/>
          </a:p>
        </p:txBody>
      </p:sp>
      <p:sp>
        <p:nvSpPr>
          <p:cNvPr id="116739" name="Rectangle 3"/>
          <p:cNvSpPr>
            <a:spLocks noGrp="1" noChangeArrowheads="1"/>
          </p:cNvSpPr>
          <p:nvPr>
            <p:ph type="body" idx="1"/>
          </p:nvPr>
        </p:nvSpPr>
        <p:spPr>
          <a:xfrm>
            <a:off x="296863" y="1133475"/>
            <a:ext cx="7772400" cy="3962400"/>
          </a:xfrm>
        </p:spPr>
        <p:txBody>
          <a:bodyPr/>
          <a:lstStyle/>
          <a:p>
            <a:pPr eaLnBrk="1" hangingPunct="1">
              <a:lnSpc>
                <a:spcPct val="90000"/>
              </a:lnSpc>
              <a:spcBef>
                <a:spcPct val="30000"/>
              </a:spcBef>
              <a:buFontTx/>
              <a:buNone/>
            </a:pPr>
            <a:r>
              <a:rPr lang="en-US" altLang="zh-CN" sz="2800" b="1" dirty="0">
                <a:ea typeface="楷体_GB2312" pitchFamily="49" charset="-122"/>
              </a:rPr>
              <a:t>Status </a:t>
            </a:r>
            <a:r>
              <a:rPr lang="en-US" altLang="zh-CN" sz="2800" b="1" dirty="0" err="1">
                <a:ea typeface="楷体_GB2312" pitchFamily="49" charset="-122"/>
              </a:rPr>
              <a:t>EnQueue</a:t>
            </a:r>
            <a:r>
              <a:rPr lang="en-US" altLang="zh-CN" sz="2800" b="1" dirty="0">
                <a:ea typeface="楷体_GB2312" pitchFamily="49" charset="-122"/>
              </a:rPr>
              <a:t>(</a:t>
            </a:r>
            <a:r>
              <a:rPr lang="en-US" altLang="zh-CN" sz="2800" b="1" dirty="0" err="1">
                <a:ea typeface="楷体_GB2312" pitchFamily="49" charset="-122"/>
              </a:rPr>
              <a:t>LinkQueue</a:t>
            </a:r>
            <a:r>
              <a:rPr lang="en-US" altLang="zh-CN" sz="2800" b="1" dirty="0">
                <a:ea typeface="楷体_GB2312" pitchFamily="49" charset="-122"/>
              </a:rPr>
              <a:t> &amp;Q, </a:t>
            </a:r>
            <a:r>
              <a:rPr lang="en-US" altLang="zh-CN" sz="2800" b="1" dirty="0" err="1">
                <a:ea typeface="楷体_GB2312" pitchFamily="49" charset="-122"/>
              </a:rPr>
              <a:t>elemtype</a:t>
            </a:r>
            <a:r>
              <a:rPr lang="en-US" altLang="zh-CN" sz="2800" b="1" dirty="0">
                <a:ea typeface="楷体_GB2312" pitchFamily="49" charset="-122"/>
              </a:rPr>
              <a:t>  x)</a:t>
            </a:r>
          </a:p>
          <a:p>
            <a:pPr eaLnBrk="1" hangingPunct="1">
              <a:lnSpc>
                <a:spcPct val="90000"/>
              </a:lnSpc>
              <a:spcBef>
                <a:spcPct val="30000"/>
              </a:spcBef>
              <a:buFontTx/>
              <a:buNone/>
            </a:pPr>
            <a:r>
              <a:rPr lang="en-US" altLang="zh-CN" sz="2800" b="1" dirty="0">
                <a:ea typeface="楷体_GB2312" pitchFamily="49" charset="-122"/>
              </a:rPr>
              <a:t>        {  </a:t>
            </a:r>
          </a:p>
          <a:p>
            <a:pPr eaLnBrk="1" hangingPunct="1">
              <a:lnSpc>
                <a:spcPct val="90000"/>
              </a:lnSpc>
              <a:spcBef>
                <a:spcPct val="30000"/>
              </a:spcBef>
              <a:buFontTx/>
              <a:buNone/>
            </a:pPr>
            <a:endParaRPr lang="en-US" altLang="zh-CN" sz="2800" b="1" dirty="0">
              <a:ea typeface="楷体_GB2312" pitchFamily="49" charset="-122"/>
            </a:endParaRPr>
          </a:p>
          <a:p>
            <a:pPr eaLnBrk="1" hangingPunct="1">
              <a:lnSpc>
                <a:spcPct val="90000"/>
              </a:lnSpc>
              <a:spcBef>
                <a:spcPct val="30000"/>
              </a:spcBef>
              <a:buFontTx/>
              <a:buNone/>
            </a:pPr>
            <a:endParaRPr lang="en-US" altLang="zh-CN" sz="2800" b="1" dirty="0">
              <a:ea typeface="楷体_GB2312" pitchFamily="49" charset="-122"/>
            </a:endParaRPr>
          </a:p>
          <a:p>
            <a:pPr eaLnBrk="1" hangingPunct="1">
              <a:lnSpc>
                <a:spcPct val="90000"/>
              </a:lnSpc>
              <a:spcBef>
                <a:spcPct val="30000"/>
              </a:spcBef>
              <a:buFontTx/>
              <a:buNone/>
            </a:pPr>
            <a:endParaRPr lang="en-US" altLang="zh-CN" sz="2800" b="1" dirty="0">
              <a:ea typeface="楷体_GB2312" pitchFamily="49" charset="-122"/>
            </a:endParaRPr>
          </a:p>
          <a:p>
            <a:pPr eaLnBrk="1" hangingPunct="1">
              <a:lnSpc>
                <a:spcPct val="90000"/>
              </a:lnSpc>
              <a:spcBef>
                <a:spcPct val="30000"/>
              </a:spcBef>
              <a:buFontTx/>
              <a:buNone/>
            </a:pPr>
            <a:endParaRPr lang="en-US" altLang="zh-CN" sz="2800" b="1" dirty="0">
              <a:ea typeface="楷体_GB2312" pitchFamily="49" charset="-122"/>
            </a:endParaRPr>
          </a:p>
          <a:p>
            <a:pPr eaLnBrk="1" hangingPunct="1">
              <a:lnSpc>
                <a:spcPct val="90000"/>
              </a:lnSpc>
              <a:spcBef>
                <a:spcPct val="30000"/>
              </a:spcBef>
              <a:buFontTx/>
              <a:buNone/>
            </a:pPr>
            <a:endParaRPr lang="en-US" altLang="zh-CN" sz="2800" b="1" dirty="0">
              <a:ea typeface="楷体_GB2312" pitchFamily="49" charset="-122"/>
            </a:endParaRPr>
          </a:p>
          <a:p>
            <a:pPr eaLnBrk="1" hangingPunct="1">
              <a:lnSpc>
                <a:spcPct val="90000"/>
              </a:lnSpc>
              <a:spcBef>
                <a:spcPct val="30000"/>
              </a:spcBef>
              <a:buFontTx/>
              <a:buNone/>
            </a:pPr>
            <a:r>
              <a:rPr lang="en-US" altLang="zh-CN" sz="2800" b="1" dirty="0"/>
              <a:t>        }</a:t>
            </a:r>
          </a:p>
        </p:txBody>
      </p:sp>
      <p:sp>
        <p:nvSpPr>
          <p:cNvPr id="116740" name="Rectangle 4"/>
          <p:cNvSpPr>
            <a:spLocks noGrp="1" noChangeArrowheads="1"/>
          </p:cNvSpPr>
          <p:nvPr>
            <p:ph type="title"/>
          </p:nvPr>
        </p:nvSpPr>
        <p:spPr>
          <a:xfrm>
            <a:off x="685800" y="381000"/>
            <a:ext cx="7772400" cy="608013"/>
          </a:xfrm>
        </p:spPr>
        <p:txBody>
          <a:bodyPr/>
          <a:lstStyle/>
          <a:p>
            <a:pPr eaLnBrk="1" hangingPunct="1"/>
            <a:r>
              <a:rPr lang="zh-CN" altLang="en-US" b="1">
                <a:solidFill>
                  <a:srgbClr val="A50021"/>
                </a:solidFill>
                <a:latin typeface="楷体_GB2312" pitchFamily="49" charset="-122"/>
                <a:ea typeface="楷体_GB2312" pitchFamily="49" charset="-122"/>
              </a:rPr>
              <a:t>链队列的入列算法</a:t>
            </a:r>
            <a:endParaRPr lang="zh-CN" altLang="en-US" sz="4800" b="1">
              <a:solidFill>
                <a:srgbClr val="A50021"/>
              </a:solidFill>
              <a:latin typeface="楷体_GB2312" pitchFamily="49" charset="-122"/>
              <a:ea typeface="楷体_GB2312" pitchFamily="49" charset="-122"/>
            </a:endParaRPr>
          </a:p>
        </p:txBody>
      </p:sp>
      <p:sp>
        <p:nvSpPr>
          <p:cNvPr id="116741" name="Rectangle 9"/>
          <p:cNvSpPr>
            <a:spLocks noChangeArrowheads="1"/>
          </p:cNvSpPr>
          <p:nvPr/>
        </p:nvSpPr>
        <p:spPr bwMode="auto">
          <a:xfrm>
            <a:off x="6696075" y="509111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a:p>
        </p:txBody>
      </p:sp>
      <p:sp>
        <p:nvSpPr>
          <p:cNvPr id="116742" name="Rectangle 25"/>
          <p:cNvSpPr>
            <a:spLocks noChangeArrowheads="1"/>
          </p:cNvSpPr>
          <p:nvPr/>
        </p:nvSpPr>
        <p:spPr bwMode="auto">
          <a:xfrm>
            <a:off x="522288" y="1808163"/>
            <a:ext cx="77724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lnSpc>
                <a:spcPct val="90000"/>
              </a:lnSpc>
              <a:spcBef>
                <a:spcPct val="30000"/>
              </a:spcBef>
            </a:pPr>
            <a:r>
              <a:rPr lang="en-US" altLang="zh-CN" sz="2800" b="1" dirty="0">
                <a:ea typeface="楷体_GB2312" pitchFamily="49" charset="-122"/>
              </a:rPr>
              <a:t>          p=(</a:t>
            </a:r>
            <a:r>
              <a:rPr lang="en-US" altLang="zh-CN" sz="2800" b="1" dirty="0" err="1">
                <a:ea typeface="楷体_GB2312" pitchFamily="49" charset="-122"/>
              </a:rPr>
              <a:t>QueuePtr</a:t>
            </a:r>
            <a:r>
              <a:rPr lang="en-US" altLang="zh-CN" sz="2800" b="1" dirty="0">
                <a:ea typeface="楷体_GB2312" pitchFamily="49" charset="-122"/>
              </a:rPr>
              <a:t>)</a:t>
            </a:r>
            <a:r>
              <a:rPr lang="en-US" altLang="zh-CN" sz="2800" b="1" dirty="0" err="1">
                <a:ea typeface="楷体_GB2312" pitchFamily="49" charset="-122"/>
              </a:rPr>
              <a:t>malloc</a:t>
            </a:r>
            <a:r>
              <a:rPr lang="en-US" altLang="zh-CN" sz="2800" b="1" dirty="0">
                <a:ea typeface="楷体_GB2312" pitchFamily="49" charset="-122"/>
              </a:rPr>
              <a:t>(</a:t>
            </a:r>
            <a:r>
              <a:rPr lang="en-US" altLang="zh-CN" sz="2800" b="1" dirty="0" err="1">
                <a:ea typeface="楷体_GB2312" pitchFamily="49" charset="-122"/>
              </a:rPr>
              <a:t>sizeof</a:t>
            </a:r>
            <a:r>
              <a:rPr lang="en-US" altLang="zh-CN" sz="2800" b="1" dirty="0">
                <a:ea typeface="楷体_GB2312" pitchFamily="49" charset="-122"/>
              </a:rPr>
              <a:t>(</a:t>
            </a:r>
            <a:r>
              <a:rPr lang="en-US" altLang="zh-CN" sz="2800" b="1" dirty="0" err="1">
                <a:ea typeface="楷体_GB2312" pitchFamily="49" charset="-122"/>
              </a:rPr>
              <a:t>qnode</a:t>
            </a:r>
            <a:r>
              <a:rPr lang="en-US" altLang="zh-CN" sz="2800" b="1" dirty="0">
                <a:ea typeface="楷体_GB2312" pitchFamily="49" charset="-122"/>
              </a:rPr>
              <a:t>));</a:t>
            </a:r>
          </a:p>
          <a:p>
            <a:pPr marL="742950" lvl="1" indent="-285750" eaLnBrk="1" hangingPunct="1">
              <a:lnSpc>
                <a:spcPct val="90000"/>
              </a:lnSpc>
              <a:spcBef>
                <a:spcPct val="30000"/>
              </a:spcBef>
            </a:pPr>
            <a:r>
              <a:rPr lang="en-US" altLang="zh-CN" b="1" dirty="0">
                <a:ea typeface="楷体_GB2312" pitchFamily="49" charset="-122"/>
              </a:rPr>
              <a:t>      </a:t>
            </a:r>
            <a:r>
              <a:rPr lang="en-US" altLang="zh-CN" sz="2800" b="1" dirty="0">
                <a:ea typeface="楷体_GB2312" pitchFamily="49" charset="-122"/>
              </a:rPr>
              <a:t>if(!p) exit(OVERFLOW);</a:t>
            </a:r>
            <a:r>
              <a:rPr lang="en-US" altLang="zh-CN" b="1" dirty="0">
                <a:ea typeface="楷体_GB2312" pitchFamily="49" charset="-122"/>
              </a:rPr>
              <a:t>     </a:t>
            </a:r>
            <a:r>
              <a:rPr lang="en-US" altLang="zh-CN" b="1" dirty="0">
                <a:solidFill>
                  <a:schemeClr val="folHlink"/>
                </a:solidFill>
                <a:ea typeface="楷体_GB2312" pitchFamily="49" charset="-122"/>
              </a:rPr>
              <a:t>//</a:t>
            </a:r>
            <a:r>
              <a:rPr lang="zh-CN" altLang="en-US" b="1" dirty="0">
                <a:solidFill>
                  <a:schemeClr val="folHlink"/>
                </a:solidFill>
                <a:ea typeface="楷体_GB2312" pitchFamily="49" charset="-122"/>
              </a:rPr>
              <a:t>存储分配失败</a:t>
            </a:r>
          </a:p>
          <a:p>
            <a:pPr marL="342900" indent="-342900" eaLnBrk="1" hangingPunct="1">
              <a:lnSpc>
                <a:spcPct val="90000"/>
              </a:lnSpc>
              <a:spcBef>
                <a:spcPct val="30000"/>
              </a:spcBef>
            </a:pPr>
            <a:r>
              <a:rPr lang="zh-CN" altLang="en-US" sz="2800" b="1" dirty="0">
                <a:ea typeface="楷体_GB2312" pitchFamily="49" charset="-122"/>
              </a:rPr>
              <a:t>           </a:t>
            </a:r>
            <a:r>
              <a:rPr lang="en-US" altLang="zh-CN" sz="2800" b="1" dirty="0">
                <a:ea typeface="楷体_GB2312" pitchFamily="49" charset="-122"/>
              </a:rPr>
              <a:t>p </a:t>
            </a:r>
            <a:r>
              <a:rPr lang="en-US" altLang="zh-CN" sz="2800" b="1" dirty="0">
                <a:sym typeface="Symbol" pitchFamily="18" charset="2"/>
              </a:rPr>
              <a:t></a:t>
            </a:r>
            <a:r>
              <a:rPr lang="en-US" altLang="zh-CN" sz="2800" b="1" dirty="0"/>
              <a:t>data=x;</a:t>
            </a:r>
          </a:p>
          <a:p>
            <a:pPr marL="742950" lvl="1" indent="-285750" eaLnBrk="1" hangingPunct="1">
              <a:lnSpc>
                <a:spcPct val="90000"/>
              </a:lnSpc>
              <a:spcBef>
                <a:spcPct val="30000"/>
              </a:spcBef>
            </a:pPr>
            <a:r>
              <a:rPr lang="en-US" altLang="zh-CN" b="1" dirty="0"/>
              <a:t>       </a:t>
            </a:r>
            <a:r>
              <a:rPr lang="en-US" altLang="zh-CN" sz="2800" b="1" dirty="0"/>
              <a:t>p </a:t>
            </a:r>
            <a:r>
              <a:rPr lang="en-US" altLang="zh-CN" sz="2800" b="1" dirty="0">
                <a:sym typeface="Symbol" pitchFamily="18" charset="2"/>
              </a:rPr>
              <a:t></a:t>
            </a:r>
            <a:r>
              <a:rPr lang="en-US" altLang="zh-CN" sz="2800" b="1" dirty="0"/>
              <a:t>next=NULL;</a:t>
            </a:r>
          </a:p>
          <a:p>
            <a:pPr marL="342900" indent="-342900" eaLnBrk="1" hangingPunct="1">
              <a:lnSpc>
                <a:spcPct val="90000"/>
              </a:lnSpc>
              <a:spcBef>
                <a:spcPct val="30000"/>
              </a:spcBef>
            </a:pPr>
            <a:r>
              <a:rPr lang="en-US" altLang="zh-CN" sz="2800" b="1" dirty="0"/>
              <a:t>           </a:t>
            </a:r>
            <a:r>
              <a:rPr lang="en-US" altLang="zh-CN" sz="2800" b="1" dirty="0" err="1"/>
              <a:t>Q.rear</a:t>
            </a:r>
            <a:r>
              <a:rPr lang="en-US" altLang="zh-CN" sz="2800" b="1" dirty="0"/>
              <a:t> </a:t>
            </a:r>
            <a:r>
              <a:rPr lang="en-US" altLang="zh-CN" sz="2800" b="1" dirty="0">
                <a:sym typeface="Symbol" pitchFamily="18" charset="2"/>
              </a:rPr>
              <a:t></a:t>
            </a:r>
            <a:r>
              <a:rPr lang="en-US" altLang="zh-CN" sz="2800" b="1" dirty="0"/>
              <a:t>next =p;</a:t>
            </a:r>
          </a:p>
          <a:p>
            <a:pPr marL="742950" lvl="1" indent="-285750" eaLnBrk="1" hangingPunct="1">
              <a:lnSpc>
                <a:spcPct val="90000"/>
              </a:lnSpc>
              <a:spcBef>
                <a:spcPct val="30000"/>
              </a:spcBef>
            </a:pPr>
            <a:r>
              <a:rPr lang="en-US" altLang="zh-CN" b="1" dirty="0"/>
              <a:t>       </a:t>
            </a:r>
            <a:r>
              <a:rPr lang="en-US" altLang="zh-CN" sz="2800" b="1" dirty="0" err="1"/>
              <a:t>Q.rear</a:t>
            </a:r>
            <a:r>
              <a:rPr lang="en-US" altLang="zh-CN" sz="2800" b="1" dirty="0"/>
              <a:t> =p;</a:t>
            </a:r>
          </a:p>
        </p:txBody>
      </p:sp>
    </p:spTree>
    <p:extLst>
      <p:ext uri="{BB962C8B-B14F-4D97-AF65-F5344CB8AC3E}">
        <p14:creationId xmlns:p14="http://schemas.microsoft.com/office/powerpoint/2010/main" val="666779212"/>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4A8AC93B-BC85-4D12-A27D-F70996A53257}" type="slidenum">
              <a:rPr lang="en-US" altLang="zh-CN" sz="1400"/>
              <a:pPr/>
              <a:t>132</a:t>
            </a:fld>
            <a:endParaRPr lang="en-US" altLang="zh-CN" sz="1400"/>
          </a:p>
        </p:txBody>
      </p:sp>
      <p:sp>
        <p:nvSpPr>
          <p:cNvPr id="117763" name="Rectangle 2"/>
          <p:cNvSpPr>
            <a:spLocks noChangeArrowheads="1"/>
          </p:cNvSpPr>
          <p:nvPr/>
        </p:nvSpPr>
        <p:spPr bwMode="auto">
          <a:xfrm>
            <a:off x="8001000" y="26670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3600"/>
          </a:p>
        </p:txBody>
      </p:sp>
      <p:sp>
        <p:nvSpPr>
          <p:cNvPr id="117764" name="Rectangle 3"/>
          <p:cNvSpPr>
            <a:spLocks noChangeArrowheads="1"/>
          </p:cNvSpPr>
          <p:nvPr/>
        </p:nvSpPr>
        <p:spPr bwMode="auto">
          <a:xfrm>
            <a:off x="6678613" y="26416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3600"/>
          </a:p>
        </p:txBody>
      </p:sp>
      <p:sp>
        <p:nvSpPr>
          <p:cNvPr id="117765" name="Rectangle 4"/>
          <p:cNvSpPr>
            <a:spLocks noChangeArrowheads="1"/>
          </p:cNvSpPr>
          <p:nvPr/>
        </p:nvSpPr>
        <p:spPr bwMode="auto">
          <a:xfrm>
            <a:off x="685800" y="304800"/>
            <a:ext cx="77724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zh-CN" altLang="en-US" sz="4400" b="1">
                <a:solidFill>
                  <a:srgbClr val="A50021"/>
                </a:solidFill>
                <a:latin typeface="楷体_GB2312" pitchFamily="49" charset="-122"/>
                <a:ea typeface="楷体_GB2312" pitchFamily="49" charset="-122"/>
              </a:rPr>
              <a:t>链队列的出列操作</a:t>
            </a:r>
            <a:endParaRPr lang="zh-CN" altLang="en-US" sz="4800" b="1">
              <a:solidFill>
                <a:srgbClr val="A50021"/>
              </a:solidFill>
              <a:latin typeface="楷体_GB2312" pitchFamily="49" charset="-122"/>
              <a:ea typeface="楷体_GB2312" pitchFamily="49" charset="-122"/>
            </a:endParaRPr>
          </a:p>
        </p:txBody>
      </p:sp>
      <p:sp>
        <p:nvSpPr>
          <p:cNvPr id="117766" name="Rectangle 5" descr="宽上对角线"/>
          <p:cNvSpPr>
            <a:spLocks noChangeArrowheads="1"/>
          </p:cNvSpPr>
          <p:nvPr/>
        </p:nvSpPr>
        <p:spPr bwMode="auto">
          <a:xfrm>
            <a:off x="3478213" y="2632075"/>
            <a:ext cx="609600" cy="457200"/>
          </a:xfrm>
          <a:prstGeom prst="rect">
            <a:avLst/>
          </a:prstGeom>
          <a:pattFill prst="wdUpDiag">
            <a:fgClr>
              <a:srgbClr val="FF9933"/>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7767" name="Rectangle 6"/>
          <p:cNvSpPr>
            <a:spLocks noChangeArrowheads="1"/>
          </p:cNvSpPr>
          <p:nvPr/>
        </p:nvSpPr>
        <p:spPr bwMode="auto">
          <a:xfrm>
            <a:off x="4087813" y="2636838"/>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7768" name="Rectangle 7"/>
          <p:cNvSpPr>
            <a:spLocks noChangeArrowheads="1"/>
          </p:cNvSpPr>
          <p:nvPr/>
        </p:nvSpPr>
        <p:spPr bwMode="auto">
          <a:xfrm>
            <a:off x="4773613" y="26416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a1</a:t>
            </a:r>
          </a:p>
        </p:txBody>
      </p:sp>
      <p:sp>
        <p:nvSpPr>
          <p:cNvPr id="117769" name="Rectangle 8"/>
          <p:cNvSpPr>
            <a:spLocks noChangeArrowheads="1"/>
          </p:cNvSpPr>
          <p:nvPr/>
        </p:nvSpPr>
        <p:spPr bwMode="auto">
          <a:xfrm>
            <a:off x="5383213" y="2641600"/>
            <a:ext cx="381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3600"/>
          </a:p>
        </p:txBody>
      </p:sp>
      <p:sp>
        <p:nvSpPr>
          <p:cNvPr id="117770" name="Rectangle 9"/>
          <p:cNvSpPr>
            <a:spLocks noChangeArrowheads="1"/>
          </p:cNvSpPr>
          <p:nvPr/>
        </p:nvSpPr>
        <p:spPr bwMode="auto">
          <a:xfrm>
            <a:off x="5383213" y="26209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a:p>
        </p:txBody>
      </p:sp>
      <p:sp>
        <p:nvSpPr>
          <p:cNvPr id="117771" name="Rectangle 10"/>
          <p:cNvSpPr>
            <a:spLocks noChangeArrowheads="1"/>
          </p:cNvSpPr>
          <p:nvPr/>
        </p:nvSpPr>
        <p:spPr bwMode="auto">
          <a:xfrm>
            <a:off x="2563813" y="2636838"/>
            <a:ext cx="3810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7772" name="Line 11"/>
          <p:cNvSpPr>
            <a:spLocks noChangeShapeType="1"/>
          </p:cNvSpPr>
          <p:nvPr/>
        </p:nvSpPr>
        <p:spPr bwMode="auto">
          <a:xfrm>
            <a:off x="2716213" y="27940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73" name="Text Box 12"/>
          <p:cNvSpPr txBox="1">
            <a:spLocks noChangeArrowheads="1"/>
          </p:cNvSpPr>
          <p:nvPr/>
        </p:nvSpPr>
        <p:spPr bwMode="auto">
          <a:xfrm>
            <a:off x="1497013" y="2641600"/>
            <a:ext cx="1295400"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pPr>
            <a:r>
              <a:rPr lang="en-US" altLang="zh-CN" sz="2400" b="1">
                <a:ea typeface="楷体_GB2312" pitchFamily="49" charset="-122"/>
              </a:rPr>
              <a:t>Q.front</a:t>
            </a:r>
          </a:p>
          <a:p>
            <a:pPr eaLnBrk="1" hangingPunct="1">
              <a:spcBef>
                <a:spcPct val="10000"/>
              </a:spcBef>
            </a:pPr>
            <a:r>
              <a:rPr lang="en-US" altLang="zh-CN" sz="2400" b="1">
                <a:ea typeface="楷体_GB2312" pitchFamily="49" charset="-122"/>
              </a:rPr>
              <a:t>Q.rear</a:t>
            </a:r>
          </a:p>
        </p:txBody>
      </p:sp>
      <p:sp>
        <p:nvSpPr>
          <p:cNvPr id="117774" name="Line 13"/>
          <p:cNvSpPr>
            <a:spLocks noChangeShapeType="1"/>
          </p:cNvSpPr>
          <p:nvPr/>
        </p:nvSpPr>
        <p:spPr bwMode="auto">
          <a:xfrm>
            <a:off x="2563813" y="30988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75" name="Line 14"/>
          <p:cNvSpPr>
            <a:spLocks noChangeShapeType="1"/>
          </p:cNvSpPr>
          <p:nvPr/>
        </p:nvSpPr>
        <p:spPr bwMode="auto">
          <a:xfrm flipV="1">
            <a:off x="7696200" y="3124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76" name="Rectangle 15"/>
          <p:cNvSpPr>
            <a:spLocks noChangeArrowheads="1"/>
          </p:cNvSpPr>
          <p:nvPr/>
        </p:nvSpPr>
        <p:spPr bwMode="auto">
          <a:xfrm>
            <a:off x="6069013" y="26416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a2</a:t>
            </a:r>
          </a:p>
        </p:txBody>
      </p:sp>
      <p:sp>
        <p:nvSpPr>
          <p:cNvPr id="117777" name="Line 16"/>
          <p:cNvSpPr>
            <a:spLocks noChangeShapeType="1"/>
          </p:cNvSpPr>
          <p:nvPr/>
        </p:nvSpPr>
        <p:spPr bwMode="auto">
          <a:xfrm>
            <a:off x="5611813" y="28702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78" name="Rectangle 17"/>
          <p:cNvSpPr>
            <a:spLocks noChangeArrowheads="1"/>
          </p:cNvSpPr>
          <p:nvPr/>
        </p:nvSpPr>
        <p:spPr bwMode="auto">
          <a:xfrm>
            <a:off x="4592638" y="2054225"/>
            <a:ext cx="3825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a:t>p</a:t>
            </a:r>
          </a:p>
        </p:txBody>
      </p:sp>
      <p:sp>
        <p:nvSpPr>
          <p:cNvPr id="117779" name="Line 18"/>
          <p:cNvSpPr>
            <a:spLocks noChangeShapeType="1"/>
          </p:cNvSpPr>
          <p:nvPr/>
        </p:nvSpPr>
        <p:spPr bwMode="auto">
          <a:xfrm>
            <a:off x="4897438" y="2336800"/>
            <a:ext cx="152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80" name="Line 19"/>
          <p:cNvSpPr>
            <a:spLocks noChangeShapeType="1"/>
          </p:cNvSpPr>
          <p:nvPr/>
        </p:nvSpPr>
        <p:spPr bwMode="auto">
          <a:xfrm flipV="1">
            <a:off x="4302125" y="2184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81" name="Line 20"/>
          <p:cNvSpPr>
            <a:spLocks noChangeShapeType="1"/>
          </p:cNvSpPr>
          <p:nvPr/>
        </p:nvSpPr>
        <p:spPr bwMode="auto">
          <a:xfrm>
            <a:off x="6461125" y="22098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0085" name="Rectangle 21"/>
          <p:cNvSpPr>
            <a:spLocks noChangeArrowheads="1"/>
          </p:cNvSpPr>
          <p:nvPr/>
        </p:nvSpPr>
        <p:spPr bwMode="auto">
          <a:xfrm>
            <a:off x="381000" y="990600"/>
            <a:ext cx="8458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4175" indent="-384175" eaLnBrk="1" hangingPunct="1">
              <a:buFontTx/>
              <a:buChar char="•"/>
            </a:pPr>
            <a:r>
              <a:rPr lang="zh-CN" altLang="en-US" sz="2800" b="1">
                <a:latin typeface="楷体_GB2312" pitchFamily="49" charset="-122"/>
                <a:ea typeface="楷体_GB2312" pitchFamily="49" charset="-122"/>
              </a:rPr>
              <a:t>当链队列的长度大于</a:t>
            </a:r>
            <a:r>
              <a:rPr lang="en-US" altLang="zh-CN" sz="2800" b="1">
                <a:latin typeface="楷体_GB2312" pitchFamily="49" charset="-122"/>
                <a:ea typeface="楷体_GB2312" pitchFamily="49" charset="-122"/>
              </a:rPr>
              <a:t>1</a:t>
            </a:r>
            <a:r>
              <a:rPr lang="zh-CN" altLang="en-US" sz="2800" b="1">
                <a:latin typeface="楷体_GB2312" pitchFamily="49" charset="-122"/>
                <a:ea typeface="楷体_GB2312" pitchFamily="49" charset="-122"/>
              </a:rPr>
              <a:t>时，出队列操作只要</a:t>
            </a:r>
            <a:r>
              <a:rPr lang="zh-CN" altLang="en-US" sz="2800" b="1">
                <a:solidFill>
                  <a:srgbClr val="A50021"/>
                </a:solidFill>
                <a:latin typeface="楷体_GB2312" pitchFamily="49" charset="-122"/>
                <a:ea typeface="楷体_GB2312" pitchFamily="49" charset="-122"/>
              </a:rPr>
              <a:t>修改头结点的</a:t>
            </a:r>
            <a:r>
              <a:rPr lang="en-US" altLang="zh-CN" sz="2800" b="1">
                <a:solidFill>
                  <a:srgbClr val="A50021"/>
                </a:solidFill>
                <a:latin typeface="楷体_GB2312" pitchFamily="49" charset="-122"/>
                <a:ea typeface="楷体_GB2312" pitchFamily="49" charset="-122"/>
              </a:rPr>
              <a:t>next</a:t>
            </a:r>
            <a:r>
              <a:rPr lang="zh-CN" altLang="en-US" sz="2800" b="1">
                <a:solidFill>
                  <a:srgbClr val="A50021"/>
                </a:solidFill>
                <a:latin typeface="楷体_GB2312" pitchFamily="49" charset="-122"/>
                <a:ea typeface="楷体_GB2312" pitchFamily="49" charset="-122"/>
              </a:rPr>
              <a:t>域内容</a:t>
            </a:r>
            <a:r>
              <a:rPr lang="zh-CN" altLang="en-US" sz="2800" b="1">
                <a:latin typeface="楷体_GB2312" pitchFamily="49" charset="-122"/>
                <a:ea typeface="楷体_GB2312" pitchFamily="49" charset="-122"/>
              </a:rPr>
              <a:t>即可，</a:t>
            </a:r>
            <a:r>
              <a:rPr lang="zh-CN" altLang="en-US" sz="2800" b="1">
                <a:solidFill>
                  <a:srgbClr val="A50021"/>
                </a:solidFill>
                <a:latin typeface="楷体_GB2312" pitchFamily="49" charset="-122"/>
                <a:ea typeface="楷体_GB2312" pitchFamily="49" charset="-122"/>
              </a:rPr>
              <a:t>队尾指针不用变化</a:t>
            </a:r>
            <a:r>
              <a:rPr lang="zh-CN" altLang="en-US" sz="2800">
                <a:latin typeface="楷体_GB2312" pitchFamily="49" charset="-122"/>
                <a:ea typeface="楷体_GB2312" pitchFamily="49" charset="-122"/>
              </a:rPr>
              <a:t>。</a:t>
            </a:r>
          </a:p>
        </p:txBody>
      </p:sp>
      <p:sp>
        <p:nvSpPr>
          <p:cNvPr id="600086" name="Rectangle 22"/>
          <p:cNvSpPr>
            <a:spLocks noChangeArrowheads="1"/>
          </p:cNvSpPr>
          <p:nvPr/>
        </p:nvSpPr>
        <p:spPr bwMode="auto">
          <a:xfrm>
            <a:off x="250825" y="3968750"/>
            <a:ext cx="86106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80000"/>
              </a:lnSpc>
              <a:spcBef>
                <a:spcPct val="50000"/>
              </a:spcBef>
            </a:pPr>
            <a:r>
              <a:rPr lang="en-US" altLang="zh-CN" sz="2800" b="1" dirty="0">
                <a:ea typeface="楷体_GB2312" pitchFamily="49" charset="-122"/>
              </a:rPr>
              <a:t>p </a:t>
            </a:r>
            <a:r>
              <a:rPr lang="en-US" altLang="zh-CN" sz="2800" b="1" dirty="0"/>
              <a:t>= </a:t>
            </a:r>
            <a:r>
              <a:rPr lang="en-US" altLang="zh-CN" sz="2800" b="1" dirty="0" err="1"/>
              <a:t>Q.front</a:t>
            </a:r>
            <a:r>
              <a:rPr lang="en-US" altLang="zh-CN" sz="2000" b="1" dirty="0" err="1">
                <a:sym typeface="Symbol" pitchFamily="18" charset="2"/>
              </a:rPr>
              <a:t></a:t>
            </a:r>
            <a:r>
              <a:rPr lang="en-US" altLang="zh-CN" sz="2800" b="1" dirty="0" err="1"/>
              <a:t>next</a:t>
            </a:r>
            <a:r>
              <a:rPr lang="en-US" altLang="zh-CN" sz="2800" b="1" dirty="0"/>
              <a:t>;                   </a:t>
            </a:r>
            <a:r>
              <a:rPr lang="en-US" altLang="zh-CN" b="1" dirty="0">
                <a:solidFill>
                  <a:srgbClr val="006600"/>
                </a:solidFill>
                <a:ea typeface="楷体_GB2312" pitchFamily="49" charset="-122"/>
              </a:rPr>
              <a:t>//p</a:t>
            </a:r>
            <a:r>
              <a:rPr lang="zh-CN" altLang="en-US" b="1" dirty="0">
                <a:solidFill>
                  <a:srgbClr val="006600"/>
                </a:solidFill>
                <a:ea typeface="楷体_GB2312" pitchFamily="49" charset="-122"/>
              </a:rPr>
              <a:t>指向队头元素</a:t>
            </a:r>
            <a:endParaRPr lang="zh-CN" altLang="en-US" sz="2800" b="1" dirty="0">
              <a:solidFill>
                <a:srgbClr val="006600"/>
              </a:solidFill>
            </a:endParaRPr>
          </a:p>
          <a:p>
            <a:pPr eaLnBrk="1" hangingPunct="1">
              <a:lnSpc>
                <a:spcPct val="80000"/>
              </a:lnSpc>
              <a:spcBef>
                <a:spcPct val="50000"/>
              </a:spcBef>
            </a:pPr>
            <a:r>
              <a:rPr lang="en-US" altLang="zh-CN" sz="2800" b="1" dirty="0" err="1"/>
              <a:t>Q.front</a:t>
            </a:r>
            <a:r>
              <a:rPr lang="en-US" altLang="zh-CN" sz="2000" b="1" dirty="0" err="1">
                <a:sym typeface="Symbol" pitchFamily="18" charset="2"/>
              </a:rPr>
              <a:t></a:t>
            </a:r>
            <a:r>
              <a:rPr lang="en-US" altLang="zh-CN" sz="2800" b="1" dirty="0" err="1"/>
              <a:t>next</a:t>
            </a:r>
            <a:r>
              <a:rPr lang="en-US" altLang="zh-CN" sz="2800" b="1" dirty="0"/>
              <a:t> = </a:t>
            </a:r>
            <a:r>
              <a:rPr lang="en-US" altLang="zh-CN" sz="2800" b="1" dirty="0" err="1"/>
              <a:t>p</a:t>
            </a:r>
            <a:r>
              <a:rPr lang="en-US" altLang="zh-CN" sz="2000" b="1" dirty="0" err="1">
                <a:sym typeface="Symbol" pitchFamily="18" charset="2"/>
              </a:rPr>
              <a:t></a:t>
            </a:r>
            <a:r>
              <a:rPr lang="en-US" altLang="zh-CN" sz="2800" b="1" dirty="0" err="1"/>
              <a:t>next</a:t>
            </a:r>
            <a:r>
              <a:rPr lang="en-US" altLang="zh-CN" sz="2800" b="1" dirty="0"/>
              <a:t>; </a:t>
            </a:r>
            <a:r>
              <a:rPr lang="en-US" altLang="zh-CN" sz="2000" b="1" dirty="0">
                <a:solidFill>
                  <a:srgbClr val="006600"/>
                </a:solidFill>
                <a:ea typeface="楷体_GB2312" pitchFamily="49" charset="-122"/>
              </a:rPr>
              <a:t>//</a:t>
            </a:r>
            <a:r>
              <a:rPr lang="zh-CN" altLang="en-US" sz="2000" b="1" dirty="0">
                <a:solidFill>
                  <a:srgbClr val="006600"/>
                </a:solidFill>
                <a:ea typeface="楷体_GB2312" pitchFamily="49" charset="-122"/>
              </a:rPr>
              <a:t>修改头结点指针域，指向新的队头元素</a:t>
            </a:r>
            <a:endParaRPr lang="zh-CN" altLang="en-US" sz="2000" b="1" dirty="0"/>
          </a:p>
          <a:p>
            <a:pPr eaLnBrk="1" hangingPunct="1">
              <a:lnSpc>
                <a:spcPct val="80000"/>
              </a:lnSpc>
              <a:spcBef>
                <a:spcPct val="50000"/>
              </a:spcBef>
            </a:pPr>
            <a:r>
              <a:rPr lang="en-US" altLang="zh-CN" sz="2800" b="1" dirty="0">
                <a:ea typeface="楷体_GB2312" pitchFamily="49" charset="-122"/>
              </a:rPr>
              <a:t>x = </a:t>
            </a:r>
            <a:r>
              <a:rPr lang="en-US" altLang="zh-CN" sz="2800" b="1" dirty="0" err="1"/>
              <a:t>p</a:t>
            </a:r>
            <a:r>
              <a:rPr lang="en-US" altLang="zh-CN" sz="2000" b="1" dirty="0" err="1">
                <a:sym typeface="Symbol" pitchFamily="18" charset="2"/>
              </a:rPr>
              <a:t></a:t>
            </a:r>
            <a:r>
              <a:rPr lang="en-US" altLang="zh-CN" sz="2800" b="1" dirty="0" err="1"/>
              <a:t>data</a:t>
            </a:r>
            <a:r>
              <a:rPr lang="en-US" altLang="zh-CN" sz="2800" b="1" dirty="0"/>
              <a:t>;</a:t>
            </a:r>
          </a:p>
          <a:p>
            <a:pPr eaLnBrk="1" hangingPunct="1">
              <a:lnSpc>
                <a:spcPct val="80000"/>
              </a:lnSpc>
              <a:spcBef>
                <a:spcPct val="50000"/>
              </a:spcBef>
            </a:pPr>
            <a:r>
              <a:rPr lang="en-US" altLang="zh-CN" sz="2800" b="1" dirty="0"/>
              <a:t>free(p);            </a:t>
            </a:r>
            <a:r>
              <a:rPr lang="en-US" altLang="zh-CN" b="1" dirty="0">
                <a:solidFill>
                  <a:srgbClr val="006600"/>
                </a:solidFill>
                <a:ea typeface="楷体_GB2312" pitchFamily="49" charset="-122"/>
              </a:rPr>
              <a:t>//</a:t>
            </a:r>
            <a:r>
              <a:rPr lang="zh-CN" altLang="en-US" b="1" dirty="0">
                <a:solidFill>
                  <a:srgbClr val="006600"/>
                </a:solidFill>
                <a:ea typeface="楷体_GB2312" pitchFamily="49" charset="-122"/>
              </a:rPr>
              <a:t>释放被删掉的原队头元素</a:t>
            </a:r>
          </a:p>
        </p:txBody>
      </p:sp>
      <p:sp>
        <p:nvSpPr>
          <p:cNvPr id="117784" name="Rectangle 23"/>
          <p:cNvSpPr>
            <a:spLocks noChangeArrowheads="1"/>
          </p:cNvSpPr>
          <p:nvPr/>
        </p:nvSpPr>
        <p:spPr bwMode="auto">
          <a:xfrm>
            <a:off x="7391400" y="2667000"/>
            <a:ext cx="6096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a:t>a3</a:t>
            </a:r>
          </a:p>
        </p:txBody>
      </p:sp>
      <p:sp>
        <p:nvSpPr>
          <p:cNvPr id="117785" name="Rectangle 24"/>
          <p:cNvSpPr>
            <a:spLocks noChangeArrowheads="1"/>
          </p:cNvSpPr>
          <p:nvPr/>
        </p:nvSpPr>
        <p:spPr bwMode="auto">
          <a:xfrm>
            <a:off x="8001000" y="26670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t>^</a:t>
            </a:r>
          </a:p>
        </p:txBody>
      </p:sp>
      <p:sp>
        <p:nvSpPr>
          <p:cNvPr id="117786" name="Rectangle 25"/>
          <p:cNvSpPr>
            <a:spLocks noChangeArrowheads="1"/>
          </p:cNvSpPr>
          <p:nvPr/>
        </p:nvSpPr>
        <p:spPr bwMode="auto">
          <a:xfrm>
            <a:off x="8001000" y="26670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t>^</a:t>
            </a:r>
          </a:p>
        </p:txBody>
      </p:sp>
      <p:sp>
        <p:nvSpPr>
          <p:cNvPr id="117787" name="Rectangle 26"/>
          <p:cNvSpPr>
            <a:spLocks noChangeArrowheads="1"/>
          </p:cNvSpPr>
          <p:nvPr/>
        </p:nvSpPr>
        <p:spPr bwMode="auto">
          <a:xfrm>
            <a:off x="8001000" y="26670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t>^</a:t>
            </a:r>
          </a:p>
        </p:txBody>
      </p:sp>
      <p:sp>
        <p:nvSpPr>
          <p:cNvPr id="117788" name="Line 27"/>
          <p:cNvSpPr>
            <a:spLocks noChangeShapeType="1"/>
          </p:cNvSpPr>
          <p:nvPr/>
        </p:nvSpPr>
        <p:spPr bwMode="auto">
          <a:xfrm>
            <a:off x="6934200" y="28956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89" name="Line 28"/>
          <p:cNvSpPr>
            <a:spLocks noChangeShapeType="1"/>
          </p:cNvSpPr>
          <p:nvPr/>
        </p:nvSpPr>
        <p:spPr bwMode="auto">
          <a:xfrm>
            <a:off x="4311650" y="2209800"/>
            <a:ext cx="21494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790" name="Line 29"/>
          <p:cNvSpPr>
            <a:spLocks noChangeShapeType="1"/>
          </p:cNvSpPr>
          <p:nvPr/>
        </p:nvSpPr>
        <p:spPr bwMode="auto">
          <a:xfrm>
            <a:off x="2743200" y="3357563"/>
            <a:ext cx="495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1282604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0085"/>
                                        </p:tgtEl>
                                        <p:attrNameLst>
                                          <p:attrName>style.visibility</p:attrName>
                                        </p:attrNameLst>
                                      </p:cBhvr>
                                      <p:to>
                                        <p:strVal val="visible"/>
                                      </p:to>
                                    </p:set>
                                    <p:anim calcmode="lin" valueType="num">
                                      <p:cBhvr additive="base">
                                        <p:cTn id="7" dur="500" fill="hold"/>
                                        <p:tgtEl>
                                          <p:spTgt spid="600085"/>
                                        </p:tgtEl>
                                        <p:attrNameLst>
                                          <p:attrName>ppt_x</p:attrName>
                                        </p:attrNameLst>
                                      </p:cBhvr>
                                      <p:tavLst>
                                        <p:tav tm="0">
                                          <p:val>
                                            <p:strVal val="0-#ppt_w/2"/>
                                          </p:val>
                                        </p:tav>
                                        <p:tav tm="100000">
                                          <p:val>
                                            <p:strVal val="#ppt_x"/>
                                          </p:val>
                                        </p:tav>
                                      </p:tavLst>
                                    </p:anim>
                                    <p:anim calcmode="lin" valueType="num">
                                      <p:cBhvr additive="base">
                                        <p:cTn id="8" dur="500" fill="hold"/>
                                        <p:tgtEl>
                                          <p:spTgt spid="6000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00086">
                                            <p:txEl>
                                              <p:pRg st="0" end="0"/>
                                            </p:txEl>
                                          </p:spTgt>
                                        </p:tgtEl>
                                        <p:attrNameLst>
                                          <p:attrName>style.visibility</p:attrName>
                                        </p:attrNameLst>
                                      </p:cBhvr>
                                      <p:to>
                                        <p:strVal val="visible"/>
                                      </p:to>
                                    </p:set>
                                    <p:anim calcmode="lin" valueType="num">
                                      <p:cBhvr additive="base">
                                        <p:cTn id="13" dur="500" fill="hold"/>
                                        <p:tgtEl>
                                          <p:spTgt spid="60008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00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00086">
                                            <p:txEl>
                                              <p:pRg st="1" end="1"/>
                                            </p:txEl>
                                          </p:spTgt>
                                        </p:tgtEl>
                                        <p:attrNameLst>
                                          <p:attrName>style.visibility</p:attrName>
                                        </p:attrNameLst>
                                      </p:cBhvr>
                                      <p:to>
                                        <p:strVal val="visible"/>
                                      </p:to>
                                    </p:set>
                                    <p:anim calcmode="lin" valueType="num">
                                      <p:cBhvr additive="base">
                                        <p:cTn id="19" dur="500" fill="hold"/>
                                        <p:tgtEl>
                                          <p:spTgt spid="60008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000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00086">
                                            <p:txEl>
                                              <p:pRg st="2" end="2"/>
                                            </p:txEl>
                                          </p:spTgt>
                                        </p:tgtEl>
                                        <p:attrNameLst>
                                          <p:attrName>style.visibility</p:attrName>
                                        </p:attrNameLst>
                                      </p:cBhvr>
                                      <p:to>
                                        <p:strVal val="visible"/>
                                      </p:to>
                                    </p:set>
                                    <p:anim calcmode="lin" valueType="num">
                                      <p:cBhvr additive="base">
                                        <p:cTn id="25" dur="500" fill="hold"/>
                                        <p:tgtEl>
                                          <p:spTgt spid="60008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000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00086">
                                            <p:txEl>
                                              <p:pRg st="3" end="3"/>
                                            </p:txEl>
                                          </p:spTgt>
                                        </p:tgtEl>
                                        <p:attrNameLst>
                                          <p:attrName>style.visibility</p:attrName>
                                        </p:attrNameLst>
                                      </p:cBhvr>
                                      <p:to>
                                        <p:strVal val="visible"/>
                                      </p:to>
                                    </p:set>
                                    <p:anim calcmode="lin" valueType="num">
                                      <p:cBhvr additive="base">
                                        <p:cTn id="31" dur="500" fill="hold"/>
                                        <p:tgtEl>
                                          <p:spTgt spid="60008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008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85" grpId="0"/>
      <p:bldP spid="600086" grpId="0" build="p"/>
    </p:bldLst>
  </p:timing>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1F760539-10DF-44D6-B1BA-3CA045986C9C}" type="slidenum">
              <a:rPr lang="en-US" altLang="zh-CN" sz="1400"/>
              <a:pPr/>
              <a:t>133</a:t>
            </a:fld>
            <a:endParaRPr lang="en-US" altLang="zh-CN" sz="1400"/>
          </a:p>
        </p:txBody>
      </p:sp>
      <p:sp>
        <p:nvSpPr>
          <p:cNvPr id="118787" name="Rectangle 8"/>
          <p:cNvSpPr>
            <a:spLocks noGrp="1" noChangeArrowheads="1"/>
          </p:cNvSpPr>
          <p:nvPr>
            <p:ph/>
          </p:nvPr>
        </p:nvSpPr>
        <p:spPr>
          <a:xfrm>
            <a:off x="296863" y="0"/>
            <a:ext cx="8305800" cy="1981200"/>
          </a:xfrm>
        </p:spPr>
        <p:txBody>
          <a:bodyPr/>
          <a:lstStyle/>
          <a:p>
            <a:pPr eaLnBrk="1" hangingPunct="1"/>
            <a:r>
              <a:rPr lang="zh-CN" altLang="en-US" sz="2800" b="1">
                <a:latin typeface="楷体_GB2312" pitchFamily="49" charset="-122"/>
                <a:ea typeface="楷体_GB2312" pitchFamily="49" charset="-122"/>
              </a:rPr>
              <a:t>当链队列的长度等于</a:t>
            </a:r>
            <a:r>
              <a:rPr lang="en-US" altLang="zh-CN" sz="2800" b="1">
                <a:latin typeface="楷体_GB2312" pitchFamily="49" charset="-122"/>
                <a:ea typeface="楷体_GB2312" pitchFamily="49" charset="-122"/>
              </a:rPr>
              <a:t>1</a:t>
            </a:r>
            <a:r>
              <a:rPr lang="zh-CN" altLang="en-US" sz="2800" b="1">
                <a:latin typeface="楷体_GB2312" pitchFamily="49" charset="-122"/>
                <a:ea typeface="楷体_GB2312" pitchFamily="49" charset="-122"/>
              </a:rPr>
              <a:t>时，即队列中只有一个数据元素，执行出队列操作后，就成为一个空队列，这时，除修改头结点的</a:t>
            </a:r>
            <a:r>
              <a:rPr lang="en-US" altLang="zh-CN" sz="2800" b="1">
                <a:latin typeface="楷体_GB2312" pitchFamily="49" charset="-122"/>
                <a:ea typeface="楷体_GB2312" pitchFamily="49" charset="-122"/>
              </a:rPr>
              <a:t>next</a:t>
            </a:r>
            <a:r>
              <a:rPr lang="zh-CN" altLang="en-US" sz="2800" b="1">
                <a:latin typeface="楷体_GB2312" pitchFamily="49" charset="-122"/>
                <a:ea typeface="楷体_GB2312" pitchFamily="49" charset="-122"/>
              </a:rPr>
              <a:t>域外，</a:t>
            </a:r>
            <a:r>
              <a:rPr lang="zh-CN" altLang="en-US" sz="2800" b="1">
                <a:solidFill>
                  <a:schemeClr val="hlink"/>
                </a:solidFill>
                <a:latin typeface="楷体_GB2312" pitchFamily="49" charset="-122"/>
                <a:ea typeface="楷体_GB2312" pitchFamily="49" charset="-122"/>
              </a:rPr>
              <a:t>还需修改队尾指针</a:t>
            </a:r>
            <a:r>
              <a:rPr lang="zh-CN" altLang="en-US" sz="2800" b="1">
                <a:latin typeface="楷体_GB2312" pitchFamily="49" charset="-122"/>
                <a:ea typeface="楷体_GB2312" pitchFamily="49" charset="-122"/>
              </a:rPr>
              <a:t>，这是因为此时队尾指针也指向被删结点</a:t>
            </a:r>
            <a:r>
              <a:rPr lang="zh-CN" altLang="en-US" sz="2800">
                <a:latin typeface="楷体_GB2312" pitchFamily="49" charset="-122"/>
                <a:ea typeface="楷体_GB2312" pitchFamily="49" charset="-122"/>
              </a:rPr>
              <a:t>。</a:t>
            </a:r>
          </a:p>
        </p:txBody>
      </p:sp>
      <p:sp>
        <p:nvSpPr>
          <p:cNvPr id="601110" name="Text Box 22"/>
          <p:cNvSpPr txBox="1">
            <a:spLocks noChangeArrowheads="1"/>
          </p:cNvSpPr>
          <p:nvPr/>
        </p:nvSpPr>
        <p:spPr bwMode="auto">
          <a:xfrm>
            <a:off x="206375" y="4149725"/>
            <a:ext cx="8937625"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80000"/>
              </a:lnSpc>
              <a:spcBef>
                <a:spcPct val="20000"/>
              </a:spcBef>
            </a:pPr>
            <a:r>
              <a:rPr lang="en-US" altLang="zh-CN" sz="2800" b="1" dirty="0">
                <a:ea typeface="楷体_GB2312" pitchFamily="49" charset="-122"/>
              </a:rPr>
              <a:t>p </a:t>
            </a:r>
            <a:r>
              <a:rPr lang="en-US" altLang="zh-CN" sz="2800" b="1" dirty="0"/>
              <a:t>=</a:t>
            </a:r>
            <a:r>
              <a:rPr lang="en-US" altLang="zh-CN" sz="2800" b="1" dirty="0" err="1"/>
              <a:t>Q.front</a:t>
            </a:r>
            <a:r>
              <a:rPr lang="en-US" altLang="zh-CN" sz="2000" b="1" dirty="0" err="1">
                <a:sym typeface="Symbol" pitchFamily="18" charset="2"/>
              </a:rPr>
              <a:t></a:t>
            </a:r>
            <a:r>
              <a:rPr lang="en-US" altLang="zh-CN" sz="2800" b="1" dirty="0" err="1"/>
              <a:t>next</a:t>
            </a:r>
            <a:r>
              <a:rPr lang="en-US" altLang="zh-CN" sz="2800" b="1" dirty="0"/>
              <a:t>;     </a:t>
            </a:r>
            <a:r>
              <a:rPr lang="en-US" altLang="zh-CN" sz="2400" b="1" dirty="0">
                <a:solidFill>
                  <a:srgbClr val="006600"/>
                </a:solidFill>
                <a:ea typeface="楷体_GB2312" pitchFamily="49" charset="-122"/>
              </a:rPr>
              <a:t>//p</a:t>
            </a:r>
            <a:r>
              <a:rPr lang="zh-CN" altLang="en-US" sz="2400" b="1" dirty="0">
                <a:solidFill>
                  <a:srgbClr val="006600"/>
                </a:solidFill>
                <a:ea typeface="楷体_GB2312" pitchFamily="49" charset="-122"/>
              </a:rPr>
              <a:t>指向队头元素</a:t>
            </a:r>
            <a:endParaRPr lang="zh-CN" altLang="en-US" sz="2800" b="1" dirty="0">
              <a:solidFill>
                <a:srgbClr val="006600"/>
              </a:solidFill>
            </a:endParaRPr>
          </a:p>
          <a:p>
            <a:pPr eaLnBrk="1" hangingPunct="1">
              <a:lnSpc>
                <a:spcPct val="80000"/>
              </a:lnSpc>
              <a:spcBef>
                <a:spcPct val="20000"/>
              </a:spcBef>
            </a:pPr>
            <a:r>
              <a:rPr lang="en-US" altLang="zh-CN" sz="2800" b="1" dirty="0" err="1"/>
              <a:t>Q.front</a:t>
            </a:r>
            <a:r>
              <a:rPr lang="en-US" altLang="zh-CN" sz="2000" b="1" dirty="0" err="1">
                <a:sym typeface="Symbol" pitchFamily="18" charset="2"/>
              </a:rPr>
              <a:t></a:t>
            </a:r>
            <a:r>
              <a:rPr lang="en-US" altLang="zh-CN" sz="2800" b="1" dirty="0" err="1"/>
              <a:t>next</a:t>
            </a:r>
            <a:r>
              <a:rPr lang="en-US" altLang="zh-CN" sz="2800" b="1" dirty="0"/>
              <a:t> = p</a:t>
            </a:r>
            <a:r>
              <a:rPr lang="en-US" altLang="zh-CN" sz="2000" b="1" dirty="0">
                <a:sym typeface="Symbol" pitchFamily="18" charset="2"/>
              </a:rPr>
              <a:t></a:t>
            </a:r>
            <a:r>
              <a:rPr lang="en-US" altLang="zh-CN" sz="2000" b="1" dirty="0"/>
              <a:t> </a:t>
            </a:r>
            <a:r>
              <a:rPr lang="en-US" altLang="zh-CN" sz="2800" b="1" dirty="0"/>
              <a:t>next; </a:t>
            </a:r>
            <a:r>
              <a:rPr lang="en-US" altLang="zh-CN" sz="2000" b="1" dirty="0">
                <a:solidFill>
                  <a:srgbClr val="006600"/>
                </a:solidFill>
                <a:ea typeface="楷体_GB2312" pitchFamily="49" charset="-122"/>
              </a:rPr>
              <a:t>//</a:t>
            </a:r>
            <a:r>
              <a:rPr lang="zh-CN" altLang="en-US" sz="2000" b="1" dirty="0">
                <a:solidFill>
                  <a:srgbClr val="006600"/>
                </a:solidFill>
                <a:ea typeface="楷体_GB2312" pitchFamily="49" charset="-122"/>
              </a:rPr>
              <a:t>修改头结点指针域，指向新的队头元素</a:t>
            </a:r>
          </a:p>
          <a:p>
            <a:pPr eaLnBrk="1" hangingPunct="1">
              <a:lnSpc>
                <a:spcPct val="80000"/>
              </a:lnSpc>
              <a:spcBef>
                <a:spcPct val="20000"/>
              </a:spcBef>
            </a:pPr>
            <a:r>
              <a:rPr lang="en-US" altLang="zh-CN" sz="2800" b="1" dirty="0">
                <a:ea typeface="楷体_GB2312" pitchFamily="49" charset="-122"/>
              </a:rPr>
              <a:t>x = </a:t>
            </a:r>
            <a:r>
              <a:rPr lang="en-US" altLang="zh-CN" sz="2800" b="1" dirty="0" err="1"/>
              <a:t>p</a:t>
            </a:r>
            <a:r>
              <a:rPr lang="en-US" altLang="zh-CN" sz="2000" b="1" dirty="0" err="1">
                <a:sym typeface="Symbol" pitchFamily="18" charset="2"/>
              </a:rPr>
              <a:t></a:t>
            </a:r>
            <a:r>
              <a:rPr lang="en-US" altLang="zh-CN" sz="2800" b="1" dirty="0" err="1"/>
              <a:t>data</a:t>
            </a:r>
            <a:r>
              <a:rPr lang="en-US" altLang="zh-CN" sz="2800" b="1" dirty="0"/>
              <a:t>;</a:t>
            </a:r>
          </a:p>
          <a:p>
            <a:pPr eaLnBrk="1" hangingPunct="1">
              <a:lnSpc>
                <a:spcPct val="80000"/>
              </a:lnSpc>
              <a:spcBef>
                <a:spcPct val="20000"/>
              </a:spcBef>
            </a:pPr>
            <a:r>
              <a:rPr lang="en-US" altLang="zh-CN" sz="2800" b="1" dirty="0">
                <a:solidFill>
                  <a:schemeClr val="hlink"/>
                </a:solidFill>
              </a:rPr>
              <a:t>if (</a:t>
            </a:r>
            <a:r>
              <a:rPr lang="en-US" altLang="zh-CN" sz="2800" b="1" dirty="0" err="1">
                <a:solidFill>
                  <a:schemeClr val="hlink"/>
                </a:solidFill>
              </a:rPr>
              <a:t>Q.rear</a:t>
            </a:r>
            <a:r>
              <a:rPr lang="en-US" altLang="zh-CN" sz="2800" b="1" dirty="0">
                <a:solidFill>
                  <a:schemeClr val="hlink"/>
                </a:solidFill>
              </a:rPr>
              <a:t> == p)  </a:t>
            </a:r>
            <a:r>
              <a:rPr lang="en-US" altLang="zh-CN" sz="2800" b="1" dirty="0" err="1">
                <a:solidFill>
                  <a:schemeClr val="hlink"/>
                </a:solidFill>
              </a:rPr>
              <a:t>Q.rear</a:t>
            </a:r>
            <a:r>
              <a:rPr lang="en-US" altLang="zh-CN" sz="2800" b="1" dirty="0">
                <a:solidFill>
                  <a:schemeClr val="hlink"/>
                </a:solidFill>
              </a:rPr>
              <a:t>=</a:t>
            </a:r>
            <a:r>
              <a:rPr lang="en-US" altLang="zh-CN" sz="2800" b="1" dirty="0" err="1">
                <a:solidFill>
                  <a:schemeClr val="hlink"/>
                </a:solidFill>
              </a:rPr>
              <a:t>Q.front</a:t>
            </a:r>
            <a:r>
              <a:rPr lang="en-US" altLang="zh-CN" sz="2800" b="1" dirty="0">
                <a:solidFill>
                  <a:schemeClr val="hlink"/>
                </a:solidFill>
              </a:rPr>
              <a:t>;</a:t>
            </a:r>
          </a:p>
          <a:p>
            <a:pPr eaLnBrk="1" hangingPunct="1">
              <a:lnSpc>
                <a:spcPct val="80000"/>
              </a:lnSpc>
              <a:spcBef>
                <a:spcPct val="20000"/>
              </a:spcBef>
            </a:pPr>
            <a:r>
              <a:rPr lang="en-US" altLang="zh-CN" sz="2800" b="1" dirty="0"/>
              <a:t>free(p);                 </a:t>
            </a:r>
            <a:r>
              <a:rPr lang="en-US" altLang="zh-CN" sz="2400" b="1" dirty="0">
                <a:solidFill>
                  <a:srgbClr val="006600"/>
                </a:solidFill>
                <a:ea typeface="楷体_GB2312" pitchFamily="49" charset="-122"/>
              </a:rPr>
              <a:t>//</a:t>
            </a:r>
            <a:r>
              <a:rPr lang="zh-CN" altLang="en-US" sz="2400" b="1" dirty="0">
                <a:solidFill>
                  <a:srgbClr val="006600"/>
                </a:solidFill>
                <a:ea typeface="楷体_GB2312" pitchFamily="49" charset="-122"/>
              </a:rPr>
              <a:t>释放被删掉的原队头元素</a:t>
            </a:r>
          </a:p>
        </p:txBody>
      </p:sp>
      <p:grpSp>
        <p:nvGrpSpPr>
          <p:cNvPr id="601139" name="Group 51"/>
          <p:cNvGrpSpPr>
            <a:grpSpLocks/>
          </p:cNvGrpSpPr>
          <p:nvPr/>
        </p:nvGrpSpPr>
        <p:grpSpPr bwMode="auto">
          <a:xfrm>
            <a:off x="511175" y="1584325"/>
            <a:ext cx="7467600" cy="1287463"/>
            <a:chOff x="322" y="1074"/>
            <a:chExt cx="4704" cy="811"/>
          </a:xfrm>
        </p:grpSpPr>
        <p:sp>
          <p:nvSpPr>
            <p:cNvPr id="118801" name="Line 38"/>
            <p:cNvSpPr>
              <a:spLocks noChangeShapeType="1"/>
            </p:cNvSpPr>
            <p:nvPr/>
          </p:nvSpPr>
          <p:spPr bwMode="auto">
            <a:xfrm>
              <a:off x="4368" y="1266"/>
              <a:ext cx="28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02" name="Rectangle 39"/>
            <p:cNvSpPr>
              <a:spLocks noChangeArrowheads="1"/>
            </p:cNvSpPr>
            <p:nvPr/>
          </p:nvSpPr>
          <p:spPr bwMode="auto">
            <a:xfrm>
              <a:off x="2725" y="1341"/>
              <a:ext cx="24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8803" name="Text Box 40"/>
            <p:cNvSpPr txBox="1">
              <a:spLocks noChangeArrowheads="1"/>
            </p:cNvSpPr>
            <p:nvPr/>
          </p:nvSpPr>
          <p:spPr bwMode="auto">
            <a:xfrm>
              <a:off x="2053" y="1344"/>
              <a:ext cx="816" cy="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pPr>
              <a:r>
                <a:rPr lang="en-US" altLang="zh-CN" sz="2400" b="1">
                  <a:ea typeface="楷体_GB2312" pitchFamily="49" charset="-122"/>
                </a:rPr>
                <a:t>Q.front</a:t>
              </a:r>
            </a:p>
            <a:p>
              <a:pPr eaLnBrk="1" hangingPunct="1">
                <a:spcBef>
                  <a:spcPct val="10000"/>
                </a:spcBef>
              </a:pPr>
              <a:r>
                <a:rPr lang="en-US" altLang="zh-CN" sz="2400" b="1">
                  <a:ea typeface="楷体_GB2312" pitchFamily="49" charset="-122"/>
                </a:rPr>
                <a:t>Q.rear</a:t>
              </a:r>
            </a:p>
          </p:txBody>
        </p:sp>
        <p:sp>
          <p:nvSpPr>
            <p:cNvPr id="118804" name="Line 41"/>
            <p:cNvSpPr>
              <a:spLocks noChangeShapeType="1"/>
            </p:cNvSpPr>
            <p:nvPr/>
          </p:nvSpPr>
          <p:spPr bwMode="auto">
            <a:xfrm>
              <a:off x="2725" y="163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05" name="Rectangle 42" descr="宽上对角线"/>
            <p:cNvSpPr>
              <a:spLocks noChangeArrowheads="1"/>
            </p:cNvSpPr>
            <p:nvPr/>
          </p:nvSpPr>
          <p:spPr bwMode="auto">
            <a:xfrm>
              <a:off x="3250" y="1354"/>
              <a:ext cx="432" cy="240"/>
            </a:xfrm>
            <a:prstGeom prst="rect">
              <a:avLst/>
            </a:prstGeom>
            <a:pattFill prst="wd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8806" name="Rectangle 43"/>
            <p:cNvSpPr>
              <a:spLocks noChangeArrowheads="1"/>
            </p:cNvSpPr>
            <p:nvPr/>
          </p:nvSpPr>
          <p:spPr bwMode="auto">
            <a:xfrm>
              <a:off x="3682" y="1354"/>
              <a:ext cx="19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8807" name="Rectangle 44"/>
            <p:cNvSpPr>
              <a:spLocks noChangeArrowheads="1"/>
            </p:cNvSpPr>
            <p:nvPr/>
          </p:nvSpPr>
          <p:spPr bwMode="auto">
            <a:xfrm>
              <a:off x="4402" y="1354"/>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a</a:t>
              </a:r>
              <a:r>
                <a:rPr lang="en-US" altLang="zh-CN" sz="1400" b="1"/>
                <a:t>n</a:t>
              </a:r>
              <a:endParaRPr lang="en-US" altLang="zh-CN" b="1"/>
            </a:p>
          </p:txBody>
        </p:sp>
        <p:sp>
          <p:nvSpPr>
            <p:cNvPr id="118808" name="Rectangle 45"/>
            <p:cNvSpPr>
              <a:spLocks noChangeArrowheads="1"/>
            </p:cNvSpPr>
            <p:nvPr/>
          </p:nvSpPr>
          <p:spPr bwMode="auto">
            <a:xfrm>
              <a:off x="4834" y="1354"/>
              <a:ext cx="19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1"/>
                <a:t>^</a:t>
              </a:r>
            </a:p>
          </p:txBody>
        </p:sp>
        <p:sp>
          <p:nvSpPr>
            <p:cNvPr id="118809" name="Line 46"/>
            <p:cNvSpPr>
              <a:spLocks noChangeShapeType="1"/>
            </p:cNvSpPr>
            <p:nvPr/>
          </p:nvSpPr>
          <p:spPr bwMode="auto">
            <a:xfrm>
              <a:off x="2866" y="1498"/>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18810" name="AutoShape 47"/>
            <p:cNvCxnSpPr>
              <a:cxnSpLocks noChangeShapeType="1"/>
              <a:endCxn id="118807" idx="2"/>
            </p:cNvCxnSpPr>
            <p:nvPr/>
          </p:nvCxnSpPr>
          <p:spPr bwMode="auto">
            <a:xfrm flipV="1">
              <a:off x="2866" y="1594"/>
              <a:ext cx="1752" cy="12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11" name="Rectangle 48"/>
            <p:cNvSpPr>
              <a:spLocks noChangeArrowheads="1"/>
            </p:cNvSpPr>
            <p:nvPr/>
          </p:nvSpPr>
          <p:spPr bwMode="auto">
            <a:xfrm>
              <a:off x="322" y="1475"/>
              <a:ext cx="1780"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80000"/>
                </a:lnSpc>
              </a:pPr>
              <a:r>
                <a:rPr lang="zh-CN" altLang="en-US" sz="2600" b="1">
                  <a:ea typeface="楷体_GB2312" pitchFamily="49" charset="-122"/>
                </a:rPr>
                <a:t>出列前链队列状态</a:t>
              </a:r>
              <a:endParaRPr lang="zh-CN" altLang="en-US" sz="2800" b="1"/>
            </a:p>
          </p:txBody>
        </p:sp>
        <p:sp>
          <p:nvSpPr>
            <p:cNvPr id="118812" name="Rectangle 49"/>
            <p:cNvSpPr>
              <a:spLocks noChangeArrowheads="1"/>
            </p:cNvSpPr>
            <p:nvPr/>
          </p:nvSpPr>
          <p:spPr bwMode="auto">
            <a:xfrm>
              <a:off x="4128" y="1074"/>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800" b="1">
                  <a:ea typeface="楷体_GB2312" pitchFamily="49" charset="-122"/>
                </a:rPr>
                <a:t>p</a:t>
              </a:r>
            </a:p>
          </p:txBody>
        </p:sp>
        <p:sp>
          <p:nvSpPr>
            <p:cNvPr id="118813" name="Line 50"/>
            <p:cNvSpPr>
              <a:spLocks noChangeShapeType="1"/>
            </p:cNvSpPr>
            <p:nvPr/>
          </p:nvSpPr>
          <p:spPr bwMode="auto">
            <a:xfrm>
              <a:off x="3812" y="1478"/>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1164" name="Group 76"/>
          <p:cNvGrpSpPr>
            <a:grpSpLocks/>
          </p:cNvGrpSpPr>
          <p:nvPr/>
        </p:nvGrpSpPr>
        <p:grpSpPr bwMode="auto">
          <a:xfrm>
            <a:off x="511175" y="3068638"/>
            <a:ext cx="5715000" cy="863600"/>
            <a:chOff x="322" y="2023"/>
            <a:chExt cx="3600" cy="544"/>
          </a:xfrm>
        </p:grpSpPr>
        <p:sp>
          <p:nvSpPr>
            <p:cNvPr id="118792" name="Rectangle 67"/>
            <p:cNvSpPr>
              <a:spLocks noChangeArrowheads="1"/>
            </p:cNvSpPr>
            <p:nvPr/>
          </p:nvSpPr>
          <p:spPr bwMode="auto">
            <a:xfrm>
              <a:off x="2736" y="2023"/>
              <a:ext cx="24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8793" name="Text Box 68"/>
            <p:cNvSpPr txBox="1">
              <a:spLocks noChangeArrowheads="1"/>
            </p:cNvSpPr>
            <p:nvPr/>
          </p:nvSpPr>
          <p:spPr bwMode="auto">
            <a:xfrm>
              <a:off x="2064" y="2026"/>
              <a:ext cx="816" cy="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pPr>
              <a:r>
                <a:rPr lang="en-US" altLang="zh-CN" sz="2400" b="1">
                  <a:ea typeface="楷体_GB2312" pitchFamily="49" charset="-122"/>
                </a:rPr>
                <a:t>Q.front</a:t>
              </a:r>
            </a:p>
            <a:p>
              <a:pPr eaLnBrk="1" hangingPunct="1">
                <a:spcBef>
                  <a:spcPct val="10000"/>
                </a:spcBef>
              </a:pPr>
              <a:r>
                <a:rPr lang="en-US" altLang="zh-CN" sz="2400" b="1">
                  <a:ea typeface="楷体_GB2312" pitchFamily="49" charset="-122"/>
                </a:rPr>
                <a:t>Q.rear</a:t>
              </a:r>
            </a:p>
          </p:txBody>
        </p:sp>
        <p:sp>
          <p:nvSpPr>
            <p:cNvPr id="118794" name="Line 69"/>
            <p:cNvSpPr>
              <a:spLocks noChangeShapeType="1"/>
            </p:cNvSpPr>
            <p:nvPr/>
          </p:nvSpPr>
          <p:spPr bwMode="auto">
            <a:xfrm>
              <a:off x="2736" y="231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795" name="Rectangle 70" descr="宽上对角线"/>
            <p:cNvSpPr>
              <a:spLocks noChangeArrowheads="1"/>
            </p:cNvSpPr>
            <p:nvPr/>
          </p:nvSpPr>
          <p:spPr bwMode="auto">
            <a:xfrm>
              <a:off x="3298" y="2074"/>
              <a:ext cx="432" cy="240"/>
            </a:xfrm>
            <a:prstGeom prst="rect">
              <a:avLst/>
            </a:prstGeom>
            <a:pattFill prst="wdUpDiag">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18796" name="Rectangle 71"/>
            <p:cNvSpPr>
              <a:spLocks noChangeArrowheads="1"/>
            </p:cNvSpPr>
            <p:nvPr/>
          </p:nvSpPr>
          <p:spPr bwMode="auto">
            <a:xfrm>
              <a:off x="3730" y="2074"/>
              <a:ext cx="19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400"/>
                <a:t>∧</a:t>
              </a:r>
            </a:p>
          </p:txBody>
        </p:sp>
        <p:sp>
          <p:nvSpPr>
            <p:cNvPr id="118797" name="Rectangle 72"/>
            <p:cNvSpPr>
              <a:spLocks noChangeArrowheads="1"/>
            </p:cNvSpPr>
            <p:nvPr/>
          </p:nvSpPr>
          <p:spPr bwMode="auto">
            <a:xfrm>
              <a:off x="322" y="2170"/>
              <a:ext cx="1920"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80000"/>
                </a:lnSpc>
              </a:pPr>
              <a:r>
                <a:rPr lang="zh-CN" altLang="en-US" sz="2600" b="1">
                  <a:ea typeface="楷体_GB2312" pitchFamily="49" charset="-122"/>
                </a:rPr>
                <a:t>出列后链队列状态</a:t>
              </a:r>
              <a:endParaRPr lang="zh-CN" altLang="en-US" sz="3000" b="1"/>
            </a:p>
          </p:txBody>
        </p:sp>
        <p:sp>
          <p:nvSpPr>
            <p:cNvPr id="118798" name="Line 73"/>
            <p:cNvSpPr>
              <a:spLocks noChangeShapeType="1"/>
            </p:cNvSpPr>
            <p:nvPr/>
          </p:nvSpPr>
          <p:spPr bwMode="auto">
            <a:xfrm>
              <a:off x="2900" y="2178"/>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799" name="Line 74"/>
            <p:cNvSpPr>
              <a:spLocks noChangeShapeType="1"/>
            </p:cNvSpPr>
            <p:nvPr/>
          </p:nvSpPr>
          <p:spPr bwMode="auto">
            <a:xfrm>
              <a:off x="2880" y="241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00" name="Line 75"/>
            <p:cNvSpPr>
              <a:spLocks noChangeShapeType="1"/>
            </p:cNvSpPr>
            <p:nvPr/>
          </p:nvSpPr>
          <p:spPr bwMode="auto">
            <a:xfrm flipV="1">
              <a:off x="3408" y="2322"/>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3833109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01139"/>
                                        </p:tgtEl>
                                        <p:attrNameLst>
                                          <p:attrName>style.visibility</p:attrName>
                                        </p:attrNameLst>
                                      </p:cBhvr>
                                      <p:to>
                                        <p:strVal val="visible"/>
                                      </p:to>
                                    </p:set>
                                    <p:animEffect transition="in" filter="wipe(left)">
                                      <p:cBhvr>
                                        <p:cTn id="7" dur="500"/>
                                        <p:tgtEl>
                                          <p:spTgt spid="601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1164"/>
                                        </p:tgtEl>
                                        <p:attrNameLst>
                                          <p:attrName>style.visibility</p:attrName>
                                        </p:attrNameLst>
                                      </p:cBhvr>
                                      <p:to>
                                        <p:strVal val="visible"/>
                                      </p:to>
                                    </p:set>
                                    <p:animEffect transition="in" filter="wipe(left)">
                                      <p:cBhvr>
                                        <p:cTn id="12" dur="500"/>
                                        <p:tgtEl>
                                          <p:spTgt spid="601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1110"/>
                                        </p:tgtEl>
                                        <p:attrNameLst>
                                          <p:attrName>style.visibility</p:attrName>
                                        </p:attrNameLst>
                                      </p:cBhvr>
                                      <p:to>
                                        <p:strVal val="visible"/>
                                      </p:to>
                                    </p:set>
                                    <p:animEffect transition="in" filter="dissolve">
                                      <p:cBhvr>
                                        <p:cTn id="17" dur="500"/>
                                        <p:tgtEl>
                                          <p:spTgt spid="601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110" grpId="0"/>
    </p:bldLst>
  </p:timing>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243E1E95-05AA-4F25-915C-C04CDB028062}" type="slidenum">
              <a:rPr lang="en-US" altLang="zh-CN" sz="1400"/>
              <a:pPr/>
              <a:t>134</a:t>
            </a:fld>
            <a:endParaRPr lang="en-US" altLang="zh-CN" sz="1400"/>
          </a:p>
        </p:txBody>
      </p:sp>
      <p:sp>
        <p:nvSpPr>
          <p:cNvPr id="119811" name="Rectangle 2"/>
          <p:cNvSpPr>
            <a:spLocks noChangeArrowheads="1"/>
          </p:cNvSpPr>
          <p:nvPr/>
        </p:nvSpPr>
        <p:spPr bwMode="auto">
          <a:xfrm>
            <a:off x="304800" y="1447800"/>
            <a:ext cx="8534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80000"/>
              </a:lnSpc>
              <a:spcBef>
                <a:spcPct val="20000"/>
              </a:spcBef>
            </a:pPr>
            <a:r>
              <a:rPr lang="en-US" altLang="zh-CN" sz="2800" b="1" dirty="0">
                <a:ea typeface="楷体_GB2312" pitchFamily="49" charset="-122"/>
              </a:rPr>
              <a:t> Status </a:t>
            </a:r>
            <a:r>
              <a:rPr lang="en-US" altLang="zh-CN" sz="2800" b="1" dirty="0" err="1">
                <a:ea typeface="楷体_GB2312" pitchFamily="49" charset="-122"/>
              </a:rPr>
              <a:t>DeQueue</a:t>
            </a:r>
            <a:r>
              <a:rPr lang="en-US" altLang="zh-CN" sz="2800" b="1" dirty="0">
                <a:ea typeface="楷体_GB2312" pitchFamily="49" charset="-122"/>
              </a:rPr>
              <a:t> (</a:t>
            </a:r>
            <a:r>
              <a:rPr lang="en-US" altLang="zh-CN" sz="2800" b="1" dirty="0" err="1">
                <a:ea typeface="楷体_GB2312" pitchFamily="49" charset="-122"/>
              </a:rPr>
              <a:t>LinkQueue</a:t>
            </a:r>
            <a:r>
              <a:rPr lang="en-US" altLang="zh-CN" sz="2800" b="1" dirty="0">
                <a:ea typeface="楷体_GB2312" pitchFamily="49" charset="-122"/>
              </a:rPr>
              <a:t> Q)</a:t>
            </a:r>
          </a:p>
          <a:p>
            <a:pPr marL="342900" indent="-342900" eaLnBrk="1" hangingPunct="1">
              <a:lnSpc>
                <a:spcPct val="80000"/>
              </a:lnSpc>
              <a:spcBef>
                <a:spcPct val="20000"/>
              </a:spcBef>
            </a:pPr>
            <a:r>
              <a:rPr lang="en-US" altLang="zh-CN" sz="2800" b="1" dirty="0">
                <a:ea typeface="楷体_GB2312" pitchFamily="49" charset="-122"/>
              </a:rPr>
              <a:t>    {  if (</a:t>
            </a:r>
            <a:r>
              <a:rPr lang="en-US" altLang="zh-CN" sz="2800" b="1" dirty="0" err="1">
                <a:solidFill>
                  <a:schemeClr val="hlink"/>
                </a:solidFill>
                <a:ea typeface="楷体_GB2312" pitchFamily="49" charset="-122"/>
              </a:rPr>
              <a:t>Q.front</a:t>
            </a:r>
            <a:r>
              <a:rPr lang="en-US" altLang="zh-CN" sz="2800" b="1" dirty="0">
                <a:solidFill>
                  <a:schemeClr val="hlink"/>
                </a:solidFill>
                <a:ea typeface="楷体_GB2312" pitchFamily="49" charset="-122"/>
              </a:rPr>
              <a:t> == </a:t>
            </a:r>
            <a:r>
              <a:rPr lang="en-US" altLang="zh-CN" sz="2800" b="1" dirty="0" err="1">
                <a:solidFill>
                  <a:schemeClr val="hlink"/>
                </a:solidFill>
                <a:ea typeface="楷体_GB2312" pitchFamily="49" charset="-122"/>
              </a:rPr>
              <a:t>Q.rear</a:t>
            </a:r>
            <a:r>
              <a:rPr lang="en-US" altLang="zh-CN" sz="2800" b="1" dirty="0">
                <a:ea typeface="楷体_GB2312" pitchFamily="49" charset="-122"/>
              </a:rPr>
              <a:t>)</a:t>
            </a:r>
            <a:r>
              <a:rPr lang="en-US" altLang="zh-CN" sz="2800" b="1" dirty="0">
                <a:solidFill>
                  <a:srgbClr val="006600"/>
                </a:solidFill>
                <a:ea typeface="楷体_GB2312" pitchFamily="49" charset="-122"/>
              </a:rPr>
              <a:t>            //</a:t>
            </a:r>
            <a:r>
              <a:rPr lang="zh-CN" altLang="en-US" sz="2800" b="1" dirty="0">
                <a:solidFill>
                  <a:srgbClr val="006600"/>
                </a:solidFill>
                <a:ea typeface="楷体_GB2312" pitchFamily="49" charset="-122"/>
              </a:rPr>
              <a:t>队空</a:t>
            </a:r>
            <a:endParaRPr lang="en-US" altLang="zh-CN" sz="2800" b="1" dirty="0">
              <a:ea typeface="楷体_GB2312" pitchFamily="49" charset="-122"/>
            </a:endParaRPr>
          </a:p>
          <a:p>
            <a:pPr marL="342900" indent="-342900" eaLnBrk="1" hangingPunct="1">
              <a:lnSpc>
                <a:spcPct val="80000"/>
              </a:lnSpc>
              <a:spcBef>
                <a:spcPct val="20000"/>
              </a:spcBef>
            </a:pPr>
            <a:r>
              <a:rPr lang="en-US" altLang="zh-CN" sz="2800" b="1" dirty="0">
                <a:ea typeface="楷体_GB2312" pitchFamily="49" charset="-122"/>
              </a:rPr>
              <a:t>           return NULL;                     </a:t>
            </a:r>
            <a:endParaRPr lang="zh-CN" altLang="en-US" b="1" dirty="0">
              <a:solidFill>
                <a:srgbClr val="006600"/>
              </a:solidFill>
              <a:ea typeface="楷体_GB2312" pitchFamily="49" charset="-122"/>
            </a:endParaRPr>
          </a:p>
          <a:p>
            <a:pPr marL="342900" indent="-342900" eaLnBrk="1" hangingPunct="1">
              <a:lnSpc>
                <a:spcPct val="80000"/>
              </a:lnSpc>
              <a:spcBef>
                <a:spcPct val="20000"/>
              </a:spcBef>
            </a:pPr>
            <a:r>
              <a:rPr lang="zh-CN" altLang="en-US" sz="2800" b="1" dirty="0">
                <a:ea typeface="楷体_GB2312" pitchFamily="49" charset="-122"/>
              </a:rPr>
              <a:t>       </a:t>
            </a:r>
            <a:r>
              <a:rPr lang="en-US" altLang="zh-CN" sz="2800" b="1" dirty="0">
                <a:ea typeface="楷体_GB2312" pitchFamily="49" charset="-122"/>
              </a:rPr>
              <a:t>p </a:t>
            </a:r>
            <a:r>
              <a:rPr lang="en-US" altLang="zh-CN" sz="2800" b="1" dirty="0"/>
              <a:t>=</a:t>
            </a:r>
            <a:r>
              <a:rPr lang="en-US" altLang="zh-CN" sz="2800" b="1" dirty="0" err="1"/>
              <a:t>Q.front</a:t>
            </a:r>
            <a:r>
              <a:rPr lang="en-US" altLang="zh-CN" sz="2800" b="1" dirty="0"/>
              <a:t> </a:t>
            </a:r>
            <a:r>
              <a:rPr lang="en-US" altLang="zh-CN" sz="2000" b="1" dirty="0">
                <a:sym typeface="Symbol" pitchFamily="18" charset="2"/>
              </a:rPr>
              <a:t></a:t>
            </a:r>
            <a:r>
              <a:rPr lang="en-US" altLang="zh-CN" sz="2800" b="1" dirty="0"/>
              <a:t>next;                   </a:t>
            </a:r>
            <a:r>
              <a:rPr lang="en-US" altLang="zh-CN" b="1" dirty="0">
                <a:solidFill>
                  <a:srgbClr val="006600"/>
                </a:solidFill>
                <a:ea typeface="楷体_GB2312" pitchFamily="49" charset="-122"/>
              </a:rPr>
              <a:t>//p</a:t>
            </a:r>
            <a:r>
              <a:rPr lang="zh-CN" altLang="en-US" b="1" dirty="0">
                <a:solidFill>
                  <a:srgbClr val="006600"/>
                </a:solidFill>
                <a:ea typeface="楷体_GB2312" pitchFamily="49" charset="-122"/>
              </a:rPr>
              <a:t>指向队头元素</a:t>
            </a:r>
            <a:endParaRPr lang="zh-CN" altLang="en-US" sz="2800" b="1" dirty="0">
              <a:solidFill>
                <a:srgbClr val="006600"/>
              </a:solidFill>
            </a:endParaRPr>
          </a:p>
          <a:p>
            <a:pPr marL="342900" indent="-342900" eaLnBrk="1" hangingPunct="1">
              <a:lnSpc>
                <a:spcPct val="80000"/>
              </a:lnSpc>
              <a:spcBef>
                <a:spcPct val="20000"/>
              </a:spcBef>
            </a:pPr>
            <a:r>
              <a:rPr lang="zh-CN" altLang="en-US" sz="2800" b="1" dirty="0"/>
              <a:t>       </a:t>
            </a:r>
            <a:r>
              <a:rPr lang="en-US" altLang="zh-CN" sz="2800" b="1" dirty="0" err="1"/>
              <a:t>Q.front</a:t>
            </a:r>
            <a:r>
              <a:rPr lang="en-US" altLang="zh-CN" sz="2000" b="1" dirty="0" err="1">
                <a:sym typeface="Symbol" pitchFamily="18" charset="2"/>
              </a:rPr>
              <a:t></a:t>
            </a:r>
            <a:r>
              <a:rPr lang="en-US" altLang="zh-CN" sz="2800" b="1" dirty="0" err="1"/>
              <a:t>next</a:t>
            </a:r>
            <a:r>
              <a:rPr lang="en-US" altLang="zh-CN" sz="2800" b="1" dirty="0"/>
              <a:t>= p </a:t>
            </a:r>
            <a:r>
              <a:rPr lang="en-US" altLang="zh-CN" sz="2000" b="1" dirty="0">
                <a:sym typeface="Symbol" pitchFamily="18" charset="2"/>
              </a:rPr>
              <a:t></a:t>
            </a:r>
            <a:r>
              <a:rPr lang="en-US" altLang="zh-CN" sz="2000" b="1" dirty="0"/>
              <a:t> </a:t>
            </a:r>
            <a:r>
              <a:rPr lang="en-US" altLang="zh-CN" sz="2800" b="1" dirty="0"/>
              <a:t>next; </a:t>
            </a:r>
          </a:p>
          <a:p>
            <a:pPr marL="342900" indent="-342900" eaLnBrk="1" hangingPunct="1">
              <a:lnSpc>
                <a:spcPct val="80000"/>
              </a:lnSpc>
              <a:spcBef>
                <a:spcPct val="20000"/>
              </a:spcBef>
            </a:pPr>
            <a:r>
              <a:rPr lang="en-US" altLang="zh-CN" sz="2800" b="1" dirty="0"/>
              <a:t>                        </a:t>
            </a:r>
            <a:r>
              <a:rPr lang="en-US" altLang="zh-CN" b="1" dirty="0">
                <a:solidFill>
                  <a:srgbClr val="006600"/>
                </a:solidFill>
                <a:ea typeface="楷体_GB2312" pitchFamily="49" charset="-122"/>
              </a:rPr>
              <a:t>//</a:t>
            </a:r>
            <a:r>
              <a:rPr lang="zh-CN" altLang="en-US" b="1" dirty="0">
                <a:solidFill>
                  <a:srgbClr val="006600"/>
                </a:solidFill>
                <a:ea typeface="楷体_GB2312" pitchFamily="49" charset="-122"/>
              </a:rPr>
              <a:t>修改头结点指针域，指向新的队头元素</a:t>
            </a:r>
          </a:p>
          <a:p>
            <a:pPr marL="342900" indent="-342900" eaLnBrk="1" hangingPunct="1">
              <a:lnSpc>
                <a:spcPct val="80000"/>
              </a:lnSpc>
              <a:spcBef>
                <a:spcPct val="20000"/>
              </a:spcBef>
            </a:pPr>
            <a:r>
              <a:rPr lang="zh-CN" altLang="en-US" sz="2800" b="1" dirty="0">
                <a:solidFill>
                  <a:schemeClr val="accent1"/>
                </a:solidFill>
                <a:ea typeface="楷体_GB2312" pitchFamily="49" charset="-122"/>
              </a:rPr>
              <a:t>       </a:t>
            </a:r>
            <a:r>
              <a:rPr lang="en-US" altLang="zh-CN" sz="2800" b="1" dirty="0">
                <a:ea typeface="楷体_GB2312" pitchFamily="49" charset="-122"/>
              </a:rPr>
              <a:t>x= </a:t>
            </a:r>
            <a:r>
              <a:rPr lang="en-US" altLang="zh-CN" sz="2800" b="1" dirty="0" err="1"/>
              <a:t>p</a:t>
            </a:r>
            <a:r>
              <a:rPr lang="en-US" altLang="zh-CN" sz="2000" b="1" dirty="0" err="1">
                <a:sym typeface="Symbol" pitchFamily="18" charset="2"/>
              </a:rPr>
              <a:t></a:t>
            </a:r>
            <a:r>
              <a:rPr lang="en-US" altLang="zh-CN" sz="2800" b="1" dirty="0" err="1"/>
              <a:t>data</a:t>
            </a:r>
            <a:r>
              <a:rPr lang="en-US" altLang="zh-CN" sz="2800" b="1" dirty="0"/>
              <a:t>;</a:t>
            </a:r>
          </a:p>
          <a:p>
            <a:pPr marL="342900" indent="-342900" eaLnBrk="1" hangingPunct="1">
              <a:lnSpc>
                <a:spcPct val="80000"/>
              </a:lnSpc>
              <a:spcBef>
                <a:spcPct val="20000"/>
              </a:spcBef>
            </a:pPr>
            <a:r>
              <a:rPr lang="en-US" altLang="zh-CN" sz="2800" b="1" dirty="0"/>
              <a:t>       if (</a:t>
            </a:r>
            <a:r>
              <a:rPr lang="en-US" altLang="zh-CN" sz="2800" b="1" dirty="0" err="1"/>
              <a:t>Q.rear</a:t>
            </a:r>
            <a:r>
              <a:rPr lang="en-US" altLang="zh-CN" sz="2800" b="1" dirty="0"/>
              <a:t> == p) </a:t>
            </a:r>
            <a:r>
              <a:rPr lang="en-US" altLang="zh-CN" sz="2800" b="1" dirty="0" err="1"/>
              <a:t>Q.rear</a:t>
            </a:r>
            <a:r>
              <a:rPr lang="en-US" altLang="zh-CN" sz="2800" b="1" dirty="0"/>
              <a:t>=</a:t>
            </a:r>
            <a:r>
              <a:rPr lang="en-US" altLang="zh-CN" sz="2800" b="1" dirty="0" err="1"/>
              <a:t>Q.front</a:t>
            </a:r>
            <a:r>
              <a:rPr lang="en-US" altLang="zh-CN" sz="2800" b="1" dirty="0"/>
              <a:t>; </a:t>
            </a:r>
            <a:r>
              <a:rPr lang="en-US" altLang="zh-CN" b="1" dirty="0">
                <a:solidFill>
                  <a:srgbClr val="006600"/>
                </a:solidFill>
              </a:rPr>
              <a:t>//</a:t>
            </a:r>
            <a:r>
              <a:rPr lang="zh-CN" altLang="en-US" b="1" dirty="0">
                <a:solidFill>
                  <a:schemeClr val="hlink"/>
                </a:solidFill>
              </a:rPr>
              <a:t>仅有一个元素</a:t>
            </a:r>
            <a:endParaRPr lang="zh-CN" altLang="en-US" sz="2800" b="1" dirty="0">
              <a:solidFill>
                <a:schemeClr val="hlink"/>
              </a:solidFill>
            </a:endParaRPr>
          </a:p>
          <a:p>
            <a:pPr marL="342900" indent="-342900" eaLnBrk="1" hangingPunct="1">
              <a:lnSpc>
                <a:spcPct val="80000"/>
              </a:lnSpc>
              <a:spcBef>
                <a:spcPct val="20000"/>
              </a:spcBef>
            </a:pPr>
            <a:r>
              <a:rPr lang="zh-CN" altLang="en-US" sz="2800" b="1" dirty="0"/>
              <a:t>       </a:t>
            </a:r>
            <a:r>
              <a:rPr lang="en-US" altLang="zh-CN" sz="2800" b="1" dirty="0"/>
              <a:t>free(p);                     </a:t>
            </a:r>
            <a:r>
              <a:rPr lang="en-US" altLang="zh-CN" b="1" dirty="0">
                <a:solidFill>
                  <a:srgbClr val="006600"/>
                </a:solidFill>
                <a:ea typeface="楷体_GB2312" pitchFamily="49" charset="-122"/>
              </a:rPr>
              <a:t>//</a:t>
            </a:r>
            <a:r>
              <a:rPr lang="zh-CN" altLang="en-US" b="1" dirty="0">
                <a:solidFill>
                  <a:srgbClr val="006600"/>
                </a:solidFill>
                <a:ea typeface="楷体_GB2312" pitchFamily="49" charset="-122"/>
              </a:rPr>
              <a:t>释放被删掉的原队头元素</a:t>
            </a:r>
            <a:endParaRPr lang="zh-CN" altLang="en-US" sz="2800" b="1" dirty="0">
              <a:solidFill>
                <a:srgbClr val="006600"/>
              </a:solidFill>
            </a:endParaRPr>
          </a:p>
          <a:p>
            <a:pPr marL="342900" indent="-342900" eaLnBrk="1" hangingPunct="1">
              <a:lnSpc>
                <a:spcPct val="80000"/>
              </a:lnSpc>
              <a:spcBef>
                <a:spcPct val="20000"/>
              </a:spcBef>
            </a:pPr>
            <a:r>
              <a:rPr lang="zh-CN" altLang="en-US" sz="2800" b="1" dirty="0"/>
              <a:t>       </a:t>
            </a:r>
            <a:r>
              <a:rPr lang="en-US" altLang="zh-CN" sz="2800" b="1" dirty="0"/>
              <a:t>return OK;</a:t>
            </a:r>
          </a:p>
          <a:p>
            <a:pPr marL="342900" indent="-342900" eaLnBrk="1" hangingPunct="1">
              <a:lnSpc>
                <a:spcPct val="80000"/>
              </a:lnSpc>
              <a:spcBef>
                <a:spcPct val="20000"/>
              </a:spcBef>
            </a:pPr>
            <a:r>
              <a:rPr lang="en-US" altLang="zh-CN" sz="2800" b="1" dirty="0"/>
              <a:t>    }//</a:t>
            </a:r>
            <a:r>
              <a:rPr lang="en-US" altLang="zh-CN" sz="2800" b="1" dirty="0" err="1"/>
              <a:t>DeQueue</a:t>
            </a:r>
            <a:endParaRPr lang="zh-CN" altLang="en-US" sz="2800" b="1" dirty="0">
              <a:solidFill>
                <a:srgbClr val="A50021"/>
              </a:solidFill>
            </a:endParaRPr>
          </a:p>
        </p:txBody>
      </p:sp>
      <p:sp>
        <p:nvSpPr>
          <p:cNvPr id="119812" name="Rectangle 3"/>
          <p:cNvSpPr>
            <a:spLocks noChangeArrowheads="1"/>
          </p:cNvSpPr>
          <p:nvPr/>
        </p:nvSpPr>
        <p:spPr bwMode="auto">
          <a:xfrm>
            <a:off x="685800" y="533400"/>
            <a:ext cx="77724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zh-CN" altLang="en-US" sz="4400" b="1">
                <a:solidFill>
                  <a:srgbClr val="A50021"/>
                </a:solidFill>
                <a:latin typeface="楷体_GB2312" pitchFamily="49" charset="-122"/>
                <a:ea typeface="楷体_GB2312" pitchFamily="49" charset="-122"/>
              </a:rPr>
              <a:t>链队列的出列算法</a:t>
            </a:r>
            <a:endParaRPr lang="zh-CN" altLang="en-US" sz="4800" b="1">
              <a:solidFill>
                <a:srgbClr val="A50021"/>
              </a:solidFill>
              <a:latin typeface="楷体_GB2312" pitchFamily="49" charset="-122"/>
              <a:ea typeface="楷体_GB2312" pitchFamily="49" charset="-122"/>
            </a:endParaRPr>
          </a:p>
        </p:txBody>
      </p:sp>
    </p:spTree>
    <p:extLst>
      <p:ext uri="{BB962C8B-B14F-4D97-AF65-F5344CB8AC3E}">
        <p14:creationId xmlns:p14="http://schemas.microsoft.com/office/powerpoint/2010/main" val="342444232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30"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3E93C3F5-3BAC-40CD-86E8-E1ADD648CD73}" type="slidenum">
              <a:rPr lang="en-US" altLang="zh-CN" sz="1400"/>
              <a:pPr/>
              <a:t>135</a:t>
            </a:fld>
            <a:endParaRPr lang="en-US" altLang="zh-CN" sz="1400"/>
          </a:p>
        </p:txBody>
      </p:sp>
      <p:sp>
        <p:nvSpPr>
          <p:cNvPr id="124931" name="Text Box 2"/>
          <p:cNvSpPr txBox="1">
            <a:spLocks noChangeArrowheads="1"/>
          </p:cNvSpPr>
          <p:nvPr/>
        </p:nvSpPr>
        <p:spPr bwMode="auto">
          <a:xfrm>
            <a:off x="457200" y="228600"/>
            <a:ext cx="8153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pPr>
            <a:r>
              <a:rPr lang="zh-CN" altLang="en-US" sz="3600" b="1"/>
              <a:t>小    结</a:t>
            </a:r>
          </a:p>
        </p:txBody>
      </p:sp>
      <p:sp>
        <p:nvSpPr>
          <p:cNvPr id="638979" name="Text Box 3"/>
          <p:cNvSpPr txBox="1">
            <a:spLocks noChangeArrowheads="1"/>
          </p:cNvSpPr>
          <p:nvPr/>
        </p:nvSpPr>
        <p:spPr bwMode="auto">
          <a:xfrm>
            <a:off x="304800" y="990600"/>
            <a:ext cx="8610600" cy="564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栈和队列是两种常见的数据结构，它们都是运算受限的线性表。栈的插入和删除均是在栈顶进行，它是“</a:t>
            </a:r>
            <a:r>
              <a:rPr lang="zh-CN" altLang="en-US" sz="2800" b="1">
                <a:solidFill>
                  <a:schemeClr val="hlink"/>
                </a:solidFill>
                <a:ea typeface="楷体_GB2312" pitchFamily="49" charset="-122"/>
              </a:rPr>
              <a:t>后进先出</a:t>
            </a:r>
            <a:r>
              <a:rPr lang="zh-CN" altLang="en-US" sz="2800" b="1">
                <a:ea typeface="楷体_GB2312" pitchFamily="49" charset="-122"/>
              </a:rPr>
              <a:t>”的线性表；队列的插入在队尾，删除在队头，它是“</a:t>
            </a:r>
            <a:r>
              <a:rPr lang="zh-CN" altLang="en-US" sz="2800" b="1">
                <a:solidFill>
                  <a:schemeClr val="hlink"/>
                </a:solidFill>
                <a:ea typeface="楷体_GB2312" pitchFamily="49" charset="-122"/>
              </a:rPr>
              <a:t>先进先出</a:t>
            </a:r>
            <a:r>
              <a:rPr lang="zh-CN" altLang="en-US" sz="2800" b="1">
                <a:ea typeface="楷体_GB2312" pitchFamily="49" charset="-122"/>
              </a:rPr>
              <a:t>”的线性表。在具有后进先出（或先进先出）特性的实际问题中，我们可以使用栈（或队列）这种数据结构来求解。</a:t>
            </a:r>
          </a:p>
          <a:p>
            <a:pPr eaLnBrk="1" hangingPunct="1">
              <a:spcBef>
                <a:spcPct val="50000"/>
              </a:spcBef>
            </a:pPr>
            <a:r>
              <a:rPr lang="zh-CN" altLang="en-US" sz="2800" b="1">
                <a:ea typeface="楷体_GB2312" pitchFamily="49" charset="-122"/>
              </a:rPr>
              <a:t>        和线性表类似，依照存储表示的不同，栈有顺序栈和链栈之分，队列有顺序队列和链队列两种，而实际中使用的队列是循环队列。</a:t>
            </a:r>
          </a:p>
          <a:p>
            <a:pPr eaLnBrk="1" hangingPunct="1">
              <a:spcBef>
                <a:spcPct val="50000"/>
              </a:spcBef>
            </a:pPr>
            <a:r>
              <a:rPr lang="zh-CN" altLang="en-US" sz="2800" b="1">
                <a:ea typeface="楷体_GB2312" pitchFamily="49" charset="-122"/>
              </a:rPr>
              <a:t>        栈和队列的“</a:t>
            </a:r>
            <a:r>
              <a:rPr lang="zh-CN" altLang="en-US" sz="2800" b="1">
                <a:solidFill>
                  <a:schemeClr val="hlink"/>
                </a:solidFill>
                <a:ea typeface="楷体_GB2312" pitchFamily="49" charset="-122"/>
              </a:rPr>
              <a:t>上溢”和“下溢”</a:t>
            </a:r>
            <a:r>
              <a:rPr lang="zh-CN" altLang="en-US" sz="2800" b="1">
                <a:ea typeface="楷体_GB2312" pitchFamily="49" charset="-122"/>
              </a:rPr>
              <a:t>概念及判别条件应</a:t>
            </a:r>
            <a:r>
              <a:rPr lang="zh-CN" altLang="en-US" sz="2800" b="1">
                <a:solidFill>
                  <a:schemeClr val="hlink"/>
                </a:solidFill>
                <a:ea typeface="楷体_GB2312" pitchFamily="49" charset="-122"/>
              </a:rPr>
              <a:t>重点领会</a:t>
            </a:r>
            <a:r>
              <a:rPr lang="zh-CN" altLang="en-US" sz="2800" b="1">
                <a:ea typeface="楷体_GB2312" pitchFamily="49" charset="-122"/>
              </a:rPr>
              <a:t>，正确判别栈或队列的空间满而产生的溢出，正确使用栈空或队列空来控制返回。        </a:t>
            </a:r>
          </a:p>
        </p:txBody>
      </p:sp>
    </p:spTree>
    <p:extLst>
      <p:ext uri="{BB962C8B-B14F-4D97-AF65-F5344CB8AC3E}">
        <p14:creationId xmlns:p14="http://schemas.microsoft.com/office/powerpoint/2010/main" val="2586275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8979">
                                            <p:txEl>
                                              <p:pRg st="0" end="0"/>
                                            </p:txEl>
                                          </p:spTgt>
                                        </p:tgtEl>
                                        <p:attrNameLst>
                                          <p:attrName>style.visibility</p:attrName>
                                        </p:attrNameLst>
                                      </p:cBhvr>
                                      <p:to>
                                        <p:strVal val="visible"/>
                                      </p:to>
                                    </p:set>
                                    <p:animEffect transition="in" filter="wipe(left)">
                                      <p:cBhvr>
                                        <p:cTn id="7" dur="500"/>
                                        <p:tgtEl>
                                          <p:spTgt spid="638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8979">
                                            <p:txEl>
                                              <p:pRg st="1" end="1"/>
                                            </p:txEl>
                                          </p:spTgt>
                                        </p:tgtEl>
                                        <p:attrNameLst>
                                          <p:attrName>style.visibility</p:attrName>
                                        </p:attrNameLst>
                                      </p:cBhvr>
                                      <p:to>
                                        <p:strVal val="visible"/>
                                      </p:to>
                                    </p:set>
                                    <p:animEffect transition="in" filter="wipe(left)">
                                      <p:cBhvr>
                                        <p:cTn id="12" dur="500"/>
                                        <p:tgtEl>
                                          <p:spTgt spid="638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8979">
                                            <p:txEl>
                                              <p:pRg st="2" end="2"/>
                                            </p:txEl>
                                          </p:spTgt>
                                        </p:tgtEl>
                                        <p:attrNameLst>
                                          <p:attrName>style.visibility</p:attrName>
                                        </p:attrNameLst>
                                      </p:cBhvr>
                                      <p:to>
                                        <p:strVal val="visible"/>
                                      </p:to>
                                    </p:set>
                                    <p:animEffect transition="in" filter="wipe(left)">
                                      <p:cBhvr>
                                        <p:cTn id="17" dur="500"/>
                                        <p:tgtEl>
                                          <p:spTgt spid="6389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9" grpId="0" build="p"/>
    </p:bldLst>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4"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028F3245-3293-4FDB-B00D-3B6BBC3F384B}" type="slidenum">
              <a:rPr lang="en-US" altLang="zh-CN" sz="1400"/>
              <a:pPr/>
              <a:t>136</a:t>
            </a:fld>
            <a:endParaRPr lang="en-US" altLang="zh-CN" sz="1400"/>
          </a:p>
        </p:txBody>
      </p:sp>
      <p:sp>
        <p:nvSpPr>
          <p:cNvPr id="640002" name="Text Box 2"/>
          <p:cNvSpPr txBox="1">
            <a:spLocks noChangeArrowheads="1"/>
          </p:cNvSpPr>
          <p:nvPr/>
        </p:nvSpPr>
        <p:spPr bwMode="auto">
          <a:xfrm>
            <a:off x="479425" y="1368425"/>
            <a:ext cx="8207375" cy="1233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a:lnSpc>
                <a:spcPct val="110000"/>
              </a:lnSpc>
            </a:pPr>
            <a:r>
              <a:rPr lang="en-US" altLang="zh-CN" sz="3600" b="1"/>
              <a:t>   </a:t>
            </a:r>
            <a:r>
              <a:rPr lang="en-US" altLang="zh-CN" b="1"/>
              <a:t>1. </a:t>
            </a:r>
            <a:r>
              <a:rPr lang="zh-CN" altLang="en-US" b="1"/>
              <a:t>掌握栈和队列类型的特点，并能在相应的应用问题中正确选用它们。</a:t>
            </a:r>
          </a:p>
        </p:txBody>
      </p:sp>
      <p:sp>
        <p:nvSpPr>
          <p:cNvPr id="640003" name="Rectangle 3"/>
          <p:cNvSpPr>
            <a:spLocks noChangeArrowheads="1"/>
          </p:cNvSpPr>
          <p:nvPr/>
        </p:nvSpPr>
        <p:spPr bwMode="auto">
          <a:xfrm>
            <a:off x="381000" y="2667000"/>
            <a:ext cx="8763000"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10000"/>
              </a:lnSpc>
            </a:pPr>
            <a:r>
              <a:rPr lang="zh-CN" altLang="en-US" sz="3200" b="1"/>
              <a:t>　</a:t>
            </a:r>
            <a:r>
              <a:rPr lang="en-US" altLang="zh-CN" sz="3200" b="1"/>
              <a:t>2. </a:t>
            </a:r>
            <a:r>
              <a:rPr lang="zh-CN" altLang="en-US" sz="3200" b="1"/>
              <a:t>熟练掌握栈类型的两种实现方法，特别应注意栈满和栈空的条件以及它们的描述方法。</a:t>
            </a:r>
          </a:p>
        </p:txBody>
      </p:sp>
      <p:sp>
        <p:nvSpPr>
          <p:cNvPr id="640004" name="Rectangle 4"/>
          <p:cNvSpPr>
            <a:spLocks noChangeArrowheads="1"/>
          </p:cNvSpPr>
          <p:nvPr/>
        </p:nvSpPr>
        <p:spPr bwMode="auto">
          <a:xfrm>
            <a:off x="457200" y="3962400"/>
            <a:ext cx="8686800"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10000"/>
              </a:lnSpc>
            </a:pPr>
            <a:r>
              <a:rPr lang="zh-CN" altLang="en-US" sz="3200" b="1"/>
              <a:t>　</a:t>
            </a:r>
            <a:r>
              <a:rPr lang="en-US" altLang="zh-CN" sz="3200" b="1"/>
              <a:t>3. </a:t>
            </a:r>
            <a:r>
              <a:rPr lang="zh-CN" altLang="en-US" sz="3200" b="1"/>
              <a:t>熟练掌握循环队列和链队列的基本操作实现算法，特别注意队满和队空的描述方法。</a:t>
            </a:r>
          </a:p>
        </p:txBody>
      </p:sp>
      <p:sp>
        <p:nvSpPr>
          <p:cNvPr id="640005" name="Rectangle 5"/>
          <p:cNvSpPr>
            <a:spLocks noChangeArrowheads="1"/>
          </p:cNvSpPr>
          <p:nvPr/>
        </p:nvSpPr>
        <p:spPr bwMode="auto">
          <a:xfrm>
            <a:off x="457200" y="5181600"/>
            <a:ext cx="8686800"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10000"/>
              </a:lnSpc>
            </a:pPr>
            <a:r>
              <a:rPr lang="en-US" altLang="zh-CN" sz="3200" b="1"/>
              <a:t>    4. </a:t>
            </a:r>
            <a:r>
              <a:rPr lang="zh-CN" altLang="en-US" sz="3200" b="1"/>
              <a:t>了解栈和队列的应用，理解递归算法执行过程中栈状态的变化过程。</a:t>
            </a:r>
          </a:p>
        </p:txBody>
      </p:sp>
      <p:sp>
        <p:nvSpPr>
          <p:cNvPr id="125959" name="Text Box 6"/>
          <p:cNvSpPr txBox="1">
            <a:spLocks noChangeArrowheads="1"/>
          </p:cNvSpPr>
          <p:nvPr/>
        </p:nvSpPr>
        <p:spPr bwMode="auto">
          <a:xfrm>
            <a:off x="2819400" y="428625"/>
            <a:ext cx="3870325"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r>
              <a:rPr lang="zh-CN" altLang="en-US" sz="4800" b="1">
                <a:ea typeface="隶书" pitchFamily="49" charset="-122"/>
              </a:rPr>
              <a:t>本章学习要点</a:t>
            </a:r>
            <a:endParaRPr lang="zh-CN" altLang="en-US" sz="4800"/>
          </a:p>
        </p:txBody>
      </p:sp>
    </p:spTree>
    <p:extLst>
      <p:ext uri="{BB962C8B-B14F-4D97-AF65-F5344CB8AC3E}">
        <p14:creationId xmlns:p14="http://schemas.microsoft.com/office/powerpoint/2010/main" val="24653009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40002"/>
                                        </p:tgtEl>
                                        <p:attrNameLst>
                                          <p:attrName>style.visibility</p:attrName>
                                        </p:attrNameLst>
                                      </p:cBhvr>
                                      <p:to>
                                        <p:strVal val="visible"/>
                                      </p:to>
                                    </p:set>
                                    <p:animEffect transition="in" filter="strips(downRight)">
                                      <p:cBhvr>
                                        <p:cTn id="7" dur="500"/>
                                        <p:tgtEl>
                                          <p:spTgt spid="6400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40003"/>
                                        </p:tgtEl>
                                        <p:attrNameLst>
                                          <p:attrName>style.visibility</p:attrName>
                                        </p:attrNameLst>
                                      </p:cBhvr>
                                      <p:to>
                                        <p:strVal val="visible"/>
                                      </p:to>
                                    </p:set>
                                    <p:animEffect transition="in" filter="strips(downRight)">
                                      <p:cBhvr>
                                        <p:cTn id="12" dur="500"/>
                                        <p:tgtEl>
                                          <p:spTgt spid="6400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40004"/>
                                        </p:tgtEl>
                                        <p:attrNameLst>
                                          <p:attrName>style.visibility</p:attrName>
                                        </p:attrNameLst>
                                      </p:cBhvr>
                                      <p:to>
                                        <p:strVal val="visible"/>
                                      </p:to>
                                    </p:set>
                                    <p:animEffect transition="in" filter="strips(downRight)">
                                      <p:cBhvr>
                                        <p:cTn id="17" dur="500"/>
                                        <p:tgtEl>
                                          <p:spTgt spid="6400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40005"/>
                                        </p:tgtEl>
                                        <p:attrNameLst>
                                          <p:attrName>style.visibility</p:attrName>
                                        </p:attrNameLst>
                                      </p:cBhvr>
                                      <p:to>
                                        <p:strVal val="visible"/>
                                      </p:to>
                                    </p:set>
                                    <p:animEffect transition="in" filter="strips(downRight)">
                                      <p:cBhvr>
                                        <p:cTn id="22" dur="500"/>
                                        <p:tgtEl>
                                          <p:spTgt spid="640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2" grpId="0" autoUpdateAnimBg="0"/>
      <p:bldP spid="640003" grpId="0" autoUpdateAnimBg="0"/>
      <p:bldP spid="640004" grpId="0" autoUpdateAnimBg="0"/>
      <p:bldP spid="640005"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D62B010-A99E-4290-BD55-8DB8838410D5}" type="slidenum">
              <a:rPr lang="en-US" altLang="zh-CN" sz="1400"/>
              <a:pPr/>
              <a:t>137</a:t>
            </a:fld>
            <a:endParaRPr lang="en-US" altLang="zh-CN" sz="1400"/>
          </a:p>
        </p:txBody>
      </p:sp>
      <p:sp>
        <p:nvSpPr>
          <p:cNvPr id="126979" name="Text Box 2"/>
          <p:cNvSpPr txBox="1">
            <a:spLocks noChangeArrowheads="1"/>
          </p:cNvSpPr>
          <p:nvPr/>
        </p:nvSpPr>
        <p:spPr bwMode="auto">
          <a:xfrm>
            <a:off x="533400" y="304800"/>
            <a:ext cx="8229600"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zh-CN" altLang="en-US" sz="4800" b="1" dirty="0">
                <a:solidFill>
                  <a:srgbClr val="A50021"/>
                </a:solidFill>
                <a:latin typeface="楷体_GB2312" pitchFamily="49" charset="-122"/>
                <a:ea typeface="楷体_GB2312" pitchFamily="49" charset="-122"/>
              </a:rPr>
              <a:t>作业：</a:t>
            </a:r>
            <a:r>
              <a:rPr lang="en-US" altLang="zh-CN" sz="4800" b="1" dirty="0" smtClean="0">
                <a:solidFill>
                  <a:srgbClr val="A50021"/>
                </a:solidFill>
                <a:latin typeface="楷体_GB2312" pitchFamily="49" charset="-122"/>
                <a:ea typeface="楷体_GB2312" pitchFamily="49" charset="-122"/>
              </a:rPr>
              <a:t>3.9</a:t>
            </a:r>
            <a:r>
              <a:rPr lang="zh-CN" altLang="en-US" sz="4800" b="1" dirty="0" smtClean="0">
                <a:solidFill>
                  <a:srgbClr val="A50021"/>
                </a:solidFill>
                <a:latin typeface="楷体_GB2312" pitchFamily="49" charset="-122"/>
                <a:ea typeface="楷体_GB2312" pitchFamily="49" charset="-122"/>
              </a:rPr>
              <a:t>、</a:t>
            </a:r>
            <a:r>
              <a:rPr lang="en-US" altLang="zh-CN" sz="4800" b="1" dirty="0" smtClean="0">
                <a:solidFill>
                  <a:srgbClr val="A50021"/>
                </a:solidFill>
                <a:latin typeface="楷体_GB2312" pitchFamily="49" charset="-122"/>
                <a:ea typeface="楷体_GB2312" pitchFamily="49" charset="-122"/>
              </a:rPr>
              <a:t>3.10</a:t>
            </a:r>
            <a:r>
              <a:rPr lang="zh-CN" altLang="en-US" sz="4800" b="1" dirty="0" smtClean="0">
                <a:solidFill>
                  <a:srgbClr val="A50021"/>
                </a:solidFill>
                <a:latin typeface="楷体_GB2312" pitchFamily="49" charset="-122"/>
                <a:ea typeface="楷体_GB2312" pitchFamily="49" charset="-122"/>
              </a:rPr>
              <a:t>、</a:t>
            </a:r>
            <a:r>
              <a:rPr lang="en-US" altLang="zh-CN" sz="4800" b="1" dirty="0" smtClean="0">
                <a:solidFill>
                  <a:srgbClr val="A50021"/>
                </a:solidFill>
                <a:latin typeface="楷体_GB2312" pitchFamily="49" charset="-122"/>
                <a:ea typeface="楷体_GB2312" pitchFamily="49" charset="-122"/>
              </a:rPr>
              <a:t>3.19</a:t>
            </a:r>
            <a:endParaRPr lang="en-US" altLang="zh-CN" sz="4800" b="1" dirty="0">
              <a:solidFill>
                <a:srgbClr val="A50021"/>
              </a:solidFill>
              <a:latin typeface="楷体_GB2312" pitchFamily="49" charset="-122"/>
              <a:ea typeface="楷体_GB2312" pitchFamily="49" charset="-122"/>
            </a:endParaRPr>
          </a:p>
          <a:p>
            <a:pPr eaLnBrk="1" hangingPunct="1">
              <a:spcBef>
                <a:spcPct val="50000"/>
              </a:spcBef>
            </a:pPr>
            <a:r>
              <a:rPr lang="en-US" altLang="zh-CN" sz="3600" b="1" dirty="0" smtClean="0">
                <a:latin typeface="楷体_GB2312" pitchFamily="49" charset="-122"/>
                <a:ea typeface="楷体_GB2312" pitchFamily="49" charset="-122"/>
              </a:rPr>
              <a:t>3.9 </a:t>
            </a:r>
            <a:r>
              <a:rPr lang="zh-CN" altLang="en-US" sz="3600" b="1" dirty="0" smtClean="0">
                <a:latin typeface="楷体_GB2312" pitchFamily="49" charset="-122"/>
                <a:ea typeface="楷体_GB2312" pitchFamily="49" charset="-122"/>
              </a:rPr>
              <a:t>将下列递推过程改写为递归过程</a:t>
            </a:r>
            <a:endParaRPr lang="en-US" altLang="zh-CN" sz="3600" b="1" dirty="0" smtClean="0">
              <a:latin typeface="楷体_GB2312" pitchFamily="49" charset="-122"/>
              <a:ea typeface="楷体_GB2312" pitchFamily="49" charset="-122"/>
            </a:endParaRPr>
          </a:p>
          <a:p>
            <a:pPr eaLnBrk="1" hangingPunct="1">
              <a:spcBef>
                <a:spcPct val="50000"/>
              </a:spcBef>
            </a:pPr>
            <a:r>
              <a:rPr lang="en-US" altLang="zh-CN" sz="2400" b="1" dirty="0" smtClean="0">
                <a:latin typeface="楷体_GB2312" pitchFamily="49" charset="-122"/>
                <a:ea typeface="楷体_GB2312" pitchFamily="49" charset="-122"/>
              </a:rPr>
              <a:t>void recursion(</a:t>
            </a:r>
            <a:r>
              <a:rPr lang="en-US" altLang="zh-CN" sz="2400" b="1" dirty="0" err="1" smtClean="0">
                <a:latin typeface="楷体_GB2312" pitchFamily="49" charset="-122"/>
                <a:ea typeface="楷体_GB2312" pitchFamily="49" charset="-122"/>
              </a:rPr>
              <a:t>int</a:t>
            </a:r>
            <a:r>
              <a:rPr lang="en-US" altLang="zh-CN" sz="2400" b="1" dirty="0" smtClean="0">
                <a:latin typeface="楷体_GB2312" pitchFamily="49" charset="-122"/>
                <a:ea typeface="楷体_GB2312" pitchFamily="49" charset="-122"/>
              </a:rPr>
              <a:t> n)</a:t>
            </a:r>
          </a:p>
          <a:p>
            <a:pPr eaLnBrk="1" hangingPunct="1">
              <a:spcBef>
                <a:spcPct val="50000"/>
              </a:spcBef>
            </a:pPr>
            <a:r>
              <a:rPr lang="en-US" altLang="zh-CN" sz="2400" b="1" dirty="0" smtClean="0">
                <a:latin typeface="楷体_GB2312" pitchFamily="49" charset="-122"/>
                <a:ea typeface="楷体_GB2312" pitchFamily="49" charset="-122"/>
              </a:rPr>
              <a:t>{</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int</a:t>
            </a:r>
            <a:r>
              <a:rPr lang="en-US" altLang="zh-CN" sz="2400" b="1" dirty="0" smtClean="0">
                <a:ea typeface="楷体_GB2312" pitchFamily="49" charset="-122"/>
              </a:rPr>
              <a:t> i;</a:t>
            </a:r>
          </a:p>
          <a:p>
            <a:pPr eaLnBrk="1" hangingPunct="1">
              <a:spcBef>
                <a:spcPct val="50000"/>
              </a:spcBef>
            </a:pPr>
            <a:r>
              <a:rPr lang="en-US" altLang="zh-CN" sz="2400" b="1" dirty="0" smtClean="0">
                <a:ea typeface="楷体_GB2312" pitchFamily="49" charset="-122"/>
              </a:rPr>
              <a:t>    i = n;</a:t>
            </a:r>
          </a:p>
          <a:p>
            <a:pPr eaLnBrk="1" hangingPunct="1">
              <a:spcBef>
                <a:spcPct val="50000"/>
              </a:spcBef>
            </a:pPr>
            <a:r>
              <a:rPr lang="en-US" altLang="zh-CN" sz="2400" b="1" dirty="0" smtClean="0">
                <a:ea typeface="楷体_GB2312" pitchFamily="49" charset="-122"/>
              </a:rPr>
              <a:t>   while </a:t>
            </a:r>
            <a:r>
              <a:rPr lang="en-US" altLang="zh-CN" sz="2400" b="1" dirty="0" smtClean="0">
                <a:latin typeface="楷体_GB2312" pitchFamily="49" charset="-122"/>
                <a:ea typeface="楷体_GB2312" pitchFamily="49" charset="-122"/>
              </a:rPr>
              <a:t>(i&gt;1)</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printf</a:t>
            </a:r>
            <a:r>
              <a:rPr lang="en-US" altLang="zh-CN" sz="2400" b="1" dirty="0" smtClean="0">
                <a:ea typeface="楷体_GB2312" pitchFamily="49" charset="-122"/>
              </a:rPr>
              <a:t>(i--);</a:t>
            </a:r>
          </a:p>
          <a:p>
            <a:pPr eaLnBrk="1" hangingPunct="1">
              <a:spcBef>
                <a:spcPct val="50000"/>
              </a:spcBef>
            </a:pPr>
            <a:r>
              <a:rPr lang="en-US" altLang="zh-CN" sz="2400" b="1" dirty="0" smtClean="0">
                <a:latin typeface="楷体_GB2312" pitchFamily="49" charset="-122"/>
                <a:ea typeface="楷体_GB2312" pitchFamily="49" charset="-122"/>
              </a:rPr>
              <a:t> }</a:t>
            </a:r>
            <a:endParaRPr lang="zh-CN" altLang="en-US"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9383136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D62B010-A99E-4290-BD55-8DB8838410D5}" type="slidenum">
              <a:rPr lang="en-US" altLang="zh-CN" sz="1400"/>
              <a:pPr/>
              <a:t>138</a:t>
            </a:fld>
            <a:endParaRPr lang="en-US" altLang="zh-CN" sz="1400"/>
          </a:p>
        </p:txBody>
      </p:sp>
      <p:sp>
        <p:nvSpPr>
          <p:cNvPr id="126979" name="Text Box 2"/>
          <p:cNvSpPr txBox="1">
            <a:spLocks noChangeArrowheads="1"/>
          </p:cNvSpPr>
          <p:nvPr/>
        </p:nvSpPr>
        <p:spPr bwMode="auto">
          <a:xfrm>
            <a:off x="533400" y="953725"/>
            <a:ext cx="8229600" cy="9510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3600" b="1" dirty="0" smtClean="0">
                <a:latin typeface="楷体_GB2312" pitchFamily="49" charset="-122"/>
                <a:ea typeface="楷体_GB2312" pitchFamily="49" charset="-122"/>
              </a:rPr>
              <a:t>3.10 </a:t>
            </a:r>
            <a:r>
              <a:rPr lang="zh-CN" altLang="en-US" sz="3600" b="1" dirty="0" smtClean="0">
                <a:latin typeface="楷体_GB2312" pitchFamily="49" charset="-122"/>
                <a:ea typeface="楷体_GB2312" pitchFamily="49" charset="-122"/>
              </a:rPr>
              <a:t>将</a:t>
            </a:r>
            <a:r>
              <a:rPr lang="zh-CN" altLang="en-US" sz="3600" b="1" dirty="0">
                <a:latin typeface="楷体_GB2312" pitchFamily="49" charset="-122"/>
                <a:ea typeface="楷体_GB2312" pitchFamily="49" charset="-122"/>
              </a:rPr>
              <a:t>下列递归过程</a:t>
            </a:r>
            <a:r>
              <a:rPr lang="zh-CN" altLang="en-US" sz="3600" b="1" dirty="0" smtClean="0">
                <a:latin typeface="楷体_GB2312" pitchFamily="49" charset="-122"/>
                <a:ea typeface="楷体_GB2312" pitchFamily="49" charset="-122"/>
              </a:rPr>
              <a:t>改写为非递归过程</a:t>
            </a:r>
            <a:endParaRPr lang="en-US" altLang="zh-CN" sz="3600" b="1" dirty="0" smtClean="0">
              <a:latin typeface="楷体_GB2312" pitchFamily="49" charset="-122"/>
              <a:ea typeface="楷体_GB2312" pitchFamily="49" charset="-122"/>
            </a:endParaRPr>
          </a:p>
          <a:p>
            <a:pPr eaLnBrk="1" hangingPunct="1">
              <a:spcBef>
                <a:spcPct val="50000"/>
              </a:spcBef>
            </a:pPr>
            <a:r>
              <a:rPr lang="en-US" altLang="zh-CN" sz="2400" b="1" dirty="0" smtClean="0">
                <a:latin typeface="楷体_GB2312" pitchFamily="49" charset="-122"/>
                <a:ea typeface="楷体_GB2312" pitchFamily="49" charset="-122"/>
              </a:rPr>
              <a:t>void test(</a:t>
            </a:r>
            <a:r>
              <a:rPr lang="en-US" altLang="zh-CN" sz="2400" b="1" dirty="0" err="1" smtClean="0">
                <a:latin typeface="楷体_GB2312" pitchFamily="49" charset="-122"/>
                <a:ea typeface="楷体_GB2312" pitchFamily="49" charset="-122"/>
              </a:rPr>
              <a:t>int</a:t>
            </a:r>
            <a:r>
              <a:rPr lang="en-US" altLang="zh-CN" sz="2400" b="1" dirty="0" smtClean="0">
                <a:latin typeface="楷体_GB2312" pitchFamily="49" charset="-122"/>
                <a:ea typeface="楷体_GB2312" pitchFamily="49" charset="-122"/>
              </a:rPr>
              <a:t> &amp;sum)</a:t>
            </a:r>
          </a:p>
          <a:p>
            <a:pPr eaLnBrk="1" hangingPunct="1">
              <a:spcBef>
                <a:spcPct val="50000"/>
              </a:spcBef>
            </a:pPr>
            <a:r>
              <a:rPr lang="en-US" altLang="zh-CN" sz="2400" b="1" dirty="0" smtClean="0">
                <a:latin typeface="楷体_GB2312" pitchFamily="49" charset="-122"/>
                <a:ea typeface="楷体_GB2312" pitchFamily="49" charset="-122"/>
              </a:rPr>
              <a:t>{</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int</a:t>
            </a:r>
            <a:r>
              <a:rPr lang="en-US" altLang="zh-CN" sz="2400" b="1" dirty="0" smtClean="0">
                <a:ea typeface="楷体_GB2312" pitchFamily="49" charset="-122"/>
              </a:rPr>
              <a:t> x;</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scanf</a:t>
            </a:r>
            <a:r>
              <a:rPr lang="en-US" altLang="zh-CN" sz="2400" b="1" dirty="0" smtClean="0">
                <a:ea typeface="楷体_GB2312" pitchFamily="49" charset="-122"/>
              </a:rPr>
              <a:t>(x);</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if</a:t>
            </a:r>
            <a:r>
              <a:rPr lang="en-US" altLang="zh-CN" sz="2400" b="1" dirty="0" smtClean="0">
                <a:ea typeface="楷体_GB2312" pitchFamily="49" charset="-122"/>
              </a:rPr>
              <a:t> (x==0)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sum = 0;</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a:t>
            </a:r>
          </a:p>
          <a:p>
            <a:pPr eaLnBrk="1" hangingPunct="1">
              <a:spcBef>
                <a:spcPct val="50000"/>
              </a:spcBef>
            </a:pPr>
            <a:r>
              <a:rPr lang="en-US" altLang="zh-CN" sz="2400" b="1" dirty="0" smtClean="0">
                <a:ea typeface="楷体_GB2312" pitchFamily="49" charset="-122"/>
              </a:rPr>
              <a:t>   else </a:t>
            </a:r>
            <a:endParaRPr lang="en-US" altLang="zh-CN" sz="2400" b="1" dirty="0">
              <a:ea typeface="楷体_GB2312" pitchFamily="49" charset="-122"/>
            </a:endParaRPr>
          </a:p>
          <a:p>
            <a:pPr eaLnBrk="1" hangingPunct="1">
              <a:spcBef>
                <a:spcPct val="50000"/>
              </a:spcBef>
            </a:pPr>
            <a:r>
              <a:rPr lang="en-US" altLang="zh-CN" sz="2400" b="1" dirty="0">
                <a:ea typeface="楷体_GB2312" pitchFamily="49" charset="-122"/>
              </a:rPr>
              <a:t>       { </a:t>
            </a:r>
          </a:p>
          <a:p>
            <a:pPr eaLnBrk="1" hangingPunct="1">
              <a:spcBef>
                <a:spcPct val="50000"/>
              </a:spcBef>
            </a:pPr>
            <a:r>
              <a:rPr lang="en-US" altLang="zh-CN" sz="2400" b="1" dirty="0">
                <a:ea typeface="楷体_GB2312" pitchFamily="49" charset="-122"/>
              </a:rPr>
              <a:t>         test(sum);</a:t>
            </a:r>
          </a:p>
          <a:p>
            <a:pPr eaLnBrk="1" hangingPunct="1">
              <a:spcBef>
                <a:spcPct val="50000"/>
              </a:spcBef>
            </a:pPr>
            <a:r>
              <a:rPr lang="en-US" altLang="zh-CN" sz="2400" b="1" dirty="0">
                <a:ea typeface="楷体_GB2312" pitchFamily="49" charset="-122"/>
              </a:rPr>
              <a:t>         sum = sum + x;</a:t>
            </a:r>
          </a:p>
          <a:p>
            <a:pPr eaLnBrk="1" hangingPunct="1">
              <a:spcBef>
                <a:spcPct val="50000"/>
              </a:spcBef>
            </a:pPr>
            <a:r>
              <a:rPr lang="en-US" altLang="zh-CN" sz="2400" b="1" dirty="0">
                <a:ea typeface="楷体_GB2312" pitchFamily="49" charset="-122"/>
              </a:rPr>
              <a:t>        }</a:t>
            </a:r>
          </a:p>
          <a:p>
            <a:pPr eaLnBrk="1" hangingPunct="1">
              <a:spcBef>
                <a:spcPct val="50000"/>
              </a:spcBef>
            </a:pPr>
            <a:r>
              <a:rPr lang="en-US" altLang="zh-CN" sz="2400" b="1" dirty="0">
                <a:ea typeface="楷体_GB2312" pitchFamily="49" charset="-122"/>
              </a:rPr>
              <a:t>    </a:t>
            </a:r>
            <a:r>
              <a:rPr lang="en-US" altLang="zh-CN" sz="2400" b="1" dirty="0" err="1">
                <a:ea typeface="楷体_GB2312" pitchFamily="49" charset="-122"/>
              </a:rPr>
              <a:t>printf</a:t>
            </a:r>
            <a:r>
              <a:rPr lang="en-US" altLang="zh-CN" sz="2400" b="1" dirty="0">
                <a:ea typeface="楷体_GB2312" pitchFamily="49" charset="-122"/>
              </a:rPr>
              <a:t>(sum);</a:t>
            </a:r>
          </a:p>
          <a:p>
            <a:pPr eaLnBrk="1" hangingPunct="1">
              <a:spcBef>
                <a:spcPct val="50000"/>
              </a:spcBef>
            </a:pPr>
            <a:r>
              <a:rPr lang="en-US" altLang="zh-CN" sz="2400" b="1" dirty="0">
                <a:latin typeface="楷体_GB2312" pitchFamily="49" charset="-122"/>
                <a:ea typeface="楷体_GB2312" pitchFamily="49" charset="-122"/>
              </a:rPr>
              <a:t> }</a:t>
            </a:r>
            <a:endParaRPr lang="zh-CN" altLang="en-US" sz="2400" b="1" dirty="0">
              <a:latin typeface="楷体_GB2312" pitchFamily="49" charset="-122"/>
              <a:ea typeface="楷体_GB2312" pitchFamily="49" charset="-122"/>
            </a:endParaRPr>
          </a:p>
          <a:p>
            <a:pPr eaLnBrk="1" hangingPunct="1">
              <a:spcBef>
                <a:spcPct val="50000"/>
              </a:spcBef>
            </a:pPr>
            <a:endParaRPr lang="zh-CN" altLang="en-US"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8251909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D62B010-A99E-4290-BD55-8DB8838410D5}" type="slidenum">
              <a:rPr lang="en-US" altLang="zh-CN" sz="1400"/>
              <a:pPr/>
              <a:t>139</a:t>
            </a:fld>
            <a:endParaRPr lang="en-US" altLang="zh-CN" sz="1400"/>
          </a:p>
        </p:txBody>
      </p:sp>
      <p:sp>
        <p:nvSpPr>
          <p:cNvPr id="126979" name="Text Box 2"/>
          <p:cNvSpPr txBox="1">
            <a:spLocks noChangeArrowheads="1"/>
          </p:cNvSpPr>
          <p:nvPr/>
        </p:nvSpPr>
        <p:spPr bwMode="auto">
          <a:xfrm>
            <a:off x="533400" y="953725"/>
            <a:ext cx="8229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3600" b="1" dirty="0" smtClean="0">
                <a:latin typeface="楷体_GB2312" pitchFamily="49" charset="-122"/>
                <a:ea typeface="楷体_GB2312" pitchFamily="49" charset="-122"/>
              </a:rPr>
              <a:t>3.10 </a:t>
            </a:r>
            <a:r>
              <a:rPr lang="zh-CN" altLang="en-US" sz="3600" b="1" dirty="0" smtClean="0">
                <a:latin typeface="楷体_GB2312" pitchFamily="49" charset="-122"/>
                <a:ea typeface="楷体_GB2312" pitchFamily="49" charset="-122"/>
              </a:rPr>
              <a:t>将</a:t>
            </a:r>
            <a:r>
              <a:rPr lang="zh-CN" altLang="en-US" sz="3600" b="1" dirty="0">
                <a:latin typeface="楷体_GB2312" pitchFamily="49" charset="-122"/>
                <a:ea typeface="楷体_GB2312" pitchFamily="49" charset="-122"/>
              </a:rPr>
              <a:t>下列递归过程</a:t>
            </a:r>
            <a:r>
              <a:rPr lang="zh-CN" altLang="en-US" sz="3600" b="1" dirty="0" smtClean="0">
                <a:latin typeface="楷体_GB2312" pitchFamily="49" charset="-122"/>
                <a:ea typeface="楷体_GB2312" pitchFamily="49" charset="-122"/>
              </a:rPr>
              <a:t>改写为非递归过程</a:t>
            </a:r>
            <a:endParaRPr lang="en-US" altLang="zh-CN" sz="3600" b="1" dirty="0" smtClean="0">
              <a:latin typeface="楷体_GB2312" pitchFamily="49" charset="-122"/>
              <a:ea typeface="楷体_GB2312" pitchFamily="49" charset="-122"/>
            </a:endParaRPr>
          </a:p>
          <a:p>
            <a:pPr eaLnBrk="1" hangingPunct="1">
              <a:spcBef>
                <a:spcPct val="50000"/>
              </a:spcBef>
            </a:pPr>
            <a:r>
              <a:rPr lang="en-US" altLang="zh-CN" sz="2400" b="1" dirty="0" smtClean="0">
                <a:latin typeface="楷体_GB2312" pitchFamily="49" charset="-122"/>
                <a:ea typeface="楷体_GB2312" pitchFamily="49" charset="-122"/>
              </a:rPr>
              <a:t>void test(</a:t>
            </a:r>
            <a:r>
              <a:rPr lang="en-US" altLang="zh-CN" sz="2400" b="1" dirty="0" err="1" smtClean="0">
                <a:latin typeface="楷体_GB2312" pitchFamily="49" charset="-122"/>
                <a:ea typeface="楷体_GB2312" pitchFamily="49" charset="-122"/>
              </a:rPr>
              <a:t>int</a:t>
            </a:r>
            <a:r>
              <a:rPr lang="en-US" altLang="zh-CN" sz="2400" b="1" dirty="0" smtClean="0">
                <a:latin typeface="楷体_GB2312" pitchFamily="49" charset="-122"/>
                <a:ea typeface="楷体_GB2312" pitchFamily="49" charset="-122"/>
              </a:rPr>
              <a:t> &amp;sum)</a:t>
            </a:r>
          </a:p>
          <a:p>
            <a:pPr eaLnBrk="1" hangingPunct="1">
              <a:spcBef>
                <a:spcPct val="50000"/>
              </a:spcBef>
            </a:pPr>
            <a:r>
              <a:rPr lang="en-US" altLang="zh-CN" sz="2400" b="1" dirty="0" smtClean="0">
                <a:latin typeface="楷体_GB2312" pitchFamily="49" charset="-122"/>
                <a:ea typeface="楷体_GB2312" pitchFamily="49" charset="-122"/>
              </a:rPr>
              <a:t>{</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int</a:t>
            </a:r>
            <a:r>
              <a:rPr lang="en-US" altLang="zh-CN" sz="2400" b="1" dirty="0" smtClean="0">
                <a:ea typeface="楷体_GB2312" pitchFamily="49" charset="-122"/>
              </a:rPr>
              <a:t> x;</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scanf</a:t>
            </a:r>
            <a:r>
              <a:rPr lang="en-US" altLang="zh-CN" sz="2400" b="1" dirty="0" smtClean="0">
                <a:ea typeface="楷体_GB2312" pitchFamily="49" charset="-122"/>
              </a:rPr>
              <a:t>(x);</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if</a:t>
            </a:r>
            <a:r>
              <a:rPr lang="en-US" altLang="zh-CN" sz="2400" b="1" dirty="0" smtClean="0">
                <a:ea typeface="楷体_GB2312" pitchFamily="49" charset="-122"/>
              </a:rPr>
              <a:t> (x==0)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sum = 0;</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a:t>
            </a:r>
          </a:p>
          <a:p>
            <a:pPr eaLnBrk="1" hangingPunct="1">
              <a:spcBef>
                <a:spcPct val="50000"/>
              </a:spcBef>
            </a:pPr>
            <a:endParaRPr lang="zh-CN" altLang="en-US"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71394178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D62B010-A99E-4290-BD55-8DB8838410D5}" type="slidenum">
              <a:rPr lang="en-US" altLang="zh-CN" sz="1400"/>
              <a:pPr/>
              <a:t>140</a:t>
            </a:fld>
            <a:endParaRPr lang="en-US" altLang="zh-CN" sz="1400"/>
          </a:p>
        </p:txBody>
      </p:sp>
      <p:sp>
        <p:nvSpPr>
          <p:cNvPr id="126979" name="Text Box 2"/>
          <p:cNvSpPr txBox="1">
            <a:spLocks noChangeArrowheads="1"/>
          </p:cNvSpPr>
          <p:nvPr/>
        </p:nvSpPr>
        <p:spPr bwMode="auto">
          <a:xfrm>
            <a:off x="533400" y="953725"/>
            <a:ext cx="8229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3600" b="1" dirty="0" smtClean="0">
                <a:latin typeface="楷体_GB2312" pitchFamily="49" charset="-122"/>
                <a:ea typeface="楷体_GB2312" pitchFamily="49" charset="-122"/>
              </a:rPr>
              <a:t>3.10 </a:t>
            </a:r>
            <a:r>
              <a:rPr lang="zh-CN" altLang="en-US" sz="3600" b="1" dirty="0" smtClean="0">
                <a:latin typeface="楷体_GB2312" pitchFamily="49" charset="-122"/>
                <a:ea typeface="楷体_GB2312" pitchFamily="49" charset="-122"/>
              </a:rPr>
              <a:t>将</a:t>
            </a:r>
            <a:r>
              <a:rPr lang="zh-CN" altLang="en-US" sz="3600" b="1" dirty="0">
                <a:latin typeface="楷体_GB2312" pitchFamily="49" charset="-122"/>
                <a:ea typeface="楷体_GB2312" pitchFamily="49" charset="-122"/>
              </a:rPr>
              <a:t>下列递归过程</a:t>
            </a:r>
            <a:r>
              <a:rPr lang="zh-CN" altLang="en-US" sz="3600" b="1" dirty="0" smtClean="0">
                <a:latin typeface="楷体_GB2312" pitchFamily="49" charset="-122"/>
                <a:ea typeface="楷体_GB2312" pitchFamily="49" charset="-122"/>
              </a:rPr>
              <a:t>改写为非递归过程</a:t>
            </a:r>
            <a:endParaRPr lang="en-US" altLang="zh-CN" sz="3600" b="1" dirty="0" smtClean="0">
              <a:latin typeface="楷体_GB2312" pitchFamily="49" charset="-122"/>
              <a:ea typeface="楷体_GB2312" pitchFamily="49" charset="-122"/>
            </a:endParaRPr>
          </a:p>
          <a:p>
            <a:pPr eaLnBrk="1" hangingPunct="1">
              <a:spcBef>
                <a:spcPct val="50000"/>
              </a:spcBef>
            </a:pPr>
            <a:r>
              <a:rPr lang="en-US" altLang="zh-CN" sz="2400" b="1" dirty="0" smtClean="0">
                <a:ea typeface="楷体_GB2312" pitchFamily="49" charset="-122"/>
              </a:rPr>
              <a:t>   </a:t>
            </a:r>
            <a:r>
              <a:rPr lang="en-US" altLang="zh-CN" sz="2400" b="1" dirty="0" smtClean="0">
                <a:ea typeface="楷体_GB2312" pitchFamily="49" charset="-122"/>
              </a:rPr>
              <a:t>else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 </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test(sum);</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sum = sum + x;</a:t>
            </a:r>
          </a:p>
          <a:p>
            <a:pPr eaLnBrk="1" hangingPunct="1">
              <a:spcBef>
                <a:spcPct val="50000"/>
              </a:spcBef>
            </a:pPr>
            <a:r>
              <a:rPr lang="en-US" altLang="zh-CN" sz="2400" b="1" dirty="0">
                <a:ea typeface="楷体_GB2312" pitchFamily="49" charset="-122"/>
              </a:rPr>
              <a:t> </a:t>
            </a:r>
            <a:r>
              <a:rPr lang="en-US" altLang="zh-CN" sz="2400" b="1" dirty="0" smtClean="0">
                <a:ea typeface="楷体_GB2312" pitchFamily="49" charset="-122"/>
              </a:rPr>
              <a:t>       }</a:t>
            </a:r>
          </a:p>
          <a:p>
            <a:pPr eaLnBrk="1" hangingPunct="1">
              <a:spcBef>
                <a:spcPct val="50000"/>
              </a:spcBef>
            </a:pPr>
            <a:r>
              <a:rPr lang="en-US" altLang="zh-CN" sz="2400" b="1" dirty="0" smtClean="0">
                <a:ea typeface="楷体_GB2312" pitchFamily="49" charset="-122"/>
              </a:rPr>
              <a:t>    </a:t>
            </a:r>
            <a:r>
              <a:rPr lang="en-US" altLang="zh-CN" sz="2400" b="1" dirty="0" err="1" smtClean="0">
                <a:ea typeface="楷体_GB2312" pitchFamily="49" charset="-122"/>
              </a:rPr>
              <a:t>printf</a:t>
            </a:r>
            <a:r>
              <a:rPr lang="en-US" altLang="zh-CN" sz="2400" b="1" dirty="0" smtClean="0">
                <a:ea typeface="楷体_GB2312" pitchFamily="49" charset="-122"/>
              </a:rPr>
              <a:t>(sum);</a:t>
            </a:r>
          </a:p>
          <a:p>
            <a:pPr eaLnBrk="1" hangingPunct="1">
              <a:spcBef>
                <a:spcPct val="50000"/>
              </a:spcBef>
            </a:pPr>
            <a:r>
              <a:rPr lang="en-US" altLang="zh-CN" sz="2400" b="1" dirty="0" smtClean="0">
                <a:latin typeface="楷体_GB2312" pitchFamily="49" charset="-122"/>
                <a:ea typeface="楷体_GB2312" pitchFamily="49" charset="-122"/>
              </a:rPr>
              <a:t> }</a:t>
            </a:r>
            <a:endParaRPr lang="zh-CN" altLang="en-US"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8555223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9D62B010-A99E-4290-BD55-8DB8838410D5}" type="slidenum">
              <a:rPr lang="en-US" altLang="zh-CN" sz="1400"/>
              <a:pPr/>
              <a:t>141</a:t>
            </a:fld>
            <a:endParaRPr lang="en-US" altLang="zh-CN" sz="1400"/>
          </a:p>
        </p:txBody>
      </p:sp>
      <p:sp>
        <p:nvSpPr>
          <p:cNvPr id="126979" name="Text Box 2"/>
          <p:cNvSpPr txBox="1">
            <a:spLocks noChangeArrowheads="1"/>
          </p:cNvSpPr>
          <p:nvPr/>
        </p:nvSpPr>
        <p:spPr bwMode="auto">
          <a:xfrm>
            <a:off x="533400" y="304800"/>
            <a:ext cx="8229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pPr>
            <a:r>
              <a:rPr lang="en-US" altLang="zh-CN" sz="3600" b="1" dirty="0" smtClean="0">
                <a:latin typeface="楷体_GB2312" pitchFamily="49" charset="-122"/>
                <a:ea typeface="楷体_GB2312" pitchFamily="49" charset="-122"/>
              </a:rPr>
              <a:t>3.19 </a:t>
            </a:r>
            <a:r>
              <a:rPr lang="zh-CN" altLang="en-US" sz="3600" b="1" dirty="0">
                <a:latin typeface="楷体_GB2312" pitchFamily="49" charset="-122"/>
                <a:ea typeface="楷体_GB2312" pitchFamily="49" charset="-122"/>
              </a:rPr>
              <a:t>假设一个算术表达式中可以包含三种括号：园括号</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和</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、方括号</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和</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、花括号</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和</a:t>
            </a:r>
            <a:r>
              <a:rPr lang="zh-CN" altLang="en-US"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zh-CN" altLang="en-US" sz="3600" b="1" dirty="0">
                <a:latin typeface="楷体_GB2312" pitchFamily="49" charset="-122"/>
                <a:ea typeface="楷体_GB2312" pitchFamily="49" charset="-122"/>
              </a:rPr>
              <a:t>，且这三种括号可按任意的次序嵌套使用（如：</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en-US" altLang="zh-CN" sz="3600" b="1" dirty="0">
                <a:ea typeface="楷体_GB2312" pitchFamily="49" charset="-122"/>
              </a:rPr>
              <a:t>…</a:t>
            </a:r>
            <a:r>
              <a:rPr lang="en-US" altLang="zh-CN" sz="3600" b="1" dirty="0">
                <a:latin typeface="楷体_GB2312" pitchFamily="49" charset="-122"/>
                <a:ea typeface="楷体_GB2312" pitchFamily="49" charset="-122"/>
              </a:rPr>
              <a:t>)</a:t>
            </a:r>
            <a:r>
              <a:rPr lang="zh-CN" altLang="en-US" sz="3600" b="1" dirty="0">
                <a:latin typeface="楷体_GB2312" pitchFamily="49" charset="-122"/>
                <a:ea typeface="楷体_GB2312" pitchFamily="49" charset="-122"/>
              </a:rPr>
              <a:t>。编写判别给定表达式中所含括号是否正确配对出现的算法（已知表达式已存入数据元素为字符的顺序表中）。</a:t>
            </a:r>
          </a:p>
        </p:txBody>
      </p:sp>
    </p:spTree>
    <p:extLst>
      <p:ext uri="{BB962C8B-B14F-4D97-AF65-F5344CB8AC3E}">
        <p14:creationId xmlns:p14="http://schemas.microsoft.com/office/powerpoint/2010/main" val="27025478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0834"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5E5EE320-114B-4406-B2CD-58501F00E5B5}" type="slidenum">
              <a:rPr lang="en-US" altLang="zh-CN" sz="1400"/>
              <a:pPr/>
              <a:t>142</a:t>
            </a:fld>
            <a:endParaRPr lang="en-US" altLang="zh-CN" sz="1400"/>
          </a:p>
        </p:txBody>
      </p:sp>
      <p:sp>
        <p:nvSpPr>
          <p:cNvPr id="120835" name="Rectangle 2"/>
          <p:cNvSpPr>
            <a:spLocks noGrp="1" noChangeArrowheads="1"/>
          </p:cNvSpPr>
          <p:nvPr>
            <p:ph type="title"/>
          </p:nvPr>
        </p:nvSpPr>
        <p:spPr>
          <a:xfrm>
            <a:off x="927100" y="228600"/>
            <a:ext cx="7424738" cy="762000"/>
          </a:xfrm>
        </p:spPr>
        <p:txBody>
          <a:bodyPr/>
          <a:lstStyle/>
          <a:p>
            <a:pPr algn="l" eaLnBrk="1" hangingPunct="1"/>
            <a:r>
              <a:rPr lang="en-US" altLang="zh-CN" b="1">
                <a:solidFill>
                  <a:srgbClr val="009900"/>
                </a:solidFill>
                <a:latin typeface="楷体_GB2312" pitchFamily="49" charset="-122"/>
                <a:ea typeface="楷体_GB2312" pitchFamily="49" charset="-122"/>
              </a:rPr>
              <a:t>k</a:t>
            </a:r>
            <a:r>
              <a:rPr lang="zh-CN" altLang="en-US" b="1">
                <a:solidFill>
                  <a:srgbClr val="009900"/>
                </a:solidFill>
                <a:latin typeface="楷体_GB2312" pitchFamily="49" charset="-122"/>
                <a:ea typeface="楷体_GB2312" pitchFamily="49" charset="-122"/>
              </a:rPr>
              <a:t>阶斐波那契序列（上机题</a:t>
            </a:r>
            <a:r>
              <a:rPr lang="en-US" altLang="zh-CN" b="1">
                <a:solidFill>
                  <a:srgbClr val="009900"/>
                </a:solidFill>
                <a:latin typeface="楷体_GB2312" pitchFamily="49" charset="-122"/>
                <a:ea typeface="楷体_GB2312" pitchFamily="49" charset="-122"/>
              </a:rPr>
              <a:t>5</a:t>
            </a:r>
            <a:r>
              <a:rPr lang="zh-CN" altLang="en-US" b="1">
                <a:solidFill>
                  <a:srgbClr val="009900"/>
                </a:solidFill>
                <a:latin typeface="楷体_GB2312" pitchFamily="49" charset="-122"/>
                <a:ea typeface="楷体_GB2312" pitchFamily="49" charset="-122"/>
              </a:rPr>
              <a:t>）</a:t>
            </a:r>
          </a:p>
        </p:txBody>
      </p:sp>
      <p:sp>
        <p:nvSpPr>
          <p:cNvPr id="120836" name="Text Box 3"/>
          <p:cNvSpPr txBox="1">
            <a:spLocks noChangeArrowheads="1"/>
          </p:cNvSpPr>
          <p:nvPr/>
        </p:nvSpPr>
        <p:spPr bwMode="auto">
          <a:xfrm>
            <a:off x="304800" y="1127125"/>
            <a:ext cx="85344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4000" b="1">
                <a:solidFill>
                  <a:schemeClr val="tx2"/>
                </a:solidFill>
                <a:latin typeface="楷体_GB2312" pitchFamily="49" charset="-122"/>
                <a:ea typeface="楷体_GB2312" pitchFamily="49" charset="-122"/>
              </a:rPr>
              <a:t>    </a:t>
            </a:r>
            <a:r>
              <a:rPr lang="zh-CN" altLang="en-US" sz="4000" b="1">
                <a:solidFill>
                  <a:schemeClr val="tx2"/>
                </a:solidFill>
                <a:latin typeface="楷体_GB2312" pitchFamily="49" charset="-122"/>
                <a:ea typeface="楷体_GB2312" pitchFamily="49" charset="-122"/>
              </a:rPr>
              <a:t>试利用</a:t>
            </a:r>
            <a:r>
              <a:rPr lang="zh-CN" altLang="en-US" sz="4000" b="1">
                <a:solidFill>
                  <a:schemeClr val="hlink"/>
                </a:solidFill>
                <a:latin typeface="楷体_GB2312" pitchFamily="49" charset="-122"/>
                <a:ea typeface="楷体_GB2312" pitchFamily="49" charset="-122"/>
              </a:rPr>
              <a:t>循环队列</a:t>
            </a:r>
            <a:r>
              <a:rPr lang="zh-CN" altLang="en-US" sz="4000" b="1">
                <a:solidFill>
                  <a:schemeClr val="tx2"/>
                </a:solidFill>
                <a:latin typeface="楷体_GB2312" pitchFamily="49" charset="-122"/>
                <a:ea typeface="楷体_GB2312" pitchFamily="49" charset="-122"/>
              </a:rPr>
              <a:t>编写求</a:t>
            </a:r>
            <a:r>
              <a:rPr lang="en-US" altLang="zh-CN" sz="4000" b="1">
                <a:solidFill>
                  <a:schemeClr val="tx2"/>
                </a:solidFill>
                <a:latin typeface="楷体_GB2312" pitchFamily="49" charset="-122"/>
                <a:ea typeface="楷体_GB2312" pitchFamily="49" charset="-122"/>
              </a:rPr>
              <a:t>k</a:t>
            </a:r>
            <a:r>
              <a:rPr lang="zh-CN" altLang="en-US" sz="4000" b="1">
                <a:solidFill>
                  <a:schemeClr val="tx2"/>
                </a:solidFill>
                <a:latin typeface="楷体_GB2312" pitchFamily="49" charset="-122"/>
                <a:ea typeface="楷体_GB2312" pitchFamily="49" charset="-122"/>
              </a:rPr>
              <a:t>阶斐波那契序列中前</a:t>
            </a:r>
            <a:r>
              <a:rPr lang="en-US" altLang="zh-CN" sz="4000" b="1">
                <a:solidFill>
                  <a:schemeClr val="tx2"/>
                </a:solidFill>
                <a:latin typeface="楷体_GB2312" pitchFamily="49" charset="-122"/>
                <a:ea typeface="楷体_GB2312" pitchFamily="49" charset="-122"/>
              </a:rPr>
              <a:t>n+1</a:t>
            </a:r>
            <a:r>
              <a:rPr lang="zh-CN" altLang="en-US" sz="4000" b="1">
                <a:solidFill>
                  <a:schemeClr val="tx2"/>
                </a:solidFill>
                <a:latin typeface="楷体_GB2312" pitchFamily="49" charset="-122"/>
                <a:ea typeface="楷体_GB2312" pitchFamily="49" charset="-122"/>
              </a:rPr>
              <a:t>项（</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0</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1 </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2 </a:t>
            </a:r>
            <a:r>
              <a:rPr lang="en-US" altLang="zh-CN" sz="4000" b="1">
                <a:solidFill>
                  <a:schemeClr val="tx2"/>
                </a:solidFill>
                <a:latin typeface="楷体_GB2312" pitchFamily="49" charset="-122"/>
                <a:ea typeface="楷体_GB2312" pitchFamily="49" charset="-122"/>
              </a:rPr>
              <a:t>,</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n </a:t>
            </a:r>
            <a:r>
              <a:rPr lang="en-US" altLang="zh-CN" sz="4000" b="1">
                <a:solidFill>
                  <a:schemeClr val="tx2"/>
                </a:solidFill>
                <a:latin typeface="楷体_GB2312" pitchFamily="49" charset="-122"/>
                <a:ea typeface="楷体_GB2312" pitchFamily="49" charset="-122"/>
              </a:rPr>
              <a:t>)</a:t>
            </a:r>
            <a:r>
              <a:rPr lang="zh-CN" altLang="en-US" sz="4000" b="1">
                <a:solidFill>
                  <a:schemeClr val="tx2"/>
                </a:solidFill>
                <a:latin typeface="楷体_GB2312" pitchFamily="49" charset="-122"/>
                <a:ea typeface="楷体_GB2312" pitchFamily="49" charset="-122"/>
              </a:rPr>
              <a:t>的算法，要求满足</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n </a:t>
            </a:r>
            <a:r>
              <a:rPr lang="en-US" altLang="zh-CN" sz="4000" b="1">
                <a:solidFill>
                  <a:schemeClr val="tx2"/>
                </a:solidFill>
                <a:latin typeface="楷体_GB2312" pitchFamily="49" charset="-122"/>
                <a:ea typeface="楷体_GB2312" pitchFamily="49" charset="-122"/>
              </a:rPr>
              <a:t>≤max</a:t>
            </a:r>
            <a:r>
              <a:rPr lang="zh-CN" altLang="en-US" sz="4000" b="1">
                <a:solidFill>
                  <a:schemeClr val="tx2"/>
                </a:solidFill>
                <a:latin typeface="楷体_GB2312" pitchFamily="49" charset="-122"/>
                <a:ea typeface="楷体_GB2312" pitchFamily="49" charset="-122"/>
              </a:rPr>
              <a:t>而</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n+1 </a:t>
            </a:r>
            <a:r>
              <a:rPr lang="en-US" altLang="zh-CN" sz="4000" b="1">
                <a:solidFill>
                  <a:schemeClr val="tx2"/>
                </a:solidFill>
                <a:latin typeface="楷体_GB2312" pitchFamily="49" charset="-122"/>
                <a:ea typeface="楷体_GB2312" pitchFamily="49" charset="-122"/>
              </a:rPr>
              <a:t>&gt;max </a:t>
            </a:r>
            <a:r>
              <a:rPr lang="zh-CN" altLang="en-US" sz="4000" b="1">
                <a:solidFill>
                  <a:schemeClr val="tx2"/>
                </a:solidFill>
                <a:latin typeface="楷体_GB2312" pitchFamily="49" charset="-122"/>
                <a:ea typeface="楷体_GB2312" pitchFamily="49" charset="-122"/>
              </a:rPr>
              <a:t>，其中</a:t>
            </a:r>
            <a:r>
              <a:rPr lang="en-US" altLang="zh-CN" sz="4000" b="1">
                <a:solidFill>
                  <a:schemeClr val="tx2"/>
                </a:solidFill>
                <a:latin typeface="楷体_GB2312" pitchFamily="49" charset="-122"/>
                <a:ea typeface="楷体_GB2312" pitchFamily="49" charset="-122"/>
              </a:rPr>
              <a:t>max</a:t>
            </a:r>
            <a:r>
              <a:rPr lang="zh-CN" altLang="en-US" sz="4000" b="1">
                <a:solidFill>
                  <a:schemeClr val="tx2"/>
                </a:solidFill>
                <a:latin typeface="楷体_GB2312" pitchFamily="49" charset="-122"/>
                <a:ea typeface="楷体_GB2312" pitchFamily="49" charset="-122"/>
              </a:rPr>
              <a:t>为某个约定的常数。（注意本题所用循环队列的容量仅为</a:t>
            </a:r>
            <a:r>
              <a:rPr lang="en-US" altLang="zh-CN" sz="4000" b="1">
                <a:solidFill>
                  <a:schemeClr val="tx2"/>
                </a:solidFill>
                <a:latin typeface="楷体_GB2312" pitchFamily="49" charset="-122"/>
                <a:ea typeface="楷体_GB2312" pitchFamily="49" charset="-122"/>
              </a:rPr>
              <a:t>k,</a:t>
            </a:r>
            <a:r>
              <a:rPr lang="zh-CN" altLang="en-US" sz="4000" b="1">
                <a:solidFill>
                  <a:schemeClr val="tx2"/>
                </a:solidFill>
                <a:latin typeface="楷体_GB2312" pitchFamily="49" charset="-122"/>
                <a:ea typeface="楷体_GB2312" pitchFamily="49" charset="-122"/>
              </a:rPr>
              <a:t>则在算法执行结束时，留在循环队列中的元素应是</a:t>
            </a:r>
            <a:r>
              <a:rPr lang="en-US" altLang="zh-CN" sz="4000" b="1">
                <a:solidFill>
                  <a:schemeClr val="tx2"/>
                </a:solidFill>
                <a:latin typeface="楷体_GB2312" pitchFamily="49" charset="-122"/>
                <a:ea typeface="楷体_GB2312" pitchFamily="49" charset="-122"/>
              </a:rPr>
              <a:t>k</a:t>
            </a:r>
            <a:r>
              <a:rPr lang="zh-CN" altLang="en-US" sz="4000" b="1">
                <a:solidFill>
                  <a:schemeClr val="tx2"/>
                </a:solidFill>
                <a:latin typeface="楷体_GB2312" pitchFamily="49" charset="-122"/>
                <a:ea typeface="楷体_GB2312" pitchFamily="49" charset="-122"/>
              </a:rPr>
              <a:t>阶斐波那契序列中的最后</a:t>
            </a:r>
            <a:r>
              <a:rPr lang="en-US" altLang="zh-CN" sz="4000" b="1">
                <a:solidFill>
                  <a:schemeClr val="tx2"/>
                </a:solidFill>
                <a:latin typeface="楷体_GB2312" pitchFamily="49" charset="-122"/>
                <a:ea typeface="楷体_GB2312" pitchFamily="49" charset="-122"/>
              </a:rPr>
              <a:t>k</a:t>
            </a:r>
            <a:r>
              <a:rPr lang="zh-CN" altLang="en-US" sz="4000" b="1">
                <a:solidFill>
                  <a:schemeClr val="tx2"/>
                </a:solidFill>
                <a:latin typeface="楷体_GB2312" pitchFamily="49" charset="-122"/>
                <a:ea typeface="楷体_GB2312" pitchFamily="49" charset="-122"/>
              </a:rPr>
              <a:t>项</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n-k+1 </a:t>
            </a:r>
            <a:r>
              <a:rPr lang="en-US" altLang="zh-CN" sz="4000" b="1">
                <a:solidFill>
                  <a:schemeClr val="tx2"/>
                </a:solidFill>
                <a:latin typeface="楷体_GB2312" pitchFamily="49" charset="-122"/>
                <a:ea typeface="楷体_GB2312" pitchFamily="49" charset="-122"/>
              </a:rPr>
              <a:t>,</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n </a:t>
            </a:r>
            <a:r>
              <a:rPr lang="en-US" altLang="zh-CN" sz="4000" b="1">
                <a:solidFill>
                  <a:schemeClr val="tx2"/>
                </a:solidFill>
                <a:latin typeface="楷体_GB2312" pitchFamily="49" charset="-122"/>
                <a:ea typeface="楷体_GB2312" pitchFamily="49" charset="-122"/>
              </a:rPr>
              <a:t>) </a:t>
            </a:r>
            <a:r>
              <a:rPr lang="zh-CN" altLang="en-US" sz="4000" b="1">
                <a:solidFill>
                  <a:schemeClr val="tx2"/>
                </a:solidFill>
                <a:latin typeface="楷体_GB2312" pitchFamily="49" charset="-122"/>
                <a:ea typeface="楷体_GB2312" pitchFamily="49" charset="-122"/>
              </a:rPr>
              <a:t>。</a:t>
            </a:r>
          </a:p>
        </p:txBody>
      </p:sp>
    </p:spTree>
    <p:extLst>
      <p:ext uri="{BB962C8B-B14F-4D97-AF65-F5344CB8AC3E}">
        <p14:creationId xmlns:p14="http://schemas.microsoft.com/office/powerpoint/2010/main" val="560951602"/>
      </p:ext>
    </p:extLst>
  </p:cSld>
  <p:clrMapOvr>
    <a:masterClrMapping/>
  </p:clrMapOvr>
  <p:transition>
    <p:pull dir="r"/>
  </p:transition>
</p:sld>
</file>

<file path=ppt/slides/slide1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1858" name="灯片编号占位符 3"/>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037CC221-04CB-4C19-B64A-6A357C841275}" type="slidenum">
              <a:rPr lang="en-US" altLang="zh-CN" sz="1400"/>
              <a:pPr/>
              <a:t>143</a:t>
            </a:fld>
            <a:endParaRPr lang="en-US" altLang="zh-CN" sz="1400"/>
          </a:p>
        </p:txBody>
      </p:sp>
      <p:sp>
        <p:nvSpPr>
          <p:cNvPr id="121859" name="Text Box 2"/>
          <p:cNvSpPr txBox="1">
            <a:spLocks noChangeArrowheads="1"/>
          </p:cNvSpPr>
          <p:nvPr/>
        </p:nvSpPr>
        <p:spPr bwMode="auto">
          <a:xfrm>
            <a:off x="228600" y="838200"/>
            <a:ext cx="86106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0</a:t>
            </a:r>
            <a:r>
              <a:rPr lang="en-US" altLang="zh-CN" sz="4000" b="1">
                <a:solidFill>
                  <a:schemeClr val="tx2"/>
                </a:solidFill>
                <a:latin typeface="楷体_GB2312" pitchFamily="49" charset="-122"/>
                <a:ea typeface="楷体_GB2312" pitchFamily="49" charset="-122"/>
              </a:rPr>
              <a:t>=0 , f</a:t>
            </a:r>
            <a:r>
              <a:rPr lang="en-US" altLang="zh-CN" sz="4000" b="1" baseline="-25000">
                <a:solidFill>
                  <a:schemeClr val="tx2"/>
                </a:solidFill>
                <a:latin typeface="楷体_GB2312" pitchFamily="49" charset="-122"/>
                <a:ea typeface="楷体_GB2312" pitchFamily="49" charset="-122"/>
              </a:rPr>
              <a:t>1</a:t>
            </a:r>
            <a:r>
              <a:rPr lang="en-US" altLang="zh-CN" sz="4000" b="1">
                <a:solidFill>
                  <a:schemeClr val="tx2"/>
                </a:solidFill>
                <a:latin typeface="楷体_GB2312" pitchFamily="49" charset="-122"/>
                <a:ea typeface="楷体_GB2312" pitchFamily="49" charset="-122"/>
              </a:rPr>
              <a:t>=0 , </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k-2</a:t>
            </a:r>
            <a:r>
              <a:rPr lang="en-US" altLang="zh-CN" sz="4000" b="1">
                <a:solidFill>
                  <a:schemeClr val="tx2"/>
                </a:solidFill>
                <a:latin typeface="楷体_GB2312" pitchFamily="49" charset="-122"/>
                <a:ea typeface="楷体_GB2312" pitchFamily="49" charset="-122"/>
              </a:rPr>
              <a:t>=0 , f</a:t>
            </a:r>
            <a:r>
              <a:rPr lang="en-US" altLang="zh-CN" sz="4000" b="1" baseline="-25000">
                <a:solidFill>
                  <a:schemeClr val="tx2"/>
                </a:solidFill>
                <a:latin typeface="楷体_GB2312" pitchFamily="49" charset="-122"/>
                <a:ea typeface="楷体_GB2312" pitchFamily="49" charset="-122"/>
              </a:rPr>
              <a:t>k-1</a:t>
            </a:r>
            <a:r>
              <a:rPr lang="en-US" altLang="zh-CN" sz="4000" b="1">
                <a:solidFill>
                  <a:schemeClr val="tx2"/>
                </a:solidFill>
                <a:latin typeface="楷体_GB2312" pitchFamily="49" charset="-122"/>
                <a:ea typeface="楷体_GB2312" pitchFamily="49" charset="-122"/>
              </a:rPr>
              <a:t>=1,</a:t>
            </a:r>
          </a:p>
          <a:p>
            <a:pPr>
              <a:spcBef>
                <a:spcPct val="50000"/>
              </a:spcBef>
            </a:pP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n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n-1 </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n-2 </a:t>
            </a:r>
            <a:r>
              <a:rPr lang="en-US" altLang="zh-CN" sz="4000" b="1">
                <a:solidFill>
                  <a:schemeClr val="tx2"/>
                </a:solidFill>
                <a:latin typeface="楷体_GB2312" pitchFamily="49" charset="-122"/>
                <a:ea typeface="楷体_GB2312" pitchFamily="49" charset="-122"/>
              </a:rPr>
              <a:t>+</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n-k </a:t>
            </a:r>
            <a:endParaRPr lang="en-US" altLang="zh-CN" sz="4000" b="1">
              <a:solidFill>
                <a:schemeClr val="tx2"/>
              </a:solidFill>
              <a:latin typeface="楷体_GB2312" pitchFamily="49" charset="-122"/>
              <a:ea typeface="楷体_GB2312" pitchFamily="49" charset="-122"/>
            </a:endParaRPr>
          </a:p>
          <a:p>
            <a:pPr>
              <a:spcBef>
                <a:spcPct val="50000"/>
              </a:spcBef>
            </a:pPr>
            <a:r>
              <a:rPr lang="en-US" altLang="zh-CN" sz="4000" b="1">
                <a:solidFill>
                  <a:schemeClr val="tx2"/>
                </a:solidFill>
                <a:latin typeface="楷体_GB2312" pitchFamily="49" charset="-122"/>
                <a:ea typeface="楷体_GB2312" pitchFamily="49" charset="-122"/>
              </a:rPr>
              <a:t>(n=k,k+1,</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a:t>
            </a:r>
          </a:p>
        </p:txBody>
      </p:sp>
      <p:sp>
        <p:nvSpPr>
          <p:cNvPr id="605187" name="Text Box 3"/>
          <p:cNvSpPr txBox="1">
            <a:spLocks noChangeArrowheads="1"/>
          </p:cNvSpPr>
          <p:nvPr/>
        </p:nvSpPr>
        <p:spPr bwMode="auto">
          <a:xfrm>
            <a:off x="381000" y="3870325"/>
            <a:ext cx="86106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i-1 </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i-2 </a:t>
            </a:r>
            <a:r>
              <a:rPr lang="en-US" altLang="zh-CN" sz="4000" b="1">
                <a:solidFill>
                  <a:schemeClr val="tx2"/>
                </a:solidFill>
                <a:latin typeface="楷体_GB2312" pitchFamily="49" charset="-122"/>
                <a:ea typeface="楷体_GB2312" pitchFamily="49" charset="-122"/>
              </a:rPr>
              <a:t>+</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i-k </a:t>
            </a:r>
          </a:p>
          <a:p>
            <a:pPr>
              <a:spcBef>
                <a:spcPct val="50000"/>
              </a:spcBef>
            </a:pP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i+1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i-1 </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i-2 </a:t>
            </a:r>
            <a:r>
              <a:rPr lang="en-US" altLang="zh-CN" sz="4000" b="1">
                <a:solidFill>
                  <a:schemeClr val="tx2"/>
                </a:solidFill>
                <a:latin typeface="楷体_GB2312" pitchFamily="49" charset="-122"/>
                <a:ea typeface="楷体_GB2312" pitchFamily="49" charset="-122"/>
              </a:rPr>
              <a:t>+</a:t>
            </a:r>
            <a:r>
              <a:rPr lang="en-US" altLang="zh-CN" sz="4000" b="1">
                <a:solidFill>
                  <a:schemeClr val="tx2"/>
                </a:solidFill>
                <a:ea typeface="楷体_GB2312" pitchFamily="49" charset="-122"/>
              </a:rPr>
              <a:t>…</a:t>
            </a:r>
            <a:r>
              <a:rPr lang="en-US" altLang="zh-CN" sz="4000" b="1">
                <a:solidFill>
                  <a:schemeClr val="tx2"/>
                </a:solidFill>
                <a:latin typeface="楷体_GB2312" pitchFamily="49" charset="-122"/>
                <a:ea typeface="楷体_GB2312" pitchFamily="49" charset="-122"/>
              </a:rPr>
              <a:t>+ f</a:t>
            </a:r>
            <a:r>
              <a:rPr lang="en-US" altLang="zh-CN" sz="4000" b="1" baseline="-25000">
                <a:solidFill>
                  <a:schemeClr val="tx2"/>
                </a:solidFill>
                <a:latin typeface="楷体_GB2312" pitchFamily="49" charset="-122"/>
                <a:ea typeface="楷体_GB2312" pitchFamily="49" charset="-122"/>
              </a:rPr>
              <a:t>i-k+1</a:t>
            </a:r>
            <a:endParaRPr lang="en-US" altLang="zh-CN" sz="4000" b="1">
              <a:solidFill>
                <a:schemeClr val="tx2"/>
              </a:solidFill>
              <a:latin typeface="楷体_GB2312" pitchFamily="49" charset="-122"/>
              <a:ea typeface="楷体_GB2312" pitchFamily="49" charset="-122"/>
            </a:endParaRPr>
          </a:p>
          <a:p>
            <a:pPr>
              <a:spcBef>
                <a:spcPct val="50000"/>
              </a:spcBef>
            </a:pPr>
            <a:r>
              <a:rPr lang="zh-CN" altLang="en-US" sz="4000" b="1">
                <a:solidFill>
                  <a:schemeClr val="tx2"/>
                </a:solidFill>
                <a:latin typeface="楷体_GB2312" pitchFamily="49" charset="-122"/>
                <a:ea typeface="楷体_GB2312" pitchFamily="49" charset="-122"/>
              </a:rPr>
              <a:t>两式相减得：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i+1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2*f</a:t>
            </a:r>
            <a:r>
              <a:rPr lang="en-US" altLang="zh-CN" sz="4000" b="1" baseline="-25000">
                <a:solidFill>
                  <a:schemeClr val="tx2"/>
                </a:solidFill>
                <a:latin typeface="楷体_GB2312" pitchFamily="49" charset="-122"/>
                <a:ea typeface="楷体_GB2312" pitchFamily="49" charset="-122"/>
              </a:rPr>
              <a:t>i </a:t>
            </a:r>
            <a:r>
              <a:rPr lang="en-US" altLang="zh-CN" sz="4000" b="1">
                <a:solidFill>
                  <a:schemeClr val="tx2"/>
                </a:solidFill>
                <a:latin typeface="楷体_GB2312" pitchFamily="49" charset="-122"/>
                <a:ea typeface="楷体_GB2312" pitchFamily="49" charset="-122"/>
              </a:rPr>
              <a:t>-</a:t>
            </a:r>
            <a:r>
              <a:rPr lang="en-US" altLang="zh-CN" sz="4000" b="1" baseline="-25000">
                <a:solidFill>
                  <a:schemeClr val="tx2"/>
                </a:solidFill>
                <a:latin typeface="楷体_GB2312" pitchFamily="49" charset="-122"/>
                <a:ea typeface="楷体_GB2312" pitchFamily="49" charset="-122"/>
              </a:rPr>
              <a:t> </a:t>
            </a:r>
            <a:r>
              <a:rPr lang="en-US" altLang="zh-CN" sz="4000" b="1">
                <a:solidFill>
                  <a:schemeClr val="tx2"/>
                </a:solidFill>
                <a:latin typeface="楷体_GB2312" pitchFamily="49" charset="-122"/>
                <a:ea typeface="楷体_GB2312" pitchFamily="49" charset="-122"/>
              </a:rPr>
              <a:t>f</a:t>
            </a:r>
            <a:r>
              <a:rPr lang="en-US" altLang="zh-CN" sz="4000" b="1" baseline="-25000">
                <a:solidFill>
                  <a:schemeClr val="tx2"/>
                </a:solidFill>
                <a:latin typeface="楷体_GB2312" pitchFamily="49" charset="-122"/>
                <a:ea typeface="楷体_GB2312" pitchFamily="49" charset="-122"/>
              </a:rPr>
              <a:t>i-k </a:t>
            </a:r>
          </a:p>
        </p:txBody>
      </p:sp>
      <p:sp>
        <p:nvSpPr>
          <p:cNvPr id="121861" name="Rectangle 4"/>
          <p:cNvSpPr>
            <a:spLocks noChangeArrowheads="1"/>
          </p:cNvSpPr>
          <p:nvPr/>
        </p:nvSpPr>
        <p:spPr bwMode="auto">
          <a:xfrm>
            <a:off x="0" y="0"/>
            <a:ext cx="43434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pPr eaLnBrk="1" hangingPunct="1"/>
            <a:r>
              <a:rPr lang="en-US" altLang="zh-CN" sz="4000" b="1">
                <a:solidFill>
                  <a:srgbClr val="009900"/>
                </a:solidFill>
                <a:latin typeface="楷体_GB2312" pitchFamily="49" charset="-122"/>
                <a:ea typeface="楷体_GB2312" pitchFamily="49" charset="-122"/>
              </a:rPr>
              <a:t>k</a:t>
            </a:r>
            <a:r>
              <a:rPr lang="zh-CN" altLang="en-US" sz="4000" b="1">
                <a:solidFill>
                  <a:srgbClr val="009900"/>
                </a:solidFill>
                <a:latin typeface="楷体_GB2312" pitchFamily="49" charset="-122"/>
                <a:ea typeface="楷体_GB2312" pitchFamily="49" charset="-122"/>
              </a:rPr>
              <a:t>阶斐波那契序列</a:t>
            </a:r>
          </a:p>
        </p:txBody>
      </p:sp>
    </p:spTree>
    <p:extLst>
      <p:ext uri="{BB962C8B-B14F-4D97-AF65-F5344CB8AC3E}">
        <p14:creationId xmlns:p14="http://schemas.microsoft.com/office/powerpoint/2010/main" val="2648794511"/>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5187"/>
                                        </p:tgtEl>
                                        <p:attrNameLst>
                                          <p:attrName>style.visibility</p:attrName>
                                        </p:attrNameLst>
                                      </p:cBhvr>
                                      <p:to>
                                        <p:strVal val="visible"/>
                                      </p:to>
                                    </p:set>
                                    <p:animEffect transition="in" filter="dissolve">
                                      <p:cBhvr>
                                        <p:cTn id="7" dur="500"/>
                                        <p:tgtEl>
                                          <p:spTgt spid="605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7" grpId="0"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2882"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101F49A9-D978-4CBE-AE6B-D4B422EB1DE7}" type="slidenum">
              <a:rPr lang="en-US" altLang="zh-CN" sz="1400"/>
              <a:pPr/>
              <a:t>144</a:t>
            </a:fld>
            <a:endParaRPr lang="en-US" altLang="zh-CN" sz="1400"/>
          </a:p>
        </p:txBody>
      </p:sp>
      <p:sp>
        <p:nvSpPr>
          <p:cNvPr id="122883" name="Text Box 3"/>
          <p:cNvSpPr txBox="1">
            <a:spLocks noChangeArrowheads="1"/>
          </p:cNvSpPr>
          <p:nvPr/>
        </p:nvSpPr>
        <p:spPr bwMode="auto">
          <a:xfrm>
            <a:off x="0" y="0"/>
            <a:ext cx="9067800" cy="687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10000"/>
              </a:spcBef>
            </a:pPr>
            <a:r>
              <a:rPr lang="en-US" altLang="zh-CN" sz="3400" b="1"/>
              <a:t>void fb(int k,int max)    //</a:t>
            </a:r>
            <a:r>
              <a:rPr lang="zh-CN" altLang="en-US" sz="2400" b="1">
                <a:solidFill>
                  <a:schemeClr val="tx2"/>
                </a:solidFill>
              </a:rPr>
              <a:t>方法一</a:t>
            </a:r>
            <a:r>
              <a:rPr lang="en-US" altLang="zh-CN" sz="2400" b="1">
                <a:solidFill>
                  <a:schemeClr val="tx2"/>
                </a:solidFill>
              </a:rPr>
              <a:t>,</a:t>
            </a:r>
            <a:r>
              <a:rPr lang="zh-CN" altLang="en-US" sz="2400" b="1">
                <a:solidFill>
                  <a:schemeClr val="tx2"/>
                </a:solidFill>
              </a:rPr>
              <a:t>队列的</a:t>
            </a:r>
            <a:r>
              <a:rPr lang="zh-CN" altLang="en-US" sz="2400" b="1">
                <a:solidFill>
                  <a:schemeClr val="hlink"/>
                </a:solidFill>
              </a:rPr>
              <a:t>容量为</a:t>
            </a:r>
            <a:r>
              <a:rPr lang="en-US" altLang="zh-CN" sz="2400" b="1">
                <a:solidFill>
                  <a:schemeClr val="hlink"/>
                </a:solidFill>
              </a:rPr>
              <a:t>k</a:t>
            </a:r>
            <a:endParaRPr lang="en-US" altLang="zh-CN" sz="3400" b="1">
              <a:solidFill>
                <a:schemeClr val="hlink"/>
              </a:solidFill>
            </a:endParaRPr>
          </a:p>
          <a:p>
            <a:pPr>
              <a:spcBef>
                <a:spcPct val="10000"/>
              </a:spcBef>
            </a:pPr>
            <a:r>
              <a:rPr lang="en-US" altLang="zh-CN" sz="3400" b="1"/>
              <a:t>{ for(i=0;i&lt;=k-2;i++)  {f[i]=0; cq.elem[i]=0;}</a:t>
            </a:r>
          </a:p>
          <a:p>
            <a:pPr>
              <a:spcBef>
                <a:spcPct val="10000"/>
              </a:spcBef>
            </a:pPr>
            <a:r>
              <a:rPr lang="en-US" altLang="zh-CN" sz="3400" b="1"/>
              <a:t>   cq.elem[k-1]=1;   cq.rear=k-1;   n=k;</a:t>
            </a:r>
          </a:p>
          <a:p>
            <a:pPr>
              <a:spcBef>
                <a:spcPct val="10000"/>
              </a:spcBef>
            </a:pPr>
            <a:r>
              <a:rPr lang="en-US" altLang="zh-CN" sz="3400" b="1"/>
              <a:t>   while(cq.elem[cq. rear]&lt;max)</a:t>
            </a:r>
          </a:p>
          <a:p>
            <a:pPr>
              <a:spcBef>
                <a:spcPct val="10000"/>
              </a:spcBef>
            </a:pPr>
            <a:r>
              <a:rPr lang="en-US" altLang="zh-CN" sz="3400" b="1"/>
              <a:t>   {    f[n]=0;</a:t>
            </a:r>
          </a:p>
          <a:p>
            <a:pPr>
              <a:spcBef>
                <a:spcPct val="10000"/>
              </a:spcBef>
            </a:pPr>
            <a:r>
              <a:rPr lang="en-US" altLang="zh-CN" sz="3400" b="1"/>
              <a:t>         </a:t>
            </a:r>
            <a:r>
              <a:rPr lang="en-US" altLang="zh-CN" sz="3400" b="1">
                <a:solidFill>
                  <a:schemeClr val="hlink"/>
                </a:solidFill>
              </a:rPr>
              <a:t>for(j=0;j&lt;k;j++)  f[n]=f[n]+ cq.elem[j];</a:t>
            </a:r>
          </a:p>
          <a:p>
            <a:pPr>
              <a:spcBef>
                <a:spcPct val="10000"/>
              </a:spcBef>
            </a:pPr>
            <a:r>
              <a:rPr lang="en-US" altLang="zh-CN" sz="3400" b="1"/>
              <a:t>         cq.rear=(cq.rear +1) % k;</a:t>
            </a:r>
          </a:p>
          <a:p>
            <a:pPr>
              <a:spcBef>
                <a:spcPct val="10000"/>
              </a:spcBef>
            </a:pPr>
            <a:r>
              <a:rPr lang="en-US" altLang="zh-CN" sz="3400" b="1"/>
              <a:t>         cq.elem[cq.rear]=f[n];       n++;</a:t>
            </a:r>
          </a:p>
          <a:p>
            <a:pPr>
              <a:spcBef>
                <a:spcPct val="10000"/>
              </a:spcBef>
            </a:pPr>
            <a:r>
              <a:rPr lang="en-US" altLang="zh-CN" sz="3400" b="1"/>
              <a:t>   }</a:t>
            </a:r>
          </a:p>
          <a:p>
            <a:pPr>
              <a:spcBef>
                <a:spcPct val="10000"/>
              </a:spcBef>
            </a:pPr>
            <a:r>
              <a:rPr lang="en-US" altLang="zh-CN" sz="3400" b="1"/>
              <a:t>   if(cq.elem[cq.rear]&gt;max)  n=n-2; else n=n-1;</a:t>
            </a:r>
          </a:p>
          <a:p>
            <a:pPr>
              <a:spcBef>
                <a:spcPct val="10000"/>
              </a:spcBef>
            </a:pPr>
            <a:r>
              <a:rPr lang="en-US" altLang="zh-CN" sz="3400" b="1"/>
              <a:t>   if (max==1)  {n=k;f[k]=1;}</a:t>
            </a:r>
          </a:p>
          <a:p>
            <a:pPr>
              <a:spcBef>
                <a:spcPct val="10000"/>
              </a:spcBef>
            </a:pPr>
            <a:r>
              <a:rPr lang="en-US" altLang="zh-CN" sz="3400" b="1"/>
              <a:t>}</a:t>
            </a:r>
          </a:p>
        </p:txBody>
      </p:sp>
    </p:spTree>
    <p:extLst>
      <p:ext uri="{BB962C8B-B14F-4D97-AF65-F5344CB8AC3E}">
        <p14:creationId xmlns:p14="http://schemas.microsoft.com/office/powerpoint/2010/main" val="4244048035"/>
      </p:ext>
    </p:extLst>
  </p:cSld>
  <p:clrMapOvr>
    <a:masterClrMapping/>
  </p:clrMapOvr>
  <p:transition>
    <p:pull dir="r"/>
  </p:transition>
</p:sld>
</file>

<file path=ppt/slides/slide14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3906" name="灯片编号占位符 4"/>
          <p:cNvSpPr>
            <a:spLocks noGrp="1"/>
          </p:cNvSpPr>
          <p:nvPr>
            <p:ph type="sldNum" sz="quarter" idx="12"/>
          </p:nvPr>
        </p:nvSpPr>
        <p:spPr>
          <a:noFill/>
        </p:spPr>
        <p:txBody>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fld id="{A09BDC8F-1071-47A3-B517-BC430F2B90D3}" type="slidenum">
              <a:rPr lang="en-US" altLang="zh-CN" sz="1400"/>
              <a:pPr/>
              <a:t>145</a:t>
            </a:fld>
            <a:endParaRPr lang="en-US" altLang="zh-CN" sz="1400"/>
          </a:p>
        </p:txBody>
      </p:sp>
      <p:sp>
        <p:nvSpPr>
          <p:cNvPr id="123907" name="Rectangle 2"/>
          <p:cNvSpPr>
            <a:spLocks noGrp="1" noChangeArrowheads="1"/>
          </p:cNvSpPr>
          <p:nvPr>
            <p:ph type="title"/>
          </p:nvPr>
        </p:nvSpPr>
        <p:spPr>
          <a:xfrm>
            <a:off x="0" y="0"/>
            <a:ext cx="1524000" cy="609600"/>
          </a:xfrm>
        </p:spPr>
        <p:txBody>
          <a:bodyPr/>
          <a:lstStyle/>
          <a:p>
            <a:pPr algn="l" eaLnBrk="1" hangingPunct="1"/>
            <a:r>
              <a:rPr lang="zh-CN" altLang="en-US" sz="3400" b="1">
                <a:ea typeface="楷体_GB2312" pitchFamily="49" charset="-122"/>
              </a:rPr>
              <a:t>方法二</a:t>
            </a:r>
          </a:p>
        </p:txBody>
      </p:sp>
      <p:sp>
        <p:nvSpPr>
          <p:cNvPr id="123908" name="Text Box 3"/>
          <p:cNvSpPr txBox="1">
            <a:spLocks noChangeArrowheads="1"/>
          </p:cNvSpPr>
          <p:nvPr/>
        </p:nvSpPr>
        <p:spPr bwMode="auto">
          <a:xfrm>
            <a:off x="152400" y="723900"/>
            <a:ext cx="9067800" cy="610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nSpc>
                <a:spcPct val="80000"/>
              </a:lnSpc>
              <a:spcBef>
                <a:spcPct val="10000"/>
              </a:spcBef>
            </a:pPr>
            <a:r>
              <a:rPr lang="en-US" altLang="zh-CN" sz="3400" b="1"/>
              <a:t>Void fb(int k,int max)</a:t>
            </a:r>
          </a:p>
          <a:p>
            <a:pPr>
              <a:lnSpc>
                <a:spcPct val="80000"/>
              </a:lnSpc>
              <a:spcBef>
                <a:spcPct val="10000"/>
              </a:spcBef>
            </a:pPr>
            <a:r>
              <a:rPr lang="en-US" altLang="zh-CN" sz="3400" b="1"/>
              <a:t>{ for(i=0;i&lt;=k-2;i++)  {f[i]=0; cq.elem[i]=0;}</a:t>
            </a:r>
          </a:p>
          <a:p>
            <a:pPr>
              <a:lnSpc>
                <a:spcPct val="80000"/>
              </a:lnSpc>
              <a:spcBef>
                <a:spcPct val="10000"/>
              </a:spcBef>
            </a:pPr>
            <a:r>
              <a:rPr lang="en-US" altLang="zh-CN" sz="3400" b="1"/>
              <a:t>   cq.elem[k-1]= cq.elem[k]= 1;   </a:t>
            </a:r>
          </a:p>
          <a:p>
            <a:pPr>
              <a:lnSpc>
                <a:spcPct val="80000"/>
              </a:lnSpc>
              <a:spcBef>
                <a:spcPct val="10000"/>
              </a:spcBef>
            </a:pPr>
            <a:r>
              <a:rPr lang="en-US" altLang="zh-CN" sz="3400" b="1"/>
              <a:t>   cq.rear=k;      n=k+1;      f[k-1]=f[k]=1;</a:t>
            </a:r>
          </a:p>
          <a:p>
            <a:pPr>
              <a:lnSpc>
                <a:spcPct val="80000"/>
              </a:lnSpc>
              <a:spcBef>
                <a:spcPct val="10000"/>
              </a:spcBef>
            </a:pPr>
            <a:r>
              <a:rPr lang="en-US" altLang="zh-CN" sz="3400" b="1"/>
              <a:t>   while(cq.elem[cq. rear]&lt;max)</a:t>
            </a:r>
          </a:p>
          <a:p>
            <a:pPr>
              <a:lnSpc>
                <a:spcPct val="80000"/>
              </a:lnSpc>
              <a:spcBef>
                <a:spcPct val="10000"/>
              </a:spcBef>
            </a:pPr>
            <a:r>
              <a:rPr lang="en-US" altLang="zh-CN" sz="3400" b="1"/>
              <a:t>   {    j= (cq. rear+1)  %  (k+1);// </a:t>
            </a:r>
            <a:r>
              <a:rPr lang="en-US" altLang="zh-CN" sz="3000" b="1">
                <a:solidFill>
                  <a:srgbClr val="FF0000"/>
                </a:solidFill>
              </a:rPr>
              <a:t>j</a:t>
            </a:r>
            <a:r>
              <a:rPr lang="zh-CN" altLang="en-US" sz="3000" b="1">
                <a:solidFill>
                  <a:srgbClr val="FF0000"/>
                </a:solidFill>
              </a:rPr>
              <a:t>指向当前队头</a:t>
            </a:r>
            <a:endParaRPr lang="en-US" altLang="zh-CN" sz="3000" b="1">
              <a:solidFill>
                <a:srgbClr val="FF0000"/>
              </a:solidFill>
            </a:endParaRPr>
          </a:p>
          <a:p>
            <a:pPr>
              <a:lnSpc>
                <a:spcPct val="80000"/>
              </a:lnSpc>
              <a:spcBef>
                <a:spcPct val="10000"/>
              </a:spcBef>
            </a:pPr>
            <a:r>
              <a:rPr lang="en-US" altLang="zh-CN" sz="3400" b="1"/>
              <a:t>         </a:t>
            </a:r>
            <a:r>
              <a:rPr lang="en-US" altLang="zh-CN" sz="3400" b="1">
                <a:solidFill>
                  <a:schemeClr val="hlink"/>
                </a:solidFill>
              </a:rPr>
              <a:t>f[n]= cq.elem[cq. rear]*2- cq.elem[j];</a:t>
            </a:r>
          </a:p>
          <a:p>
            <a:pPr>
              <a:lnSpc>
                <a:spcPct val="80000"/>
              </a:lnSpc>
              <a:spcBef>
                <a:spcPct val="10000"/>
              </a:spcBef>
            </a:pPr>
            <a:r>
              <a:rPr lang="en-US" altLang="zh-CN" sz="3400" b="1"/>
              <a:t>         cq.elem[j]=f[n];      cq.rear=j;    n++;</a:t>
            </a:r>
          </a:p>
          <a:p>
            <a:pPr>
              <a:lnSpc>
                <a:spcPct val="80000"/>
              </a:lnSpc>
              <a:spcBef>
                <a:spcPct val="10000"/>
              </a:spcBef>
            </a:pPr>
            <a:r>
              <a:rPr lang="en-US" altLang="zh-CN" sz="3400" b="1"/>
              <a:t>   }</a:t>
            </a:r>
          </a:p>
          <a:p>
            <a:pPr>
              <a:lnSpc>
                <a:spcPct val="80000"/>
              </a:lnSpc>
              <a:spcBef>
                <a:spcPct val="10000"/>
              </a:spcBef>
            </a:pPr>
            <a:r>
              <a:rPr lang="en-US" altLang="zh-CN" sz="3400" b="1"/>
              <a:t>   if(cq.elem[cq.rear]&gt;max)  n=n-2; else n=n-1;</a:t>
            </a:r>
          </a:p>
          <a:p>
            <a:pPr>
              <a:lnSpc>
                <a:spcPct val="80000"/>
              </a:lnSpc>
              <a:spcBef>
                <a:spcPct val="10000"/>
              </a:spcBef>
            </a:pPr>
            <a:r>
              <a:rPr lang="en-US" altLang="zh-CN" sz="3400" b="1"/>
              <a:t>   if (max==1)  {n=k;f[k]=1;}</a:t>
            </a:r>
          </a:p>
          <a:p>
            <a:pPr>
              <a:lnSpc>
                <a:spcPct val="80000"/>
              </a:lnSpc>
              <a:spcBef>
                <a:spcPct val="10000"/>
              </a:spcBef>
            </a:pPr>
            <a:r>
              <a:rPr lang="en-US" altLang="zh-CN" sz="3400" b="1"/>
              <a:t>   if (max==0)   n=k-2;</a:t>
            </a:r>
          </a:p>
          <a:p>
            <a:pPr>
              <a:lnSpc>
                <a:spcPct val="80000"/>
              </a:lnSpc>
              <a:spcBef>
                <a:spcPct val="10000"/>
              </a:spcBef>
            </a:pPr>
            <a:r>
              <a:rPr lang="en-US" altLang="zh-CN" sz="3400" b="1"/>
              <a:t>}</a:t>
            </a:r>
          </a:p>
        </p:txBody>
      </p:sp>
      <p:sp>
        <p:nvSpPr>
          <p:cNvPr id="123909" name="Text Box 4"/>
          <p:cNvSpPr txBox="1">
            <a:spLocks noChangeArrowheads="1"/>
          </p:cNvSpPr>
          <p:nvPr/>
        </p:nvSpPr>
        <p:spPr bwMode="auto">
          <a:xfrm>
            <a:off x="1676400" y="-15875"/>
            <a:ext cx="7391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spcBef>
                <a:spcPct val="50000"/>
              </a:spcBef>
            </a:pPr>
            <a:r>
              <a:rPr lang="zh-CN" altLang="en-US" sz="3000" b="1">
                <a:solidFill>
                  <a:schemeClr val="tx2"/>
                </a:solidFill>
                <a:latin typeface="楷体_GB2312" pitchFamily="49" charset="-122"/>
                <a:ea typeface="楷体_GB2312" pitchFamily="49" charset="-122"/>
              </a:rPr>
              <a:t>利用</a:t>
            </a:r>
            <a:r>
              <a:rPr lang="en-US" altLang="zh-CN" sz="3000" b="1">
                <a:solidFill>
                  <a:schemeClr val="tx2"/>
                </a:solidFill>
                <a:latin typeface="楷体_GB2312" pitchFamily="49" charset="-122"/>
                <a:ea typeface="楷体_GB2312" pitchFamily="49" charset="-122"/>
              </a:rPr>
              <a:t>f</a:t>
            </a:r>
            <a:r>
              <a:rPr lang="en-US" altLang="zh-CN" sz="3000" b="1" baseline="-25000">
                <a:solidFill>
                  <a:schemeClr val="tx2"/>
                </a:solidFill>
                <a:latin typeface="楷体_GB2312" pitchFamily="49" charset="-122"/>
                <a:ea typeface="楷体_GB2312" pitchFamily="49" charset="-122"/>
              </a:rPr>
              <a:t>i+1 </a:t>
            </a:r>
            <a:r>
              <a:rPr lang="en-US" altLang="zh-CN" sz="3000" b="1">
                <a:solidFill>
                  <a:schemeClr val="tx2"/>
                </a:solidFill>
                <a:latin typeface="楷体_GB2312" pitchFamily="49" charset="-122"/>
                <a:ea typeface="楷体_GB2312" pitchFamily="49" charset="-122"/>
              </a:rPr>
              <a:t>=</a:t>
            </a:r>
            <a:r>
              <a:rPr lang="en-US" altLang="zh-CN" sz="3000" b="1" baseline="-25000">
                <a:solidFill>
                  <a:schemeClr val="tx2"/>
                </a:solidFill>
                <a:latin typeface="楷体_GB2312" pitchFamily="49" charset="-122"/>
                <a:ea typeface="楷体_GB2312" pitchFamily="49" charset="-122"/>
              </a:rPr>
              <a:t> </a:t>
            </a:r>
            <a:r>
              <a:rPr lang="en-US" altLang="zh-CN" sz="3000" b="1">
                <a:solidFill>
                  <a:schemeClr val="tx2"/>
                </a:solidFill>
                <a:latin typeface="楷体_GB2312" pitchFamily="49" charset="-122"/>
                <a:ea typeface="楷体_GB2312" pitchFamily="49" charset="-122"/>
              </a:rPr>
              <a:t>2*f</a:t>
            </a:r>
            <a:r>
              <a:rPr lang="en-US" altLang="zh-CN" sz="3000" b="1" baseline="-25000">
                <a:solidFill>
                  <a:schemeClr val="tx2"/>
                </a:solidFill>
                <a:latin typeface="楷体_GB2312" pitchFamily="49" charset="-122"/>
                <a:ea typeface="楷体_GB2312" pitchFamily="49" charset="-122"/>
              </a:rPr>
              <a:t>i </a:t>
            </a:r>
            <a:r>
              <a:rPr lang="en-US" altLang="zh-CN" sz="3000" b="1">
                <a:solidFill>
                  <a:schemeClr val="tx2"/>
                </a:solidFill>
                <a:latin typeface="楷体_GB2312" pitchFamily="49" charset="-122"/>
                <a:ea typeface="楷体_GB2312" pitchFamily="49" charset="-122"/>
              </a:rPr>
              <a:t>-</a:t>
            </a:r>
            <a:r>
              <a:rPr lang="en-US" altLang="zh-CN" sz="3000" b="1" baseline="-25000">
                <a:solidFill>
                  <a:schemeClr val="tx2"/>
                </a:solidFill>
                <a:latin typeface="楷体_GB2312" pitchFamily="49" charset="-122"/>
                <a:ea typeface="楷体_GB2312" pitchFamily="49" charset="-122"/>
              </a:rPr>
              <a:t> </a:t>
            </a:r>
            <a:r>
              <a:rPr lang="en-US" altLang="zh-CN" sz="3000" b="1">
                <a:solidFill>
                  <a:schemeClr val="tx2"/>
                </a:solidFill>
                <a:latin typeface="楷体_GB2312" pitchFamily="49" charset="-122"/>
                <a:ea typeface="楷体_GB2312" pitchFamily="49" charset="-122"/>
              </a:rPr>
              <a:t>f</a:t>
            </a:r>
            <a:r>
              <a:rPr lang="en-US" altLang="zh-CN" sz="3000" b="1" baseline="-25000">
                <a:solidFill>
                  <a:schemeClr val="tx2"/>
                </a:solidFill>
                <a:latin typeface="楷体_GB2312" pitchFamily="49" charset="-122"/>
                <a:ea typeface="楷体_GB2312" pitchFamily="49" charset="-122"/>
              </a:rPr>
              <a:t>i-k </a:t>
            </a:r>
            <a:r>
              <a:rPr lang="en-US" altLang="zh-CN" sz="3000" b="1">
                <a:solidFill>
                  <a:schemeClr val="tx2"/>
                </a:solidFill>
                <a:latin typeface="楷体_GB2312" pitchFamily="49" charset="-122"/>
                <a:ea typeface="楷体_GB2312" pitchFamily="49" charset="-122"/>
              </a:rPr>
              <a:t>,</a:t>
            </a:r>
            <a:r>
              <a:rPr lang="zh-CN" altLang="en-US" sz="3000" b="1">
                <a:solidFill>
                  <a:schemeClr val="tx2"/>
                </a:solidFill>
                <a:latin typeface="楷体_GB2312" pitchFamily="49" charset="-122"/>
                <a:ea typeface="楷体_GB2312" pitchFamily="49" charset="-122"/>
              </a:rPr>
              <a:t>队列的</a:t>
            </a:r>
            <a:r>
              <a:rPr lang="zh-CN" altLang="en-US" sz="3000" b="1">
                <a:solidFill>
                  <a:schemeClr val="hlink"/>
                </a:solidFill>
                <a:latin typeface="楷体_GB2312" pitchFamily="49" charset="-122"/>
                <a:ea typeface="楷体_GB2312" pitchFamily="49" charset="-122"/>
              </a:rPr>
              <a:t>容量为</a:t>
            </a:r>
            <a:r>
              <a:rPr lang="en-US" altLang="zh-CN" sz="3000" b="1">
                <a:solidFill>
                  <a:schemeClr val="hlink"/>
                </a:solidFill>
                <a:latin typeface="楷体_GB2312" pitchFamily="49" charset="-122"/>
                <a:ea typeface="楷体_GB2312" pitchFamily="49" charset="-122"/>
              </a:rPr>
              <a:t>k+1</a:t>
            </a:r>
          </a:p>
        </p:txBody>
      </p:sp>
    </p:spTree>
    <p:extLst>
      <p:ext uri="{BB962C8B-B14F-4D97-AF65-F5344CB8AC3E}">
        <p14:creationId xmlns:p14="http://schemas.microsoft.com/office/powerpoint/2010/main" val="2426938917"/>
      </p:ext>
    </p:extLst>
  </p:cSld>
  <p:clrMapOvr>
    <a:masterClrMapping/>
  </p:clrMapOvr>
  <p:transition>
    <p:pull dir="r"/>
  </p:transition>
</p:sld>
</file>

<file path=ppt/theme/theme1.xml><?xml version="1.0" encoding="utf-8"?>
<a:theme xmlns:a="http://schemas.openxmlformats.org/drawingml/2006/main" name="DS6">
  <a:themeElements>
    <a:clrScheme name="DS6 8">
      <a:dk1>
        <a:srgbClr val="333399"/>
      </a:dk1>
      <a:lt1>
        <a:srgbClr val="FFFFEB"/>
      </a:lt1>
      <a:dk2>
        <a:srgbClr val="996633"/>
      </a:dk2>
      <a:lt2>
        <a:srgbClr val="868686"/>
      </a:lt2>
      <a:accent1>
        <a:srgbClr val="BEE0FE"/>
      </a:accent1>
      <a:accent2>
        <a:srgbClr val="FF5050"/>
      </a:accent2>
      <a:accent3>
        <a:srgbClr val="FFFFF3"/>
      </a:accent3>
      <a:accent4>
        <a:srgbClr val="2A2A82"/>
      </a:accent4>
      <a:accent5>
        <a:srgbClr val="DBEDFE"/>
      </a:accent5>
      <a:accent6>
        <a:srgbClr val="E74848"/>
      </a:accent6>
      <a:hlink>
        <a:srgbClr val="FF0033"/>
      </a:hlink>
      <a:folHlink>
        <a:srgbClr val="009900"/>
      </a:folHlink>
    </a:clrScheme>
    <a:fontScheme name="DS6">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DS6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S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S6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S6 4">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S6 5">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S6 6">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S6 7">
        <a:dk1>
          <a:srgbClr val="333399"/>
        </a:dk1>
        <a:lt1>
          <a:srgbClr val="FFFFFF"/>
        </a:lt1>
        <a:dk2>
          <a:srgbClr val="996633"/>
        </a:dk2>
        <a:lt2>
          <a:srgbClr val="868686"/>
        </a:lt2>
        <a:accent1>
          <a:srgbClr val="BEE0FE"/>
        </a:accent1>
        <a:accent2>
          <a:srgbClr val="FF5050"/>
        </a:accent2>
        <a:accent3>
          <a:srgbClr val="FFFFFF"/>
        </a:accent3>
        <a:accent4>
          <a:srgbClr val="2A2A82"/>
        </a:accent4>
        <a:accent5>
          <a:srgbClr val="DBEDFE"/>
        </a:accent5>
        <a:accent6>
          <a:srgbClr val="E74848"/>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S6 8">
        <a:dk1>
          <a:srgbClr val="333399"/>
        </a:dk1>
        <a:lt1>
          <a:srgbClr val="FFFFEB"/>
        </a:lt1>
        <a:dk2>
          <a:srgbClr val="996633"/>
        </a:dk2>
        <a:lt2>
          <a:srgbClr val="868686"/>
        </a:lt2>
        <a:accent1>
          <a:srgbClr val="BEE0FE"/>
        </a:accent1>
        <a:accent2>
          <a:srgbClr val="FF5050"/>
        </a:accent2>
        <a:accent3>
          <a:srgbClr val="FFFFF3"/>
        </a:accent3>
        <a:accent4>
          <a:srgbClr val="2A2A82"/>
        </a:accent4>
        <a:accent5>
          <a:srgbClr val="DBEDFE"/>
        </a:accent5>
        <a:accent6>
          <a:srgbClr val="E74848"/>
        </a:accent6>
        <a:hlink>
          <a:srgbClr val="FF0033"/>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S6">
  <a:themeElements>
    <a:clrScheme name="DS6 8">
      <a:dk1>
        <a:srgbClr val="333399"/>
      </a:dk1>
      <a:lt1>
        <a:srgbClr val="FFFFEB"/>
      </a:lt1>
      <a:dk2>
        <a:srgbClr val="996633"/>
      </a:dk2>
      <a:lt2>
        <a:srgbClr val="868686"/>
      </a:lt2>
      <a:accent1>
        <a:srgbClr val="BEE0FE"/>
      </a:accent1>
      <a:accent2>
        <a:srgbClr val="FF5050"/>
      </a:accent2>
      <a:accent3>
        <a:srgbClr val="FFFFF3"/>
      </a:accent3>
      <a:accent4>
        <a:srgbClr val="2A2A82"/>
      </a:accent4>
      <a:accent5>
        <a:srgbClr val="DBEDFE"/>
      </a:accent5>
      <a:accent6>
        <a:srgbClr val="E74848"/>
      </a:accent6>
      <a:hlink>
        <a:srgbClr val="FF0033"/>
      </a:hlink>
      <a:folHlink>
        <a:srgbClr val="009900"/>
      </a:folHlink>
    </a:clrScheme>
    <a:fontScheme name="DS6">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DS6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S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S6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S6 4">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S6 5">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S6 6">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S6 7">
        <a:dk1>
          <a:srgbClr val="333399"/>
        </a:dk1>
        <a:lt1>
          <a:srgbClr val="FFFFFF"/>
        </a:lt1>
        <a:dk2>
          <a:srgbClr val="996633"/>
        </a:dk2>
        <a:lt2>
          <a:srgbClr val="868686"/>
        </a:lt2>
        <a:accent1>
          <a:srgbClr val="BEE0FE"/>
        </a:accent1>
        <a:accent2>
          <a:srgbClr val="FF5050"/>
        </a:accent2>
        <a:accent3>
          <a:srgbClr val="FFFFFF"/>
        </a:accent3>
        <a:accent4>
          <a:srgbClr val="2A2A82"/>
        </a:accent4>
        <a:accent5>
          <a:srgbClr val="DBEDFE"/>
        </a:accent5>
        <a:accent6>
          <a:srgbClr val="E74848"/>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S6 8">
        <a:dk1>
          <a:srgbClr val="333399"/>
        </a:dk1>
        <a:lt1>
          <a:srgbClr val="FFFFEB"/>
        </a:lt1>
        <a:dk2>
          <a:srgbClr val="996633"/>
        </a:dk2>
        <a:lt2>
          <a:srgbClr val="868686"/>
        </a:lt2>
        <a:accent1>
          <a:srgbClr val="BEE0FE"/>
        </a:accent1>
        <a:accent2>
          <a:srgbClr val="FF5050"/>
        </a:accent2>
        <a:accent3>
          <a:srgbClr val="FFFFF3"/>
        </a:accent3>
        <a:accent4>
          <a:srgbClr val="2A2A82"/>
        </a:accent4>
        <a:accent5>
          <a:srgbClr val="DBEDFE"/>
        </a:accent5>
        <a:accent6>
          <a:srgbClr val="E74848"/>
        </a:accent6>
        <a:hlink>
          <a:srgbClr val="FF0033"/>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Designs\Pulse.pot</Template>
  <TotalTime>30733</TotalTime>
  <Words>10086</Words>
  <Application>Microsoft Office PowerPoint</Application>
  <PresentationFormat>全屏显示(4:3)</PresentationFormat>
  <Paragraphs>1660</Paragraphs>
  <Slides>145</Slides>
  <Notes>3</Notes>
  <HiddenSlides>11</HiddenSlides>
  <MMClips>0</MMClips>
  <ScaleCrop>false</ScaleCrop>
  <HeadingPairs>
    <vt:vector size="4" baseType="variant">
      <vt:variant>
        <vt:lpstr>主题</vt:lpstr>
      </vt:variant>
      <vt:variant>
        <vt:i4>2</vt:i4>
      </vt:variant>
      <vt:variant>
        <vt:lpstr>幻灯片标题</vt:lpstr>
      </vt:variant>
      <vt:variant>
        <vt:i4>145</vt:i4>
      </vt:variant>
    </vt:vector>
  </HeadingPairs>
  <TitlesOfParts>
    <vt:vector size="147" baseType="lpstr">
      <vt:lpstr>DS6</vt:lpstr>
      <vt:lpstr>1_DS6</vt:lpstr>
      <vt:lpstr>数据结构  北京交通大学计算机学院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InitStack(&amp;S)   初始化操作    操作结果：</vt:lpstr>
      <vt:lpstr> StackEmpty(S)   判定S是否为空栈 初始条件： 操作结果：</vt:lpstr>
      <vt:lpstr>GetTop(S, &amp;e)    取栈顶元素 初始条件： 操作结果：</vt:lpstr>
      <vt:lpstr>ClearStack(&amp;S)   栈置空操作 初始条件： 操作结果：</vt:lpstr>
      <vt:lpstr>Push(&amp;S, e)    入栈操作 初始条件： 操作结果：</vt:lpstr>
      <vt:lpstr>Pop(&amp;S, &amp;e)    出栈操作 初始条件： 操作结果：</vt:lpstr>
      <vt:lpstr>StackTravers(S, visit()) 查找栈元素操作 初始条件： 操作结果：</vt:lpstr>
      <vt:lpstr>PowerPoint 演示文稿</vt:lpstr>
      <vt:lpstr>PowerPoint 演示文稿</vt:lpstr>
      <vt:lpstr>PowerPoint 演示文稿</vt:lpstr>
      <vt:lpstr>PowerPoint 演示文稿</vt:lpstr>
      <vt:lpstr>栈的顺序存储结构方法一</vt:lpstr>
      <vt:lpstr>初始化栈算法</vt:lpstr>
      <vt:lpstr>进栈算法</vt:lpstr>
      <vt:lpstr>出栈算法</vt:lpstr>
      <vt:lpstr>取栈顶元素算法</vt:lpstr>
      <vt:lpstr>判栈空算法</vt:lpstr>
      <vt:lpstr>PowerPoint 演示文稿</vt:lpstr>
      <vt:lpstr>PowerPoint 演示文稿</vt:lpstr>
      <vt:lpstr>PowerPoint 演示文稿</vt:lpstr>
      <vt:lpstr>PowerPoint 演示文稿</vt:lpstr>
      <vt:lpstr>PowerPoint 演示文稿</vt:lpstr>
      <vt:lpstr>PowerPoint 演示文稿</vt:lpstr>
      <vt:lpstr>顺序栈判满、判空条件</vt:lpstr>
      <vt:lpstr>栈的链式存储结构</vt:lpstr>
      <vt:lpstr>PowerPoint 演示文稿</vt:lpstr>
      <vt:lpstr>PowerPoint 演示文稿</vt:lpstr>
      <vt:lpstr>PowerPoint 演示文稿</vt:lpstr>
      <vt:lpstr>PowerPoint 演示文稿</vt:lpstr>
      <vt:lpstr>  例一、 数制转换        算法基于原理：      N = (N div d)×d + N mod d   </vt:lpstr>
      <vt:lpstr> 例如： （1348)10 = (2504)8 ，其运算过程如下：           N     N div 8    N mod 8       1348      168           4         168        21           0           21          2           5             2          0           2</vt:lpstr>
      <vt:lpstr>PowerPoint 演示文稿</vt:lpstr>
      <vt:lpstr> 数制转换的完整程序</vt:lpstr>
      <vt:lpstr>PowerPoint 演示文稿</vt:lpstr>
      <vt:lpstr>PowerPoint 演示文稿</vt:lpstr>
      <vt:lpstr>PowerPoint 演示文稿</vt:lpstr>
      <vt:lpstr>分析可能出现的不匹配的情况: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例四、迷宫求解  </vt:lpstr>
      <vt:lpstr>求迷宫路径算法的基本思想是：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如何从后缀式求值？</vt:lpstr>
      <vt:lpstr>PowerPoint 演示文稿</vt:lpstr>
      <vt:lpstr>PowerPoint 演示文稿</vt:lpstr>
      <vt:lpstr>PowerPoint 演示文稿</vt:lpstr>
      <vt:lpstr>PowerPoint 演示文稿</vt:lpstr>
      <vt:lpstr>PowerPoint 演示文稿</vt:lpstr>
      <vt:lpstr>求后缀式的值：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递归函数执行过程</vt:lpstr>
      <vt:lpstr>栈的应用</vt:lpstr>
      <vt:lpstr>N皇后问题求解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InitQueue(&amp;Q)    操作结果：构造一个空队列Q。  DestroyQueue(&amp;Q) 初始条件：队列Q已存在。  操作结果：队列Q被销毁，                    不再存在。 </vt:lpstr>
      <vt:lpstr>              QueueEmpty(Q)     初始条件：队列Q已存在。    操作结果：若Q为空队列，则返回                        TRUE，否则返回FALSE。</vt:lpstr>
      <vt:lpstr>        QueueLength(Q)  初始条件：队列Q已存在。       操作结果：返回Q的元素个数，                           即队列的长度。</vt:lpstr>
      <vt:lpstr> GetHead(Q, &amp;e) 初始条件：Q为非空队列。         操作结果：用e返回Q的队头元素。</vt:lpstr>
      <vt:lpstr> ClearQueue(&amp;Q)  初始条件：队列Q已存在。     操作结果：将Q清为空队列。</vt:lpstr>
      <vt:lpstr> EnQueue(&amp;Q, e) 初始条件：队列Q已存在。          操作结果：插入元素e为Q的新的                   队尾元素。</vt:lpstr>
      <vt:lpstr>  DeQueue(&amp;Q, &amp;e)  初始条件：Q为非空队列。        操作结果：删除Q的队头元素，                             并用e返回其值。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问题：在非循环队列中</vt:lpstr>
      <vt:lpstr>假溢出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销毁链队列算法</vt:lpstr>
      <vt:lpstr>链队列的入列算法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k阶斐波那契序列（上机题5）</vt:lpstr>
      <vt:lpstr>PowerPoint 演示文稿</vt:lpstr>
      <vt:lpstr>PowerPoint 演示文稿</vt:lpstr>
      <vt:lpstr>方法二</vt:lpstr>
    </vt:vector>
  </TitlesOfParts>
  <Company>njtu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jsj</dc:creator>
  <cp:lastModifiedBy>魏名元</cp:lastModifiedBy>
  <cp:revision>469</cp:revision>
  <dcterms:created xsi:type="dcterms:W3CDTF">2001-09-08T15:48:00Z</dcterms:created>
  <dcterms:modified xsi:type="dcterms:W3CDTF">2025-10-12T03:52:40Z</dcterms:modified>
</cp:coreProperties>
</file>